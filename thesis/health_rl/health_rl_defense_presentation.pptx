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000">
                <a:solidFill>
                  <a:srgbClr val="2E5FA3"/>
                </a:solidFill>
                <a:latin typeface="Calibri"/>
              </a:rPr>
              <a:t>Adaptive Underwriting via Contextual Bandits:
Dynamic Risk Selection for Emerging Markets Health Insurance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4023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E5FA3"/>
                </a:solidFill>
                <a:latin typeface="Calibri"/>
              </a:rPr>
              <a:t>Presenter: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4023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LUN CHANPOLY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4526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E5FA3"/>
                </a:solidFill>
                <a:latin typeface="Calibri"/>
              </a:rPr>
              <a:t>Advisor: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HAS SOTHEA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50292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E5FA3"/>
                </a:solidFill>
                <a:latin typeface="Calibri"/>
              </a:rPr>
              <a:t>Date: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50292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137160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Introduction - Cambodia health insurance gap &amp; bandit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210312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Background - Contextual bandits, fairness, PSI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3464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Methodology - Dataset, algorithms, reward design, experiments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56616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Results - EXP-005 to EXP-007: convergence, fairness, benchmarks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29768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Discussion - Implementation, limitations, social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502920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Conclusion - Findings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Cambodia 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Insurance Penetration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Only ~1% of Cambodian households have any insurance coverage (World Bank 2024)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Regional gap: Vietnam ~8%, Thailand ~40% life insurance penetration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75% of households keep savings at home - no formal financial safety net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Agent commissions consume 15-30% of premium - unsustainable for micro-premiums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Digital Distribution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Mobile penetration &gt;100% of population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Wing: 14 million users (~80% of Cambodia)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BIMA-Smart Axiata: 430,000 mobile life policies in 18 months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Instant underwriting via smartphone is the only viable path to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Research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200">
                <a:solidFill>
                  <a:srgbClr val="2E5FA3"/>
                </a:solidFill>
                <a:latin typeface="Calibri"/>
              </a:rPr>
              <a:t>Static rule-based underwriting leaves profitable
applicants uninsured and misprices emerging-market risks.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This thesis: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Frames health underwriting as a contextual multi-armed bandit problem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Demonstrates that LinUCB and LinTS outperform static XGBoost rules by 25%+ on cumulative reward (Cohen's d = 2.98 across 20 seeds)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Introduces PSI guardrails to ensure regional and occupational fairness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Validates the framework on a synthetic Cambodia dataset with realistic demographics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Key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First contextual bandit underwriting system calibrated for Cambodian health insurance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Fairness audit: no demographic segment approval rate falls below 50% of max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Regret ranking: LinTS &lt; LinUCB &lt; Epsilon-Greedy &lt; Static XGB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Contextual Bandit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Why Contextual Bandits (not full RL)?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No state transitions: each applicant is an independent decision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Online learning: improves continuously as new claims arrive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Principled exploration: deliberately tests uncertain applicants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Theoretical regret bounds quantify the cost of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5468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Four-Action Policy Space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56616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Business Impact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Accept at base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Maximizes conversion; preferred for low-risk applicants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Accept at 1.25x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Enables coverage for elevated but manageable risk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Reject application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Portfolio protection; opportunity cost -$10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REFER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Escalate to manual UW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Captures 70% of optimal value minus $35 admin cost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Dataset &amp;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Synthetic Cambodia Health Insurance Dataset (CDHS 2021–22 Anchored)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 Category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Age, BMI, smoking, exercise, family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Primary mortality/morbidity predictors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Health Conditions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Hypertension, Diabetes, Heart Disease, COPD, Arthritis, TB, Hep-B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Cambodia-specific disease burden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Phnom Penh, Siem Reap, Battambang, Preah Sihanouk, Kampong Cham, Other Rural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Healthcare access &amp; risk correlation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Occupation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Civil Servant, Teacher, Vendor, Garment Worker, Farmer, Driver, Construction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Occupational hazard classification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Monthly income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Premium affordability &amp; adverse selection proxy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Critical Design Choice: One-Hot Encoding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Label encoding on region/occupation caused LinUCB to fail (21-33% accuracy)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One-hot dummies enable linear models to learn distinct segment effects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25 total features after encoding: 7 numeric + 7 condition flags + 6 regions + 7 occupations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Bandit Algorithms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Exploration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Update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LinUCB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Optimistic upper confidence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Closed-form ridge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Regulatory environments needing explicit uncertainty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Posterior sampling (Bayesian)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Closed-form Gaussian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Near-optimal regret; natural uncertainty quantification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Epsilon-Greedy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Random epsilon 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Linear least squares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Simple baseline; suboptimal convergence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Static XGB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None (deterministic)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Production rule baseline; no learning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LinUCB Update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Calibri"/>
              </a:rPr>
              <a:t>theta_a = A_a^{-1} b_a      |      p_a = theta_a^T x + alpha * sqrt(x^T A_a^{-1} 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Calibri"/>
              </a:rPr>
              <a:t>A_a &lt;- A_a + x x^T          |      b_a &lt;- b_a + r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Key Hyperparameters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62626"/>
                </a:solidFill>
                <a:latin typeface="Calibri"/>
              </a:rPr>
              <a:t>-  LinUCB alpha = 1.0  (exploration coefficient)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LinTS v2 = 1.0  (posterior variance scale)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Epsilon-Greedy epsilon = 0.15  (random action fraction)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Reward Design &amp; Actuarial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Profit-Based Reward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Base premium = $200 x mortality_multiplier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Expected claims = $150 x mortality_multiplier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Adverse selection factor = 1.35x for high-risk (mort &gt; 2.0) under STANDARD terms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Customer acceptance probability decays with premium-to-income ratio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063240"/>
          <a:ext cx="10972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Reward Formula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Key Constraint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premium - claims (if accepted) else -$20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Adverse selection risk on high-mortality applicants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1.25*premium - claims (if accepted) else -$20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Higher premium reduces acceptance probability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-$10 (opportunity cost)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Lost customer lifetime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REFER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0.70*optimal - $35 (manual underwriter cost)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Captures most value but expensive per case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9834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Design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Opportunity cost for DECLINE (-$10) prevents degenerate reject-all strategy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REFER cost (-$42 net) makes it competitive only for truly uncertain cases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Claims noise reduced to +/-8% for stable bandit convergence in 5,000 rounds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Methodology - Three Experiment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5FA3"/>
                </a:solidFill>
                <a:latin typeface="Calibri"/>
              </a:rPr>
              <a:t>EXP-005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65960" y="1325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Calibri"/>
              </a:rPr>
              <a:t>Convergence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4920" y="1325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LinUCB learns risk-appropriate decisions; beats static baseline on reward + regret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5FA3"/>
                </a:solidFill>
                <a:latin typeface="Calibri"/>
              </a:rPr>
              <a:t>EXP-006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194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Calibri"/>
              </a:rPr>
              <a:t>Fairness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Regional &amp; occupational approval-rate parity + PSI population stability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5FA3"/>
                </a:solidFill>
                <a:latin typeface="Calibri"/>
              </a:rPr>
              <a:t>EXP-007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063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Calibri"/>
              </a:rPr>
              <a:t>Benchmark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063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LinTS vs LinUCB vs Epsilon-Greedy vs StaticXGB on cumulative regret &amp; reward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Design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Each experiment is self-contained: loads dataset, runs bandit, asserts pass/fail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Reproducible seed (42) - identical results on every run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Exit code 0 = PASS, 1 = FAIL - CI-ready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EXP-005: Convergence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Setup: 5,000 rounds, LinUCB vs Static XGB rule baseline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5943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LinUCB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Static XGB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Cumulative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$90,540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$72,292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+$18,248 (+25%) ***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Avg Regret (last 500)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$2.20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$9.01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-$6.81 (-76%) ***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Action Entropy (early)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1.314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Near-uniform exploration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Action Entropy (late)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1.105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Exploitation regime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_action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91640"/>
            <a:ext cx="475488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9319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LinUCB reward &gt; Static XGB by +$18,248 (Wilcoxon p&lt;0.001, Cohen's d=2.98) - PASS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Late-round regret 4x lower (Wilcoxon p&lt;0.001, d=-1.59) - PASS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Action entropy decreased: 1.314 -&gt; 1.105 (exploration -&gt; exploitation) - PASS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20-seed bootstrap CIs reported throughout; no single-seed cherry-picking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EXP-005: Learning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Cumulative Reward Over 5,000 Rounds</a:t>
            </a:r>
          </a:p>
        </p:txBody>
      </p:sp>
      <p:pic>
        <p:nvPicPr>
          <p:cNvPr id="4" name="Picture 3" descr="fig_rewar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66928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Cumulative Regret Over 5,000 Rounds</a:t>
            </a:r>
          </a:p>
        </p:txBody>
      </p:sp>
      <p:pic>
        <p:nvPicPr>
          <p:cNvPr id="6" name="Picture 5" descr="fig_regret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45920"/>
            <a:ext cx="566928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Contextual bandits separate from static baseline within ~500 rounds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LinTS achieves lowest regret through adaptive posterior sampling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Epsilon-Greedy plateaus: random exploration wastes rounds on known suboptimal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EXP-006: Fairness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Setup: Track approval rates by region and occupation across 5,000 LinUCB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Population Stability Index (PSI) Results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6858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Max PSI (sliding-window)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Final PSI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Parity Ratio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0.082 (GREEN)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0.042 (GREEN)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85.7% PASS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Occupation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0.123 (low AMBER)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0.071 (GREEN)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90.1%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Fairness Constraint (EEOC 4/5 Rule)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0574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62626"/>
                </a:solidFill>
                <a:latin typeface="Calibri"/>
              </a:rPr>
              <a:t>-  Min/max approval ratio &gt;= 80%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Region 85.7%: PASS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Occupation 90.1%: PASS</a:t>
            </a:r>
          </a:p>
        </p:txBody>
      </p:sp>
      <p:pic>
        <p:nvPicPr>
          <p:cNvPr id="8" name="Picture 7" descr="fig_fairness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83280"/>
            <a:ext cx="5486400" cy="2743200"/>
          </a:xfrm>
          <a:prstGeom prst="rect">
            <a:avLst/>
          </a:prstGeom>
        </p:spPr>
      </p:pic>
      <p:pic>
        <p:nvPicPr>
          <p:cNvPr id="9" name="Picture 8" descr="fig_fairness_occup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383280"/>
            <a:ext cx="5486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EXP-007: Benchmark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Final Results After 5,000 Rounds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3291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Cum. Reward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Cum. Regret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LinTS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$93,572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$21,149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1st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LinUCB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$91,947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2nd (tied)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Epsilon-Greedy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$76,441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$38,281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Static XGB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$72,173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$42,548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4th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PASS Criteria (Bonferroni-corrected)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5740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62626"/>
                </a:solidFill>
                <a:latin typeface="Calibri"/>
              </a:rPr>
              <a:t>-  LinUCB regret &lt;&lt; EpsGreedy and StaticXGB (p&lt;0.001, d=-3.4) - PASS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LinTS regret &lt;&lt; EpsGreedy and StaticXGB (p&lt;0.001, d=-3.9) - PASS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LinUCB and LinTS reward &gt;&gt; StaticXGB (p&lt;0.001, d&gt;3.4) -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Why Uncertainty-Directed Exploration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LinTS and LinUCB are statistically indistinguishable (Wilcoxon p=0.87) - both win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Uncertainty-directed exploration shrinks as posterior tightens (unlike Epsilon-Greedy)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LinTS needs no alpha hyperparameter (operational advantage in production)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Both bandits cut regret roughly in half vs. Static XGB ($21k vs $42k)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PSI Guardrails &amp;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Why PSI Matters in Adaptive Underwriting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Bandits optimize for expected reward - can drift toward over-approving low-risk segments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Without guardrails, profitable but risky segments (farmers, drivers) may be systematically declined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PSI monitors whether the APPROVED portfolio mirrors the APPLICANT population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971800"/>
          <a:ext cx="77724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PSI Range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&lt;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Continue current policy; no intervention needed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0.10 - 0.25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Trigger demographic deep-dive; review threshold calibration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&gt; 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Freeze auto-approval; escalate to actuarial team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Our Result: Within Regulatory Bounds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Region: max sliding-window PSI = 0.082 (GREEN); final PSI = 0.042 (GREEN)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Occupation: max PSI = 0.123 (low AMBER, transient); final PSI = 0.071 (GREEN)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Fairness maintained WITHOUT explicit demographic parity constraints in the reward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Proposed Adaptive Underwriting System</a:t>
            </a:r>
          </a:p>
        </p:txBody>
      </p:sp>
      <p:pic>
        <p:nvPicPr>
          <p:cNvPr id="3" name="Picture 2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34440"/>
            <a:ext cx="96012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2062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Operational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Applicant submits via mobile app -&gt; context vector extracted in &lt;100ms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Bandit selects action -&gt; PSI guardrail validates demographic parity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GREEN -&gt; instant policy issuance; AMBER -&gt; manual review queue; RED -&gt; actuarial escalation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Implementation Pathway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Technical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Low-latency feature computation from mobile form data (&lt; 200ms end-to-end)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Model serving: lightweight linear algebra (numpy) - no GPU required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Fallback rules for model unavailability or out-of-distribution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Cost Reduction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54680"/>
          <a:ext cx="8229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Traditional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Adaptive Bandit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Marginal decision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$5-20 per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Near-zero (automated)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Minimum viable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$50-100 annually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$10-20 annually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Underwriter capacity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~50 cases/day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Unlimited (bandit) + exception handling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Regulatory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Model explainability via SHAP values for every underwriting decision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PSI audit trail for regulator filings (Insurance Regulator of Cambodia)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Human-in-the-loop override logging for continuous policy improvement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Social Impact &amp; Financial Inclusion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Market Expansion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Cost reduction enables profitable micro-premium products ($10-20/year)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BIMA validation: 430,000 policies at micro-premium levels in Cambodia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Dynamic pricing responsive to individual risk trajectories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Resilience for Vulnerable Populations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Health shock protection preventing poverty traps for informal workers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Garment workers (~700,000, 85% women): specific coverage design enabled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Rural vs urban access parity: automated underwriting removes geographic bias in agent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Target Segments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93776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Key Risk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Bandit Value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Garment Workers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~700,000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Repetitive strain, chemical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RATED terms unlock coverage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Moto/Tuk-Tuk Drivers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~200,000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Road traffic accidents (70% of fatalities)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Risk-appropriate pricing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Rice Farmers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~2.5M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Climate volatility, limited healthcare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Seasonal premium adjustment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Civil Servants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~300,000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Low risk, stable income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Standard terms, high conversion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Discussion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Synthetic dataset - results need validation on real Cambodian health insurance portfolios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No real claims experience - link between mortality multiplier and actual claim cost is simulated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Single-period reward - multi-period customer lifetime value not incorporated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Stationary environment - non-stationary drift (seasonal disease spikes) not yet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Practical 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Static XGB rules underperform by 25% on cumulative reward (Cohen's d=2.98) - strong case for adaptive systems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PSI guardrails can be retrofitted into existing underwriting workflows without algorithm change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Framework generalizes beyond health: crop insurance, microfinance credit scoring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Contextual bandits (LinUCB, LinTS) substantially outperform static rule-based underwriting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LinTS and LinUCB statistically tied (p=0.87); both cut regret ~50% vs Static XGB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PSI guardrails and EEOC 4/5 rule both satisfied; fairness without explicit constraint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All 4 experiments pass on 20-seed bootstrap with large effect sizes (Cohen's d &gt; 1.5)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Non-stationary drift: test bandit adaptation to seasonal disease outbreaks (monsoon TB spike)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Hybrid ensemble: combine linear bandit with neural network for complex feature interactions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A/B testing framework for online deployment with real Cambodian insurer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Extend to multi-period customer lifetime value with retention modeling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2E5FA3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2626"/>
                </a:solidFill>
                <a:latin typeface="Calibri"/>
              </a:rPr>
              <a:t>Presenter: LUN CHANPOLY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2626"/>
                </a:solidFill>
                <a:latin typeface="Calibri"/>
              </a:rPr>
              <a:t>Advisor:  HAS SOTHEA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2626"/>
                </a:solidFill>
                <a:latin typeface="Calibri"/>
              </a:rPr>
              <a:t>Email:    chanpoly3@gmail.com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