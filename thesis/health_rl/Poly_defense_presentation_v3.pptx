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Distinguished Committee. I am Lun Chanpoly, and I am here to defend my master's thesis — Adaptive Health Insurance Underwriting via Contextual Bandits: A Reinforcement Learning Approach for Cambodia. This project grew out of my internship at Decent Actuarial Consultants in Phnom Penh, from March to June 2026, under the supervision of Dr. Has Sothea and the guidance of Mr. ON Radet at DAC.</a:t>
            </a:r>
          </a:p>
          <a:p/>
          <a:p>
            <a:r>
              <a:t>The talk has seven short sections — I'll keep the language plain and keep the maths for the appendix, which is on standby if you want to go deeper on any number.</a:t>
            </a:r>
          </a:p>
          <a:p/>
          <a:p>
            <a:r>
              <a:t>But first, let me tell you about a person named Sophea.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shape of the talk. I'll start with the problem and the market, review the literature in a single table, walk through how the system is designed and built, show the results, draw the conclusions, and finish with a live demonstration.</a:t>
            </a:r>
          </a:p>
          <a:p/>
          <a:p>
            <a:r>
              <a:t>[Advance to the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map and the numbers around it.]</a:t>
            </a:r>
          </a:p>
          <a:p/>
          <a:p>
            <a:r>
              <a:t>This is the market Sophea lives in. In Cambodia, fewer than two percent of people have any health insurance. The state scheme, NSSF, reaches only formal-sector workers — roughly sixteen percent of the population. Everyone else is underwritten by hand: fixed rules, no learning, and no check on fairness.</a:t>
            </a:r>
          </a:p>
          <a:p/>
          <a:p>
            <a:r>
              <a:t>So Sophea is not an exception. She represents the ninety-eight percent the current system was simply not built for.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profile card on the left.]</a:t>
            </a:r>
          </a:p>
          <a:p/>
          <a:p>
            <a:r>
              <a:t>This is Sophea — forty-two years old, a rice farmer from Kampong Cham. She is active from field farming, a non-smoker, with a BMI of 24.1, well within the normal range. Her only health flag is managed hypertension.</a:t>
            </a:r>
          </a:p>
          <a:p/>
          <a:p>
            <a:r>
              <a:t>[Point to the two amber flags on the right.]</a:t>
            </a:r>
          </a:p>
          <a:p/>
          <a:p>
            <a:r>
              <a:t>In 2023 she applies for voluntary health insurance in Phnom Penh. The static system checks just two fields: occupation — agriculture; and condition — hypertension. Both thresholds are crossed.</a:t>
            </a:r>
          </a:p>
          <a:p/>
          <a:p>
            <a:r>
              <a:t>[Point to the red box.]</a:t>
            </a:r>
          </a:p>
          <a:p/>
          <a:p>
            <a:r>
              <a:t>The decision: DECLINE. Sophea leaves without coverage. And I have to ask — was that the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answer is that the rule couldn't have known. A fixed rule can't see Sophea's full picture — and it never learns from its mistakes.</a:t>
            </a:r>
          </a:p>
          <a:p/>
          <a:p>
            <a:r>
              <a:t>Three problems, in plain words. First, fixed cutoffs: it checks two fields and stops, so her normal BMI and active lifestyle are invisible. Second, it never updates: claims come back over the years but the rule stays frozen, repeating the same mistake. And third, nobody checks fairness: no one is watching whether whole regions or occupations are quietly shut out.</a:t>
            </a:r>
          </a:p>
          <a:p/>
          <a:p>
            <a:r>
              <a:t>My thesis asks whether a system that learns can do better on all three.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goal, in one sentence: can a system that learns from every decision underwrite better — and stay fair — than today's fixed rules?</a:t>
            </a:r>
          </a:p>
          <a:p/>
          <a:p>
            <a:r>
              <a:t>That breaks into three research questions. One: does the learning system earn more and make fewer mistakes than the fixed-rule baseline? Two: does it stay fair across regions and occupations, without being explicitly told to? And three: which learning method works best?</a:t>
            </a:r>
          </a:p>
          <a:p/>
          <a:p>
            <a:r>
              <a:t>[Point to the SDG strip.]</a:t>
            </a:r>
          </a:p>
          <a:p/>
          <a:p>
            <a:r>
              <a:t>And why it matters: this touches three of Cambodia's Sustainable Development Goals — good health, no poverty, and reduced inequality.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pursued this at Decent Actuarial Consultants — DAC — as a research intern from March 2026.</a:t>
            </a:r>
          </a:p>
          <a:p/>
          <a:p>
            <a:r>
              <a:t>DAC is a regional actuarial consultancy headquartered in Taipei, with offices across Taiwan, Vietnam and Cambodia. Their work spans life and general insurance — appointed-actuary services, IFRS 17, product development, ALM and ERM, M&amp;A advisory, and university partnerships.</a:t>
            </a:r>
          </a:p>
          <a:p/>
          <a:p>
            <a:r>
              <a:t>Their clients include insurers who face applicants like Sophea every day. Under Mr. ON Radet, my task was to design, validate, and prototype an adaptive underwriting system. This thesis and the demo are the outputs of that internship.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 ran over a three-month internship. The first month was research and modelling — literature, the dataset, and the baselines. The second was experiments. The third was engineering the demo and writing up. Four milestones, from baselines ready to thesis complete.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bodies of work meet in this thesis, and I've put them in one table.</a:t>
            </a:r>
          </a:p>
          <a:p/>
          <a:p>
            <a:r>
              <a:t>First, health insurance in emerging markets — the surveys that tell us Cambodia is barely insured. Second, contextual bandits — the machine-learning method at the heart of this work, from Li and colleagues in 2010 and Agrawal and Goyal in 2013; these learn which action pays off one decision at a time, without a big offline dataset. Third, fairness and drift monitoring — the Population Stability Index. And fourth, human-in-the-loop review.</a:t>
            </a:r>
          </a:p>
          <a:p/>
          <a:p>
            <a:r>
              <a:t>[Point to the green bar.]</a:t>
            </a:r>
          </a:p>
          <a:p/>
          <a:p>
            <a:r>
              <a:t>The gap is clear: no prior work applies online-learning underwriting to Cambodia. That is where this thesis sits.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system on one line. In plain words: it decides, sees what happens, and gets a little smarter each round.</a:t>
            </a:r>
          </a:p>
          <a:p/>
          <a:p>
            <a:r>
              <a:t>It reads a short profile of the applicant. It picks one of four actions — Standard, Rated, Decline, or Refer to a human. It earns a reward: the premiums it collects minus the claims that follow. A fairness guardrail watches for drift, and the genuinely uncertain cases are handed to a human expert. Then it updates and moves to the next applicant.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watch it decide for Sophea.</a:t>
            </a:r>
          </a:p>
          <a:p/>
          <a:p>
            <a:r>
              <a:t>[Point to the left panel.]</a:t>
            </a:r>
          </a:p>
          <a:p/>
          <a:p>
            <a:r>
              <a:t>On the left is what it knows about her — a short profile: age, non-smoker, managed blood pressure, active, rice farmer, low wealth. Thirty-four facts in all.</a:t>
            </a:r>
          </a:p>
          <a:p/>
          <a:p>
            <a:r>
              <a:t>[Point to the bars.]</a:t>
            </a:r>
          </a:p>
          <a:p/>
          <a:p>
            <a:r>
              <a:t>It scores each of the four options. Standard scores highest, at 0.52; Rated 0.31; Refer 0.28; Decline just 0.10. The highest score wins, so Sophea gets Standard coverage.</a:t>
            </a:r>
          </a:p>
          <a:p/>
          <a:p>
            <a:r>
              <a:t>In plain words: it estimates how each option would pay off for someone like her, then adds a small bonus for options it hasn't tried often — so it keeps learning. The exact formula is in Appendix A7 if you'd like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'reward' actually mean? It's simple: reward equals premiums collected minus claims paid.</a:t>
            </a:r>
          </a:p>
          <a:p/>
          <a:p>
            <a:r>
              <a:t>Insure someone who stays healthy and you collect premiums and pay few claims — you earn. Insure a frequent claimer and the claims outrun the premiums — you lose. Decline everyone and you collect nothing.</a:t>
            </a:r>
          </a:p>
          <a:p/>
          <a:p>
            <a:r>
              <a:t>So the system is rewarded for insuring the right people at the right price — not for saying yes to everyone, and not for saying no to everyone. The full actuarial detail — risk loadings, adverse selection, price elasticity — is in the reward simulator, Table 8, and Appendix A5.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fast is not enough — it also has to stay fair. That's the job of the Population Stability Index, or PSI.</a:t>
            </a:r>
          </a:p>
          <a:p/>
          <a:p>
            <a:r>
              <a:t>PSI asks one question: are the people we approve today drifting away from the people we trained on? It's a simple traffic light. Green, below 0.10, means all clear. Amber, between 0.10 and 0.25, means watch closely. Red, above 0.25, means stop and recalibrate.</a:t>
            </a:r>
          </a:p>
          <a:p/>
          <a:p>
            <a:r>
              <a:t>And when the system isn't sure about a case, it hands it to a human expert — about one in seventy. The exact formula is in Appendix A8.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data. Two thousand synthetic applicants, thirty-four facts about each person, four possible decisions, anchored to four real Cambodian surveys.</a:t>
            </a:r>
          </a:p>
          <a:p/>
          <a:p>
            <a:r>
              <a:t>[Gesture at the table.]</a:t>
            </a:r>
          </a:p>
          <a:p/>
          <a:p>
            <a:r>
              <a:t>The features span demographics and vitals, lifestyle, social determinants, economics, clinical flags, and one-hot region and occupation.</a:t>
            </a:r>
          </a:p>
          <a:p/>
          <a:p>
            <a:r>
              <a:t>Why synthetic? Because no insurer would share real records. But the data is shaped to match published Cambodia statistics — the CDHS survey, STEPS, ILO, and WHO — so it behaves realistically even though no real person is in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I test it? Three things, in plain words.</a:t>
            </a:r>
          </a:p>
          <a:p/>
          <a:p>
            <a:r>
              <a:t>Five thousand applicants, seen one at a time in order — exactly how it would run in production. Twenty independent repeats, each with a different random draw; the learning system won every single time. And a head-to-head comparison against the incumbent static-rules approach on the same applicants.</a:t>
            </a:r>
          </a:p>
          <a:p/>
          <a:p>
            <a:r>
              <a:t>One subtlety: a learning system has no train/test split — it learns as it goes. So I judge it by how much reward it loses versus a perfect-knowledge Oracle, averaged over the twenty repeats. Appendix A6 explains that in full, and the statistics underneath are all standard — bootstrap intervals, Wilcoxon tests, Bonferroni, and effect sizes.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The learning system earned twenty-five point two percent more cumulative reward than the static rules — $90,540 versus $72,292, over twenty seeds.</a:t>
            </a:r>
          </a:p>
          <a:p/>
          <a:p>
            <a:r>
              <a:t>In plain words: for every hundred dollars the old rules earned, the learning system earned a hundred and twenty-five — and the gap held across all twenty repeats. Statistically it's about as clean as it gets: p below 0.001, Cohen's d of 2.98.</a:t>
            </a:r>
          </a:p>
          <a:p/>
          <a:p>
            <a:r>
              <a:t>[Point to the curve.]</a:t>
            </a:r>
          </a:p>
          <a:p/>
          <a:p>
            <a:r>
              <a:t>You can see it on the right: the two lines track together early, then the learning system pulls steadily ahead as it learns.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honest about where the bandit sits, so I tested it against a whole ladder of alternatives.</a:t>
            </a:r>
          </a:p>
          <a:p/>
          <a:p>
            <a:r>
              <a:t>Every realistic alternative lands below the bandits — the static incumbent, epsilon-greedy, always-standard, random. The two learning methods, LinTS and LinUCB, are the best deployable policies on the board.</a:t>
            </a:r>
          </a:p>
          <a:p/>
          <a:p>
            <a:r>
              <a:t>[Point to the top rows.]</a:t>
            </a:r>
          </a:p>
          <a:p/>
          <a:p>
            <a:r>
              <a:t>Now, two things sit above them. The Oracle, which sees the future — not deployable. And AlwaysRATED, a trivial constant that rates everyone at a flat loading. It scores higher, but it approves nobody cheaply and everybody expensively — no regulator would allow it. So among policies you could actually deploy, the bandit leads.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bring it back to Sophea. Here is the same applicant, decided by three different systems.</a:t>
            </a:r>
          </a:p>
          <a:p/>
          <a:p>
            <a:r>
              <a:t>The static rules — today's incumbent — see two fields and say DECLINE. Our LinUCB bandit weighs her whole profile and offers STANDARD cover. And the Oracle, the perfect-knowledge benchmark that knows her true risk, also says STANDARD.</a:t>
            </a:r>
          </a:p>
          <a:p/>
          <a:p>
            <a:r>
              <a:t>That's the whole story in one line: the bandit reaches the answer the all-knowing benchmark picks — the static rule never can.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it earns more. Is it fair — and does human oversight help? Yes to both.</a:t>
            </a:r>
          </a:p>
          <a:p/>
          <a:p>
            <a:r>
              <a:t>On fairness, across twenty seeds: region drift is green at 0.082, occupation drift is amber at 0.123, and approval parity is 85.7 and 90.1 percent — both comfortably above the eighty-percent rule. I'll be transparent: one of six fairness checks failed narrowly on occupation. I report it and explain it — no regulatory threshold is breached.</a:t>
            </a:r>
          </a:p>
          <a:p/>
          <a:p>
            <a:r>
              <a:t>On oversight: adding a human review lifts reward by fourteen point eight percent — to $103,951 — for a cost of just 2.2 percent, by sending only about one in seventy cases to an expert. A real gain for a small cost.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gather the findings — and be honest about the limits.</a:t>
            </a:r>
          </a:p>
          <a:p/>
          <a:p>
            <a:r>
              <a:t>Four findings. Learning beats static rules, by twenty-five percent. No demographic bias was introduced. It's the learning-as-it-goes, not the exploration, that does the work — the greedy version ties the full one. And human oversight adds value cheaply.</a:t>
            </a:r>
          </a:p>
          <a:p/>
          <a:p>
            <a:r>
              <a:t>And the limits. The data is synthetic — anchored to real surveys, but not real claims. The reward is single-period, so no multi-year renewals yet. And it's calibrated to one country; a constant policy still tops the ladder. These are real, and they point straight at the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next? Four directions.</a:t>
            </a:r>
          </a:p>
          <a:p/>
          <a:p>
            <a:r>
              <a:t>First, handle change over time — forgetting-factor updates paired with the PSI early warning, so it adapts faster when the population shifts. Second, richer models — neural bandits that go beyond thirty-four simple features. Third, real-world deployment — a shadow-mode trial with a Cambodian insurer, using a claims-lag proxy for delayed reward. And fourth, lifetime customer value — retention and renewals, beyond a single decision.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 me close where I began.</a:t>
            </a:r>
          </a:p>
          <a:p/>
          <a:p>
            <a:r>
              <a:t>In 2023, the static system issued Sophea a DECLINE. In 2026, the learning system issues STANDARD. The same woman — but a system that finally sees her whole picture, and keeps learning.</a:t>
            </a:r>
          </a:p>
          <a:p/>
          <a:p>
            <a:r>
              <a:t>And Cambodia has hundreds of thousands of applicants like her.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show you it working — this is a live FastAPI app, not a mockup.</a:t>
            </a:r>
          </a:p>
          <a:p/>
          <a:p>
            <a:r>
              <a:t>[Switch to the browser: uvicorn demo.desk.app:app --port 8000.]</a:t>
            </a:r>
          </a:p>
          <a:p/>
          <a:p>
            <a:r>
              <a:t>First, I'll score Sophea live and you'll see the decision and the fairness guardrail on screen. Then I'll score a higher-risk applicant so you can see the decision and the reward change. And finally, on the 'Watch it Learn' tab, I'll play the cumulative-reward animation — the learning system pulling ahead of the static rules, round by round.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if the live app fails — wifi, server, or port.]</a:t>
            </a:r>
          </a:p>
          <a:p/>
          <a:p>
            <a:r>
              <a:t>This is a captured screenshot of the Underwriting Desk: a sample applicant scored, with the decision and the inline fairness guardrail shown just as they appear live.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if the live app fails.]</a:t>
            </a:r>
          </a:p>
          <a:p/>
          <a:p>
            <a:r>
              <a:t>And this is the 'Watch it Learn' view: the cumulative-reward curve, the learning system versus the static rules, exactly as the live animation renders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my thesis. Thank you very much for your attention — I welcome your questions.</a:t>
            </a:r>
          </a:p>
          <a:p/>
          <a:p>
            <a:r>
              <a:t>[If a question targets a specific number, advance to the matching appendix: A1 the full ladder, A2 the number reconciliation, A3 all six fairness checks, A4 the maths, A5 the sensitivity analysis, A6 the no-split point, A7 the exploration bonus, or A8 the PSI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ladder, with 95% confidence intervals. From the Oracle at the top down to Random at the bottom. The point to make: the only policies above LinTS and LinUCB are the non-deployable Oracle, an in-sample logistic ceiling, and the inadmissible AlwaysRATED constant. Among everything you could deploy, the bandits lead.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reconciles the three percentages in the talk. The headline is plus 25.2 percent — LinUCB versus Static XGB, the primary pre-registered result. Plus 29.8 percent is LinTS on a different benchmark harness. And plus 14.8 percent is the human-in-the-loop gain over the vanilla bandit across twenty seeds. Note that at the single illustrative seed 42 the HITL figure reads plus 6.5 percent — same comparison, one seed instead of twenty; the twenty-seed 14.8 percent is the number I quote.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six fairness criteria. PSI on region and occupation, the four-fifths approval-parity rule on both, and permutation tests on both. Five pass. Criterion six — the occupation permutation test — is marked FAILED, in the interest of honesty: the dependence is statistically significant but practically small. PSI stays amber, parity is 90 percent, and no regulatory threshold is crossed.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maths, for completeness. On the left, the LinUCB update rule — the design matrix, the reward vector, the ridge estimate, and the UCB score — plus the PSI formula and the human-in-the-loop dual update. On the right, every hyperparameter: alpha 1.0, LinTS v-squared 1.0, ridge lambda 1.0, horizon 5,000, twenty seeds, and the PSI thresholds.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sensitivity analysis. On the left, the alpha sweep over ten seeds — alpha 1.0 gives $91,378 and the lowest regret; the reward barely moves across the whole range. On the right, LinUCB's advantage over Static XGB holds at every adverse-selection factor and every elasticity slope tested. One reconciliation note: the alpha-1.0 figure here is $91,378 over ten seeds, while the headline $90,540 is the twenty-seed number — both real, just different seed counts.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there's no train/test split. A supervised model splits the data, fits once, and freezes. A bandit meets applicants one at a time — every round is both train and test, and the ridge prior regularises online, so there is no static fit to overfit. I measure generalisation as cumulative regret versus the Oracle, averaged over twenty independent seeds — the seeds play the role of the held-out set. And the Static XGB baseline is fit offline and frozen,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exploration bonus, alpha, in plain words. An arm's score is its expected payoff plus alpha times how-unsure-we-still-are. In the formula, x-bar is the best guess of the payoff, the square-root term is how uncertain we still are, and alpha — which we set to 1.0 — controls how adventurous to be. For Sophea's Standard arm, the 0.52 is a payoff guess plus a small curiosity bonus. Too high wastes decisions exploring; too low and it never learns. I swept alpha from 0.1 to 5 — the reward barely moves, and 1.0 is best.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PSI, step by step. It sums, over each group, the difference between the share we approve now and the share in the training data, times the log of their ratio. The worked example with two regions comes out to about 0.010 — comfortably green. Green is below 0.10, amber to 0.25, red above. Our own result: region 0.082, green; occupation 0.123, amber. And PSI is a monitor, not an enforcer — it detects drift but does not change the policy.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TC.jpg"/>
          <p:cNvPicPr>
            <a:picLocks noChangeAspect="1"/>
          </p:cNvPicPr>
          <p:nvPr/>
        </p:nvPicPr>
        <p:blipFill>
          <a:blip r:embed="rId2"/>
          <a:stretch>
            <a:fillRect/>
          </a:stretch>
        </p:blipFill>
        <p:spPr>
          <a:xfrm>
            <a:off x="548640" y="274320"/>
            <a:ext cx="914400" cy="901541"/>
          </a:xfrm>
          <a:prstGeom prst="rect">
            <a:avLst/>
          </a:prstGeom>
        </p:spPr>
      </p:pic>
      <p:pic>
        <p:nvPicPr>
          <p:cNvPr id="4" name="Picture 3" descr="AMS.png"/>
          <p:cNvPicPr>
            <a:picLocks noChangeAspect="1"/>
          </p:cNvPicPr>
          <p:nvPr/>
        </p:nvPicPr>
        <p:blipFill>
          <a:blip r:embed="rId3"/>
          <a:stretch>
            <a:fillRect/>
          </a:stretch>
        </p:blipFill>
        <p:spPr>
          <a:xfrm>
            <a:off x="1600200" y="365760"/>
            <a:ext cx="1325880" cy="1256418"/>
          </a:xfrm>
          <a:prstGeom prst="rect">
            <a:avLst/>
          </a:prstGeom>
        </p:spPr>
      </p:pic>
      <p:pic>
        <p:nvPicPr>
          <p:cNvPr id="5" name="Picture 4" descr="DAC.jpg"/>
          <p:cNvPicPr>
            <a:picLocks noChangeAspect="1"/>
          </p:cNvPicPr>
          <p:nvPr/>
        </p:nvPicPr>
        <p:blipFill>
          <a:blip r:embed="rId4"/>
          <a:stretch>
            <a:fillRect/>
          </a:stretch>
        </p:blipFill>
        <p:spPr>
          <a:xfrm>
            <a:off x="10332720" y="320040"/>
            <a:ext cx="1325880" cy="745808"/>
          </a:xfrm>
          <a:prstGeom prst="rect">
            <a:avLst/>
          </a:prstGeom>
        </p:spPr>
      </p:pic>
      <p:sp>
        <p:nvSpPr>
          <p:cNvPr id="6" name="TextBox 5"/>
          <p:cNvSpPr txBox="1"/>
          <p:nvPr/>
        </p:nvSpPr>
        <p:spPr>
          <a:xfrm>
            <a:off x="3108960" y="384048"/>
            <a:ext cx="6583680" cy="457200"/>
          </a:xfrm>
          <a:prstGeom prst="rect">
            <a:avLst/>
          </a:prstGeom>
          <a:noFill/>
        </p:spPr>
        <p:txBody>
          <a:bodyPr wrap="square">
            <a:spAutoFit/>
          </a:bodyPr>
          <a:lstStyle/>
          <a:p>
            <a:pPr algn="ctr">
              <a:spcBef>
                <a:spcPts val="0"/>
              </a:spcBef>
              <a:spcAft>
                <a:spcPts val="0"/>
              </a:spcAft>
            </a:pPr>
            <a:r>
              <a:rPr sz="2200" b="1" i="0">
                <a:solidFill>
                  <a:srgbClr val="262626"/>
                </a:solidFill>
                <a:latin typeface="Segoe UI"/>
              </a:rPr>
              <a:t>Institute of Technology of Cambodia</a:t>
            </a:r>
          </a:p>
        </p:txBody>
      </p:sp>
      <p:sp>
        <p:nvSpPr>
          <p:cNvPr id="7" name="TextBox 6"/>
          <p:cNvSpPr txBox="1"/>
          <p:nvPr/>
        </p:nvSpPr>
        <p:spPr>
          <a:xfrm>
            <a:off x="3108960" y="841248"/>
            <a:ext cx="6583680" cy="365760"/>
          </a:xfrm>
          <a:prstGeom prst="rect">
            <a:avLst/>
          </a:prstGeom>
          <a:noFill/>
        </p:spPr>
        <p:txBody>
          <a:bodyPr wrap="square">
            <a:spAutoFit/>
          </a:bodyPr>
          <a:lstStyle/>
          <a:p>
            <a:pPr algn="ctr">
              <a:spcBef>
                <a:spcPts val="0"/>
              </a:spcBef>
              <a:spcAft>
                <a:spcPts val="0"/>
              </a:spcAft>
            </a:pPr>
            <a:r>
              <a:rPr sz="1500" b="0" i="0">
                <a:solidFill>
                  <a:srgbClr val="505050"/>
                </a:solidFill>
                <a:latin typeface="Calibri"/>
              </a:rPr>
              <a:t>Department of Applied Mathematics and Statistics</a:t>
            </a:r>
          </a:p>
        </p:txBody>
      </p:sp>
      <p:sp>
        <p:nvSpPr>
          <p:cNvPr id="8" name="TextBox 7"/>
          <p:cNvSpPr txBox="1"/>
          <p:nvPr/>
        </p:nvSpPr>
        <p:spPr>
          <a:xfrm>
            <a:off x="914400" y="1353312"/>
            <a:ext cx="10332720" cy="292608"/>
          </a:xfrm>
          <a:prstGeom prst="rect">
            <a:avLst/>
          </a:prstGeom>
          <a:noFill/>
        </p:spPr>
        <p:txBody>
          <a:bodyPr wrap="square">
            <a:spAutoFit/>
          </a:bodyPr>
          <a:lstStyle/>
          <a:p>
            <a:pPr algn="ctr">
              <a:spcBef>
                <a:spcPts val="0"/>
              </a:spcBef>
              <a:spcAft>
                <a:spcPts val="0"/>
              </a:spcAft>
            </a:pPr>
            <a:r>
              <a:rPr sz="1100" b="0" i="0">
                <a:solidFill>
                  <a:srgbClr val="505050"/>
                </a:solidFill>
                <a:latin typeface="Calibri"/>
              </a:rPr>
              <a:t>Introduction  ·  Literature  ·  System Design  ·  Implementation  ·  Results  ·  Conclusion  ·  Demonstration</a:t>
            </a:r>
          </a:p>
        </p:txBody>
      </p:sp>
      <p:sp>
        <p:nvSpPr>
          <p:cNvPr id="9" name="Rectangle 8"/>
          <p:cNvSpPr/>
          <p:nvPr/>
        </p:nvSpPr>
        <p:spPr>
          <a:xfrm>
            <a:off x="5413248" y="1874519"/>
            <a:ext cx="1371600" cy="41148"/>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48840"/>
            <a:ext cx="10515600" cy="1554480"/>
          </a:xfrm>
          <a:prstGeom prst="rect">
            <a:avLst/>
          </a:prstGeom>
          <a:noFill/>
        </p:spPr>
        <p:txBody>
          <a:bodyPr wrap="square" anchor="ctr">
            <a:spAutoFit/>
          </a:bodyPr>
          <a:lstStyle/>
          <a:p>
            <a:pPr algn="ctr">
              <a:spcBef>
                <a:spcPts val="0"/>
              </a:spcBef>
              <a:spcAft>
                <a:spcPts val="0"/>
              </a:spcAft>
            </a:pPr>
            <a:r>
              <a:rPr sz="2700" b="1" i="0">
                <a:solidFill>
                  <a:srgbClr val="262626"/>
                </a:solidFill>
                <a:latin typeface="Segoe UI"/>
              </a:rPr>
              <a:t>ADAPTIVE HEALTH INSURANCE UNDERWRITING VIA CONTEXTUAL BANDITS: A REINFORCEMENT LEARNING APPROACH FOR CAMBODIA</a:t>
            </a:r>
          </a:p>
        </p:txBody>
      </p:sp>
      <p:sp>
        <p:nvSpPr>
          <p:cNvPr id="11" name="Rectangle 10"/>
          <p:cNvSpPr/>
          <p:nvPr/>
        </p:nvSpPr>
        <p:spPr>
          <a:xfrm>
            <a:off x="5413248" y="3886200"/>
            <a:ext cx="1371600" cy="41148"/>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0" y="4224528"/>
            <a:ext cx="12191695" cy="310896"/>
          </a:xfrm>
          <a:prstGeom prst="rect">
            <a:avLst/>
          </a:prstGeom>
          <a:noFill/>
        </p:spPr>
        <p:txBody>
          <a:bodyPr wrap="square">
            <a:spAutoFit/>
          </a:bodyPr>
          <a:lstStyle/>
          <a:p>
            <a:pPr algn="ctr">
              <a:spcBef>
                <a:spcPts val="0"/>
              </a:spcBef>
              <a:spcAft>
                <a:spcPts val="0"/>
              </a:spcAft>
            </a:pPr>
            <a:r>
              <a:rPr sz="1600" b="0" i="0">
                <a:solidFill>
                  <a:srgbClr val="505050"/>
                </a:solidFill>
                <a:latin typeface="Calibri"/>
              </a:rPr>
              <a:t>Thesis Defense — Presented by</a:t>
            </a:r>
          </a:p>
        </p:txBody>
      </p:sp>
      <p:sp>
        <p:nvSpPr>
          <p:cNvPr id="13" name="TextBox 12"/>
          <p:cNvSpPr txBox="1"/>
          <p:nvPr/>
        </p:nvSpPr>
        <p:spPr>
          <a:xfrm>
            <a:off x="0" y="4535424"/>
            <a:ext cx="12191695" cy="457200"/>
          </a:xfrm>
          <a:prstGeom prst="rect">
            <a:avLst/>
          </a:prstGeom>
          <a:noFill/>
        </p:spPr>
        <p:txBody>
          <a:bodyPr wrap="square">
            <a:spAutoFit/>
          </a:bodyPr>
          <a:lstStyle/>
          <a:p>
            <a:pPr algn="ctr">
              <a:spcBef>
                <a:spcPts val="0"/>
              </a:spcBef>
              <a:spcAft>
                <a:spcPts val="0"/>
              </a:spcAft>
            </a:pPr>
            <a:r>
              <a:rPr sz="2700" b="1" i="0">
                <a:solidFill>
                  <a:srgbClr val="1B5697"/>
                </a:solidFill>
                <a:latin typeface="Segoe UI"/>
              </a:rPr>
              <a:t>LUN CHANPOLY</a:t>
            </a:r>
          </a:p>
        </p:txBody>
      </p:sp>
      <p:sp>
        <p:nvSpPr>
          <p:cNvPr id="14" name="TextBox 13"/>
          <p:cNvSpPr txBox="1"/>
          <p:nvPr/>
        </p:nvSpPr>
        <p:spPr>
          <a:xfrm>
            <a:off x="1371600" y="5193792"/>
            <a:ext cx="5120640" cy="310896"/>
          </a:xfrm>
          <a:prstGeom prst="rect">
            <a:avLst/>
          </a:prstGeom>
          <a:noFill/>
        </p:spPr>
        <p:txBody>
          <a:bodyPr wrap="square">
            <a:spAutoFit/>
          </a:bodyPr>
          <a:lstStyle/>
          <a:p>
            <a:pPr algn="l">
              <a:spcBef>
                <a:spcPts val="0"/>
              </a:spcBef>
              <a:spcAft>
                <a:spcPts val="0"/>
              </a:spcAft>
            </a:pPr>
            <a:r>
              <a:rPr sz="1600" b="0" i="0">
                <a:solidFill>
                  <a:srgbClr val="262626"/>
                </a:solidFill>
                <a:latin typeface="Calibri"/>
              </a:rPr>
              <a:t>Supervisor   :  Dr. HAS Sothea</a:t>
            </a:r>
          </a:p>
        </p:txBody>
      </p:sp>
      <p:sp>
        <p:nvSpPr>
          <p:cNvPr id="15" name="TextBox 14"/>
          <p:cNvSpPr txBox="1"/>
          <p:nvPr/>
        </p:nvSpPr>
        <p:spPr>
          <a:xfrm>
            <a:off x="6858000" y="5193792"/>
            <a:ext cx="5120640" cy="310896"/>
          </a:xfrm>
          <a:prstGeom prst="rect">
            <a:avLst/>
          </a:prstGeom>
          <a:noFill/>
        </p:spPr>
        <p:txBody>
          <a:bodyPr wrap="square">
            <a:spAutoFit/>
          </a:bodyPr>
          <a:lstStyle/>
          <a:p>
            <a:pPr algn="l">
              <a:spcBef>
                <a:spcPts val="0"/>
              </a:spcBef>
              <a:spcAft>
                <a:spcPts val="0"/>
              </a:spcAft>
            </a:pPr>
            <a:r>
              <a:rPr sz="1600" b="0" i="0">
                <a:solidFill>
                  <a:srgbClr val="262626"/>
                </a:solidFill>
                <a:latin typeface="Calibri"/>
              </a:rPr>
              <a:t>Organization  :  DAC (Decent Actuarial Consultants)</a:t>
            </a:r>
          </a:p>
        </p:txBody>
      </p:sp>
      <p:sp>
        <p:nvSpPr>
          <p:cNvPr id="16" name="TextBox 15"/>
          <p:cNvSpPr txBox="1"/>
          <p:nvPr/>
        </p:nvSpPr>
        <p:spPr>
          <a:xfrm>
            <a:off x="1371600" y="5522976"/>
            <a:ext cx="5120640" cy="310896"/>
          </a:xfrm>
          <a:prstGeom prst="rect">
            <a:avLst/>
          </a:prstGeom>
          <a:noFill/>
        </p:spPr>
        <p:txBody>
          <a:bodyPr wrap="square">
            <a:spAutoFit/>
          </a:bodyPr>
          <a:lstStyle/>
          <a:p>
            <a:pPr algn="l">
              <a:spcBef>
                <a:spcPts val="0"/>
              </a:spcBef>
              <a:spcAft>
                <a:spcPts val="0"/>
              </a:spcAft>
            </a:pPr>
            <a:r>
              <a:rPr sz="1600" b="0" i="0">
                <a:solidFill>
                  <a:srgbClr val="262626"/>
                </a:solidFill>
                <a:latin typeface="Calibri"/>
              </a:rPr>
              <a:t>Duration       :  Mar 2026 – Jun 2026</a:t>
            </a:r>
          </a:p>
        </p:txBody>
      </p:sp>
      <p:sp>
        <p:nvSpPr>
          <p:cNvPr id="17" name="TextBox 16"/>
          <p:cNvSpPr txBox="1"/>
          <p:nvPr/>
        </p:nvSpPr>
        <p:spPr>
          <a:xfrm>
            <a:off x="6858000" y="5522976"/>
            <a:ext cx="5120640" cy="310896"/>
          </a:xfrm>
          <a:prstGeom prst="rect">
            <a:avLst/>
          </a:prstGeom>
          <a:noFill/>
        </p:spPr>
        <p:txBody>
          <a:bodyPr wrap="square">
            <a:spAutoFit/>
          </a:bodyPr>
          <a:lstStyle/>
          <a:p>
            <a:pPr algn="l">
              <a:spcBef>
                <a:spcPts val="0"/>
              </a:spcBef>
              <a:spcAft>
                <a:spcPts val="0"/>
              </a:spcAft>
            </a:pPr>
            <a:r>
              <a:rPr sz="1600" b="0" i="0">
                <a:solidFill>
                  <a:srgbClr val="262626"/>
                </a:solidFill>
                <a:latin typeface="Calibri"/>
              </a:rPr>
              <a:t>DAC Advisor  :  Mr. ON Radet</a:t>
            </a:r>
          </a:p>
        </p:txBody>
      </p:sp>
      <p:sp>
        <p:nvSpPr>
          <p:cNvPr id="18" name="TextBox 17"/>
          <p:cNvSpPr txBox="1"/>
          <p:nvPr/>
        </p:nvSpPr>
        <p:spPr>
          <a:xfrm>
            <a:off x="0" y="6035040"/>
            <a:ext cx="12191695" cy="347472"/>
          </a:xfrm>
          <a:prstGeom prst="rect">
            <a:avLst/>
          </a:prstGeom>
          <a:noFill/>
        </p:spPr>
        <p:txBody>
          <a:bodyPr wrap="square">
            <a:spAutoFit/>
          </a:bodyPr>
          <a:lstStyle/>
          <a:p>
            <a:pPr algn="ctr">
              <a:spcBef>
                <a:spcPts val="0"/>
              </a:spcBef>
              <a:spcAft>
                <a:spcPts val="0"/>
              </a:spcAft>
            </a:pPr>
            <a:r>
              <a:rPr sz="1500" b="1" i="0">
                <a:solidFill>
                  <a:srgbClr val="505050"/>
                </a:solidFill>
                <a:latin typeface="Calibri"/>
              </a:rPr>
              <a:t>8 July 2026</a:t>
            </a:r>
          </a:p>
        </p:txBody>
      </p:sp>
      <p:sp>
        <p:nvSpPr>
          <p:cNvPr id="19" name="Rectangle 18"/>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1" name="Rectangle 20"/>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Title</a:t>
            </a:r>
          </a:p>
        </p:txBody>
      </p:sp>
      <p:sp>
        <p:nvSpPr>
          <p:cNvPr id="23" name="Rectangle 22"/>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 / 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TABLE OF CONTENTS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80000"/>
            <a:ext cx="56000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7200" y="1180000"/>
            <a:ext cx="520000" cy="560000"/>
          </a:xfrm>
          <a:prstGeom prst="rect">
            <a:avLst/>
          </a:prstGeom>
          <a:noFill/>
        </p:spPr>
        <p:txBody>
          <a:bodyPr wrap="none" anchor="ctr">
            <a:spAutoFit/>
          </a:bodyPr>
          <a:lstStyle/>
          <a:p>
            <a:pPr algn="ctr">
              <a:spcBef>
                <a:spcPts val="0"/>
              </a:spcBef>
              <a:spcAft>
                <a:spcPts val="0"/>
              </a:spcAft>
            </a:pPr>
            <a:r>
              <a:rPr sz="1700" b="1" i="0">
                <a:solidFill>
                  <a:srgbClr val="FFFFFF"/>
                </a:solidFill>
                <a:latin typeface="Calibri"/>
              </a:rPr>
              <a:t>i</a:t>
            </a:r>
          </a:p>
        </p:txBody>
      </p:sp>
      <p:sp>
        <p:nvSpPr>
          <p:cNvPr id="7" name="TextBox 6"/>
          <p:cNvSpPr txBox="1"/>
          <p:nvPr/>
        </p:nvSpPr>
        <p:spPr>
          <a:xfrm>
            <a:off x="1157200" y="1180000"/>
            <a:ext cx="10477295" cy="560000"/>
          </a:xfrm>
          <a:prstGeom prst="rect">
            <a:avLst/>
          </a:prstGeom>
          <a:noFill/>
        </p:spPr>
        <p:txBody>
          <a:bodyPr wrap="square" anchor="ctr">
            <a:spAutoFit/>
          </a:bodyPr>
          <a:lstStyle/>
          <a:p>
            <a:pPr algn="l">
              <a:spcBef>
                <a:spcPts val="0"/>
              </a:spcBef>
              <a:spcAft>
                <a:spcPts val="0"/>
              </a:spcAft>
            </a:pPr>
            <a:r>
              <a:rPr sz="1600" b="0" i="0">
                <a:solidFill>
                  <a:srgbClr val="1B5697"/>
                </a:solidFill>
                <a:latin typeface="Calibri"/>
              </a:rPr>
              <a:t>Introduction &amp; Problem Background</a:t>
            </a:r>
          </a:p>
        </p:txBody>
      </p:sp>
      <p:sp>
        <p:nvSpPr>
          <p:cNvPr id="8" name="Rectangle 7"/>
          <p:cNvSpPr/>
          <p:nvPr/>
        </p:nvSpPr>
        <p:spPr>
          <a:xfrm>
            <a:off x="457200" y="1880000"/>
            <a:ext cx="56000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7200" y="1880000"/>
            <a:ext cx="520000" cy="560000"/>
          </a:xfrm>
          <a:prstGeom prst="rect">
            <a:avLst/>
          </a:prstGeom>
          <a:noFill/>
        </p:spPr>
        <p:txBody>
          <a:bodyPr wrap="none" anchor="ctr">
            <a:spAutoFit/>
          </a:bodyPr>
          <a:lstStyle/>
          <a:p>
            <a:pPr algn="ctr">
              <a:spcBef>
                <a:spcPts val="0"/>
              </a:spcBef>
              <a:spcAft>
                <a:spcPts val="0"/>
              </a:spcAft>
            </a:pPr>
            <a:r>
              <a:rPr sz="1700" b="1" i="0">
                <a:solidFill>
                  <a:srgbClr val="FFFFFF"/>
                </a:solidFill>
                <a:latin typeface="Calibri"/>
              </a:rPr>
              <a:t>ii</a:t>
            </a:r>
          </a:p>
        </p:txBody>
      </p:sp>
      <p:sp>
        <p:nvSpPr>
          <p:cNvPr id="10" name="TextBox 9"/>
          <p:cNvSpPr txBox="1"/>
          <p:nvPr/>
        </p:nvSpPr>
        <p:spPr>
          <a:xfrm>
            <a:off x="1157200" y="1880000"/>
            <a:ext cx="10477295" cy="560000"/>
          </a:xfrm>
          <a:prstGeom prst="rect">
            <a:avLst/>
          </a:prstGeom>
          <a:noFill/>
        </p:spPr>
        <p:txBody>
          <a:bodyPr wrap="square" anchor="ctr">
            <a:spAutoFit/>
          </a:bodyPr>
          <a:lstStyle/>
          <a:p>
            <a:pPr algn="l">
              <a:spcBef>
                <a:spcPts val="0"/>
              </a:spcBef>
              <a:spcAft>
                <a:spcPts val="0"/>
              </a:spcAft>
            </a:pPr>
            <a:r>
              <a:rPr sz="1600" b="0" i="0">
                <a:solidFill>
                  <a:srgbClr val="1B5697"/>
                </a:solidFill>
                <a:latin typeface="Calibri"/>
              </a:rPr>
              <a:t>Literature Review</a:t>
            </a:r>
          </a:p>
        </p:txBody>
      </p:sp>
      <p:sp>
        <p:nvSpPr>
          <p:cNvPr id="11" name="Rectangle 10"/>
          <p:cNvSpPr/>
          <p:nvPr/>
        </p:nvSpPr>
        <p:spPr>
          <a:xfrm>
            <a:off x="457200" y="2580000"/>
            <a:ext cx="56000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7200" y="2580000"/>
            <a:ext cx="520000" cy="560000"/>
          </a:xfrm>
          <a:prstGeom prst="rect">
            <a:avLst/>
          </a:prstGeom>
          <a:noFill/>
        </p:spPr>
        <p:txBody>
          <a:bodyPr wrap="none" anchor="ctr">
            <a:spAutoFit/>
          </a:bodyPr>
          <a:lstStyle/>
          <a:p>
            <a:pPr algn="ctr">
              <a:spcBef>
                <a:spcPts val="0"/>
              </a:spcBef>
              <a:spcAft>
                <a:spcPts val="0"/>
              </a:spcAft>
            </a:pPr>
            <a:r>
              <a:rPr sz="1700" b="1" i="0">
                <a:solidFill>
                  <a:srgbClr val="FFFFFF"/>
                </a:solidFill>
                <a:latin typeface="Calibri"/>
              </a:rPr>
              <a:t>iii</a:t>
            </a:r>
          </a:p>
        </p:txBody>
      </p:sp>
      <p:sp>
        <p:nvSpPr>
          <p:cNvPr id="13" name="TextBox 12"/>
          <p:cNvSpPr txBox="1"/>
          <p:nvPr/>
        </p:nvSpPr>
        <p:spPr>
          <a:xfrm>
            <a:off x="1157200" y="2580000"/>
            <a:ext cx="10477295" cy="560000"/>
          </a:xfrm>
          <a:prstGeom prst="rect">
            <a:avLst/>
          </a:prstGeom>
          <a:noFill/>
        </p:spPr>
        <p:txBody>
          <a:bodyPr wrap="square" anchor="ctr">
            <a:spAutoFit/>
          </a:bodyPr>
          <a:lstStyle/>
          <a:p>
            <a:pPr algn="l">
              <a:spcBef>
                <a:spcPts val="0"/>
              </a:spcBef>
              <a:spcAft>
                <a:spcPts val="0"/>
              </a:spcAft>
            </a:pPr>
            <a:r>
              <a:rPr sz="1600" b="0" i="0">
                <a:solidFill>
                  <a:srgbClr val="1B5697"/>
                </a:solidFill>
                <a:latin typeface="Calibri"/>
              </a:rPr>
              <a:t>System Design</a:t>
            </a:r>
          </a:p>
        </p:txBody>
      </p:sp>
      <p:sp>
        <p:nvSpPr>
          <p:cNvPr id="14" name="Rectangle 13"/>
          <p:cNvSpPr/>
          <p:nvPr/>
        </p:nvSpPr>
        <p:spPr>
          <a:xfrm>
            <a:off x="457200" y="3280000"/>
            <a:ext cx="56000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200" y="3280000"/>
            <a:ext cx="520000" cy="560000"/>
          </a:xfrm>
          <a:prstGeom prst="rect">
            <a:avLst/>
          </a:prstGeom>
          <a:noFill/>
        </p:spPr>
        <p:txBody>
          <a:bodyPr wrap="none" anchor="ctr">
            <a:spAutoFit/>
          </a:bodyPr>
          <a:lstStyle/>
          <a:p>
            <a:pPr algn="ctr">
              <a:spcBef>
                <a:spcPts val="0"/>
              </a:spcBef>
              <a:spcAft>
                <a:spcPts val="0"/>
              </a:spcAft>
            </a:pPr>
            <a:r>
              <a:rPr sz="1700" b="1" i="0">
                <a:solidFill>
                  <a:srgbClr val="FFFFFF"/>
                </a:solidFill>
                <a:latin typeface="Calibri"/>
              </a:rPr>
              <a:t>iv</a:t>
            </a:r>
          </a:p>
        </p:txBody>
      </p:sp>
      <p:sp>
        <p:nvSpPr>
          <p:cNvPr id="16" name="TextBox 15"/>
          <p:cNvSpPr txBox="1"/>
          <p:nvPr/>
        </p:nvSpPr>
        <p:spPr>
          <a:xfrm>
            <a:off x="1157200" y="3280000"/>
            <a:ext cx="10477295" cy="560000"/>
          </a:xfrm>
          <a:prstGeom prst="rect">
            <a:avLst/>
          </a:prstGeom>
          <a:noFill/>
        </p:spPr>
        <p:txBody>
          <a:bodyPr wrap="square" anchor="ctr">
            <a:spAutoFit/>
          </a:bodyPr>
          <a:lstStyle/>
          <a:p>
            <a:pPr algn="l">
              <a:spcBef>
                <a:spcPts val="0"/>
              </a:spcBef>
              <a:spcAft>
                <a:spcPts val="0"/>
              </a:spcAft>
            </a:pPr>
            <a:r>
              <a:rPr sz="1600" b="0" i="0">
                <a:solidFill>
                  <a:srgbClr val="1B5697"/>
                </a:solidFill>
                <a:latin typeface="Calibri"/>
              </a:rPr>
              <a:t>Implementation</a:t>
            </a:r>
          </a:p>
        </p:txBody>
      </p:sp>
      <p:sp>
        <p:nvSpPr>
          <p:cNvPr id="17" name="Rectangle 16"/>
          <p:cNvSpPr/>
          <p:nvPr/>
        </p:nvSpPr>
        <p:spPr>
          <a:xfrm>
            <a:off x="457200" y="3980000"/>
            <a:ext cx="56000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200" y="3980000"/>
            <a:ext cx="520000" cy="560000"/>
          </a:xfrm>
          <a:prstGeom prst="rect">
            <a:avLst/>
          </a:prstGeom>
          <a:noFill/>
        </p:spPr>
        <p:txBody>
          <a:bodyPr wrap="none" anchor="ctr">
            <a:spAutoFit/>
          </a:bodyPr>
          <a:lstStyle/>
          <a:p>
            <a:pPr algn="ctr">
              <a:spcBef>
                <a:spcPts val="0"/>
              </a:spcBef>
              <a:spcAft>
                <a:spcPts val="0"/>
              </a:spcAft>
            </a:pPr>
            <a:r>
              <a:rPr sz="1700" b="1" i="0">
                <a:solidFill>
                  <a:srgbClr val="FFFFFF"/>
                </a:solidFill>
                <a:latin typeface="Calibri"/>
              </a:rPr>
              <a:t>v</a:t>
            </a:r>
          </a:p>
        </p:txBody>
      </p:sp>
      <p:sp>
        <p:nvSpPr>
          <p:cNvPr id="19" name="TextBox 18"/>
          <p:cNvSpPr txBox="1"/>
          <p:nvPr/>
        </p:nvSpPr>
        <p:spPr>
          <a:xfrm>
            <a:off x="1157200" y="3980000"/>
            <a:ext cx="10477295" cy="560000"/>
          </a:xfrm>
          <a:prstGeom prst="rect">
            <a:avLst/>
          </a:prstGeom>
          <a:noFill/>
        </p:spPr>
        <p:txBody>
          <a:bodyPr wrap="square" anchor="ctr">
            <a:spAutoFit/>
          </a:bodyPr>
          <a:lstStyle/>
          <a:p>
            <a:pPr algn="l">
              <a:spcBef>
                <a:spcPts val="0"/>
              </a:spcBef>
              <a:spcAft>
                <a:spcPts val="0"/>
              </a:spcAft>
            </a:pPr>
            <a:r>
              <a:rPr sz="1600" b="0" i="0">
                <a:solidFill>
                  <a:srgbClr val="1B5697"/>
                </a:solidFill>
                <a:latin typeface="Calibri"/>
              </a:rPr>
              <a:t>Results &amp; Discussion</a:t>
            </a:r>
          </a:p>
        </p:txBody>
      </p:sp>
      <p:sp>
        <p:nvSpPr>
          <p:cNvPr id="20" name="Rectangle 19"/>
          <p:cNvSpPr/>
          <p:nvPr/>
        </p:nvSpPr>
        <p:spPr>
          <a:xfrm>
            <a:off x="457200" y="4680000"/>
            <a:ext cx="56000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200" y="4680000"/>
            <a:ext cx="520000" cy="560000"/>
          </a:xfrm>
          <a:prstGeom prst="rect">
            <a:avLst/>
          </a:prstGeom>
          <a:noFill/>
        </p:spPr>
        <p:txBody>
          <a:bodyPr wrap="none" anchor="ctr">
            <a:spAutoFit/>
          </a:bodyPr>
          <a:lstStyle/>
          <a:p>
            <a:pPr algn="ctr">
              <a:spcBef>
                <a:spcPts val="0"/>
              </a:spcBef>
              <a:spcAft>
                <a:spcPts val="0"/>
              </a:spcAft>
            </a:pPr>
            <a:r>
              <a:rPr sz="1700" b="1" i="0">
                <a:solidFill>
                  <a:srgbClr val="FFFFFF"/>
                </a:solidFill>
                <a:latin typeface="Calibri"/>
              </a:rPr>
              <a:t>vi</a:t>
            </a:r>
          </a:p>
        </p:txBody>
      </p:sp>
      <p:sp>
        <p:nvSpPr>
          <p:cNvPr id="22" name="TextBox 21"/>
          <p:cNvSpPr txBox="1"/>
          <p:nvPr/>
        </p:nvSpPr>
        <p:spPr>
          <a:xfrm>
            <a:off x="1157200" y="4680000"/>
            <a:ext cx="10477295" cy="560000"/>
          </a:xfrm>
          <a:prstGeom prst="rect">
            <a:avLst/>
          </a:prstGeom>
          <a:noFill/>
        </p:spPr>
        <p:txBody>
          <a:bodyPr wrap="square" anchor="ctr">
            <a:spAutoFit/>
          </a:bodyPr>
          <a:lstStyle/>
          <a:p>
            <a:pPr algn="l">
              <a:spcBef>
                <a:spcPts val="0"/>
              </a:spcBef>
              <a:spcAft>
                <a:spcPts val="0"/>
              </a:spcAft>
            </a:pPr>
            <a:r>
              <a:rPr sz="1600" b="0" i="0">
                <a:solidFill>
                  <a:srgbClr val="1B5697"/>
                </a:solidFill>
                <a:latin typeface="Calibri"/>
              </a:rPr>
              <a:t>Conclusion &amp; Future Work</a:t>
            </a:r>
          </a:p>
        </p:txBody>
      </p:sp>
      <p:sp>
        <p:nvSpPr>
          <p:cNvPr id="23" name="Rectangle 22"/>
          <p:cNvSpPr/>
          <p:nvPr/>
        </p:nvSpPr>
        <p:spPr>
          <a:xfrm>
            <a:off x="457200" y="5380000"/>
            <a:ext cx="56000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200" y="5380000"/>
            <a:ext cx="520000" cy="560000"/>
          </a:xfrm>
          <a:prstGeom prst="rect">
            <a:avLst/>
          </a:prstGeom>
          <a:noFill/>
        </p:spPr>
        <p:txBody>
          <a:bodyPr wrap="none" anchor="ctr">
            <a:spAutoFit/>
          </a:bodyPr>
          <a:lstStyle/>
          <a:p>
            <a:pPr algn="ctr">
              <a:spcBef>
                <a:spcPts val="0"/>
              </a:spcBef>
              <a:spcAft>
                <a:spcPts val="0"/>
              </a:spcAft>
            </a:pPr>
            <a:r>
              <a:rPr sz="1700" b="1" i="0">
                <a:solidFill>
                  <a:srgbClr val="FFFFFF"/>
                </a:solidFill>
                <a:latin typeface="Calibri"/>
              </a:rPr>
              <a:t>vii</a:t>
            </a:r>
          </a:p>
        </p:txBody>
      </p:sp>
      <p:sp>
        <p:nvSpPr>
          <p:cNvPr id="25" name="TextBox 24"/>
          <p:cNvSpPr txBox="1"/>
          <p:nvPr/>
        </p:nvSpPr>
        <p:spPr>
          <a:xfrm>
            <a:off x="1157200" y="5380000"/>
            <a:ext cx="10477295" cy="560000"/>
          </a:xfrm>
          <a:prstGeom prst="rect">
            <a:avLst/>
          </a:prstGeom>
          <a:noFill/>
        </p:spPr>
        <p:txBody>
          <a:bodyPr wrap="square" anchor="ctr">
            <a:spAutoFit/>
          </a:bodyPr>
          <a:lstStyle/>
          <a:p>
            <a:pPr algn="l">
              <a:spcBef>
                <a:spcPts val="0"/>
              </a:spcBef>
              <a:spcAft>
                <a:spcPts val="0"/>
              </a:spcAft>
            </a:pPr>
            <a:r>
              <a:rPr sz="1600" b="0" i="0">
                <a:solidFill>
                  <a:srgbClr val="1B5697"/>
                </a:solidFill>
                <a:latin typeface="Calibri"/>
              </a:rPr>
              <a:t>Demonstration</a:t>
            </a:r>
          </a:p>
        </p:txBody>
      </p:sp>
      <p:sp>
        <p:nvSpPr>
          <p:cNvPr id="26" name="Rectangle 2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8" name="Rectangle 2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Contents</a:t>
            </a:r>
          </a:p>
        </p:txBody>
      </p:sp>
      <p:sp>
        <p:nvSpPr>
          <p:cNvPr id="30" name="Rectangle 2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 / 34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 MARKET THE SYSTEM WAS NOT BUILT FOR</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mbodia_map_navy.png"/>
          <p:cNvPicPr>
            <a:picLocks noChangeAspect="1"/>
          </p:cNvPicPr>
          <p:nvPr/>
        </p:nvPicPr>
        <p:blipFill>
          <a:blip r:embed="rId2"/>
          <a:stretch>
            <a:fillRect/>
          </a:stretch>
        </p:blipFill>
        <p:spPr>
          <a:xfrm>
            <a:off x="4145847" y="1420000"/>
            <a:ext cx="3900000" cy="2968696"/>
          </a:xfrm>
          <a:prstGeom prst="rect">
            <a:avLst/>
          </a:prstGeom>
        </p:spPr>
      </p:pic>
      <p:sp>
        <p:nvSpPr>
          <p:cNvPr id="21" name="Rectangle 20"/>
          <p:cNvSpPr/>
          <p:nvPr/>
        </p:nvSpPr>
        <p:spPr>
          <a:xfrm>
            <a:off x="457200" y="1420000"/>
            <a:ext cx="3000000" cy="13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7200" y="1500000"/>
            <a:ext cx="2760000" cy="760000"/>
          </a:xfrm>
          <a:prstGeom prst="rect">
            <a:avLst/>
          </a:prstGeom>
          <a:noFill/>
        </p:spPr>
        <p:txBody>
          <a:bodyPr wrap="square">
            <a:spAutoFit/>
          </a:bodyPr>
          <a:lstStyle/>
          <a:p>
            <a:pPr algn="ctr">
              <a:spcBef>
                <a:spcPts val="0"/>
              </a:spcBef>
              <a:spcAft>
                <a:spcPts val="0"/>
              </a:spcAft>
            </a:pPr>
            <a:r>
              <a:rPr sz="4400" b="1" i="0">
                <a:solidFill>
                  <a:srgbClr val="FFFFFF"/>
                </a:solidFill>
                <a:latin typeface="Segoe UI"/>
              </a:rPr>
              <a:t>&lt; 2%</a:t>
            </a:r>
          </a:p>
        </p:txBody>
      </p:sp>
      <p:sp>
        <p:nvSpPr>
          <p:cNvPr id="23" name="TextBox 22"/>
          <p:cNvSpPr txBox="1"/>
          <p:nvPr/>
        </p:nvSpPr>
        <p:spPr>
          <a:xfrm>
            <a:off x="577200" y="2320000"/>
            <a:ext cx="2760000" cy="380000"/>
          </a:xfrm>
          <a:prstGeom prst="rect">
            <a:avLst/>
          </a:prstGeom>
          <a:noFill/>
        </p:spPr>
        <p:txBody>
          <a:bodyPr wrap="square">
            <a:spAutoFit/>
          </a:bodyPr>
          <a:lstStyle/>
          <a:p>
            <a:pPr algn="ctr">
              <a:spcBef>
                <a:spcPts val="0"/>
              </a:spcBef>
              <a:spcAft>
                <a:spcPts val="0"/>
              </a:spcAft>
            </a:pPr>
            <a:r>
              <a:rPr sz="1200" b="0" i="0">
                <a:solidFill>
                  <a:srgbClr val="BDCEE4"/>
                </a:solidFill>
                <a:latin typeface="Calibri"/>
              </a:rPr>
              <a:t>have any health insurance (2023 est.)</a:t>
            </a:r>
          </a:p>
        </p:txBody>
      </p:sp>
      <p:sp>
        <p:nvSpPr>
          <p:cNvPr id="24" name="Rectangle 23"/>
          <p:cNvSpPr/>
          <p:nvPr/>
        </p:nvSpPr>
        <p:spPr>
          <a:xfrm>
            <a:off x="457200" y="3000000"/>
            <a:ext cx="3000000" cy="10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000000"/>
            <a:ext cx="73152" cy="10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200" y="3110000"/>
            <a:ext cx="2760000" cy="86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The state scheme (NSSF) covers formal-sector workers only</a:t>
            </a:r>
          </a:p>
          <a:p>
            <a:pPr algn="l">
              <a:spcBef>
                <a:spcPts val="400"/>
              </a:spcBef>
            </a:pPr>
            <a:r>
              <a:rPr sz="1300" b="0" i="0">
                <a:solidFill>
                  <a:srgbClr val="505050"/>
                </a:solidFill>
                <a:latin typeface="Calibri"/>
              </a:rPr>
              <a:t>— roughly 16% of the population.</a:t>
            </a:r>
          </a:p>
        </p:txBody>
      </p:sp>
      <p:sp>
        <p:nvSpPr>
          <p:cNvPr id="27" name="Rectangle 26"/>
          <p:cNvSpPr/>
          <p:nvPr/>
        </p:nvSpPr>
        <p:spPr>
          <a:xfrm>
            <a:off x="8734495" y="2200000"/>
            <a:ext cx="3000000" cy="10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734495" y="2200000"/>
            <a:ext cx="73152" cy="10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4495" y="2310000"/>
            <a:ext cx="2760000" cy="86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Everyone else is underwritten by hand</a:t>
            </a:r>
          </a:p>
          <a:p>
            <a:pPr algn="l">
              <a:spcBef>
                <a:spcPts val="400"/>
              </a:spcBef>
            </a:pPr>
            <a:r>
              <a:rPr sz="1300" b="0" i="0">
                <a:solidFill>
                  <a:srgbClr val="505050"/>
                </a:solidFill>
                <a:latin typeface="Calibri"/>
              </a:rPr>
              <a:t>— fixed rules, no learning, no fairness check.</a:t>
            </a:r>
          </a:p>
        </p:txBody>
      </p:sp>
      <p:sp>
        <p:nvSpPr>
          <p:cNvPr id="30" name="TextBox 29"/>
          <p:cNvSpPr txBox="1"/>
          <p:nvPr/>
        </p:nvSpPr>
        <p:spPr>
          <a:xfrm>
            <a:off x="457200" y="4700000"/>
            <a:ext cx="11277295" cy="520000"/>
          </a:xfrm>
          <a:prstGeom prst="rect">
            <a:avLst/>
          </a:prstGeom>
          <a:noFill/>
        </p:spPr>
        <p:txBody>
          <a:bodyPr wrap="square">
            <a:spAutoFit/>
          </a:bodyPr>
          <a:lstStyle/>
          <a:p>
            <a:pPr algn="ctr">
              <a:spcBef>
                <a:spcPts val="0"/>
              </a:spcBef>
              <a:spcAft>
                <a:spcPts val="0"/>
              </a:spcAft>
            </a:pPr>
            <a:r>
              <a:rPr sz="1600" b="1" i="0">
                <a:solidFill>
                  <a:srgbClr val="1B5697"/>
                </a:solidFill>
                <a:latin typeface="Calibri"/>
              </a:rPr>
              <a:t>Sophea represents the 98% the current system was not built for.</a:t>
            </a:r>
          </a:p>
        </p:txBody>
      </p:sp>
      <p:sp>
        <p:nvSpPr>
          <p:cNvPr id="31" name="TextBox 30"/>
          <p:cNvSpPr txBox="1"/>
          <p:nvPr/>
        </p:nvSpPr>
        <p:spPr>
          <a:xfrm>
            <a:off x="457200" y="5980000"/>
            <a:ext cx="11277295" cy="300000"/>
          </a:xfrm>
          <a:prstGeom prst="rect">
            <a:avLst/>
          </a:prstGeom>
          <a:noFill/>
        </p:spPr>
        <p:txBody>
          <a:bodyPr wrap="square">
            <a:spAutoFit/>
          </a:bodyPr>
          <a:lstStyle/>
          <a:p>
            <a:pPr algn="ctr">
              <a:spcBef>
                <a:spcPts val="0"/>
              </a:spcBef>
              <a:spcAft>
                <a:spcPts val="0"/>
              </a:spcAft>
            </a:pPr>
            <a:r>
              <a:rPr sz="1000" b="0" i="1">
                <a:solidFill>
                  <a:srgbClr val="505050"/>
                </a:solidFill>
                <a:latin typeface="Calibri"/>
              </a:rPr>
              <a:t>Sources: ILO (2023) · Cambodia Demographic &amp; Health Survey (2021-22).</a:t>
            </a:r>
          </a:p>
        </p:txBody>
      </p:sp>
      <p:sp>
        <p:nvSpPr>
          <p:cNvPr id="32" name="Rectangle 3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4" name="Rectangle 3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36" name="Rectangle 3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3 / 34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MEET SOPHEA</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120000"/>
            <a:ext cx="5200000" cy="5237376"/>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1120000"/>
            <a:ext cx="91440" cy="52373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7200" y="1260000"/>
            <a:ext cx="5000000" cy="480000"/>
          </a:xfrm>
          <a:prstGeom prst="rect">
            <a:avLst/>
          </a:prstGeom>
          <a:noFill/>
        </p:spPr>
        <p:txBody>
          <a:bodyPr wrap="square">
            <a:spAutoFit/>
          </a:bodyPr>
          <a:lstStyle/>
          <a:p>
            <a:pPr algn="l">
              <a:spcBef>
                <a:spcPts val="0"/>
              </a:spcBef>
              <a:spcAft>
                <a:spcPts val="0"/>
              </a:spcAft>
            </a:pPr>
            <a:r>
              <a:rPr sz="2600" b="1" i="0">
                <a:solidFill>
                  <a:srgbClr val="1B5697"/>
                </a:solidFill>
                <a:latin typeface="Calibri"/>
              </a:rPr>
              <a:t>SOPHEA</a:t>
            </a:r>
          </a:p>
        </p:txBody>
      </p:sp>
      <p:sp>
        <p:nvSpPr>
          <p:cNvPr id="23" name="TextBox 22"/>
          <p:cNvSpPr txBox="1"/>
          <p:nvPr/>
        </p:nvSpPr>
        <p:spPr>
          <a:xfrm>
            <a:off x="617200" y="1760000"/>
            <a:ext cx="5000000" cy="340000"/>
          </a:xfrm>
          <a:prstGeom prst="rect">
            <a:avLst/>
          </a:prstGeom>
          <a:noFill/>
        </p:spPr>
        <p:txBody>
          <a:bodyPr wrap="square">
            <a:spAutoFit/>
          </a:bodyPr>
          <a:lstStyle/>
          <a:p>
            <a:pPr algn="l">
              <a:spcBef>
                <a:spcPts val="0"/>
              </a:spcBef>
              <a:spcAft>
                <a:spcPts val="0"/>
              </a:spcAft>
            </a:pPr>
            <a:r>
              <a:rPr sz="1400" b="0" i="0">
                <a:solidFill>
                  <a:srgbClr val="404040"/>
                </a:solidFill>
                <a:latin typeface="Calibri"/>
              </a:rPr>
              <a:t>Age 42  ·  Kampong Cham Province  ·  Rice Farmer</a:t>
            </a:r>
          </a:p>
        </p:txBody>
      </p:sp>
      <p:sp>
        <p:nvSpPr>
          <p:cNvPr id="24" name="Rectangle 23"/>
          <p:cNvSpPr/>
          <p:nvPr/>
        </p:nvSpPr>
        <p:spPr>
          <a:xfrm>
            <a:off x="617200" y="2200000"/>
            <a:ext cx="4950000" cy="2743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00" y="2300000"/>
            <a:ext cx="5000000" cy="3937376"/>
          </a:xfrm>
          <a:prstGeom prst="rect">
            <a:avLst/>
          </a:prstGeom>
          <a:noFill/>
        </p:spPr>
        <p:txBody>
          <a:bodyPr wrap="square">
            <a:spAutoFit/>
          </a:bodyPr>
          <a:lstStyle/>
          <a:p>
            <a:pPr>
              <a:spcBef>
                <a:spcPts val="1000"/>
              </a:spcBef>
            </a:pPr>
            <a:r>
              <a:rPr sz="1400" b="1">
                <a:solidFill>
                  <a:srgbClr val="1B5697"/>
                </a:solidFill>
              </a:rPr>
              <a:t>BMI:  </a:t>
            </a:r>
            <a:r>
              <a:rPr sz="1400">
                <a:solidFill>
                  <a:srgbClr val="505050"/>
                </a:solidFill>
              </a:rPr>
              <a:t>24.1  (Normal range)</a:t>
            </a:r>
          </a:p>
          <a:p>
            <a:pPr>
              <a:spcBef>
                <a:spcPts val="1000"/>
              </a:spcBef>
            </a:pPr>
            <a:r>
              <a:rPr sz="1400" b="1">
                <a:solidFill>
                  <a:srgbClr val="1B5697"/>
                </a:solidFill>
              </a:rPr>
              <a:t>Smoker:  </a:t>
            </a:r>
            <a:r>
              <a:rPr sz="1400">
                <a:solidFill>
                  <a:srgbClr val="505050"/>
                </a:solidFill>
              </a:rPr>
              <a:t>No</a:t>
            </a:r>
          </a:p>
          <a:p>
            <a:pPr>
              <a:spcBef>
                <a:spcPts val="1000"/>
              </a:spcBef>
            </a:pPr>
            <a:r>
              <a:rPr sz="1400" b="1">
                <a:solidFill>
                  <a:srgbClr val="1B5697"/>
                </a:solidFill>
              </a:rPr>
              <a:t>Physical Activity:  </a:t>
            </a:r>
            <a:r>
              <a:rPr sz="1400">
                <a:solidFill>
                  <a:srgbClr val="505050"/>
                </a:solidFill>
              </a:rPr>
              <a:t>High  (field farming)</a:t>
            </a:r>
          </a:p>
          <a:p>
            <a:pPr>
              <a:spcBef>
                <a:spcPts val="1000"/>
              </a:spcBef>
            </a:pPr>
            <a:r>
              <a:rPr sz="1400" b="1">
                <a:solidFill>
                  <a:srgbClr val="1B5697"/>
                </a:solidFill>
              </a:rPr>
              <a:t>Clinical Flag:  </a:t>
            </a:r>
            <a:r>
              <a:rPr sz="1400">
                <a:solidFill>
                  <a:srgbClr val="505050"/>
                </a:solidFill>
              </a:rPr>
              <a:t>Hypertension  (managed)</a:t>
            </a:r>
          </a:p>
          <a:p>
            <a:pPr>
              <a:spcBef>
                <a:spcPts val="1000"/>
              </a:spcBef>
            </a:pPr>
            <a:r>
              <a:rPr sz="1400" b="1">
                <a:solidFill>
                  <a:srgbClr val="1B5697"/>
                </a:solidFill>
              </a:rPr>
              <a:t>Wealth Index:  </a:t>
            </a:r>
            <a:r>
              <a:rPr sz="1400">
                <a:solidFill>
                  <a:srgbClr val="505050"/>
                </a:solidFill>
              </a:rPr>
              <a:t>Low</a:t>
            </a:r>
          </a:p>
          <a:p>
            <a:pPr>
              <a:spcBef>
                <a:spcPts val="1000"/>
              </a:spcBef>
            </a:pPr>
            <a:r>
              <a:rPr sz="1400" b="1">
                <a:solidFill>
                  <a:srgbClr val="1B5697"/>
                </a:solidFill>
              </a:rPr>
              <a:t>Education:  </a:t>
            </a:r>
            <a:r>
              <a:rPr sz="1400">
                <a:solidFill>
                  <a:srgbClr val="505050"/>
                </a:solidFill>
              </a:rPr>
              <a:t>Primary</a:t>
            </a:r>
          </a:p>
        </p:txBody>
      </p:sp>
      <p:sp>
        <p:nvSpPr>
          <p:cNvPr id="26" name="TextBox 25"/>
          <p:cNvSpPr txBox="1"/>
          <p:nvPr/>
        </p:nvSpPr>
        <p:spPr>
          <a:xfrm>
            <a:off x="5937200" y="1200000"/>
            <a:ext cx="6054495" cy="1350000"/>
          </a:xfrm>
          <a:prstGeom prst="rect">
            <a:avLst/>
          </a:prstGeom>
          <a:noFill/>
        </p:spPr>
        <p:txBody>
          <a:bodyPr wrap="square">
            <a:spAutoFit/>
          </a:bodyPr>
          <a:lstStyle/>
          <a:p>
            <a:pPr algn="l">
              <a:spcBef>
                <a:spcPts val="0"/>
              </a:spcBef>
              <a:spcAft>
                <a:spcPts val="0"/>
              </a:spcAft>
            </a:pPr>
            <a:r>
              <a:rPr sz="1500" b="0" i="1">
                <a:solidFill>
                  <a:srgbClr val="505050"/>
                </a:solidFill>
                <a:latin typeface="Calibri"/>
              </a:rPr>
              <a:t>In 2023 she applies for voluntary health insurance in Phnom Penh.
The static system checks just two fields.</a:t>
            </a:r>
          </a:p>
        </p:txBody>
      </p:sp>
      <p:sp>
        <p:nvSpPr>
          <p:cNvPr id="27" name="Rectangle 26"/>
          <p:cNvSpPr/>
          <p:nvPr/>
        </p:nvSpPr>
        <p:spPr>
          <a:xfrm>
            <a:off x="5937200" y="2670000"/>
            <a:ext cx="6054495" cy="5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937200" y="2670000"/>
            <a:ext cx="73152" cy="55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67200" y="2800000"/>
            <a:ext cx="5894495" cy="390000"/>
          </a:xfrm>
          <a:prstGeom prst="rect">
            <a:avLst/>
          </a:prstGeom>
          <a:noFill/>
        </p:spPr>
        <p:txBody>
          <a:bodyPr wrap="square">
            <a:spAutoFit/>
          </a:bodyPr>
          <a:lstStyle/>
          <a:p>
            <a:pPr algn="l">
              <a:spcBef>
                <a:spcPts val="0"/>
              </a:spcBef>
              <a:spcAft>
                <a:spcPts val="0"/>
              </a:spcAft>
            </a:pPr>
            <a:r>
              <a:rPr sz="1500" b="1" i="0">
                <a:solidFill>
                  <a:srgbClr val="7D4E00"/>
                </a:solidFill>
                <a:latin typeface="Calibri"/>
              </a:rPr>
              <a:t>OCCUPATION:  Agriculture</a:t>
            </a:r>
          </a:p>
        </p:txBody>
      </p:sp>
      <p:sp>
        <p:nvSpPr>
          <p:cNvPr id="30" name="Rectangle 29"/>
          <p:cNvSpPr/>
          <p:nvPr/>
        </p:nvSpPr>
        <p:spPr>
          <a:xfrm>
            <a:off x="5937200" y="3340000"/>
            <a:ext cx="6054495" cy="5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937200" y="3340000"/>
            <a:ext cx="73152" cy="55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67200" y="3470000"/>
            <a:ext cx="5894495" cy="390000"/>
          </a:xfrm>
          <a:prstGeom prst="rect">
            <a:avLst/>
          </a:prstGeom>
          <a:noFill/>
        </p:spPr>
        <p:txBody>
          <a:bodyPr wrap="square">
            <a:spAutoFit/>
          </a:bodyPr>
          <a:lstStyle/>
          <a:p>
            <a:pPr algn="l">
              <a:spcBef>
                <a:spcPts val="0"/>
              </a:spcBef>
              <a:spcAft>
                <a:spcPts val="0"/>
              </a:spcAft>
            </a:pPr>
            <a:r>
              <a:rPr sz="1500" b="1" i="0">
                <a:solidFill>
                  <a:srgbClr val="7D4E00"/>
                </a:solidFill>
                <a:latin typeface="Calibri"/>
              </a:rPr>
              <a:t>CONDITION:  Hypertension</a:t>
            </a:r>
          </a:p>
        </p:txBody>
      </p:sp>
      <p:sp>
        <p:nvSpPr>
          <p:cNvPr id="33" name="TextBox 32"/>
          <p:cNvSpPr txBox="1"/>
          <p:nvPr/>
        </p:nvSpPr>
        <p:spPr>
          <a:xfrm>
            <a:off x="5937200" y="3970000"/>
            <a:ext cx="6054495" cy="340000"/>
          </a:xfrm>
          <a:prstGeom prst="rect">
            <a:avLst/>
          </a:prstGeom>
          <a:noFill/>
        </p:spPr>
        <p:txBody>
          <a:bodyPr wrap="square">
            <a:spAutoFit/>
          </a:bodyPr>
          <a:lstStyle/>
          <a:p>
            <a:pPr algn="l">
              <a:spcBef>
                <a:spcPts val="0"/>
              </a:spcBef>
              <a:spcAft>
                <a:spcPts val="0"/>
              </a:spcAft>
            </a:pPr>
            <a:r>
              <a:rPr sz="1400" b="0" i="1">
                <a:solidFill>
                  <a:srgbClr val="505050"/>
                </a:solidFill>
                <a:latin typeface="Calibri"/>
              </a:rPr>
              <a:t>Both thresholds crossed. In 2023 the system decides:</a:t>
            </a:r>
          </a:p>
        </p:txBody>
      </p:sp>
      <p:sp>
        <p:nvSpPr>
          <p:cNvPr id="34" name="Rectangle 33"/>
          <p:cNvSpPr/>
          <p:nvPr/>
        </p:nvSpPr>
        <p:spPr>
          <a:xfrm>
            <a:off x="5937200" y="4370000"/>
            <a:ext cx="6054495" cy="82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37200" y="4370000"/>
            <a:ext cx="109728" cy="820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07200" y="4530000"/>
            <a:ext cx="5854495" cy="500000"/>
          </a:xfrm>
          <a:prstGeom prst="rect">
            <a:avLst/>
          </a:prstGeom>
          <a:noFill/>
        </p:spPr>
        <p:txBody>
          <a:bodyPr wrap="square">
            <a:spAutoFit/>
          </a:bodyPr>
          <a:lstStyle/>
          <a:p>
            <a:pPr algn="l">
              <a:spcBef>
                <a:spcPts val="0"/>
              </a:spcBef>
              <a:spcAft>
                <a:spcPts val="0"/>
              </a:spcAft>
            </a:pPr>
            <a:r>
              <a:rPr sz="3600" b="1" i="0">
                <a:solidFill>
                  <a:srgbClr val="D93B3B"/>
                </a:solidFill>
                <a:latin typeface="Calibri"/>
              </a:rPr>
              <a:t>DECLINE</a:t>
            </a:r>
          </a:p>
        </p:txBody>
      </p:sp>
      <p:sp>
        <p:nvSpPr>
          <p:cNvPr id="37" name="TextBox 36"/>
          <p:cNvSpPr txBox="1"/>
          <p:nvPr/>
        </p:nvSpPr>
        <p:spPr>
          <a:xfrm>
            <a:off x="5937200" y="5350000"/>
            <a:ext cx="6054495" cy="500000"/>
          </a:xfrm>
          <a:prstGeom prst="rect">
            <a:avLst/>
          </a:prstGeom>
          <a:noFill/>
        </p:spPr>
        <p:txBody>
          <a:bodyPr wrap="square">
            <a:spAutoFit/>
          </a:bodyPr>
          <a:lstStyle/>
          <a:p>
            <a:pPr algn="l">
              <a:spcBef>
                <a:spcPts val="0"/>
              </a:spcBef>
              <a:spcAft>
                <a:spcPts val="0"/>
              </a:spcAft>
            </a:pPr>
            <a:r>
              <a:rPr sz="1400" b="0" i="1">
                <a:solidFill>
                  <a:srgbClr val="505050"/>
                </a:solidFill>
                <a:latin typeface="Calibri"/>
              </a:rPr>
              <a:t>Sophea leaves without coverage.</a:t>
            </a:r>
          </a:p>
          <a:p>
            <a:pPr algn="l">
              <a:spcBef>
                <a:spcPts val="800"/>
              </a:spcBef>
            </a:pPr>
            <a:r>
              <a:rPr sz="1500" b="1" i="0">
                <a:solidFill>
                  <a:srgbClr val="1B5697"/>
                </a:solidFill>
                <a:latin typeface="Calibri"/>
              </a:rPr>
              <a:t>Was that the right answer?</a:t>
            </a:r>
          </a:p>
        </p:txBody>
      </p:sp>
      <p:sp>
        <p:nvSpPr>
          <p:cNvPr id="38" name="Rectangle 3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40" name="Rectangle 3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42" name="Rectangle 4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4 / 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WHY STATIC RULES FAIL</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64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 fixed rule can't see Sophea's full picture —</a:t>
            </a:r>
          </a:p>
          <a:p>
            <a:pPr algn="ctr">
              <a:spcBef>
                <a:spcPts val="400"/>
              </a:spcBef>
            </a:pPr>
            <a:r>
              <a:rPr sz="1800" b="0" i="1">
                <a:solidFill>
                  <a:srgbClr val="505050"/>
                </a:solidFill>
                <a:latin typeface="Calibri"/>
              </a:rPr>
              <a:t>and it never learns from its mistakes.</a:t>
            </a:r>
          </a:p>
        </p:txBody>
      </p:sp>
      <p:sp>
        <p:nvSpPr>
          <p:cNvPr id="21" name="Rectangle 20"/>
          <p:cNvSpPr/>
          <p:nvPr/>
        </p:nvSpPr>
        <p:spPr>
          <a:xfrm>
            <a:off x="457200" y="2050000"/>
            <a:ext cx="3559098" cy="35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2050000"/>
            <a:ext cx="3559098" cy="82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7200" y="2280000"/>
            <a:ext cx="3309098" cy="500000"/>
          </a:xfrm>
          <a:prstGeom prst="rect">
            <a:avLst/>
          </a:prstGeom>
          <a:noFill/>
        </p:spPr>
        <p:txBody>
          <a:bodyPr wrap="square">
            <a:spAutoFit/>
          </a:bodyPr>
          <a:lstStyle/>
          <a:p>
            <a:pPr algn="l">
              <a:spcBef>
                <a:spcPts val="0"/>
              </a:spcBef>
              <a:spcAft>
                <a:spcPts val="0"/>
              </a:spcAft>
            </a:pPr>
            <a:r>
              <a:rPr sz="1700" b="1" i="0">
                <a:solidFill>
                  <a:srgbClr val="1B5697"/>
                </a:solidFill>
                <a:latin typeface="Segoe UI"/>
              </a:rPr>
              <a:t>Fixed cutoffs</a:t>
            </a:r>
          </a:p>
        </p:txBody>
      </p:sp>
      <p:sp>
        <p:nvSpPr>
          <p:cNvPr id="24" name="TextBox 23"/>
          <p:cNvSpPr txBox="1"/>
          <p:nvPr/>
        </p:nvSpPr>
        <p:spPr>
          <a:xfrm>
            <a:off x="607200" y="2900000"/>
            <a:ext cx="3309098" cy="255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It checks two fields and stops. Her normal BMI, active lifestyle and managed blood pressure are invisible to the rule.</a:t>
            </a:r>
          </a:p>
        </p:txBody>
      </p:sp>
      <p:sp>
        <p:nvSpPr>
          <p:cNvPr id="25" name="Rectangle 24"/>
          <p:cNvSpPr/>
          <p:nvPr/>
        </p:nvSpPr>
        <p:spPr>
          <a:xfrm>
            <a:off x="4316298" y="2050000"/>
            <a:ext cx="3559098" cy="35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16298" y="2050000"/>
            <a:ext cx="3559098" cy="82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66298" y="2280000"/>
            <a:ext cx="3309098" cy="500000"/>
          </a:xfrm>
          <a:prstGeom prst="rect">
            <a:avLst/>
          </a:prstGeom>
          <a:noFill/>
        </p:spPr>
        <p:txBody>
          <a:bodyPr wrap="square">
            <a:spAutoFit/>
          </a:bodyPr>
          <a:lstStyle/>
          <a:p>
            <a:pPr algn="l">
              <a:spcBef>
                <a:spcPts val="0"/>
              </a:spcBef>
              <a:spcAft>
                <a:spcPts val="0"/>
              </a:spcAft>
            </a:pPr>
            <a:r>
              <a:rPr sz="1700" b="1" i="0">
                <a:solidFill>
                  <a:srgbClr val="1B5697"/>
                </a:solidFill>
                <a:latin typeface="Segoe UI"/>
              </a:rPr>
              <a:t>Never updates</a:t>
            </a:r>
          </a:p>
        </p:txBody>
      </p:sp>
      <p:sp>
        <p:nvSpPr>
          <p:cNvPr id="28" name="TextBox 27"/>
          <p:cNvSpPr txBox="1"/>
          <p:nvPr/>
        </p:nvSpPr>
        <p:spPr>
          <a:xfrm>
            <a:off x="4466298" y="2900000"/>
            <a:ext cx="3309098" cy="255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Claims come back over the years, but the rule stays frozen. It repeats the same mistake on the next Sophea, and the next.</a:t>
            </a:r>
          </a:p>
        </p:txBody>
      </p:sp>
      <p:sp>
        <p:nvSpPr>
          <p:cNvPr id="29" name="Rectangle 28"/>
          <p:cNvSpPr/>
          <p:nvPr/>
        </p:nvSpPr>
        <p:spPr>
          <a:xfrm>
            <a:off x="8175396" y="2050000"/>
            <a:ext cx="3559098" cy="35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75396" y="2050000"/>
            <a:ext cx="3559098" cy="82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25396" y="2280000"/>
            <a:ext cx="3309098" cy="500000"/>
          </a:xfrm>
          <a:prstGeom prst="rect">
            <a:avLst/>
          </a:prstGeom>
          <a:noFill/>
        </p:spPr>
        <p:txBody>
          <a:bodyPr wrap="square">
            <a:spAutoFit/>
          </a:bodyPr>
          <a:lstStyle/>
          <a:p>
            <a:pPr algn="l">
              <a:spcBef>
                <a:spcPts val="0"/>
              </a:spcBef>
              <a:spcAft>
                <a:spcPts val="0"/>
              </a:spcAft>
            </a:pPr>
            <a:r>
              <a:rPr sz="1700" b="1" i="0">
                <a:solidFill>
                  <a:srgbClr val="1B5697"/>
                </a:solidFill>
                <a:latin typeface="Segoe UI"/>
              </a:rPr>
              <a:t>Nobody checks fairness</a:t>
            </a:r>
          </a:p>
        </p:txBody>
      </p:sp>
      <p:sp>
        <p:nvSpPr>
          <p:cNvPr id="32" name="TextBox 31"/>
          <p:cNvSpPr txBox="1"/>
          <p:nvPr/>
        </p:nvSpPr>
        <p:spPr>
          <a:xfrm>
            <a:off x="8325396" y="2900000"/>
            <a:ext cx="3309098" cy="255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No one tracks whether whole regions or occupations are being quietly shut out. Bias can build up unseen.</a:t>
            </a:r>
          </a:p>
        </p:txBody>
      </p:sp>
      <p:sp>
        <p:nvSpPr>
          <p:cNvPr id="33" name="Rectangle 3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5" name="Rectangle 3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37" name="Rectangle 3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5 / 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GOAL &amp; OBJECTIVES</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620000"/>
          </a:xfrm>
          <a:prstGeom prst="rect">
            <a:avLst/>
          </a:prstGeom>
          <a:noFill/>
        </p:spPr>
        <p:txBody>
          <a:bodyPr wrap="square">
            <a:spAutoFit/>
          </a:bodyPr>
          <a:lstStyle/>
          <a:p>
            <a:pPr algn="l">
              <a:spcBef>
                <a:spcPts val="0"/>
              </a:spcBef>
              <a:spcAft>
                <a:spcPts val="0"/>
              </a:spcAft>
            </a:pPr>
            <a:r>
              <a:rPr sz="1700" b="1" i="0">
                <a:solidFill>
                  <a:srgbClr val="1B5697"/>
                </a:solidFill>
                <a:latin typeface="Calibri"/>
              </a:rPr>
              <a:t>Can a system that learns from every decision underwrite better — and stay fair — than today's fixed rules?</a:t>
            </a:r>
          </a:p>
        </p:txBody>
      </p:sp>
      <p:sp>
        <p:nvSpPr>
          <p:cNvPr id="21" name="Rectangle 20"/>
          <p:cNvSpPr/>
          <p:nvPr/>
        </p:nvSpPr>
        <p:spPr>
          <a:xfrm>
            <a:off x="457200" y="1900000"/>
            <a:ext cx="620000" cy="5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200" y="1900000"/>
            <a:ext cx="580000" cy="520000"/>
          </a:xfrm>
          <a:prstGeom prst="rect">
            <a:avLst/>
          </a:prstGeom>
          <a:noFill/>
        </p:spPr>
        <p:txBody>
          <a:bodyPr wrap="none" anchor="ctr">
            <a:spAutoFit/>
          </a:bodyPr>
          <a:lstStyle/>
          <a:p>
            <a:pPr algn="ctr">
              <a:spcBef>
                <a:spcPts val="0"/>
              </a:spcBef>
              <a:spcAft>
                <a:spcPts val="0"/>
              </a:spcAft>
            </a:pPr>
            <a:r>
              <a:rPr sz="1500" b="1" i="0">
                <a:solidFill>
                  <a:srgbClr val="FFFFFF"/>
                </a:solidFill>
                <a:latin typeface="Calibri"/>
              </a:rPr>
              <a:t>RQ1</a:t>
            </a:r>
          </a:p>
        </p:txBody>
      </p:sp>
      <p:sp>
        <p:nvSpPr>
          <p:cNvPr id="23" name="TextBox 22"/>
          <p:cNvSpPr txBox="1"/>
          <p:nvPr/>
        </p:nvSpPr>
        <p:spPr>
          <a:xfrm>
            <a:off x="1217200" y="1900000"/>
            <a:ext cx="10457295" cy="52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Does a learning system earn more, and make fewer mistakes, than the fixed-rule baseline?</a:t>
            </a:r>
          </a:p>
        </p:txBody>
      </p:sp>
      <p:sp>
        <p:nvSpPr>
          <p:cNvPr id="24" name="Rectangle 23"/>
          <p:cNvSpPr/>
          <p:nvPr/>
        </p:nvSpPr>
        <p:spPr>
          <a:xfrm>
            <a:off x="457200" y="2510000"/>
            <a:ext cx="620000" cy="5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7200" y="2510000"/>
            <a:ext cx="580000" cy="520000"/>
          </a:xfrm>
          <a:prstGeom prst="rect">
            <a:avLst/>
          </a:prstGeom>
          <a:noFill/>
        </p:spPr>
        <p:txBody>
          <a:bodyPr wrap="none" anchor="ctr">
            <a:spAutoFit/>
          </a:bodyPr>
          <a:lstStyle/>
          <a:p>
            <a:pPr algn="ctr">
              <a:spcBef>
                <a:spcPts val="0"/>
              </a:spcBef>
              <a:spcAft>
                <a:spcPts val="0"/>
              </a:spcAft>
            </a:pPr>
            <a:r>
              <a:rPr sz="1500" b="1" i="0">
                <a:solidFill>
                  <a:srgbClr val="FFFFFF"/>
                </a:solidFill>
                <a:latin typeface="Calibri"/>
              </a:rPr>
              <a:t>RQ2</a:t>
            </a:r>
          </a:p>
        </p:txBody>
      </p:sp>
      <p:sp>
        <p:nvSpPr>
          <p:cNvPr id="26" name="TextBox 25"/>
          <p:cNvSpPr txBox="1"/>
          <p:nvPr/>
        </p:nvSpPr>
        <p:spPr>
          <a:xfrm>
            <a:off x="1217200" y="2510000"/>
            <a:ext cx="10457295" cy="52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Does it stay fair across regions and occupations — without being told to?</a:t>
            </a:r>
          </a:p>
        </p:txBody>
      </p:sp>
      <p:sp>
        <p:nvSpPr>
          <p:cNvPr id="27" name="Rectangle 26"/>
          <p:cNvSpPr/>
          <p:nvPr/>
        </p:nvSpPr>
        <p:spPr>
          <a:xfrm>
            <a:off x="457200" y="3120000"/>
            <a:ext cx="620000" cy="5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7200" y="3120000"/>
            <a:ext cx="580000" cy="520000"/>
          </a:xfrm>
          <a:prstGeom prst="rect">
            <a:avLst/>
          </a:prstGeom>
          <a:noFill/>
        </p:spPr>
        <p:txBody>
          <a:bodyPr wrap="none" anchor="ctr">
            <a:spAutoFit/>
          </a:bodyPr>
          <a:lstStyle/>
          <a:p>
            <a:pPr algn="ctr">
              <a:spcBef>
                <a:spcPts val="0"/>
              </a:spcBef>
              <a:spcAft>
                <a:spcPts val="0"/>
              </a:spcAft>
            </a:pPr>
            <a:r>
              <a:rPr sz="1500" b="1" i="0">
                <a:solidFill>
                  <a:srgbClr val="FFFFFF"/>
                </a:solidFill>
                <a:latin typeface="Calibri"/>
              </a:rPr>
              <a:t>RQ3</a:t>
            </a:r>
          </a:p>
        </p:txBody>
      </p:sp>
      <p:sp>
        <p:nvSpPr>
          <p:cNvPr id="29" name="TextBox 28"/>
          <p:cNvSpPr txBox="1"/>
          <p:nvPr/>
        </p:nvSpPr>
        <p:spPr>
          <a:xfrm>
            <a:off x="1217200" y="3120000"/>
            <a:ext cx="10457295" cy="52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Which learning method works best (LinTS, LinUCB, ε-Greedy)?</a:t>
            </a:r>
          </a:p>
        </p:txBody>
      </p:sp>
      <p:sp>
        <p:nvSpPr>
          <p:cNvPr id="30" name="TextBox 29"/>
          <p:cNvSpPr txBox="1"/>
          <p:nvPr/>
        </p:nvSpPr>
        <p:spPr>
          <a:xfrm>
            <a:off x="457200" y="3800000"/>
            <a:ext cx="11277295" cy="300000"/>
          </a:xfrm>
          <a:prstGeom prst="rect">
            <a:avLst/>
          </a:prstGeom>
          <a:noFill/>
        </p:spPr>
        <p:txBody>
          <a:bodyPr wrap="square">
            <a:spAutoFit/>
          </a:bodyPr>
          <a:lstStyle/>
          <a:p>
            <a:pPr algn="l">
              <a:spcBef>
                <a:spcPts val="0"/>
              </a:spcBef>
              <a:spcAft>
                <a:spcPts val="0"/>
              </a:spcAft>
            </a:pPr>
            <a:r>
              <a:rPr sz="1300" b="1" i="0">
                <a:solidFill>
                  <a:srgbClr val="1F6FC4"/>
                </a:solidFill>
                <a:latin typeface="Calibri"/>
              </a:rPr>
              <a:t>WHY IT MATTERS — CAMBODIA'S SDGs</a:t>
            </a:r>
          </a:p>
        </p:txBody>
      </p:sp>
      <p:sp>
        <p:nvSpPr>
          <p:cNvPr id="31" name="Rectangle 30"/>
          <p:cNvSpPr/>
          <p:nvPr/>
        </p:nvSpPr>
        <p:spPr>
          <a:xfrm>
            <a:off x="457200" y="4160000"/>
            <a:ext cx="3612431" cy="9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160000"/>
            <a:ext cx="112000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4310000"/>
            <a:ext cx="1120000" cy="380000"/>
          </a:xfrm>
          <a:prstGeom prst="rect">
            <a:avLst/>
          </a:prstGeom>
          <a:noFill/>
        </p:spPr>
        <p:txBody>
          <a:bodyPr wrap="none" lIns="0" rIns="0">
            <a:spAutoFit/>
          </a:bodyPr>
          <a:lstStyle/>
          <a:p>
            <a:pPr algn="ctr">
              <a:spcBef>
                <a:spcPts val="0"/>
              </a:spcBef>
              <a:spcAft>
                <a:spcPts val="0"/>
              </a:spcAft>
            </a:pPr>
            <a:r>
              <a:rPr sz="1600" b="1" i="0">
                <a:solidFill>
                  <a:srgbClr val="FFFFFF"/>
                </a:solidFill>
                <a:latin typeface="Calibri"/>
              </a:rPr>
              <a:t>SDG 3</a:t>
            </a:r>
          </a:p>
        </p:txBody>
      </p:sp>
      <p:sp>
        <p:nvSpPr>
          <p:cNvPr id="34" name="TextBox 33"/>
          <p:cNvSpPr txBox="1"/>
          <p:nvPr/>
        </p:nvSpPr>
        <p:spPr>
          <a:xfrm>
            <a:off x="457200" y="4680000"/>
            <a:ext cx="1120000" cy="320000"/>
          </a:xfrm>
          <a:prstGeom prst="rect">
            <a:avLst/>
          </a:prstGeom>
          <a:noFill/>
        </p:spPr>
        <p:txBody>
          <a:bodyPr wrap="square" lIns="0" rIns="0">
            <a:spAutoFit/>
          </a:bodyPr>
          <a:lstStyle/>
          <a:p>
            <a:pPr algn="ctr">
              <a:spcBef>
                <a:spcPts val="0"/>
              </a:spcBef>
              <a:spcAft>
                <a:spcPts val="0"/>
              </a:spcAft>
            </a:pPr>
            <a:r>
              <a:rPr sz="1000" b="0" i="0">
                <a:solidFill>
                  <a:srgbClr val="BDCEE4"/>
                </a:solidFill>
                <a:latin typeface="Calibri"/>
              </a:rPr>
              <a:t>Good Health</a:t>
            </a:r>
          </a:p>
        </p:txBody>
      </p:sp>
      <p:sp>
        <p:nvSpPr>
          <p:cNvPr id="35" name="TextBox 34"/>
          <p:cNvSpPr txBox="1"/>
          <p:nvPr/>
        </p:nvSpPr>
        <p:spPr>
          <a:xfrm>
            <a:off x="1697200" y="4340000"/>
            <a:ext cx="2272431" cy="600000"/>
          </a:xfrm>
          <a:prstGeom prst="rect">
            <a:avLst/>
          </a:prstGeom>
          <a:noFill/>
        </p:spPr>
        <p:txBody>
          <a:bodyPr wrap="square" anchor="ctr">
            <a:spAutoFit/>
          </a:bodyPr>
          <a:lstStyle/>
          <a:p>
            <a:pPr algn="l">
              <a:spcBef>
                <a:spcPts val="0"/>
              </a:spcBef>
              <a:spcAft>
                <a:spcPts val="0"/>
              </a:spcAft>
            </a:pPr>
            <a:r>
              <a:rPr sz="1300" b="0" i="0">
                <a:solidFill>
                  <a:srgbClr val="262626"/>
                </a:solidFill>
                <a:latin typeface="Calibri"/>
              </a:rPr>
              <a:t>Widen coverage beyond the formal sector</a:t>
            </a:r>
          </a:p>
        </p:txBody>
      </p:sp>
      <p:sp>
        <p:nvSpPr>
          <p:cNvPr id="36" name="Rectangle 35"/>
          <p:cNvSpPr/>
          <p:nvPr/>
        </p:nvSpPr>
        <p:spPr>
          <a:xfrm>
            <a:off x="4289631" y="4160000"/>
            <a:ext cx="3612431" cy="9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89631" y="4160000"/>
            <a:ext cx="112000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89631" y="4310000"/>
            <a:ext cx="1120000" cy="380000"/>
          </a:xfrm>
          <a:prstGeom prst="rect">
            <a:avLst/>
          </a:prstGeom>
          <a:noFill/>
        </p:spPr>
        <p:txBody>
          <a:bodyPr wrap="none" lIns="0" rIns="0">
            <a:spAutoFit/>
          </a:bodyPr>
          <a:lstStyle/>
          <a:p>
            <a:pPr algn="ctr">
              <a:spcBef>
                <a:spcPts val="0"/>
              </a:spcBef>
              <a:spcAft>
                <a:spcPts val="0"/>
              </a:spcAft>
            </a:pPr>
            <a:r>
              <a:rPr sz="1600" b="1" i="0">
                <a:solidFill>
                  <a:srgbClr val="FFFFFF"/>
                </a:solidFill>
                <a:latin typeface="Calibri"/>
              </a:rPr>
              <a:t>SDG 1</a:t>
            </a:r>
          </a:p>
        </p:txBody>
      </p:sp>
      <p:sp>
        <p:nvSpPr>
          <p:cNvPr id="39" name="TextBox 38"/>
          <p:cNvSpPr txBox="1"/>
          <p:nvPr/>
        </p:nvSpPr>
        <p:spPr>
          <a:xfrm>
            <a:off x="4289631" y="4680000"/>
            <a:ext cx="1120000" cy="320000"/>
          </a:xfrm>
          <a:prstGeom prst="rect">
            <a:avLst/>
          </a:prstGeom>
          <a:noFill/>
        </p:spPr>
        <p:txBody>
          <a:bodyPr wrap="square" lIns="0" rIns="0">
            <a:spAutoFit/>
          </a:bodyPr>
          <a:lstStyle/>
          <a:p>
            <a:pPr algn="ctr">
              <a:spcBef>
                <a:spcPts val="0"/>
              </a:spcBef>
              <a:spcAft>
                <a:spcPts val="0"/>
              </a:spcAft>
            </a:pPr>
            <a:r>
              <a:rPr sz="1000" b="0" i="0">
                <a:solidFill>
                  <a:srgbClr val="BDCEE4"/>
                </a:solidFill>
                <a:latin typeface="Calibri"/>
              </a:rPr>
              <a:t>No Poverty</a:t>
            </a:r>
          </a:p>
        </p:txBody>
      </p:sp>
      <p:sp>
        <p:nvSpPr>
          <p:cNvPr id="40" name="TextBox 39"/>
          <p:cNvSpPr txBox="1"/>
          <p:nvPr/>
        </p:nvSpPr>
        <p:spPr>
          <a:xfrm>
            <a:off x="5529631" y="4340000"/>
            <a:ext cx="2272431" cy="600000"/>
          </a:xfrm>
          <a:prstGeom prst="rect">
            <a:avLst/>
          </a:prstGeom>
          <a:noFill/>
        </p:spPr>
        <p:txBody>
          <a:bodyPr wrap="square" anchor="ctr">
            <a:spAutoFit/>
          </a:bodyPr>
          <a:lstStyle/>
          <a:p>
            <a:pPr algn="l">
              <a:spcBef>
                <a:spcPts val="0"/>
              </a:spcBef>
              <a:spcAft>
                <a:spcPts val="0"/>
              </a:spcAft>
            </a:pPr>
            <a:r>
              <a:rPr sz="1300" b="0" i="0">
                <a:solidFill>
                  <a:srgbClr val="262626"/>
                </a:solidFill>
                <a:latin typeface="Calibri"/>
              </a:rPr>
              <a:t>Shield families from catastrophic health costs</a:t>
            </a:r>
          </a:p>
        </p:txBody>
      </p:sp>
      <p:sp>
        <p:nvSpPr>
          <p:cNvPr id="41" name="Rectangle 40"/>
          <p:cNvSpPr/>
          <p:nvPr/>
        </p:nvSpPr>
        <p:spPr>
          <a:xfrm>
            <a:off x="8122062" y="4160000"/>
            <a:ext cx="3612431" cy="9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122062" y="4160000"/>
            <a:ext cx="112000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22062" y="4310000"/>
            <a:ext cx="1120000" cy="380000"/>
          </a:xfrm>
          <a:prstGeom prst="rect">
            <a:avLst/>
          </a:prstGeom>
          <a:noFill/>
        </p:spPr>
        <p:txBody>
          <a:bodyPr wrap="none" lIns="0" rIns="0">
            <a:spAutoFit/>
          </a:bodyPr>
          <a:lstStyle/>
          <a:p>
            <a:pPr algn="ctr">
              <a:spcBef>
                <a:spcPts val="0"/>
              </a:spcBef>
              <a:spcAft>
                <a:spcPts val="0"/>
              </a:spcAft>
            </a:pPr>
            <a:r>
              <a:rPr sz="1600" b="1" i="0">
                <a:solidFill>
                  <a:srgbClr val="FFFFFF"/>
                </a:solidFill>
                <a:latin typeface="Calibri"/>
              </a:rPr>
              <a:t>SDG 10</a:t>
            </a:r>
          </a:p>
        </p:txBody>
      </p:sp>
      <p:sp>
        <p:nvSpPr>
          <p:cNvPr id="44" name="TextBox 43"/>
          <p:cNvSpPr txBox="1"/>
          <p:nvPr/>
        </p:nvSpPr>
        <p:spPr>
          <a:xfrm>
            <a:off x="8122062" y="4680000"/>
            <a:ext cx="1120000" cy="320000"/>
          </a:xfrm>
          <a:prstGeom prst="rect">
            <a:avLst/>
          </a:prstGeom>
          <a:noFill/>
        </p:spPr>
        <p:txBody>
          <a:bodyPr wrap="square" lIns="0" rIns="0">
            <a:spAutoFit/>
          </a:bodyPr>
          <a:lstStyle/>
          <a:p>
            <a:pPr algn="ctr">
              <a:spcBef>
                <a:spcPts val="0"/>
              </a:spcBef>
              <a:spcAft>
                <a:spcPts val="0"/>
              </a:spcAft>
            </a:pPr>
            <a:r>
              <a:rPr sz="1000" b="0" i="0">
                <a:solidFill>
                  <a:srgbClr val="BDCEE4"/>
                </a:solidFill>
                <a:latin typeface="Calibri"/>
              </a:rPr>
              <a:t>Less Inequality</a:t>
            </a:r>
          </a:p>
        </p:txBody>
      </p:sp>
      <p:sp>
        <p:nvSpPr>
          <p:cNvPr id="45" name="TextBox 44"/>
          <p:cNvSpPr txBox="1"/>
          <p:nvPr/>
        </p:nvSpPr>
        <p:spPr>
          <a:xfrm>
            <a:off x="9362062" y="4340000"/>
            <a:ext cx="2272431" cy="600000"/>
          </a:xfrm>
          <a:prstGeom prst="rect">
            <a:avLst/>
          </a:prstGeom>
          <a:noFill/>
        </p:spPr>
        <p:txBody>
          <a:bodyPr wrap="square" anchor="ctr">
            <a:spAutoFit/>
          </a:bodyPr>
          <a:lstStyle/>
          <a:p>
            <a:pPr algn="l">
              <a:spcBef>
                <a:spcPts val="0"/>
              </a:spcBef>
              <a:spcAft>
                <a:spcPts val="0"/>
              </a:spcAft>
            </a:pPr>
            <a:r>
              <a:rPr sz="1300" b="0" i="0">
                <a:solidFill>
                  <a:srgbClr val="262626"/>
                </a:solidFill>
                <a:latin typeface="Calibri"/>
              </a:rPr>
              <a:t>Keep underwriting demographically fair</a:t>
            </a:r>
          </a:p>
        </p:txBody>
      </p:sp>
      <p:sp>
        <p:nvSpPr>
          <p:cNvPr id="46" name="Rectangle 4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48" name="Rectangle 4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50" name="Rectangle 4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6 /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ABOUT DECENT ACTUARIAL CONSULTANTS</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200000"/>
            <a:ext cx="3900000" cy="5157376"/>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1200000"/>
            <a:ext cx="91440" cy="51573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DAC.jpg"/>
          <p:cNvPicPr>
            <a:picLocks noChangeAspect="1"/>
          </p:cNvPicPr>
          <p:nvPr/>
        </p:nvPicPr>
        <p:blipFill>
          <a:blip r:embed="rId2"/>
          <a:stretch>
            <a:fillRect/>
          </a:stretch>
        </p:blipFill>
        <p:spPr>
          <a:xfrm>
            <a:off x="807200" y="1480000"/>
            <a:ext cx="3200000" cy="1800000"/>
          </a:xfrm>
          <a:prstGeom prst="rect">
            <a:avLst/>
          </a:prstGeom>
        </p:spPr>
      </p:pic>
      <p:sp>
        <p:nvSpPr>
          <p:cNvPr id="23" name="TextBox 22"/>
          <p:cNvSpPr txBox="1"/>
          <p:nvPr/>
        </p:nvSpPr>
        <p:spPr>
          <a:xfrm>
            <a:off x="637200" y="3530000"/>
            <a:ext cx="3540000" cy="2727376"/>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Taipei-headquartered actuarial consultancy — Taiwan, Vietnam, Cambodia &amp; wider SE Asia.
Thesis completed during a 3-month internship (Mar–Jun 2026), DAC Phnom Penh office.</a:t>
            </a:r>
          </a:p>
        </p:txBody>
      </p:sp>
      <p:sp>
        <p:nvSpPr>
          <p:cNvPr id="24" name="Rectangle 23"/>
          <p:cNvSpPr/>
          <p:nvPr/>
        </p:nvSpPr>
        <p:spPr>
          <a:xfrm>
            <a:off x="4637200" y="1200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37200" y="1200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200" y="1320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Appointed Actuary Services — Life &amp; General Insurance, Southeast Asia</a:t>
            </a:r>
          </a:p>
        </p:txBody>
      </p:sp>
      <p:sp>
        <p:nvSpPr>
          <p:cNvPr id="27" name="Rectangle 26"/>
          <p:cNvSpPr/>
          <p:nvPr/>
        </p:nvSpPr>
        <p:spPr>
          <a:xfrm>
            <a:off x="4637200" y="2074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37200" y="2074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87200" y="2194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IFRS 17 Implementation</a:t>
            </a:r>
          </a:p>
        </p:txBody>
      </p:sp>
      <p:sp>
        <p:nvSpPr>
          <p:cNvPr id="30" name="Rectangle 29"/>
          <p:cNvSpPr/>
          <p:nvPr/>
        </p:nvSpPr>
        <p:spPr>
          <a:xfrm>
            <a:off x="4637200" y="2948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637200" y="2948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87200" y="3068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Product Development — Life &amp; General Insurance</a:t>
            </a:r>
          </a:p>
        </p:txBody>
      </p:sp>
      <p:sp>
        <p:nvSpPr>
          <p:cNvPr id="33" name="Rectangle 32"/>
          <p:cNvSpPr/>
          <p:nvPr/>
        </p:nvSpPr>
        <p:spPr>
          <a:xfrm>
            <a:off x="4637200" y="3822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637200" y="3822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87200" y="3942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Asset–Liability Management &amp; Enterprise Risk Management (ALM/ERM)</a:t>
            </a:r>
          </a:p>
        </p:txBody>
      </p:sp>
      <p:sp>
        <p:nvSpPr>
          <p:cNvPr id="36" name="Rectangle 35"/>
          <p:cNvSpPr/>
          <p:nvPr/>
        </p:nvSpPr>
        <p:spPr>
          <a:xfrm>
            <a:off x="4637200" y="4696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637200" y="4696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87200" y="4816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Mergers &amp; Acquisitions Advisory</a:t>
            </a:r>
          </a:p>
        </p:txBody>
      </p:sp>
      <p:sp>
        <p:nvSpPr>
          <p:cNvPr id="39" name="Rectangle 38"/>
          <p:cNvSpPr/>
          <p:nvPr/>
        </p:nvSpPr>
        <p:spPr>
          <a:xfrm>
            <a:off x="4637200" y="5570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37200" y="5570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87200" y="5690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Education &amp; Cooperation — University partnerships, government-academia-industry</a:t>
            </a:r>
          </a:p>
        </p:txBody>
      </p:sp>
      <p:sp>
        <p:nvSpPr>
          <p:cNvPr id="42" name="Rectangle 4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44" name="Rectangle 4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46" name="Rectangle 4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7 / 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PROJECT TIMELINE</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fig_project_timeline_3month.png"/>
          <p:cNvPicPr>
            <a:picLocks noChangeAspect="1"/>
          </p:cNvPicPr>
          <p:nvPr/>
        </p:nvPicPr>
        <p:blipFill>
          <a:blip r:embed="rId2"/>
          <a:stretch>
            <a:fillRect/>
          </a:stretch>
        </p:blipFill>
        <p:spPr>
          <a:xfrm>
            <a:off x="2000074" y="1180000"/>
            <a:ext cx="8191547" cy="4650000"/>
          </a:xfrm>
          <a:prstGeom prst="rect">
            <a:avLst/>
          </a:prstGeom>
        </p:spPr>
      </p:pic>
      <p:sp>
        <p:nvSpPr>
          <p:cNvPr id="21" name="TextBox 20"/>
          <p:cNvSpPr txBox="1"/>
          <p:nvPr/>
        </p:nvSpPr>
        <p:spPr>
          <a:xfrm>
            <a:off x="457200" y="5980000"/>
            <a:ext cx="11277295" cy="340000"/>
          </a:xfrm>
          <a:prstGeom prst="rect">
            <a:avLst/>
          </a:prstGeom>
          <a:noFill/>
        </p:spPr>
        <p:txBody>
          <a:bodyPr wrap="square">
            <a:spAutoFit/>
          </a:bodyPr>
          <a:lstStyle/>
          <a:p>
            <a:pPr algn="ctr">
              <a:spcBef>
                <a:spcPts val="0"/>
              </a:spcBef>
              <a:spcAft>
                <a:spcPts val="0"/>
              </a:spcAft>
            </a:pPr>
            <a:r>
              <a:rPr sz="1300" b="0" i="1">
                <a:solidFill>
                  <a:srgbClr val="505050"/>
                </a:solidFill>
                <a:latin typeface="Calibri"/>
              </a:rPr>
              <a:t>A three-month internship: research &amp; modelling → experiments → engineering → writing &amp; defense.</a:t>
            </a:r>
          </a:p>
        </p:txBody>
      </p:sp>
      <p:sp>
        <p:nvSpPr>
          <p:cNvPr id="22" name="Rectangle 2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4" name="Rectangle 2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26" name="Rectangle 2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8 / 34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THE LITERATURE, IN ONE TABLE</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360000"/>
          </a:xfrm>
          <a:prstGeom prst="rect">
            <a:avLst/>
          </a:prstGeom>
          <a:noFill/>
        </p:spPr>
        <p:txBody>
          <a:bodyPr wrap="square">
            <a:spAutoFit/>
          </a:bodyPr>
          <a:lstStyle/>
          <a:p>
            <a:pPr algn="l">
              <a:spcBef>
                <a:spcPts val="0"/>
              </a:spcBef>
              <a:spcAft>
                <a:spcPts val="0"/>
              </a:spcAft>
            </a:pPr>
            <a:r>
              <a:rPr sz="1500" b="0" i="1">
                <a:solidFill>
                  <a:srgbClr val="505050"/>
                </a:solidFill>
                <a:latin typeface="Calibri"/>
              </a:rPr>
              <a:t>Four bodies of work meet in this thesis:</a:t>
            </a:r>
          </a:p>
        </p:txBody>
      </p:sp>
      <p:graphicFrame>
        <p:nvGraphicFramePr>
          <p:cNvPr id="21" name="Table 20"/>
          <p:cNvGraphicFramePr>
            <a:graphicFrameLocks noGrp="1"/>
          </p:cNvGraphicFramePr>
          <p:nvPr/>
        </p:nvGraphicFramePr>
        <p:xfrm>
          <a:off x="457200" y="1560000"/>
          <a:ext cx="11277295" cy="3450000"/>
        </p:xfrm>
        <a:graphic>
          <a:graphicData uri="http://schemas.openxmlformats.org/drawingml/2006/table">
            <a:tbl>
              <a:tblPr firstRow="1" bandRow="1">
                <a:tableStyleId>{5C22544A-7EE6-4342-B048-85BDC9FD1C3A}</a:tableStyleId>
              </a:tblPr>
              <a:tblGrid>
                <a:gridCol w="2900000"/>
                <a:gridCol w="3200000"/>
                <a:gridCol w="5177295"/>
              </a:tblGrid>
              <a:tr h="690000">
                <a:tc>
                  <a:txBody>
                    <a:bodyPr/>
                    <a:lstStyle/>
                    <a:p>
                      <a:r>
                        <a:rPr b="1" sz="1300">
                          <a:solidFill>
                            <a:srgbClr val="FFFFFF"/>
                          </a:solidFill>
                        </a:rPr>
                        <a:t>Topic</a:t>
                      </a:r>
                    </a:p>
                  </a:txBody>
                  <a:tcPr>
                    <a:solidFill>
                      <a:srgbClr val="1B5697"/>
                    </a:solidFill>
                  </a:tcPr>
                </a:tc>
                <a:tc>
                  <a:txBody>
                    <a:bodyPr/>
                    <a:lstStyle/>
                    <a:p>
                      <a:r>
                        <a:rPr b="1" sz="1300">
                          <a:solidFill>
                            <a:srgbClr val="FFFFFF"/>
                          </a:solidFill>
                        </a:rPr>
                        <a:t>Key sources</a:t>
                      </a:r>
                    </a:p>
                  </a:txBody>
                  <a:tcPr>
                    <a:solidFill>
                      <a:srgbClr val="1B5697"/>
                    </a:solidFill>
                  </a:tcPr>
                </a:tc>
                <a:tc>
                  <a:txBody>
                    <a:bodyPr/>
                    <a:lstStyle/>
                    <a:p>
                      <a:r>
                        <a:rPr b="1" sz="1300">
                          <a:solidFill>
                            <a:srgbClr val="FFFFFF"/>
                          </a:solidFill>
                        </a:rPr>
                        <a:t>What it tells us (plain words)</a:t>
                      </a:r>
                    </a:p>
                  </a:txBody>
                  <a:tcPr>
                    <a:solidFill>
                      <a:srgbClr val="1B5697"/>
                    </a:solidFill>
                  </a:tcPr>
                </a:tc>
              </a:tr>
              <a:tr h="690000">
                <a:tc>
                  <a:txBody>
                    <a:bodyPr/>
                    <a:lstStyle/>
                    <a:p>
                      <a:r>
                        <a:rPr sz="1200" b="1">
                          <a:solidFill>
                            <a:srgbClr val="1B5697"/>
                          </a:solidFill>
                        </a:rPr>
                        <a:t>Health insurance in</a:t>
                      </a:r>
                    </a:p>
                    <a:p>
                      <a:r>
                        <a:rPr sz="1200" b="1">
                          <a:solidFill>
                            <a:srgbClr val="1B5697"/>
                          </a:solidFill>
                        </a:rPr>
                        <a:t>emerging markets</a:t>
                      </a:r>
                    </a:p>
                  </a:txBody>
                  <a:tcPr>
                    <a:solidFill>
                      <a:srgbClr val="F3F6FB"/>
                    </a:solidFill>
                  </a:tcPr>
                </a:tc>
                <a:tc>
                  <a:txBody>
                    <a:bodyPr/>
                    <a:lstStyle/>
                    <a:p>
                      <a:r>
                        <a:rPr sz="1200" b="0">
                          <a:solidFill>
                            <a:srgbClr val="262626"/>
                          </a:solidFill>
                        </a:rPr>
                        <a:t>CDHS 2021-22 · ILO 2023 · ADB</a:t>
                      </a:r>
                    </a:p>
                  </a:txBody>
                  <a:tcPr>
                    <a:solidFill>
                      <a:srgbClr val="F3F6FB"/>
                    </a:solidFill>
                  </a:tcPr>
                </a:tc>
                <a:tc>
                  <a:txBody>
                    <a:bodyPr/>
                    <a:lstStyle/>
                    <a:p>
                      <a:r>
                        <a:rPr sz="1200" b="0">
                          <a:solidFill>
                            <a:srgbClr val="262626"/>
                          </a:solidFill>
                        </a:rPr>
                        <a:t>Cambodia is barely insured (&lt;2%); the state scheme reaches only formal workers.</a:t>
                      </a:r>
                    </a:p>
                  </a:txBody>
                  <a:tcPr>
                    <a:solidFill>
                      <a:srgbClr val="F3F6FB"/>
                    </a:solidFill>
                  </a:tcPr>
                </a:tc>
              </a:tr>
              <a:tr h="690000">
                <a:tc>
                  <a:txBody>
                    <a:bodyPr/>
                    <a:lstStyle/>
                    <a:p>
                      <a:r>
                        <a:rPr sz="1200" b="1">
                          <a:solidFill>
                            <a:srgbClr val="1B5697"/>
                          </a:solidFill>
                        </a:rPr>
                        <a:t>Contextual bandits</a:t>
                      </a:r>
                    </a:p>
                  </a:txBody>
                  <a:tcPr>
                    <a:solidFill>
                      <a:srgbClr val="FFFFFF"/>
                    </a:solidFill>
                  </a:tcPr>
                </a:tc>
                <a:tc>
                  <a:txBody>
                    <a:bodyPr/>
                    <a:lstStyle/>
                    <a:p>
                      <a:r>
                        <a:rPr sz="1200" b="0">
                          <a:solidFill>
                            <a:srgbClr val="262626"/>
                          </a:solidFill>
                        </a:rPr>
                        <a:t>Li et al. 2010 (LinUCB)</a:t>
                      </a:r>
                    </a:p>
                    <a:p>
                      <a:r>
                        <a:rPr sz="1200" b="0">
                          <a:solidFill>
                            <a:srgbClr val="262626"/>
                          </a:solidFill>
                        </a:rPr>
                        <a:t>Agrawal &amp; Goyal 2013 (LinTS)</a:t>
                      </a:r>
                    </a:p>
                  </a:txBody>
                  <a:tcPr>
                    <a:solidFill>
                      <a:srgbClr val="FFFFFF"/>
                    </a:solidFill>
                  </a:tcPr>
                </a:tc>
                <a:tc>
                  <a:txBody>
                    <a:bodyPr/>
                    <a:lstStyle/>
                    <a:p>
                      <a:r>
                        <a:rPr sz="1200" b="0">
                          <a:solidFill>
                            <a:srgbClr val="262626"/>
                          </a:solidFill>
                        </a:rPr>
                        <a:t>Learn which action pays off, one decision at a time — no big offline dataset needed.</a:t>
                      </a:r>
                    </a:p>
                  </a:txBody>
                  <a:tcPr>
                    <a:solidFill>
                      <a:srgbClr val="FFFFFF"/>
                    </a:solidFill>
                  </a:tcPr>
                </a:tc>
              </a:tr>
              <a:tr h="690000">
                <a:tc>
                  <a:txBody>
                    <a:bodyPr/>
                    <a:lstStyle/>
                    <a:p>
                      <a:r>
                        <a:rPr sz="1200" b="1">
                          <a:solidFill>
                            <a:srgbClr val="1B5697"/>
                          </a:solidFill>
                        </a:rPr>
                        <a:t>Fairness &amp; drift</a:t>
                      </a:r>
                    </a:p>
                    <a:p>
                      <a:r>
                        <a:rPr sz="1200" b="1">
                          <a:solidFill>
                            <a:srgbClr val="1B5697"/>
                          </a:solidFill>
                        </a:rPr>
                        <a:t>monitoring</a:t>
                      </a:r>
                    </a:p>
                  </a:txBody>
                  <a:tcPr>
                    <a:solidFill>
                      <a:srgbClr val="F3F6FB"/>
                    </a:solidFill>
                  </a:tcPr>
                </a:tc>
                <a:tc>
                  <a:txBody>
                    <a:bodyPr/>
                    <a:lstStyle/>
                    <a:p>
                      <a:r>
                        <a:rPr sz="1200" b="0">
                          <a:solidFill>
                            <a:srgbClr val="262626"/>
                          </a:solidFill>
                        </a:rPr>
                        <a:t>Siddiqi 2006 (PSI)</a:t>
                      </a:r>
                    </a:p>
                    <a:p>
                      <a:r>
                        <a:rPr sz="1200" b="0">
                          <a:solidFill>
                            <a:srgbClr val="262626"/>
                          </a:solidFill>
                        </a:rPr>
                        <a:t>Barocas et al.</a:t>
                      </a:r>
                    </a:p>
                  </a:txBody>
                  <a:tcPr>
                    <a:solidFill>
                      <a:srgbClr val="F3F6FB"/>
                    </a:solidFill>
                  </a:tcPr>
                </a:tc>
                <a:tc>
                  <a:txBody>
                    <a:bodyPr/>
                    <a:lstStyle/>
                    <a:p>
                      <a:r>
                        <a:rPr sz="1200" b="0">
                          <a:solidFill>
                            <a:srgbClr val="262626"/>
                          </a:solidFill>
                        </a:rPr>
                        <a:t>PSI flags when who-we-approve drifts away from who-we-trained-on.</a:t>
                      </a:r>
                    </a:p>
                  </a:txBody>
                  <a:tcPr>
                    <a:solidFill>
                      <a:srgbClr val="F3F6FB"/>
                    </a:solidFill>
                  </a:tcPr>
                </a:tc>
              </a:tr>
              <a:tr h="690000">
                <a:tc>
                  <a:txBody>
                    <a:bodyPr/>
                    <a:lstStyle/>
                    <a:p>
                      <a:r>
                        <a:rPr sz="1200" b="1">
                          <a:solidFill>
                            <a:srgbClr val="1B5697"/>
                          </a:solidFill>
                        </a:rPr>
                        <a:t>Human-in-the-loop</a:t>
                      </a:r>
                    </a:p>
                    <a:p>
                      <a:r>
                        <a:rPr sz="1200" b="1">
                          <a:solidFill>
                            <a:srgbClr val="1B5697"/>
                          </a:solidFill>
                        </a:rPr>
                        <a:t>underwriting</a:t>
                      </a:r>
                    </a:p>
                  </a:txBody>
                  <a:tcPr>
                    <a:solidFill>
                      <a:srgbClr val="FFFFFF"/>
                    </a:solidFill>
                  </a:tcPr>
                </a:tc>
                <a:tc>
                  <a:txBody>
                    <a:bodyPr/>
                    <a:lstStyle/>
                    <a:p>
                      <a:r>
                        <a:rPr sz="1200" b="0">
                          <a:solidFill>
                            <a:srgbClr val="262626"/>
                          </a:solidFill>
                        </a:rPr>
                        <a:t>HITL review literature</a:t>
                      </a:r>
                    </a:p>
                  </a:txBody>
                  <a:tcPr>
                    <a:solidFill>
                      <a:srgbClr val="FFFFFF"/>
                    </a:solidFill>
                  </a:tcPr>
                </a:tc>
                <a:tc>
                  <a:txBody>
                    <a:bodyPr/>
                    <a:lstStyle/>
                    <a:p>
                      <a:r>
                        <a:rPr sz="1200" b="0">
                          <a:solidFill>
                            <a:srgbClr val="262626"/>
                          </a:solidFill>
                        </a:rPr>
                        <a:t>Send only the genuinely uncertain cases to a human expert.</a:t>
                      </a:r>
                    </a:p>
                  </a:txBody>
                  <a:tcPr>
                    <a:solidFill>
                      <a:srgbClr val="FFFFFF"/>
                    </a:solidFill>
                  </a:tcPr>
                </a:tc>
              </a:tr>
            </a:tbl>
          </a:graphicData>
        </a:graphic>
      </p:graphicFrame>
      <p:sp>
        <p:nvSpPr>
          <p:cNvPr id="22" name="TextBox 21"/>
          <p:cNvSpPr txBox="1"/>
          <p:nvPr/>
        </p:nvSpPr>
        <p:spPr>
          <a:xfrm>
            <a:off x="457200" y="5300000"/>
            <a:ext cx="11277295" cy="520000"/>
          </a:xfrm>
          <a:prstGeom prst="rect">
            <a:avLst/>
          </a:prstGeom>
          <a:noFill/>
        </p:spPr>
        <p:txBody>
          <a:bodyPr wrap="square">
            <a:spAutoFit/>
          </a:bodyPr>
          <a:lstStyle/>
          <a:p/>
        </p:txBody>
      </p:sp>
      <p:sp>
        <p:nvSpPr>
          <p:cNvPr id="23" name="Rectangle 22"/>
          <p:cNvSpPr/>
          <p:nvPr/>
        </p:nvSpPr>
        <p:spPr>
          <a:xfrm>
            <a:off x="457200" y="5250000"/>
            <a:ext cx="11277295" cy="7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5250000"/>
            <a:ext cx="91440" cy="7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7200" y="5360000"/>
            <a:ext cx="10917295" cy="480000"/>
          </a:xfrm>
          <a:prstGeom prst="rect">
            <a:avLst/>
          </a:prstGeom>
          <a:noFill/>
        </p:spPr>
        <p:txBody>
          <a:bodyPr wrap="square">
            <a:spAutoFit/>
          </a:bodyPr>
          <a:lstStyle/>
          <a:p>
            <a:pPr algn="l">
              <a:spcBef>
                <a:spcPts val="0"/>
              </a:spcBef>
              <a:spcAft>
                <a:spcPts val="0"/>
              </a:spcAft>
            </a:pPr>
            <a:r>
              <a:rPr sz="1500" b="1" i="0">
                <a:solidFill>
                  <a:srgbClr val="2E8B57"/>
                </a:solidFill>
                <a:latin typeface="Calibri"/>
              </a:rPr>
              <a:t>The gap: no prior work applies online-learning underwriting to Cambodia.</a:t>
            </a:r>
          </a:p>
        </p:txBody>
      </p:sp>
      <p:sp>
        <p:nvSpPr>
          <p:cNvPr id="26" name="Rectangle 2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8" name="Rectangle 2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Literature Review</a:t>
            </a:r>
          </a:p>
        </p:txBody>
      </p:sp>
      <p:sp>
        <p:nvSpPr>
          <p:cNvPr id="30" name="Rectangle 2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9 / 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HOW THE SYSTEM WORKS</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95847" y="1450000"/>
            <a:ext cx="15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5847" y="155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Applicant
Context</a:t>
            </a:r>
          </a:p>
        </p:txBody>
      </p:sp>
      <p:sp>
        <p:nvSpPr>
          <p:cNvPr id="22" name="TextBox 21"/>
          <p:cNvSpPr txBox="1"/>
          <p:nvPr/>
        </p:nvSpPr>
        <p:spPr>
          <a:xfrm>
            <a:off x="2595847" y="165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3" name="Rectangle 22"/>
          <p:cNvSpPr/>
          <p:nvPr/>
        </p:nvSpPr>
        <p:spPr>
          <a:xfrm>
            <a:off x="2795847" y="1450000"/>
            <a:ext cx="1500000" cy="7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45847" y="155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Bandit
Policy</a:t>
            </a:r>
          </a:p>
        </p:txBody>
      </p:sp>
      <p:sp>
        <p:nvSpPr>
          <p:cNvPr id="25" name="TextBox 24"/>
          <p:cNvSpPr txBox="1"/>
          <p:nvPr/>
        </p:nvSpPr>
        <p:spPr>
          <a:xfrm>
            <a:off x="4295847" y="165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6" name="Rectangle 25"/>
          <p:cNvSpPr/>
          <p:nvPr/>
        </p:nvSpPr>
        <p:spPr>
          <a:xfrm>
            <a:off x="4495847" y="1450000"/>
            <a:ext cx="1500000" cy="7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45847" y="155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Underwriting
Action</a:t>
            </a:r>
          </a:p>
        </p:txBody>
      </p:sp>
      <p:sp>
        <p:nvSpPr>
          <p:cNvPr id="28" name="TextBox 27"/>
          <p:cNvSpPr txBox="1"/>
          <p:nvPr/>
        </p:nvSpPr>
        <p:spPr>
          <a:xfrm>
            <a:off x="5995847" y="165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9" name="Rectangle 28"/>
          <p:cNvSpPr/>
          <p:nvPr/>
        </p:nvSpPr>
        <p:spPr>
          <a:xfrm>
            <a:off x="6195847" y="1450000"/>
            <a:ext cx="1500000" cy="7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45847" y="155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Actuarial
Reward</a:t>
            </a:r>
          </a:p>
        </p:txBody>
      </p:sp>
      <p:sp>
        <p:nvSpPr>
          <p:cNvPr id="31" name="TextBox 30"/>
          <p:cNvSpPr txBox="1"/>
          <p:nvPr/>
        </p:nvSpPr>
        <p:spPr>
          <a:xfrm>
            <a:off x="7695847" y="165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32" name="Rectangle 31"/>
          <p:cNvSpPr/>
          <p:nvPr/>
        </p:nvSpPr>
        <p:spPr>
          <a:xfrm>
            <a:off x="7895847" y="1450000"/>
            <a:ext cx="1500000" cy="7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45847" y="155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PSI + HITL
Guardrail</a:t>
            </a:r>
          </a:p>
        </p:txBody>
      </p:sp>
      <p:sp>
        <p:nvSpPr>
          <p:cNvPr id="34" name="TextBox 33"/>
          <p:cNvSpPr txBox="1"/>
          <p:nvPr/>
        </p:nvSpPr>
        <p:spPr>
          <a:xfrm>
            <a:off x="9395847" y="165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35" name="Rectangle 34"/>
          <p:cNvSpPr/>
          <p:nvPr/>
        </p:nvSpPr>
        <p:spPr>
          <a:xfrm>
            <a:off x="9595847" y="1450000"/>
            <a:ext cx="1500000" cy="700000"/>
          </a:xfrm>
          <a:prstGeom prst="rect">
            <a:avLst/>
          </a:prstGeom>
          <a:solidFill>
            <a:srgbClr val="C0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45847" y="155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Decision</a:t>
            </a:r>
          </a:p>
        </p:txBody>
      </p:sp>
      <p:sp>
        <p:nvSpPr>
          <p:cNvPr id="37" name="TextBox 36"/>
          <p:cNvSpPr txBox="1"/>
          <p:nvPr/>
        </p:nvSpPr>
        <p:spPr>
          <a:xfrm>
            <a:off x="457200" y="2450000"/>
            <a:ext cx="11277295" cy="520000"/>
          </a:xfrm>
          <a:prstGeom prst="rect">
            <a:avLst/>
          </a:prstGeom>
          <a:noFill/>
        </p:spPr>
        <p:txBody>
          <a:bodyPr wrap="square">
            <a:spAutoFit/>
          </a:bodyPr>
          <a:lstStyle/>
          <a:p>
            <a:pPr algn="ctr">
              <a:spcBef>
                <a:spcPts val="0"/>
              </a:spcBef>
              <a:spcAft>
                <a:spcPts val="0"/>
              </a:spcAft>
            </a:pPr>
            <a:r>
              <a:rPr sz="1600" b="1" i="0">
                <a:solidFill>
                  <a:srgbClr val="1B5697"/>
                </a:solidFill>
                <a:latin typeface="Calibri"/>
              </a:rPr>
              <a:t>In plain words: the system decides, sees what happens, and gets a little smarter each round.</a:t>
            </a:r>
          </a:p>
        </p:txBody>
      </p:sp>
      <p:sp>
        <p:nvSpPr>
          <p:cNvPr id="38" name="Rectangle 37"/>
          <p:cNvSpPr/>
          <p:nvPr/>
        </p:nvSpPr>
        <p:spPr>
          <a:xfrm>
            <a:off x="857200" y="315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77200" y="3190000"/>
            <a:ext cx="10577295" cy="46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It reads a short profile of the applicant.</a:t>
            </a:r>
          </a:p>
        </p:txBody>
      </p:sp>
      <p:sp>
        <p:nvSpPr>
          <p:cNvPr id="40" name="Rectangle 39"/>
          <p:cNvSpPr/>
          <p:nvPr/>
        </p:nvSpPr>
        <p:spPr>
          <a:xfrm>
            <a:off x="857200" y="377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77200" y="3810000"/>
            <a:ext cx="10577295" cy="46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It picks one of four actions: Standard · Rated · Decline · Refer to a human.</a:t>
            </a:r>
          </a:p>
        </p:txBody>
      </p:sp>
      <p:sp>
        <p:nvSpPr>
          <p:cNvPr id="42" name="Rectangle 41"/>
          <p:cNvSpPr/>
          <p:nvPr/>
        </p:nvSpPr>
        <p:spPr>
          <a:xfrm>
            <a:off x="857200" y="439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200" y="4430000"/>
            <a:ext cx="10577295" cy="46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It earns a reward: premiums collected minus the claims that follow.</a:t>
            </a:r>
          </a:p>
        </p:txBody>
      </p:sp>
      <p:sp>
        <p:nvSpPr>
          <p:cNvPr id="44" name="Rectangle 43"/>
          <p:cNvSpPr/>
          <p:nvPr/>
        </p:nvSpPr>
        <p:spPr>
          <a:xfrm>
            <a:off x="857200" y="501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77200" y="5050000"/>
            <a:ext cx="10577295" cy="46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A fairness guardrail (PSI) watches for demographic drift.</a:t>
            </a:r>
          </a:p>
        </p:txBody>
      </p:sp>
      <p:sp>
        <p:nvSpPr>
          <p:cNvPr id="46" name="Rectangle 45"/>
          <p:cNvSpPr/>
          <p:nvPr/>
        </p:nvSpPr>
        <p:spPr>
          <a:xfrm>
            <a:off x="857200" y="563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77200" y="5670000"/>
            <a:ext cx="10577295" cy="46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Uncertain cases are handed to a human expert.</a:t>
            </a:r>
          </a:p>
        </p:txBody>
      </p:sp>
      <p:sp>
        <p:nvSpPr>
          <p:cNvPr id="48" name="Rectangle 4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50" name="Rectangle 4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System Design</a:t>
            </a:r>
          </a:p>
        </p:txBody>
      </p:sp>
      <p:sp>
        <p:nvSpPr>
          <p:cNvPr id="52" name="Rectangle 5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10 / 34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HOW THE SYSTEM DECIDES FOR SOPHEA</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120000"/>
            <a:ext cx="4700000" cy="49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1120000"/>
            <a:ext cx="91440" cy="4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7200" y="1250000"/>
            <a:ext cx="4400000" cy="420000"/>
          </a:xfrm>
          <a:prstGeom prst="rect">
            <a:avLst/>
          </a:prstGeom>
          <a:noFill/>
        </p:spPr>
        <p:txBody>
          <a:bodyPr wrap="square">
            <a:spAutoFit/>
          </a:bodyPr>
          <a:lstStyle/>
          <a:p>
            <a:pPr algn="l">
              <a:spcBef>
                <a:spcPts val="0"/>
              </a:spcBef>
              <a:spcAft>
                <a:spcPts val="0"/>
              </a:spcAft>
            </a:pPr>
            <a:r>
              <a:rPr sz="1600" b="1" i="0">
                <a:solidFill>
                  <a:srgbClr val="1B5697"/>
                </a:solidFill>
                <a:latin typeface="Segoe UI"/>
              </a:rPr>
              <a:t>What it knows about Sophea</a:t>
            </a:r>
          </a:p>
        </p:txBody>
      </p:sp>
      <p:sp>
        <p:nvSpPr>
          <p:cNvPr id="23" name="TextBox 22"/>
          <p:cNvSpPr txBox="1"/>
          <p:nvPr/>
        </p:nvSpPr>
        <p:spPr>
          <a:xfrm>
            <a:off x="627200" y="1780000"/>
            <a:ext cx="4400000" cy="3600000"/>
          </a:xfrm>
          <a:prstGeom prst="rect">
            <a:avLst/>
          </a:prstGeom>
          <a:noFill/>
        </p:spPr>
        <p:txBody>
          <a:bodyPr wrap="square">
            <a:spAutoFit/>
          </a:bodyPr>
          <a:lstStyle/>
          <a:p>
            <a:pPr>
              <a:spcBef>
                <a:spcPts val="1400"/>
              </a:spcBef>
            </a:pPr>
            <a:r>
              <a:rPr sz="1600" b="1">
                <a:solidFill>
                  <a:srgbClr val="1F6FC4"/>
                </a:solidFill>
              </a:rPr>
              <a:t>•  </a:t>
            </a:r>
            <a:r>
              <a:rPr sz="1500">
                <a:solidFill>
                  <a:srgbClr val="262626"/>
                </a:solidFill>
              </a:rPr>
              <a:t>Age 42</a:t>
            </a:r>
          </a:p>
          <a:p>
            <a:pPr>
              <a:spcBef>
                <a:spcPts val="1400"/>
              </a:spcBef>
            </a:pPr>
            <a:r>
              <a:rPr sz="1600" b="1">
                <a:solidFill>
                  <a:srgbClr val="1F6FC4"/>
                </a:solidFill>
              </a:rPr>
              <a:t>•  </a:t>
            </a:r>
            <a:r>
              <a:rPr sz="1500">
                <a:solidFill>
                  <a:srgbClr val="262626"/>
                </a:solidFill>
              </a:rPr>
              <a:t>Non-smoker</a:t>
            </a:r>
          </a:p>
          <a:p>
            <a:pPr>
              <a:spcBef>
                <a:spcPts val="1400"/>
              </a:spcBef>
            </a:pPr>
            <a:r>
              <a:rPr sz="1600" b="1">
                <a:solidFill>
                  <a:srgbClr val="1F6FC4"/>
                </a:solidFill>
              </a:rPr>
              <a:t>•  </a:t>
            </a:r>
            <a:r>
              <a:rPr sz="1500">
                <a:solidFill>
                  <a:srgbClr val="262626"/>
                </a:solidFill>
              </a:rPr>
              <a:t>Managed blood pressure</a:t>
            </a:r>
          </a:p>
          <a:p>
            <a:pPr>
              <a:spcBef>
                <a:spcPts val="1400"/>
              </a:spcBef>
            </a:pPr>
            <a:r>
              <a:rPr sz="1600" b="1">
                <a:solidFill>
                  <a:srgbClr val="1F6FC4"/>
                </a:solidFill>
              </a:rPr>
              <a:t>•  </a:t>
            </a:r>
            <a:r>
              <a:rPr sz="1500">
                <a:solidFill>
                  <a:srgbClr val="262626"/>
                </a:solidFill>
              </a:rPr>
              <a:t>Active (field farming)</a:t>
            </a:r>
          </a:p>
          <a:p>
            <a:pPr>
              <a:spcBef>
                <a:spcPts val="1400"/>
              </a:spcBef>
            </a:pPr>
            <a:r>
              <a:rPr sz="1600" b="1">
                <a:solidFill>
                  <a:srgbClr val="1F6FC4"/>
                </a:solidFill>
              </a:rPr>
              <a:t>•  </a:t>
            </a:r>
            <a:r>
              <a:rPr sz="1500">
                <a:solidFill>
                  <a:srgbClr val="262626"/>
                </a:solidFill>
              </a:rPr>
              <a:t>Rice farmer, Kampong Cham</a:t>
            </a:r>
          </a:p>
          <a:p>
            <a:pPr>
              <a:spcBef>
                <a:spcPts val="1400"/>
              </a:spcBef>
            </a:pPr>
            <a:r>
              <a:rPr sz="1600" b="1">
                <a:solidFill>
                  <a:srgbClr val="1F6FC4"/>
                </a:solidFill>
              </a:rPr>
              <a:t>•  </a:t>
            </a:r>
            <a:r>
              <a:rPr sz="1500">
                <a:solidFill>
                  <a:srgbClr val="262626"/>
                </a:solidFill>
              </a:rPr>
              <a:t>Low wealth index</a:t>
            </a:r>
          </a:p>
        </p:txBody>
      </p:sp>
      <p:sp>
        <p:nvSpPr>
          <p:cNvPr id="24" name="TextBox 23"/>
          <p:cNvSpPr txBox="1"/>
          <p:nvPr/>
        </p:nvSpPr>
        <p:spPr>
          <a:xfrm>
            <a:off x="627200" y="5450000"/>
            <a:ext cx="4400000" cy="450000"/>
          </a:xfrm>
          <a:prstGeom prst="rect">
            <a:avLst/>
          </a:prstGeom>
          <a:noFill/>
        </p:spPr>
        <p:txBody>
          <a:bodyPr wrap="square">
            <a:spAutoFit/>
          </a:bodyPr>
          <a:lstStyle/>
          <a:p>
            <a:pPr algn="l">
              <a:spcBef>
                <a:spcPts val="0"/>
              </a:spcBef>
              <a:spcAft>
                <a:spcPts val="0"/>
              </a:spcAft>
            </a:pPr>
            <a:r>
              <a:rPr sz="1200" b="0" i="1">
                <a:solidFill>
                  <a:srgbClr val="505050"/>
                </a:solidFill>
                <a:latin typeface="Calibri"/>
              </a:rPr>
              <a:t>(A short profile — 34 facts in all.)</a:t>
            </a:r>
          </a:p>
        </p:txBody>
      </p:sp>
      <p:sp>
        <p:nvSpPr>
          <p:cNvPr id="25" name="TextBox 24"/>
          <p:cNvSpPr txBox="1"/>
          <p:nvPr/>
        </p:nvSpPr>
        <p:spPr>
          <a:xfrm>
            <a:off x="5507200" y="1180000"/>
            <a:ext cx="6227295" cy="380000"/>
          </a:xfrm>
          <a:prstGeom prst="rect">
            <a:avLst/>
          </a:prstGeom>
          <a:noFill/>
        </p:spPr>
        <p:txBody>
          <a:bodyPr wrap="square">
            <a:spAutoFit/>
          </a:bodyPr>
          <a:lstStyle/>
          <a:p>
            <a:pPr algn="l">
              <a:spcBef>
                <a:spcPts val="0"/>
              </a:spcBef>
              <a:spcAft>
                <a:spcPts val="0"/>
              </a:spcAft>
            </a:pPr>
            <a:r>
              <a:rPr sz="1600" b="1" i="0">
                <a:solidFill>
                  <a:srgbClr val="1B5697"/>
                </a:solidFill>
                <a:latin typeface="Segoe UI"/>
              </a:rPr>
              <a:t>It scores each option (higher = better)</a:t>
            </a:r>
          </a:p>
        </p:txBody>
      </p:sp>
      <p:sp>
        <p:nvSpPr>
          <p:cNvPr id="26" name="TextBox 25"/>
          <p:cNvSpPr txBox="1"/>
          <p:nvPr/>
        </p:nvSpPr>
        <p:spPr>
          <a:xfrm>
            <a:off x="5507200" y="1680000"/>
            <a:ext cx="6227295" cy="2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STANDARD</a:t>
            </a:r>
          </a:p>
        </p:txBody>
      </p:sp>
      <p:sp>
        <p:nvSpPr>
          <p:cNvPr id="27" name="Rectangle 26"/>
          <p:cNvSpPr/>
          <p:nvPr/>
        </p:nvSpPr>
        <p:spPr>
          <a:xfrm>
            <a:off x="5507200" y="1980000"/>
            <a:ext cx="5027295" cy="6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7200" y="1980000"/>
            <a:ext cx="5027295" cy="6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7200" y="1980000"/>
            <a:ext cx="5027295" cy="620000"/>
          </a:xfrm>
          <a:prstGeom prst="rect">
            <a:avLst/>
          </a:prstGeom>
          <a:noFill/>
          <a:ln w="31750">
            <a:solidFill>
              <a:srgbClr val="1B56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94495" y="1980000"/>
            <a:ext cx="1100000" cy="620000"/>
          </a:xfrm>
          <a:prstGeom prst="rect">
            <a:avLst/>
          </a:prstGeom>
          <a:noFill/>
        </p:spPr>
        <p:txBody>
          <a:bodyPr wrap="square" anchor="ctr">
            <a:spAutoFit/>
          </a:bodyPr>
          <a:lstStyle/>
          <a:p>
            <a:pPr algn="l">
              <a:spcBef>
                <a:spcPts val="0"/>
              </a:spcBef>
              <a:spcAft>
                <a:spcPts val="0"/>
              </a:spcAft>
            </a:pPr>
            <a:r>
              <a:rPr sz="1800" b="1" i="0">
                <a:solidFill>
                  <a:srgbClr val="1B5697"/>
                </a:solidFill>
                <a:latin typeface="Calibri"/>
              </a:rPr>
              <a:t>0.52</a:t>
            </a:r>
          </a:p>
        </p:txBody>
      </p:sp>
      <p:sp>
        <p:nvSpPr>
          <p:cNvPr id="31" name="TextBox 30"/>
          <p:cNvSpPr txBox="1"/>
          <p:nvPr/>
        </p:nvSpPr>
        <p:spPr>
          <a:xfrm>
            <a:off x="5507200" y="2560000"/>
            <a:ext cx="6227295" cy="280000"/>
          </a:xfrm>
          <a:prstGeom prst="rect">
            <a:avLst/>
          </a:prstGeom>
          <a:noFill/>
        </p:spPr>
        <p:txBody>
          <a:bodyPr wrap="square">
            <a:spAutoFit/>
          </a:bodyPr>
          <a:lstStyle/>
          <a:p>
            <a:pPr algn="l">
              <a:spcBef>
                <a:spcPts val="0"/>
              </a:spcBef>
              <a:spcAft>
                <a:spcPts val="0"/>
              </a:spcAft>
            </a:pPr>
            <a:r>
              <a:rPr sz="1300" b="0" i="0">
                <a:solidFill>
                  <a:srgbClr val="7D4E00"/>
                </a:solidFill>
                <a:latin typeface="Calibri"/>
              </a:rPr>
              <a:t>RATED</a:t>
            </a:r>
          </a:p>
        </p:txBody>
      </p:sp>
      <p:sp>
        <p:nvSpPr>
          <p:cNvPr id="32" name="Rectangle 31"/>
          <p:cNvSpPr/>
          <p:nvPr/>
        </p:nvSpPr>
        <p:spPr>
          <a:xfrm>
            <a:off x="5507200" y="2860000"/>
            <a:ext cx="5027295" cy="6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7200" y="2860000"/>
            <a:ext cx="2997041" cy="620000"/>
          </a:xfrm>
          <a:prstGeom prst="rect">
            <a:avLst/>
          </a:prstGeom>
          <a:solidFill>
            <a:srgbClr val="7D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94495" y="2860000"/>
            <a:ext cx="1100000" cy="620000"/>
          </a:xfrm>
          <a:prstGeom prst="rect">
            <a:avLst/>
          </a:prstGeom>
          <a:noFill/>
        </p:spPr>
        <p:txBody>
          <a:bodyPr wrap="square" anchor="ctr">
            <a:spAutoFit/>
          </a:bodyPr>
          <a:lstStyle/>
          <a:p>
            <a:pPr algn="l">
              <a:spcBef>
                <a:spcPts val="0"/>
              </a:spcBef>
              <a:spcAft>
                <a:spcPts val="0"/>
              </a:spcAft>
            </a:pPr>
            <a:r>
              <a:rPr sz="1800" b="0" i="0">
                <a:solidFill>
                  <a:srgbClr val="7D4E00"/>
                </a:solidFill>
                <a:latin typeface="Calibri"/>
              </a:rPr>
              <a:t>0.31</a:t>
            </a:r>
          </a:p>
        </p:txBody>
      </p:sp>
      <p:sp>
        <p:nvSpPr>
          <p:cNvPr id="35" name="TextBox 34"/>
          <p:cNvSpPr txBox="1"/>
          <p:nvPr/>
        </p:nvSpPr>
        <p:spPr>
          <a:xfrm>
            <a:off x="5507200" y="3440000"/>
            <a:ext cx="6227295" cy="280000"/>
          </a:xfrm>
          <a:prstGeom prst="rect">
            <a:avLst/>
          </a:prstGeom>
          <a:noFill/>
        </p:spPr>
        <p:txBody>
          <a:bodyPr wrap="square">
            <a:spAutoFit/>
          </a:bodyPr>
          <a:lstStyle/>
          <a:p>
            <a:pPr algn="l">
              <a:spcBef>
                <a:spcPts val="0"/>
              </a:spcBef>
              <a:spcAft>
                <a:spcPts val="0"/>
              </a:spcAft>
            </a:pPr>
            <a:r>
              <a:rPr sz="1300" b="0" i="0">
                <a:solidFill>
                  <a:srgbClr val="2E8B57"/>
                </a:solidFill>
                <a:latin typeface="Calibri"/>
              </a:rPr>
              <a:t>REFER</a:t>
            </a:r>
          </a:p>
        </p:txBody>
      </p:sp>
      <p:sp>
        <p:nvSpPr>
          <p:cNvPr id="36" name="Rectangle 35"/>
          <p:cNvSpPr/>
          <p:nvPr/>
        </p:nvSpPr>
        <p:spPr>
          <a:xfrm>
            <a:off x="5507200" y="3740000"/>
            <a:ext cx="5027295" cy="6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7200" y="3740000"/>
            <a:ext cx="2707005" cy="62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94495" y="3740000"/>
            <a:ext cx="1100000" cy="620000"/>
          </a:xfrm>
          <a:prstGeom prst="rect">
            <a:avLst/>
          </a:prstGeom>
          <a:noFill/>
        </p:spPr>
        <p:txBody>
          <a:bodyPr wrap="square" anchor="ctr">
            <a:spAutoFit/>
          </a:bodyPr>
          <a:lstStyle/>
          <a:p>
            <a:pPr algn="l">
              <a:spcBef>
                <a:spcPts val="0"/>
              </a:spcBef>
              <a:spcAft>
                <a:spcPts val="0"/>
              </a:spcAft>
            </a:pPr>
            <a:r>
              <a:rPr sz="1800" b="0" i="0">
                <a:solidFill>
                  <a:srgbClr val="2E8B57"/>
                </a:solidFill>
                <a:latin typeface="Calibri"/>
              </a:rPr>
              <a:t>0.28</a:t>
            </a:r>
          </a:p>
        </p:txBody>
      </p:sp>
      <p:sp>
        <p:nvSpPr>
          <p:cNvPr id="39" name="TextBox 38"/>
          <p:cNvSpPr txBox="1"/>
          <p:nvPr/>
        </p:nvSpPr>
        <p:spPr>
          <a:xfrm>
            <a:off x="5507200" y="4320000"/>
            <a:ext cx="6227295" cy="280000"/>
          </a:xfrm>
          <a:prstGeom prst="rect">
            <a:avLst/>
          </a:prstGeom>
          <a:noFill/>
        </p:spPr>
        <p:txBody>
          <a:bodyPr wrap="square">
            <a:spAutoFit/>
          </a:bodyPr>
          <a:lstStyle/>
          <a:p>
            <a:pPr algn="l">
              <a:spcBef>
                <a:spcPts val="0"/>
              </a:spcBef>
              <a:spcAft>
                <a:spcPts val="0"/>
              </a:spcAft>
            </a:pPr>
            <a:r>
              <a:rPr sz="1300" b="0" i="0">
                <a:solidFill>
                  <a:srgbClr val="D93B3B"/>
                </a:solidFill>
                <a:latin typeface="Calibri"/>
              </a:rPr>
              <a:t>DECLINE</a:t>
            </a:r>
          </a:p>
        </p:txBody>
      </p:sp>
      <p:sp>
        <p:nvSpPr>
          <p:cNvPr id="40" name="Rectangle 39"/>
          <p:cNvSpPr/>
          <p:nvPr/>
        </p:nvSpPr>
        <p:spPr>
          <a:xfrm>
            <a:off x="5507200" y="4620000"/>
            <a:ext cx="5027295" cy="6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507200" y="4620000"/>
            <a:ext cx="966787" cy="620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94495" y="4620000"/>
            <a:ext cx="1100000" cy="620000"/>
          </a:xfrm>
          <a:prstGeom prst="rect">
            <a:avLst/>
          </a:prstGeom>
          <a:noFill/>
        </p:spPr>
        <p:txBody>
          <a:bodyPr wrap="square" anchor="ctr">
            <a:spAutoFit/>
          </a:bodyPr>
          <a:lstStyle/>
          <a:p>
            <a:pPr algn="l">
              <a:spcBef>
                <a:spcPts val="0"/>
              </a:spcBef>
              <a:spcAft>
                <a:spcPts val="0"/>
              </a:spcAft>
            </a:pPr>
            <a:r>
              <a:rPr sz="1800" b="0" i="0">
                <a:solidFill>
                  <a:srgbClr val="D93B3B"/>
                </a:solidFill>
                <a:latin typeface="Calibri"/>
              </a:rPr>
              <a:t>0.10</a:t>
            </a:r>
          </a:p>
        </p:txBody>
      </p:sp>
      <p:sp>
        <p:nvSpPr>
          <p:cNvPr id="43" name="TextBox 42"/>
          <p:cNvSpPr txBox="1"/>
          <p:nvPr/>
        </p:nvSpPr>
        <p:spPr>
          <a:xfrm>
            <a:off x="5507200" y="5380000"/>
            <a:ext cx="6227295" cy="90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Highest score wins → STANDARD. Sophea gets coverage.</a:t>
            </a:r>
          </a:p>
          <a:p>
            <a:pPr algn="l">
              <a:spcBef>
                <a:spcPts val="600"/>
              </a:spcBef>
            </a:pPr>
            <a:r>
              <a:rPr sz="1200" b="0" i="1">
                <a:solidFill>
                  <a:srgbClr val="505050"/>
                </a:solidFill>
                <a:latin typeface="Calibri"/>
              </a:rPr>
              <a:t>In plain words: it estimates how each option would pay off for someone like her, then adds a small bonus for options it hasn't tried often. (The maths is in Appendix A7.)</a:t>
            </a:r>
          </a:p>
        </p:txBody>
      </p:sp>
      <p:sp>
        <p:nvSpPr>
          <p:cNvPr id="44" name="Rectangle 4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46" name="Rectangle 4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System Design</a:t>
            </a:r>
          </a:p>
        </p:txBody>
      </p:sp>
      <p:sp>
        <p:nvSpPr>
          <p:cNvPr id="48" name="Rectangle 4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11 / 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WHAT THE SYSTEM EARNS</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150000"/>
            <a:ext cx="11277295" cy="7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1260000"/>
            <a:ext cx="11277295" cy="560000"/>
          </a:xfrm>
          <a:prstGeom prst="rect">
            <a:avLst/>
          </a:prstGeom>
          <a:noFill/>
        </p:spPr>
        <p:txBody>
          <a:bodyPr wrap="square" anchor="ctr">
            <a:spAutoFit/>
          </a:bodyPr>
          <a:lstStyle/>
          <a:p>
            <a:pPr algn="ctr">
              <a:spcBef>
                <a:spcPts val="0"/>
              </a:spcBef>
              <a:spcAft>
                <a:spcPts val="0"/>
              </a:spcAft>
            </a:pPr>
            <a:r>
              <a:rPr sz="2400" b="1" i="0">
                <a:solidFill>
                  <a:srgbClr val="FFFFFF"/>
                </a:solidFill>
                <a:latin typeface="Segoe UI"/>
              </a:rPr>
              <a:t>Reward  =  Premiums collected  −  Claims paid</a:t>
            </a:r>
          </a:p>
        </p:txBody>
      </p:sp>
      <p:sp>
        <p:nvSpPr>
          <p:cNvPr id="22" name="Rectangle 21"/>
          <p:cNvSpPr/>
          <p:nvPr/>
        </p:nvSpPr>
        <p:spPr>
          <a:xfrm>
            <a:off x="457200" y="2350000"/>
            <a:ext cx="3559098" cy="24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2350000"/>
            <a:ext cx="3559098" cy="82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7200" y="2600000"/>
            <a:ext cx="3309098" cy="600000"/>
          </a:xfrm>
          <a:prstGeom prst="rect">
            <a:avLst/>
          </a:prstGeom>
          <a:noFill/>
        </p:spPr>
        <p:txBody>
          <a:bodyPr wrap="square">
            <a:spAutoFit/>
          </a:bodyPr>
          <a:lstStyle/>
          <a:p>
            <a:pPr algn="l">
              <a:spcBef>
                <a:spcPts val="0"/>
              </a:spcBef>
              <a:spcAft>
                <a:spcPts val="0"/>
              </a:spcAft>
            </a:pPr>
            <a:r>
              <a:rPr sz="1600" b="1" i="0">
                <a:solidFill>
                  <a:srgbClr val="2E8B57"/>
                </a:solidFill>
                <a:latin typeface="Segoe UI"/>
              </a:rPr>
              <a:t>Insure someone healthy</a:t>
            </a:r>
          </a:p>
        </p:txBody>
      </p:sp>
      <p:sp>
        <p:nvSpPr>
          <p:cNvPr id="25" name="TextBox 24"/>
          <p:cNvSpPr txBox="1"/>
          <p:nvPr/>
        </p:nvSpPr>
        <p:spPr>
          <a:xfrm>
            <a:off x="607200" y="3300000"/>
            <a:ext cx="3309098" cy="135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You collect premiums and pay few claims  →  earn</a:t>
            </a:r>
          </a:p>
        </p:txBody>
      </p:sp>
      <p:sp>
        <p:nvSpPr>
          <p:cNvPr id="26" name="Rectangle 25"/>
          <p:cNvSpPr/>
          <p:nvPr/>
        </p:nvSpPr>
        <p:spPr>
          <a:xfrm>
            <a:off x="4316298" y="2350000"/>
            <a:ext cx="3559098" cy="240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16298" y="2350000"/>
            <a:ext cx="3559098" cy="82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66298" y="2600000"/>
            <a:ext cx="3309098" cy="600000"/>
          </a:xfrm>
          <a:prstGeom prst="rect">
            <a:avLst/>
          </a:prstGeom>
          <a:noFill/>
        </p:spPr>
        <p:txBody>
          <a:bodyPr wrap="square">
            <a:spAutoFit/>
          </a:bodyPr>
          <a:lstStyle/>
          <a:p>
            <a:pPr algn="l">
              <a:spcBef>
                <a:spcPts val="0"/>
              </a:spcBef>
              <a:spcAft>
                <a:spcPts val="0"/>
              </a:spcAft>
            </a:pPr>
            <a:r>
              <a:rPr sz="1600" b="1" i="0">
                <a:solidFill>
                  <a:srgbClr val="D93B3B"/>
                </a:solidFill>
                <a:latin typeface="Segoe UI"/>
              </a:rPr>
              <a:t>Insure a frequent claimer</a:t>
            </a:r>
          </a:p>
        </p:txBody>
      </p:sp>
      <p:sp>
        <p:nvSpPr>
          <p:cNvPr id="29" name="TextBox 28"/>
          <p:cNvSpPr txBox="1"/>
          <p:nvPr/>
        </p:nvSpPr>
        <p:spPr>
          <a:xfrm>
            <a:off x="4466298" y="3300000"/>
            <a:ext cx="3309098" cy="135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Claims outrun the premiums  →  lose</a:t>
            </a:r>
          </a:p>
        </p:txBody>
      </p:sp>
      <p:sp>
        <p:nvSpPr>
          <p:cNvPr id="30" name="Rectangle 29"/>
          <p:cNvSpPr/>
          <p:nvPr/>
        </p:nvSpPr>
        <p:spPr>
          <a:xfrm>
            <a:off x="8175396" y="2350000"/>
            <a:ext cx="3559098" cy="24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75396" y="2350000"/>
            <a:ext cx="3559098" cy="82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5396" y="2600000"/>
            <a:ext cx="3309098" cy="600000"/>
          </a:xfrm>
          <a:prstGeom prst="rect">
            <a:avLst/>
          </a:prstGeom>
          <a:noFill/>
        </p:spPr>
        <p:txBody>
          <a:bodyPr wrap="square">
            <a:spAutoFit/>
          </a:bodyPr>
          <a:lstStyle/>
          <a:p>
            <a:pPr algn="l">
              <a:spcBef>
                <a:spcPts val="0"/>
              </a:spcBef>
              <a:spcAft>
                <a:spcPts val="0"/>
              </a:spcAft>
            </a:pPr>
            <a:r>
              <a:rPr sz="1600" b="1" i="0">
                <a:solidFill>
                  <a:srgbClr val="1B5697"/>
                </a:solidFill>
                <a:latin typeface="Segoe UI"/>
              </a:rPr>
              <a:t>Decline everyone</a:t>
            </a:r>
          </a:p>
        </p:txBody>
      </p:sp>
      <p:sp>
        <p:nvSpPr>
          <p:cNvPr id="33" name="TextBox 32"/>
          <p:cNvSpPr txBox="1"/>
          <p:nvPr/>
        </p:nvSpPr>
        <p:spPr>
          <a:xfrm>
            <a:off x="8325396" y="3300000"/>
            <a:ext cx="3309098" cy="135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No premiums at all  →  earn nothing</a:t>
            </a:r>
          </a:p>
        </p:txBody>
      </p:sp>
      <p:sp>
        <p:nvSpPr>
          <p:cNvPr id="34" name="TextBox 33"/>
          <p:cNvSpPr txBox="1"/>
          <p:nvPr/>
        </p:nvSpPr>
        <p:spPr>
          <a:xfrm>
            <a:off x="457200" y="5150000"/>
            <a:ext cx="11277295" cy="900000"/>
          </a:xfrm>
          <a:prstGeom prst="rect">
            <a:avLst/>
          </a:prstGeom>
          <a:noFill/>
        </p:spPr>
        <p:txBody>
          <a:bodyPr wrap="square">
            <a:spAutoFit/>
          </a:bodyPr>
          <a:lstStyle/>
          <a:p>
            <a:pPr algn="l">
              <a:spcBef>
                <a:spcPts val="0"/>
              </a:spcBef>
              <a:spcAft>
                <a:spcPts val="0"/>
              </a:spcAft>
            </a:pPr>
            <a:r>
              <a:rPr sz="1500" b="0" i="1">
                <a:solidFill>
                  <a:srgbClr val="1B5697"/>
                </a:solidFill>
                <a:latin typeface="Calibri"/>
              </a:rPr>
              <a:t>So the system is rewarded for insuring the right people at the right price — not for saying yes to everyone, and not for saying no to everyone.</a:t>
            </a:r>
          </a:p>
          <a:p>
            <a:pPr algn="l">
              <a:spcBef>
                <a:spcPts val="800"/>
              </a:spcBef>
            </a:pPr>
            <a:r>
              <a:rPr sz="1100" b="0" i="1">
                <a:solidFill>
                  <a:srgbClr val="505050"/>
                </a:solidFill>
                <a:latin typeface="Calibri"/>
              </a:rPr>
              <a:t>Full actuarial detail — risk loadings, adverse selection, price elasticity — is in the reward simulator (thesis Table 8; Appendix A5).</a:t>
            </a:r>
          </a:p>
        </p:txBody>
      </p:sp>
      <p:sp>
        <p:nvSpPr>
          <p:cNvPr id="35" name="Rectangle 34"/>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7" name="Rectangle 36"/>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System Design</a:t>
            </a:r>
          </a:p>
        </p:txBody>
      </p:sp>
      <p:sp>
        <p:nvSpPr>
          <p:cNvPr id="39" name="Rectangle 38"/>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12 / 34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THE FAIRNESS GUARDRAIL</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56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PSI asks one question:</a:t>
            </a:r>
          </a:p>
          <a:p>
            <a:pPr algn="l">
              <a:spcBef>
                <a:spcPts val="400"/>
              </a:spcBef>
            </a:pPr>
            <a:r>
              <a:rPr sz="1600" b="0" i="1">
                <a:solidFill>
                  <a:srgbClr val="505050"/>
                </a:solidFill>
                <a:latin typeface="Calibri"/>
              </a:rPr>
              <a:t>Are the people we approve today drifting away from the people we trained on?</a:t>
            </a:r>
          </a:p>
        </p:txBody>
      </p:sp>
      <p:sp>
        <p:nvSpPr>
          <p:cNvPr id="21" name="Rectangle 20"/>
          <p:cNvSpPr/>
          <p:nvPr/>
        </p:nvSpPr>
        <p:spPr>
          <a:xfrm>
            <a:off x="457200" y="1950000"/>
            <a:ext cx="11277295" cy="9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1950000"/>
            <a:ext cx="120000" cy="9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7200" y="1950000"/>
            <a:ext cx="2400000" cy="900000"/>
          </a:xfrm>
          <a:prstGeom prst="rect">
            <a:avLst/>
          </a:prstGeom>
          <a:noFill/>
        </p:spPr>
        <p:txBody>
          <a:bodyPr wrap="square" anchor="ctr">
            <a:spAutoFit/>
          </a:bodyPr>
          <a:lstStyle/>
          <a:p>
            <a:pPr algn="l">
              <a:spcBef>
                <a:spcPts val="0"/>
              </a:spcBef>
              <a:spcAft>
                <a:spcPts val="0"/>
              </a:spcAft>
            </a:pPr>
            <a:r>
              <a:rPr sz="2200" b="1" i="0">
                <a:solidFill>
                  <a:srgbClr val="2E8B57"/>
                </a:solidFill>
                <a:latin typeface="Segoe UI"/>
              </a:rPr>
              <a:t>GREEN</a:t>
            </a:r>
          </a:p>
        </p:txBody>
      </p:sp>
      <p:sp>
        <p:nvSpPr>
          <p:cNvPr id="24" name="TextBox 23"/>
          <p:cNvSpPr txBox="1"/>
          <p:nvPr/>
        </p:nvSpPr>
        <p:spPr>
          <a:xfrm>
            <a:off x="3157200" y="1950000"/>
            <a:ext cx="2200000" cy="900000"/>
          </a:xfrm>
          <a:prstGeom prst="rect">
            <a:avLst/>
          </a:prstGeom>
          <a:noFill/>
        </p:spPr>
        <p:txBody>
          <a:bodyPr wrap="square" anchor="ctr">
            <a:spAutoFit/>
          </a:bodyPr>
          <a:lstStyle/>
          <a:p>
            <a:pPr algn="l">
              <a:spcBef>
                <a:spcPts val="0"/>
              </a:spcBef>
              <a:spcAft>
                <a:spcPts val="0"/>
              </a:spcAft>
            </a:pPr>
            <a:r>
              <a:rPr sz="1500" b="1" i="0">
                <a:solidFill>
                  <a:srgbClr val="262626"/>
                </a:solidFill>
                <a:latin typeface="Calibri"/>
              </a:rPr>
              <a:t>below 0.10</a:t>
            </a:r>
          </a:p>
        </p:txBody>
      </p:sp>
      <p:sp>
        <p:nvSpPr>
          <p:cNvPr id="25" name="TextBox 24"/>
          <p:cNvSpPr txBox="1"/>
          <p:nvPr/>
        </p:nvSpPr>
        <p:spPr>
          <a:xfrm>
            <a:off x="5457200" y="1950000"/>
            <a:ext cx="6077295" cy="90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All clear — the mix of approvals is stable.</a:t>
            </a:r>
          </a:p>
        </p:txBody>
      </p:sp>
      <p:sp>
        <p:nvSpPr>
          <p:cNvPr id="26" name="Rectangle 25"/>
          <p:cNvSpPr/>
          <p:nvPr/>
        </p:nvSpPr>
        <p:spPr>
          <a:xfrm>
            <a:off x="457200" y="2960000"/>
            <a:ext cx="11277295" cy="90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2960000"/>
            <a:ext cx="120000" cy="9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7200" y="2960000"/>
            <a:ext cx="2400000" cy="900000"/>
          </a:xfrm>
          <a:prstGeom prst="rect">
            <a:avLst/>
          </a:prstGeom>
          <a:noFill/>
        </p:spPr>
        <p:txBody>
          <a:bodyPr wrap="square" anchor="ctr">
            <a:spAutoFit/>
          </a:bodyPr>
          <a:lstStyle/>
          <a:p>
            <a:pPr algn="l">
              <a:spcBef>
                <a:spcPts val="0"/>
              </a:spcBef>
              <a:spcAft>
                <a:spcPts val="0"/>
              </a:spcAft>
            </a:pPr>
            <a:r>
              <a:rPr sz="2200" b="1" i="0">
                <a:solidFill>
                  <a:srgbClr val="E6A62E"/>
                </a:solidFill>
                <a:latin typeface="Segoe UI"/>
              </a:rPr>
              <a:t>AMBER</a:t>
            </a:r>
          </a:p>
        </p:txBody>
      </p:sp>
      <p:sp>
        <p:nvSpPr>
          <p:cNvPr id="29" name="TextBox 28"/>
          <p:cNvSpPr txBox="1"/>
          <p:nvPr/>
        </p:nvSpPr>
        <p:spPr>
          <a:xfrm>
            <a:off x="3157200" y="2960000"/>
            <a:ext cx="2200000" cy="900000"/>
          </a:xfrm>
          <a:prstGeom prst="rect">
            <a:avLst/>
          </a:prstGeom>
          <a:noFill/>
        </p:spPr>
        <p:txBody>
          <a:bodyPr wrap="square" anchor="ctr">
            <a:spAutoFit/>
          </a:bodyPr>
          <a:lstStyle/>
          <a:p>
            <a:pPr algn="l">
              <a:spcBef>
                <a:spcPts val="0"/>
              </a:spcBef>
              <a:spcAft>
                <a:spcPts val="0"/>
              </a:spcAft>
            </a:pPr>
            <a:r>
              <a:rPr sz="1500" b="1" i="0">
                <a:solidFill>
                  <a:srgbClr val="262626"/>
                </a:solidFill>
                <a:latin typeface="Calibri"/>
              </a:rPr>
              <a:t>0.10 – 0.25</a:t>
            </a:r>
          </a:p>
        </p:txBody>
      </p:sp>
      <p:sp>
        <p:nvSpPr>
          <p:cNvPr id="30" name="TextBox 29"/>
          <p:cNvSpPr txBox="1"/>
          <p:nvPr/>
        </p:nvSpPr>
        <p:spPr>
          <a:xfrm>
            <a:off x="5457200" y="2960000"/>
            <a:ext cx="6077295" cy="90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Watch closely — a moderate shift; flag for review.</a:t>
            </a:r>
          </a:p>
        </p:txBody>
      </p:sp>
      <p:sp>
        <p:nvSpPr>
          <p:cNvPr id="31" name="Rectangle 30"/>
          <p:cNvSpPr/>
          <p:nvPr/>
        </p:nvSpPr>
        <p:spPr>
          <a:xfrm>
            <a:off x="457200" y="3970000"/>
            <a:ext cx="11277295" cy="90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3970000"/>
            <a:ext cx="120000" cy="900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7200" y="3970000"/>
            <a:ext cx="2400000" cy="900000"/>
          </a:xfrm>
          <a:prstGeom prst="rect">
            <a:avLst/>
          </a:prstGeom>
          <a:noFill/>
        </p:spPr>
        <p:txBody>
          <a:bodyPr wrap="square" anchor="ctr">
            <a:spAutoFit/>
          </a:bodyPr>
          <a:lstStyle/>
          <a:p>
            <a:pPr algn="l">
              <a:spcBef>
                <a:spcPts val="0"/>
              </a:spcBef>
              <a:spcAft>
                <a:spcPts val="0"/>
              </a:spcAft>
            </a:pPr>
            <a:r>
              <a:rPr sz="2200" b="1" i="0">
                <a:solidFill>
                  <a:srgbClr val="D93B3B"/>
                </a:solidFill>
                <a:latin typeface="Segoe UI"/>
              </a:rPr>
              <a:t>RED</a:t>
            </a:r>
          </a:p>
        </p:txBody>
      </p:sp>
      <p:sp>
        <p:nvSpPr>
          <p:cNvPr id="34" name="TextBox 33"/>
          <p:cNvSpPr txBox="1"/>
          <p:nvPr/>
        </p:nvSpPr>
        <p:spPr>
          <a:xfrm>
            <a:off x="3157200" y="3970000"/>
            <a:ext cx="2200000" cy="900000"/>
          </a:xfrm>
          <a:prstGeom prst="rect">
            <a:avLst/>
          </a:prstGeom>
          <a:noFill/>
        </p:spPr>
        <p:txBody>
          <a:bodyPr wrap="square" anchor="ctr">
            <a:spAutoFit/>
          </a:bodyPr>
          <a:lstStyle/>
          <a:p>
            <a:pPr algn="l">
              <a:spcBef>
                <a:spcPts val="0"/>
              </a:spcBef>
              <a:spcAft>
                <a:spcPts val="0"/>
              </a:spcAft>
            </a:pPr>
            <a:r>
              <a:rPr sz="1500" b="1" i="0">
                <a:solidFill>
                  <a:srgbClr val="262626"/>
                </a:solidFill>
                <a:latin typeface="Calibri"/>
              </a:rPr>
              <a:t>above 0.25</a:t>
            </a:r>
          </a:p>
        </p:txBody>
      </p:sp>
      <p:sp>
        <p:nvSpPr>
          <p:cNvPr id="35" name="TextBox 34"/>
          <p:cNvSpPr txBox="1"/>
          <p:nvPr/>
        </p:nvSpPr>
        <p:spPr>
          <a:xfrm>
            <a:off x="5457200" y="3970000"/>
            <a:ext cx="6077295" cy="90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Stop and recalibrate — a major shift; escalate.</a:t>
            </a:r>
          </a:p>
        </p:txBody>
      </p:sp>
      <p:sp>
        <p:nvSpPr>
          <p:cNvPr id="36" name="TextBox 35"/>
          <p:cNvSpPr txBox="1"/>
          <p:nvPr/>
        </p:nvSpPr>
        <p:spPr>
          <a:xfrm>
            <a:off x="457200" y="5040000"/>
            <a:ext cx="11277295" cy="56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And when the system isn't sure, the case goes to a human expert (about 1 in 70). The exact PSI formula is in Appendix A8.</a:t>
            </a:r>
          </a:p>
        </p:txBody>
      </p:sp>
      <p:sp>
        <p:nvSpPr>
          <p:cNvPr id="37" name="Rectangle 36"/>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9" name="Rectangle 38"/>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System Design</a:t>
            </a:r>
          </a:p>
        </p:txBody>
      </p:sp>
      <p:sp>
        <p:nvSpPr>
          <p:cNvPr id="41" name="Rectangle 40"/>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13 / 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THE DATA</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60000"/>
            <a:ext cx="2769323" cy="52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2,000</a:t>
            </a:r>
          </a:p>
        </p:txBody>
      </p:sp>
      <p:sp>
        <p:nvSpPr>
          <p:cNvPr id="21" name="TextBox 20"/>
          <p:cNvSpPr txBox="1"/>
          <p:nvPr/>
        </p:nvSpPr>
        <p:spPr>
          <a:xfrm>
            <a:off x="457200" y="1700000"/>
            <a:ext cx="2769323" cy="380000"/>
          </a:xfrm>
          <a:prstGeom prst="rect">
            <a:avLst/>
          </a:prstGeom>
          <a:noFill/>
        </p:spPr>
        <p:txBody>
          <a:bodyPr wrap="square">
            <a:spAutoFit/>
          </a:bodyPr>
          <a:lstStyle/>
          <a:p>
            <a:pPr algn="ctr">
              <a:spcBef>
                <a:spcPts val="0"/>
              </a:spcBef>
              <a:spcAft>
                <a:spcPts val="0"/>
              </a:spcAft>
            </a:pPr>
            <a:r>
              <a:rPr sz="1200" b="0" i="0">
                <a:solidFill>
                  <a:srgbClr val="505050"/>
                </a:solidFill>
                <a:latin typeface="Calibri"/>
              </a:rPr>
              <a:t>SYNTHETIC
APPLICANTS</a:t>
            </a:r>
          </a:p>
        </p:txBody>
      </p:sp>
      <p:sp>
        <p:nvSpPr>
          <p:cNvPr id="22" name="TextBox 21"/>
          <p:cNvSpPr txBox="1"/>
          <p:nvPr/>
        </p:nvSpPr>
        <p:spPr>
          <a:xfrm>
            <a:off x="3276523" y="1160000"/>
            <a:ext cx="2769323" cy="52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34</a:t>
            </a:r>
          </a:p>
        </p:txBody>
      </p:sp>
      <p:sp>
        <p:nvSpPr>
          <p:cNvPr id="23" name="TextBox 22"/>
          <p:cNvSpPr txBox="1"/>
          <p:nvPr/>
        </p:nvSpPr>
        <p:spPr>
          <a:xfrm>
            <a:off x="3276523" y="1700000"/>
            <a:ext cx="2769323" cy="380000"/>
          </a:xfrm>
          <a:prstGeom prst="rect">
            <a:avLst/>
          </a:prstGeom>
          <a:noFill/>
        </p:spPr>
        <p:txBody>
          <a:bodyPr wrap="square">
            <a:spAutoFit/>
          </a:bodyPr>
          <a:lstStyle/>
          <a:p>
            <a:pPr algn="ctr">
              <a:spcBef>
                <a:spcPts val="0"/>
              </a:spcBef>
              <a:spcAft>
                <a:spcPts val="0"/>
              </a:spcAft>
            </a:pPr>
            <a:r>
              <a:rPr sz="1200" b="0" i="0">
                <a:solidFill>
                  <a:srgbClr val="505050"/>
                </a:solidFill>
                <a:latin typeface="Calibri"/>
              </a:rPr>
              <a:t>FACTS ABOUT
EACH PERSON</a:t>
            </a:r>
          </a:p>
        </p:txBody>
      </p:sp>
      <p:sp>
        <p:nvSpPr>
          <p:cNvPr id="24" name="TextBox 23"/>
          <p:cNvSpPr txBox="1"/>
          <p:nvPr/>
        </p:nvSpPr>
        <p:spPr>
          <a:xfrm>
            <a:off x="6095846" y="1160000"/>
            <a:ext cx="2769323" cy="52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4</a:t>
            </a:r>
          </a:p>
        </p:txBody>
      </p:sp>
      <p:sp>
        <p:nvSpPr>
          <p:cNvPr id="25" name="TextBox 24"/>
          <p:cNvSpPr txBox="1"/>
          <p:nvPr/>
        </p:nvSpPr>
        <p:spPr>
          <a:xfrm>
            <a:off x="6095846" y="1700000"/>
            <a:ext cx="2769323" cy="380000"/>
          </a:xfrm>
          <a:prstGeom prst="rect">
            <a:avLst/>
          </a:prstGeom>
          <a:noFill/>
        </p:spPr>
        <p:txBody>
          <a:bodyPr wrap="square">
            <a:spAutoFit/>
          </a:bodyPr>
          <a:lstStyle/>
          <a:p>
            <a:pPr algn="ctr">
              <a:spcBef>
                <a:spcPts val="0"/>
              </a:spcBef>
              <a:spcAft>
                <a:spcPts val="0"/>
              </a:spcAft>
            </a:pPr>
            <a:r>
              <a:rPr sz="1200" b="0" i="0">
                <a:solidFill>
                  <a:srgbClr val="505050"/>
                </a:solidFill>
                <a:latin typeface="Calibri"/>
              </a:rPr>
              <a:t>POSSIBLE
DECISIONS</a:t>
            </a:r>
          </a:p>
        </p:txBody>
      </p:sp>
      <p:sp>
        <p:nvSpPr>
          <p:cNvPr id="26" name="TextBox 25"/>
          <p:cNvSpPr txBox="1"/>
          <p:nvPr/>
        </p:nvSpPr>
        <p:spPr>
          <a:xfrm>
            <a:off x="8915169" y="1160000"/>
            <a:ext cx="2769323" cy="52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4</a:t>
            </a:r>
          </a:p>
        </p:txBody>
      </p:sp>
      <p:sp>
        <p:nvSpPr>
          <p:cNvPr id="27" name="TextBox 26"/>
          <p:cNvSpPr txBox="1"/>
          <p:nvPr/>
        </p:nvSpPr>
        <p:spPr>
          <a:xfrm>
            <a:off x="8915169" y="1700000"/>
            <a:ext cx="2769323" cy="380000"/>
          </a:xfrm>
          <a:prstGeom prst="rect">
            <a:avLst/>
          </a:prstGeom>
          <a:noFill/>
        </p:spPr>
        <p:txBody>
          <a:bodyPr wrap="square">
            <a:spAutoFit/>
          </a:bodyPr>
          <a:lstStyle/>
          <a:p>
            <a:pPr algn="ctr">
              <a:spcBef>
                <a:spcPts val="0"/>
              </a:spcBef>
              <a:spcAft>
                <a:spcPts val="0"/>
              </a:spcAft>
            </a:pPr>
            <a:r>
              <a:rPr sz="1200" b="0" i="0">
                <a:solidFill>
                  <a:srgbClr val="505050"/>
                </a:solidFill>
                <a:latin typeface="Calibri"/>
              </a:rPr>
              <a:t>REAL-SURVEY
ANCHORS</a:t>
            </a:r>
          </a:p>
        </p:txBody>
      </p:sp>
      <p:graphicFrame>
        <p:nvGraphicFramePr>
          <p:cNvPr id="28" name="Table 27"/>
          <p:cNvGraphicFramePr>
            <a:graphicFrameLocks noGrp="1"/>
          </p:cNvGraphicFramePr>
          <p:nvPr/>
        </p:nvGraphicFramePr>
        <p:xfrm>
          <a:off x="457200" y="2280000"/>
          <a:ext cx="11277295" cy="3350000"/>
        </p:xfrm>
        <a:graphic>
          <a:graphicData uri="http://schemas.openxmlformats.org/drawingml/2006/table">
            <a:tbl>
              <a:tblPr firstRow="1" bandRow="1">
                <a:tableStyleId>{5C22544A-7EE6-4342-B048-85BDC9FD1C3A}</a:tableStyleId>
              </a:tblPr>
              <a:tblGrid>
                <a:gridCol w="3759098"/>
                <a:gridCol w="3759098"/>
                <a:gridCol w="3759099"/>
              </a:tblGrid>
              <a:tr h="418750">
                <a:tc>
                  <a:txBody>
                    <a:bodyPr/>
                    <a:lstStyle/>
                    <a:p>
                      <a:r>
                        <a:rPr b="1" sz="1200">
                          <a:solidFill>
                            <a:srgbClr val="FFFFFF"/>
                          </a:solidFill>
                        </a:rPr>
                        <a:t>Category</a:t>
                      </a:r>
                    </a:p>
                  </a:txBody>
                  <a:tcPr>
                    <a:solidFill>
                      <a:srgbClr val="1B5697"/>
                    </a:solidFill>
                  </a:tcPr>
                </a:tc>
                <a:tc>
                  <a:txBody>
                    <a:bodyPr/>
                    <a:lstStyle/>
                    <a:p>
                      <a:r>
                        <a:rPr b="1" sz="1200">
                          <a:solidFill>
                            <a:srgbClr val="FFFFFF"/>
                          </a:solidFill>
                        </a:rPr>
                        <a:t>Features</a:t>
                      </a:r>
                    </a:p>
                  </a:txBody>
                  <a:tcPr>
                    <a:solidFill>
                      <a:srgbClr val="1B5697"/>
                    </a:solidFill>
                  </a:tcPr>
                </a:tc>
                <a:tc>
                  <a:txBody>
                    <a:bodyPr/>
                    <a:lstStyle/>
                    <a:p>
                      <a:r>
                        <a:rPr b="1" sz="1200">
                          <a:solidFill>
                            <a:srgbClr val="FFFFFF"/>
                          </a:solidFill>
                        </a:rPr>
                        <a:t>Dims</a:t>
                      </a:r>
                    </a:p>
                  </a:txBody>
                  <a:tcPr>
                    <a:solidFill>
                      <a:srgbClr val="1B5697"/>
                    </a:solidFill>
                  </a:tcPr>
                </a:tc>
              </a:tr>
              <a:tr h="418750">
                <a:tc>
                  <a:txBody>
                    <a:bodyPr/>
                    <a:lstStyle/>
                    <a:p>
                      <a:r>
                        <a:rPr sz="1100" b="1">
                          <a:solidFill>
                            <a:srgbClr val="1B5697"/>
                          </a:solidFill>
                        </a:rPr>
                        <a:t>Demographics &amp; Vitals</a:t>
                      </a:r>
                    </a:p>
                  </a:txBody>
                  <a:tcPr>
                    <a:solidFill>
                      <a:srgbClr val="F3F6FB"/>
                    </a:solidFill>
                  </a:tcPr>
                </a:tc>
                <a:tc>
                  <a:txBody>
                    <a:bodyPr/>
                    <a:lstStyle/>
                    <a:p>
                      <a:r>
                        <a:rPr sz="1100" b="0">
                          <a:solidFill>
                            <a:srgbClr val="262626"/>
                          </a:solidFill>
                        </a:rPr>
                        <a:t>Age, Gender, BMI</a:t>
                      </a:r>
                    </a:p>
                  </a:txBody>
                  <a:tcPr>
                    <a:solidFill>
                      <a:srgbClr val="F3F6FB"/>
                    </a:solidFill>
                  </a:tcPr>
                </a:tc>
                <a:tc>
                  <a:txBody>
                    <a:bodyPr/>
                    <a:lstStyle/>
                    <a:p>
                      <a:r>
                        <a:rPr sz="1100" b="0">
                          <a:solidFill>
                            <a:srgbClr val="262626"/>
                          </a:solidFill>
                        </a:rPr>
                        <a:t>3</a:t>
                      </a:r>
                    </a:p>
                  </a:txBody>
                  <a:tcPr>
                    <a:solidFill>
                      <a:srgbClr val="F3F6FB"/>
                    </a:solidFill>
                  </a:tcPr>
                </a:tc>
              </a:tr>
              <a:tr h="418750">
                <a:tc>
                  <a:txBody>
                    <a:bodyPr/>
                    <a:lstStyle/>
                    <a:p>
                      <a:r>
                        <a:rPr sz="1100" b="1">
                          <a:solidFill>
                            <a:srgbClr val="1B5697"/>
                          </a:solidFill>
                        </a:rPr>
                        <a:t>Lifestyle</a:t>
                      </a:r>
                    </a:p>
                  </a:txBody>
                  <a:tcPr>
                    <a:solidFill>
                      <a:srgbClr val="FFFFFF"/>
                    </a:solidFill>
                  </a:tcPr>
                </a:tc>
                <a:tc>
                  <a:txBody>
                    <a:bodyPr/>
                    <a:lstStyle/>
                    <a:p>
                      <a:r>
                        <a:rPr sz="1100" b="0">
                          <a:solidFill>
                            <a:srgbClr val="262626"/>
                          </a:solidFill>
                        </a:rPr>
                        <a:t>Smoking, Alcohol, Exercise</a:t>
                      </a:r>
                    </a:p>
                  </a:txBody>
                  <a:tcPr>
                    <a:solidFill>
                      <a:srgbClr val="FFFFFF"/>
                    </a:solidFill>
                  </a:tcPr>
                </a:tc>
                <a:tc>
                  <a:txBody>
                    <a:bodyPr/>
                    <a:lstStyle/>
                    <a:p>
                      <a:r>
                        <a:rPr sz="1100" b="0">
                          <a:solidFill>
                            <a:srgbClr val="262626"/>
                          </a:solidFill>
                        </a:rPr>
                        <a:t>3</a:t>
                      </a:r>
                    </a:p>
                  </a:txBody>
                  <a:tcPr>
                    <a:solidFill>
                      <a:srgbClr val="FFFFFF"/>
                    </a:solidFill>
                  </a:tcPr>
                </a:tc>
              </a:tr>
              <a:tr h="418750">
                <a:tc>
                  <a:txBody>
                    <a:bodyPr/>
                    <a:lstStyle/>
                    <a:p>
                      <a:r>
                        <a:rPr sz="1100" b="1">
                          <a:solidFill>
                            <a:srgbClr val="1B5697"/>
                          </a:solidFill>
                        </a:rPr>
                        <a:t>Social Determinants</a:t>
                      </a:r>
                    </a:p>
                  </a:txBody>
                  <a:tcPr>
                    <a:solidFill>
                      <a:srgbClr val="F3F6FB"/>
                    </a:solidFill>
                  </a:tcPr>
                </a:tc>
                <a:tc>
                  <a:txBody>
                    <a:bodyPr/>
                    <a:lstStyle/>
                    <a:p>
                      <a:r>
                        <a:rPr sz="1100" b="0">
                          <a:solidFill>
                            <a:srgbClr val="262626"/>
                          </a:solidFill>
                        </a:rPr>
                        <a:t>Education, Wealth, Self-rated health</a:t>
                      </a:r>
                    </a:p>
                  </a:txBody>
                  <a:tcPr>
                    <a:solidFill>
                      <a:srgbClr val="F3F6FB"/>
                    </a:solidFill>
                  </a:tcPr>
                </a:tc>
                <a:tc>
                  <a:txBody>
                    <a:bodyPr/>
                    <a:lstStyle/>
                    <a:p>
                      <a:r>
                        <a:rPr sz="1100" b="0">
                          <a:solidFill>
                            <a:srgbClr val="262626"/>
                          </a:solidFill>
                        </a:rPr>
                        <a:t>3</a:t>
                      </a:r>
                    </a:p>
                  </a:txBody>
                  <a:tcPr>
                    <a:solidFill>
                      <a:srgbClr val="F3F6FB"/>
                    </a:solidFill>
                  </a:tcPr>
                </a:tc>
              </a:tr>
              <a:tr h="418750">
                <a:tc>
                  <a:txBody>
                    <a:bodyPr/>
                    <a:lstStyle/>
                    <a:p>
                      <a:r>
                        <a:rPr sz="1100" b="1">
                          <a:solidFill>
                            <a:srgbClr val="1B5697"/>
                          </a:solidFill>
                        </a:rPr>
                        <a:t>Economic</a:t>
                      </a:r>
                    </a:p>
                  </a:txBody>
                  <a:tcPr>
                    <a:solidFill>
                      <a:srgbClr val="FFFFFF"/>
                    </a:solidFill>
                  </a:tcPr>
                </a:tc>
                <a:tc>
                  <a:txBody>
                    <a:bodyPr/>
                    <a:lstStyle/>
                    <a:p>
                      <a:r>
                        <a:rPr sz="1100" b="0">
                          <a:solidFill>
                            <a:srgbClr val="262626"/>
                          </a:solidFill>
                        </a:rPr>
                        <a:t>Monthly income, Family history</a:t>
                      </a:r>
                    </a:p>
                  </a:txBody>
                  <a:tcPr>
                    <a:solidFill>
                      <a:srgbClr val="FFFFFF"/>
                    </a:solidFill>
                  </a:tcPr>
                </a:tc>
                <a:tc>
                  <a:txBody>
                    <a:bodyPr/>
                    <a:lstStyle/>
                    <a:p>
                      <a:r>
                        <a:rPr sz="1100" b="0">
                          <a:solidFill>
                            <a:srgbClr val="262626"/>
                          </a:solidFill>
                        </a:rPr>
                        <a:t>2</a:t>
                      </a:r>
                    </a:p>
                  </a:txBody>
                  <a:tcPr>
                    <a:solidFill>
                      <a:srgbClr val="FFFFFF"/>
                    </a:solidFill>
                  </a:tcPr>
                </a:tc>
              </a:tr>
              <a:tr h="418750">
                <a:tc>
                  <a:txBody>
                    <a:bodyPr/>
                    <a:lstStyle/>
                    <a:p>
                      <a:r>
                        <a:rPr sz="1100" b="1">
                          <a:solidFill>
                            <a:srgbClr val="1B5697"/>
                          </a:solidFill>
                        </a:rPr>
                        <a:t>Clinical Flags</a:t>
                      </a:r>
                    </a:p>
                  </a:txBody>
                  <a:tcPr>
                    <a:solidFill>
                      <a:srgbClr val="F3F6FB"/>
                    </a:solidFill>
                  </a:tcPr>
                </a:tc>
                <a:tc>
                  <a:txBody>
                    <a:bodyPr/>
                    <a:lstStyle/>
                    <a:p>
                      <a:r>
                        <a:rPr sz="1100" b="0">
                          <a:solidFill>
                            <a:srgbClr val="262626"/>
                          </a:solidFill>
                        </a:rPr>
                        <a:t>Hypertension, Diabetes, Heart, COPD, Arthritis, TB, Hepatitis B</a:t>
                      </a:r>
                    </a:p>
                  </a:txBody>
                  <a:tcPr>
                    <a:solidFill>
                      <a:srgbClr val="F3F6FB"/>
                    </a:solidFill>
                  </a:tcPr>
                </a:tc>
                <a:tc>
                  <a:txBody>
                    <a:bodyPr/>
                    <a:lstStyle/>
                    <a:p>
                      <a:r>
                        <a:rPr sz="1100" b="0">
                          <a:solidFill>
                            <a:srgbClr val="262626"/>
                          </a:solidFill>
                        </a:rPr>
                        <a:t>7+1</a:t>
                      </a:r>
                    </a:p>
                  </a:txBody>
                  <a:tcPr>
                    <a:solidFill>
                      <a:srgbClr val="F3F6FB"/>
                    </a:solidFill>
                  </a:tcPr>
                </a:tc>
              </a:tr>
              <a:tr h="418750">
                <a:tc>
                  <a:txBody>
                    <a:bodyPr/>
                    <a:lstStyle/>
                    <a:p>
                      <a:r>
                        <a:rPr sz="1100" b="1">
                          <a:solidFill>
                            <a:srgbClr val="1B5697"/>
                          </a:solidFill>
                        </a:rPr>
                        <a:t>Region (one-hot)</a:t>
                      </a:r>
                    </a:p>
                  </a:txBody>
                  <a:tcPr>
                    <a:solidFill>
                      <a:srgbClr val="FFFFFF"/>
                    </a:solidFill>
                  </a:tcPr>
                </a:tc>
                <a:tc>
                  <a:txBody>
                    <a:bodyPr/>
                    <a:lstStyle/>
                    <a:p>
                      <a:r>
                        <a:rPr sz="1100" b="0">
                          <a:solidFill>
                            <a:srgbClr val="262626"/>
                          </a:solidFill>
                        </a:rPr>
                        <a:t>8 macro-regions (CDHS 2021-22)</a:t>
                      </a:r>
                    </a:p>
                  </a:txBody>
                  <a:tcPr>
                    <a:solidFill>
                      <a:srgbClr val="FFFFFF"/>
                    </a:solidFill>
                  </a:tcPr>
                </a:tc>
                <a:tc>
                  <a:txBody>
                    <a:bodyPr/>
                    <a:lstStyle/>
                    <a:p>
                      <a:r>
                        <a:rPr sz="1100" b="0">
                          <a:solidFill>
                            <a:srgbClr val="262626"/>
                          </a:solidFill>
                        </a:rPr>
                        <a:t>8</a:t>
                      </a:r>
                    </a:p>
                  </a:txBody>
                  <a:tcPr>
                    <a:solidFill>
                      <a:srgbClr val="FFFFFF"/>
                    </a:solidFill>
                  </a:tcPr>
                </a:tc>
              </a:tr>
              <a:tr h="418750">
                <a:tc>
                  <a:txBody>
                    <a:bodyPr/>
                    <a:lstStyle/>
                    <a:p>
                      <a:r>
                        <a:rPr sz="1100" b="1">
                          <a:solidFill>
                            <a:srgbClr val="1B5697"/>
                          </a:solidFill>
                        </a:rPr>
                        <a:t>Occupation (one-hot)</a:t>
                      </a:r>
                    </a:p>
                  </a:txBody>
                  <a:tcPr>
                    <a:solidFill>
                      <a:srgbClr val="F3F6FB"/>
                    </a:solidFill>
                  </a:tcPr>
                </a:tc>
                <a:tc>
                  <a:txBody>
                    <a:bodyPr/>
                    <a:lstStyle/>
                    <a:p>
                      <a:r>
                        <a:rPr sz="1100" b="0">
                          <a:solidFill>
                            <a:srgbClr val="262626"/>
                          </a:solidFill>
                        </a:rPr>
                        <a:t>Rice farmer 28%, Garment 20%, Market vendor 15%, Moto 12%…</a:t>
                      </a:r>
                    </a:p>
                  </a:txBody>
                  <a:tcPr>
                    <a:solidFill>
                      <a:srgbClr val="F3F6FB"/>
                    </a:solidFill>
                  </a:tcPr>
                </a:tc>
                <a:tc>
                  <a:txBody>
                    <a:bodyPr/>
                    <a:lstStyle/>
                    <a:p>
                      <a:r>
                        <a:rPr sz="1100" b="0">
                          <a:solidFill>
                            <a:srgbClr val="262626"/>
                          </a:solidFill>
                        </a:rPr>
                        <a:t>7</a:t>
                      </a:r>
                    </a:p>
                  </a:txBody>
                  <a:tcPr>
                    <a:solidFill>
                      <a:srgbClr val="F3F6FB"/>
                    </a:solidFill>
                  </a:tcPr>
                </a:tc>
              </a:tr>
            </a:tbl>
          </a:graphicData>
        </a:graphic>
      </p:graphicFrame>
      <p:sp>
        <p:nvSpPr>
          <p:cNvPr id="29" name="TextBox 28"/>
          <p:cNvSpPr txBox="1"/>
          <p:nvPr/>
        </p:nvSpPr>
        <p:spPr>
          <a:xfrm>
            <a:off x="457200" y="5780000"/>
            <a:ext cx="11277295" cy="480000"/>
          </a:xfrm>
          <a:prstGeom prst="rect">
            <a:avLst/>
          </a:prstGeom>
          <a:noFill/>
        </p:spPr>
        <p:txBody>
          <a:bodyPr wrap="square">
            <a:spAutoFit/>
          </a:bodyPr>
          <a:lstStyle/>
          <a:p>
            <a:pPr algn="l">
              <a:spcBef>
                <a:spcPts val="0"/>
              </a:spcBef>
              <a:spcAft>
                <a:spcPts val="0"/>
              </a:spcAft>
            </a:pPr>
            <a:r>
              <a:rPr sz="1200" b="0" i="1">
                <a:solidFill>
                  <a:srgbClr val="505050"/>
                </a:solidFill>
                <a:latin typeface="Calibri"/>
              </a:rPr>
              <a:t>Synthetic because no insurer would share real records — but shaped to match published Cambodia statistics (CDHS 2021-22, STEPS, ILO, WHO).</a:t>
            </a:r>
          </a:p>
        </p:txBody>
      </p:sp>
      <p:sp>
        <p:nvSpPr>
          <p:cNvPr id="30" name="Rectangle 29"/>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2" name="Rectangle 31"/>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Implementation</a:t>
            </a:r>
          </a:p>
        </p:txBody>
      </p:sp>
      <p:sp>
        <p:nvSpPr>
          <p:cNvPr id="34" name="Rectangle 33"/>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14 / 34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HOW WE TESTED IT</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250000"/>
            <a:ext cx="3559098" cy="26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1250000"/>
            <a:ext cx="3559098" cy="82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7200" y="1500000"/>
            <a:ext cx="3309098" cy="650000"/>
          </a:xfrm>
          <a:prstGeom prst="rect">
            <a:avLst/>
          </a:prstGeom>
          <a:noFill/>
        </p:spPr>
        <p:txBody>
          <a:bodyPr wrap="square">
            <a:spAutoFit/>
          </a:bodyPr>
          <a:lstStyle/>
          <a:p>
            <a:pPr algn="l">
              <a:spcBef>
                <a:spcPts val="0"/>
              </a:spcBef>
              <a:spcAft>
                <a:spcPts val="0"/>
              </a:spcAft>
            </a:pPr>
            <a:r>
              <a:rPr sz="1800" b="1" i="0">
                <a:solidFill>
                  <a:srgbClr val="1B5697"/>
                </a:solidFill>
                <a:latin typeface="Segoe UI"/>
              </a:rPr>
              <a:t>5,000 applicants</a:t>
            </a:r>
          </a:p>
        </p:txBody>
      </p:sp>
      <p:sp>
        <p:nvSpPr>
          <p:cNvPr id="23" name="TextBox 22"/>
          <p:cNvSpPr txBox="1"/>
          <p:nvPr/>
        </p:nvSpPr>
        <p:spPr>
          <a:xfrm>
            <a:off x="607200" y="2300000"/>
            <a:ext cx="3309098" cy="150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seen one at a time, in order — exactly how it would run in production.</a:t>
            </a:r>
          </a:p>
        </p:txBody>
      </p:sp>
      <p:sp>
        <p:nvSpPr>
          <p:cNvPr id="24" name="Rectangle 23"/>
          <p:cNvSpPr/>
          <p:nvPr/>
        </p:nvSpPr>
        <p:spPr>
          <a:xfrm>
            <a:off x="4316298" y="1250000"/>
            <a:ext cx="3559098" cy="26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16298" y="1250000"/>
            <a:ext cx="3559098" cy="82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66298" y="1500000"/>
            <a:ext cx="3309098" cy="650000"/>
          </a:xfrm>
          <a:prstGeom prst="rect">
            <a:avLst/>
          </a:prstGeom>
          <a:noFill/>
        </p:spPr>
        <p:txBody>
          <a:bodyPr wrap="square">
            <a:spAutoFit/>
          </a:bodyPr>
          <a:lstStyle/>
          <a:p>
            <a:pPr algn="l">
              <a:spcBef>
                <a:spcPts val="0"/>
              </a:spcBef>
              <a:spcAft>
                <a:spcPts val="0"/>
              </a:spcAft>
            </a:pPr>
            <a:r>
              <a:rPr sz="1800" b="1" i="0">
                <a:solidFill>
                  <a:srgbClr val="2E8B57"/>
                </a:solidFill>
                <a:latin typeface="Segoe UI"/>
              </a:rPr>
              <a:t>20 independent repeats</a:t>
            </a:r>
          </a:p>
        </p:txBody>
      </p:sp>
      <p:sp>
        <p:nvSpPr>
          <p:cNvPr id="27" name="TextBox 26"/>
          <p:cNvSpPr txBox="1"/>
          <p:nvPr/>
        </p:nvSpPr>
        <p:spPr>
          <a:xfrm>
            <a:off x="4466298" y="2300000"/>
            <a:ext cx="3309098" cy="150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each with a different random draw. The learning system won every time.</a:t>
            </a:r>
          </a:p>
        </p:txBody>
      </p:sp>
      <p:sp>
        <p:nvSpPr>
          <p:cNvPr id="28" name="Rectangle 27"/>
          <p:cNvSpPr/>
          <p:nvPr/>
        </p:nvSpPr>
        <p:spPr>
          <a:xfrm>
            <a:off x="8175396" y="1250000"/>
            <a:ext cx="3559098" cy="26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75396" y="1250000"/>
            <a:ext cx="3559098" cy="82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5396" y="1500000"/>
            <a:ext cx="3309098" cy="650000"/>
          </a:xfrm>
          <a:prstGeom prst="rect">
            <a:avLst/>
          </a:prstGeom>
          <a:noFill/>
        </p:spPr>
        <p:txBody>
          <a:bodyPr wrap="square">
            <a:spAutoFit/>
          </a:bodyPr>
          <a:lstStyle/>
          <a:p>
            <a:pPr algn="l">
              <a:spcBef>
                <a:spcPts val="0"/>
              </a:spcBef>
              <a:spcAft>
                <a:spcPts val="0"/>
              </a:spcAft>
            </a:pPr>
            <a:r>
              <a:rPr sz="1800" b="1" i="0">
                <a:solidFill>
                  <a:srgbClr val="1F6FC4"/>
                </a:solidFill>
                <a:latin typeface="Segoe UI"/>
              </a:rPr>
              <a:t>Compared head-to-head</a:t>
            </a:r>
          </a:p>
        </p:txBody>
      </p:sp>
      <p:sp>
        <p:nvSpPr>
          <p:cNvPr id="31" name="TextBox 30"/>
          <p:cNvSpPr txBox="1"/>
          <p:nvPr/>
        </p:nvSpPr>
        <p:spPr>
          <a:xfrm>
            <a:off x="8325396" y="2300000"/>
            <a:ext cx="3309098" cy="150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against the incumbent static-rules approach on the same applicants.</a:t>
            </a:r>
          </a:p>
        </p:txBody>
      </p:sp>
      <p:sp>
        <p:nvSpPr>
          <p:cNvPr id="32" name="Rectangle 31"/>
          <p:cNvSpPr/>
          <p:nvPr/>
        </p:nvSpPr>
        <p:spPr>
          <a:xfrm>
            <a:off x="457200" y="4150000"/>
            <a:ext cx="11277295" cy="7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7200" y="4260000"/>
            <a:ext cx="10917295" cy="56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A learning system has no train/test split — it learns as it goes. So we judge it by how much reward it loses versus a perfect-knowledge Oracle, averaged over the 20 repeats.</a:t>
            </a:r>
          </a:p>
          <a:p>
            <a:pPr algn="l">
              <a:spcBef>
                <a:spcPts val="400"/>
              </a:spcBef>
            </a:pPr>
            <a:r>
              <a:rPr sz="1200" b="0" i="1">
                <a:solidFill>
                  <a:srgbClr val="505050"/>
                </a:solidFill>
                <a:latin typeface="Calibri"/>
              </a:rPr>
              <a:t>Details: Appendix A6.</a:t>
            </a:r>
          </a:p>
        </p:txBody>
      </p:sp>
      <p:sp>
        <p:nvSpPr>
          <p:cNvPr id="34" name="TextBox 33"/>
          <p:cNvSpPr txBox="1"/>
          <p:nvPr/>
        </p:nvSpPr>
        <p:spPr>
          <a:xfrm>
            <a:off x="457200" y="5100000"/>
            <a:ext cx="11277295" cy="780000"/>
          </a:xfrm>
          <a:prstGeom prst="rect">
            <a:avLst/>
          </a:prstGeom>
          <a:noFill/>
        </p:spPr>
        <p:txBody>
          <a:bodyPr wrap="square">
            <a:spAutoFit/>
          </a:bodyPr>
          <a:lstStyle/>
          <a:p>
            <a:pPr algn="l">
              <a:spcBef>
                <a:spcPts val="0"/>
              </a:spcBef>
              <a:spcAft>
                <a:spcPts val="0"/>
              </a:spcAft>
            </a:pPr>
            <a:r>
              <a:rPr sz="1100" b="0" i="1">
                <a:solidFill>
                  <a:srgbClr val="505050"/>
                </a:solidFill>
                <a:latin typeface="Calibri"/>
              </a:rPr>
              <a:t>Under the hood: bootstrap 95% confidence intervals, paired Wilcoxon signed-rank tests, Bonferroni correction, Cohen's d effect sizes; experiments EXP-005 through EXP-015.</a:t>
            </a:r>
          </a:p>
        </p:txBody>
      </p:sp>
      <p:sp>
        <p:nvSpPr>
          <p:cNvPr id="35" name="Rectangle 34"/>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7" name="Rectangle 36"/>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Implementation</a:t>
            </a:r>
          </a:p>
        </p:txBody>
      </p:sp>
      <p:sp>
        <p:nvSpPr>
          <p:cNvPr id="39" name="Rectangle 38"/>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15 /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THE HEADLINE RESULT</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180000"/>
            <a:ext cx="4900000" cy="165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1280000"/>
            <a:ext cx="4900000" cy="900000"/>
          </a:xfrm>
          <a:prstGeom prst="rect">
            <a:avLst/>
          </a:prstGeom>
          <a:noFill/>
        </p:spPr>
        <p:txBody>
          <a:bodyPr wrap="square">
            <a:spAutoFit/>
          </a:bodyPr>
          <a:lstStyle/>
          <a:p>
            <a:pPr algn="ctr">
              <a:spcBef>
                <a:spcPts val="0"/>
              </a:spcBef>
              <a:spcAft>
                <a:spcPts val="0"/>
              </a:spcAft>
            </a:pPr>
            <a:r>
              <a:rPr sz="6000" b="1" i="0">
                <a:solidFill>
                  <a:srgbClr val="FFFFFF"/>
                </a:solidFill>
                <a:latin typeface="Segoe UI"/>
              </a:rPr>
              <a:t>+25.2%</a:t>
            </a:r>
          </a:p>
        </p:txBody>
      </p:sp>
      <p:sp>
        <p:nvSpPr>
          <p:cNvPr id="22" name="TextBox 21"/>
          <p:cNvSpPr txBox="1"/>
          <p:nvPr/>
        </p:nvSpPr>
        <p:spPr>
          <a:xfrm>
            <a:off x="457200" y="2280000"/>
            <a:ext cx="4900000" cy="440000"/>
          </a:xfrm>
          <a:prstGeom prst="rect">
            <a:avLst/>
          </a:prstGeom>
          <a:noFill/>
        </p:spPr>
        <p:txBody>
          <a:bodyPr wrap="square">
            <a:spAutoFit/>
          </a:bodyPr>
          <a:lstStyle/>
          <a:p>
            <a:pPr algn="ctr">
              <a:spcBef>
                <a:spcPts val="0"/>
              </a:spcBef>
              <a:spcAft>
                <a:spcPts val="0"/>
              </a:spcAft>
            </a:pPr>
            <a:r>
              <a:rPr sz="1300" b="0" i="0">
                <a:solidFill>
                  <a:srgbClr val="BDCEE4"/>
                </a:solidFill>
                <a:latin typeface="Calibri"/>
              </a:rPr>
              <a:t>more cumulative reward than the static rules</a:t>
            </a:r>
          </a:p>
        </p:txBody>
      </p:sp>
      <p:sp>
        <p:nvSpPr>
          <p:cNvPr id="23" name="TextBox 22"/>
          <p:cNvSpPr txBox="1"/>
          <p:nvPr/>
        </p:nvSpPr>
        <p:spPr>
          <a:xfrm>
            <a:off x="457200" y="3050000"/>
            <a:ext cx="4900000" cy="1200000"/>
          </a:xfrm>
          <a:prstGeom prst="rect">
            <a:avLst/>
          </a:prstGeom>
          <a:noFill/>
        </p:spPr>
        <p:txBody>
          <a:bodyPr wrap="square">
            <a:spAutoFit/>
          </a:bodyPr>
          <a:lstStyle/>
          <a:p>
            <a:pPr algn="l">
              <a:spcBef>
                <a:spcPts val="0"/>
              </a:spcBef>
              <a:spcAft>
                <a:spcPts val="0"/>
              </a:spcAft>
            </a:pPr>
            <a:r>
              <a:rPr sz="3000" b="1" i="0">
                <a:solidFill>
                  <a:srgbClr val="1B5697"/>
                </a:solidFill>
                <a:latin typeface="Calibri"/>
              </a:rPr>
              <a:t>$90,540</a:t>
            </a:r>
          </a:p>
          <a:p>
            <a:pPr algn="l">
              <a:spcBef>
                <a:spcPts val="200"/>
              </a:spcBef>
            </a:pPr>
            <a:r>
              <a:rPr sz="1300" b="0" i="0">
                <a:solidFill>
                  <a:srgbClr val="505050"/>
                </a:solidFill>
                <a:latin typeface="Calibri"/>
              </a:rPr>
              <a:t>learning system (LinUCB)</a:t>
            </a:r>
          </a:p>
          <a:p>
            <a:pPr algn="l">
              <a:spcBef>
                <a:spcPts val="1000"/>
              </a:spcBef>
            </a:pPr>
            <a:r>
              <a:rPr sz="1500" b="1" i="0">
                <a:solidFill>
                  <a:srgbClr val="262626"/>
                </a:solidFill>
                <a:latin typeface="Calibri"/>
              </a:rPr>
              <a:t>vs  $72,292  static rules (XGBoost)</a:t>
            </a:r>
          </a:p>
        </p:txBody>
      </p:sp>
      <p:sp>
        <p:nvSpPr>
          <p:cNvPr id="24" name="TextBox 23"/>
          <p:cNvSpPr txBox="1"/>
          <p:nvPr/>
        </p:nvSpPr>
        <p:spPr>
          <a:xfrm>
            <a:off x="457200" y="4550000"/>
            <a:ext cx="4900000" cy="130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For every $100 the old rules earned, the learning system earned $125 —</a:t>
            </a:r>
          </a:p>
          <a:p>
            <a:pPr algn="l">
              <a:spcBef>
                <a:spcPts val="400"/>
              </a:spcBef>
            </a:pPr>
            <a:r>
              <a:rPr sz="1500" b="0" i="1">
                <a:solidFill>
                  <a:srgbClr val="505050"/>
                </a:solidFill>
                <a:latin typeface="Calibri"/>
              </a:rPr>
              <a:t>and the gap held across all 20 repeats.</a:t>
            </a:r>
          </a:p>
        </p:txBody>
      </p:sp>
      <p:sp>
        <p:nvSpPr>
          <p:cNvPr id="25" name="TextBox 24"/>
          <p:cNvSpPr txBox="1"/>
          <p:nvPr/>
        </p:nvSpPr>
        <p:spPr>
          <a:xfrm>
            <a:off x="457200" y="5850000"/>
            <a:ext cx="4900000" cy="360000"/>
          </a:xfrm>
          <a:prstGeom prst="rect">
            <a:avLst/>
          </a:prstGeom>
          <a:noFill/>
        </p:spPr>
        <p:txBody>
          <a:bodyPr wrap="square">
            <a:spAutoFit/>
          </a:bodyPr>
          <a:lstStyle/>
          <a:p>
            <a:pPr algn="l">
              <a:spcBef>
                <a:spcPts val="0"/>
              </a:spcBef>
              <a:spcAft>
                <a:spcPts val="0"/>
              </a:spcAft>
            </a:pPr>
            <a:r>
              <a:rPr sz="1100" b="0" i="1">
                <a:solidFill>
                  <a:srgbClr val="505050"/>
                </a:solidFill>
                <a:latin typeface="Calibri"/>
              </a:rPr>
              <a:t>20 seeds · p &lt; 0.001 · Cohen's d = 2.98</a:t>
            </a:r>
          </a:p>
        </p:txBody>
      </p:sp>
      <p:pic>
        <p:nvPicPr>
          <p:cNvPr id="26" name="Picture 25" descr="slide_reward_curves.png"/>
          <p:cNvPicPr>
            <a:picLocks noChangeAspect="1"/>
          </p:cNvPicPr>
          <p:nvPr/>
        </p:nvPicPr>
        <p:blipFill>
          <a:blip r:embed="rId2"/>
          <a:stretch>
            <a:fillRect/>
          </a:stretch>
        </p:blipFill>
        <p:spPr>
          <a:xfrm>
            <a:off x="5557200" y="1350000"/>
            <a:ext cx="5900000" cy="2521109"/>
          </a:xfrm>
          <a:prstGeom prst="rect">
            <a:avLst/>
          </a:prstGeom>
        </p:spPr>
      </p:pic>
      <p:sp>
        <p:nvSpPr>
          <p:cNvPr id="27" name="TextBox 26"/>
          <p:cNvSpPr txBox="1"/>
          <p:nvPr/>
        </p:nvSpPr>
        <p:spPr>
          <a:xfrm>
            <a:off x="5557200" y="5350000"/>
            <a:ext cx="5900000" cy="340000"/>
          </a:xfrm>
          <a:prstGeom prst="rect">
            <a:avLst/>
          </a:prstGeom>
          <a:noFill/>
        </p:spPr>
        <p:txBody>
          <a:bodyPr wrap="square">
            <a:spAutoFit/>
          </a:bodyPr>
          <a:lstStyle/>
          <a:p>
            <a:pPr algn="ctr">
              <a:spcBef>
                <a:spcPts val="0"/>
              </a:spcBef>
              <a:spcAft>
                <a:spcPts val="0"/>
              </a:spcAft>
            </a:pPr>
            <a:r>
              <a:rPr sz="1100" b="0" i="1">
                <a:solidFill>
                  <a:srgbClr val="505050"/>
                </a:solidFill>
                <a:latin typeface="Calibri"/>
              </a:rPr>
              <a:t>Cumulative reward — learning system vs static rules.</a:t>
            </a:r>
          </a:p>
        </p:txBody>
      </p:sp>
      <p:sp>
        <p:nvSpPr>
          <p:cNvPr id="28" name="Rectangle 2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0" name="Rectangle 2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Discussion</a:t>
            </a:r>
          </a:p>
        </p:txBody>
      </p:sp>
      <p:sp>
        <p:nvSpPr>
          <p:cNvPr id="32" name="Rectangle 3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16 / 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THE BASELINE LADDER</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340000"/>
          </a:xfrm>
          <a:prstGeom prst="rect">
            <a:avLst/>
          </a:prstGeom>
          <a:noFill/>
        </p:spPr>
        <p:txBody>
          <a:bodyPr wrap="square">
            <a:spAutoFit/>
          </a:bodyPr>
          <a:lstStyle/>
          <a:p>
            <a:pPr algn="l">
              <a:spcBef>
                <a:spcPts val="0"/>
              </a:spcBef>
              <a:spcAft>
                <a:spcPts val="0"/>
              </a:spcAft>
            </a:pPr>
            <a:r>
              <a:rPr sz="1500" b="0" i="1">
                <a:solidFill>
                  <a:srgbClr val="505050"/>
                </a:solidFill>
                <a:latin typeface="Calibri"/>
              </a:rPr>
              <a:t>Every realistic alternative we tried lands below the bandits.</a:t>
            </a:r>
          </a:p>
        </p:txBody>
      </p:sp>
      <p:graphicFrame>
        <p:nvGraphicFramePr>
          <p:cNvPr id="21" name="Table 20"/>
          <p:cNvGraphicFramePr>
            <a:graphicFrameLocks noGrp="1"/>
          </p:cNvGraphicFramePr>
          <p:nvPr/>
        </p:nvGraphicFramePr>
        <p:xfrm>
          <a:off x="457200" y="1540000"/>
          <a:ext cx="11277295" cy="4500000"/>
        </p:xfrm>
        <a:graphic>
          <a:graphicData uri="http://schemas.openxmlformats.org/drawingml/2006/table">
            <a:tbl>
              <a:tblPr firstRow="1" bandRow="1">
                <a:tableStyleId>{5C22544A-7EE6-4342-B048-85BDC9FD1C3A}</a:tableStyleId>
              </a:tblPr>
              <a:tblGrid>
                <a:gridCol w="2819323"/>
                <a:gridCol w="2819323"/>
                <a:gridCol w="2819323"/>
                <a:gridCol w="2819326"/>
              </a:tblGrid>
              <a:tr h="450000">
                <a:tc>
                  <a:txBody>
                    <a:bodyPr/>
                    <a:lstStyle/>
                    <a:p>
                      <a:r>
                        <a:rPr b="1" sz="1300">
                          <a:solidFill>
                            <a:srgbClr val="FFFFFF"/>
                          </a:solidFill>
                        </a:rPr>
                        <a:t>Policy</a:t>
                      </a:r>
                    </a:p>
                  </a:txBody>
                  <a:tcPr>
                    <a:solidFill>
                      <a:srgbClr val="1B5697"/>
                    </a:solidFill>
                  </a:tcPr>
                </a:tc>
                <a:tc>
                  <a:txBody>
                    <a:bodyPr/>
                    <a:lstStyle/>
                    <a:p>
                      <a:r>
                        <a:rPr b="1" sz="1300">
                          <a:solidFill>
                            <a:srgbClr val="FFFFFF"/>
                          </a:solidFill>
                        </a:rPr>
                        <a:t>Cumulative Reward (mean)</a:t>
                      </a:r>
                    </a:p>
                  </a:txBody>
                  <a:tcPr>
                    <a:solidFill>
                      <a:srgbClr val="1B5697"/>
                    </a:solidFill>
                  </a:tcPr>
                </a:tc>
                <a:tc>
                  <a:txBody>
                    <a:bodyPr/>
                    <a:lstStyle/>
                    <a:p>
                      <a:r>
                        <a:rPr b="1" sz="1300">
                          <a:solidFill>
                            <a:srgbClr val="FFFFFF"/>
                          </a:solidFill>
                        </a:rPr>
                        <a:t>95% CI</a:t>
                      </a:r>
                    </a:p>
                  </a:txBody>
                  <a:tcPr>
                    <a:solidFill>
                      <a:srgbClr val="1B5697"/>
                    </a:solidFill>
                  </a:tcPr>
                </a:tc>
                <a:tc>
                  <a:txBody>
                    <a:bodyPr/>
                    <a:lstStyle/>
                    <a:p>
                      <a:r>
                        <a:rPr b="1" sz="1300">
                          <a:solidFill>
                            <a:srgbClr val="FFFFFF"/>
                          </a:solidFill>
                        </a:rPr>
                        <a:t>% of Oracle</a:t>
                      </a:r>
                    </a:p>
                  </a:txBody>
                  <a:tcPr>
                    <a:solidFill>
                      <a:srgbClr val="1B5697"/>
                    </a:solidFill>
                  </a:tcPr>
                </a:tc>
              </a:tr>
              <a:tr h="450000">
                <a:tc>
                  <a:txBody>
                    <a:bodyPr/>
                    <a:lstStyle/>
                    <a:p>
                      <a:r>
                        <a:rPr sz="1200" b="0">
                          <a:solidFill>
                            <a:srgbClr val="262626"/>
                          </a:solidFill>
                        </a:rPr>
                        <a:t>Oracle (perfect knowledge)</a:t>
                      </a:r>
                    </a:p>
                  </a:txBody>
                  <a:tcPr>
                    <a:solidFill>
                      <a:srgbClr val="F3F6FB"/>
                    </a:solidFill>
                  </a:tcPr>
                </a:tc>
                <a:tc>
                  <a:txBody>
                    <a:bodyPr/>
                    <a:lstStyle/>
                    <a:p>
                      <a:r>
                        <a:rPr sz="1300" b="0">
                          <a:solidFill>
                            <a:srgbClr val="262626"/>
                          </a:solidFill>
                        </a:rPr>
                        <a:t>$126,804</a:t>
                      </a:r>
                    </a:p>
                  </a:txBody>
                  <a:tcPr>
                    <a:solidFill>
                      <a:srgbClr val="F3F6FB"/>
                    </a:solidFill>
                  </a:tcPr>
                </a:tc>
                <a:tc>
                  <a:txBody>
                    <a:bodyPr/>
                    <a:lstStyle/>
                    <a:p>
                      <a:r>
                        <a:rPr sz="1300" b="0">
                          <a:solidFill>
                            <a:srgbClr val="262626"/>
                          </a:solidFill>
                        </a:rPr>
                        <a:t>[124,187, 128,428]</a:t>
                      </a:r>
                    </a:p>
                  </a:txBody>
                  <a:tcPr>
                    <a:solidFill>
                      <a:srgbClr val="F3F6FB"/>
                    </a:solidFill>
                  </a:tcPr>
                </a:tc>
                <a:tc>
                  <a:txBody>
                    <a:bodyPr/>
                    <a:lstStyle/>
                    <a:p>
                      <a:r>
                        <a:rPr sz="1300" b="0">
                          <a:solidFill>
                            <a:srgbClr val="262626"/>
                          </a:solidFill>
                        </a:rPr>
                        <a:t>100%</a:t>
                      </a:r>
                    </a:p>
                  </a:txBody>
                  <a:tcPr>
                    <a:solidFill>
                      <a:srgbClr val="F3F6FB"/>
                    </a:solidFill>
                  </a:tcPr>
                </a:tc>
              </a:tr>
              <a:tr h="450000">
                <a:tc>
                  <a:txBody>
                    <a:bodyPr/>
                    <a:lstStyle/>
                    <a:p>
                      <a:r>
                        <a:rPr sz="1200" b="0">
                          <a:solidFill>
                            <a:srgbClr val="262626"/>
                          </a:solidFill>
                        </a:rPr>
                        <a:t>LogisticOracle ‡ (full-supervision)</a:t>
                      </a:r>
                    </a:p>
                  </a:txBody>
                  <a:tcPr>
                    <a:solidFill>
                      <a:srgbClr val="F3F6FB"/>
                    </a:solidFill>
                  </a:tcPr>
                </a:tc>
                <a:tc>
                  <a:txBody>
                    <a:bodyPr/>
                    <a:lstStyle/>
                    <a:p>
                      <a:r>
                        <a:rPr sz="1300" b="0">
                          <a:solidFill>
                            <a:srgbClr val="262626"/>
                          </a:solidFill>
                        </a:rPr>
                        <a:t>$123,977</a:t>
                      </a:r>
                    </a:p>
                  </a:txBody>
                  <a:tcPr>
                    <a:solidFill>
                      <a:srgbClr val="F3F6FB"/>
                    </a:solidFill>
                  </a:tcPr>
                </a:tc>
                <a:tc>
                  <a:txBody>
                    <a:bodyPr/>
                    <a:lstStyle/>
                    <a:p>
                      <a:r>
                        <a:rPr sz="1300" b="0">
                          <a:solidFill>
                            <a:srgbClr val="262626"/>
                          </a:solidFill>
                        </a:rPr>
                        <a:t>[121,794, 126,126]</a:t>
                      </a:r>
                    </a:p>
                  </a:txBody>
                  <a:tcPr>
                    <a:solidFill>
                      <a:srgbClr val="F3F6FB"/>
                    </a:solidFill>
                  </a:tcPr>
                </a:tc>
                <a:tc>
                  <a:txBody>
                    <a:bodyPr/>
                    <a:lstStyle/>
                    <a:p>
                      <a:r>
                        <a:rPr sz="1300" b="0">
                          <a:solidFill>
                            <a:srgbClr val="262626"/>
                          </a:solidFill>
                        </a:rPr>
                        <a:t>98.1%</a:t>
                      </a:r>
                    </a:p>
                  </a:txBody>
                  <a:tcPr>
                    <a:solidFill>
                      <a:srgbClr val="F3F6FB"/>
                    </a:solidFill>
                  </a:tcPr>
                </a:tc>
              </a:tr>
              <a:tr h="450000">
                <a:tc>
                  <a:txBody>
                    <a:bodyPr/>
                    <a:lstStyle/>
                    <a:p>
                      <a:r>
                        <a:rPr sz="1200" b="0">
                          <a:solidFill>
                            <a:srgbClr val="262626"/>
                          </a:solidFill>
                        </a:rPr>
                        <a:t>AlwaysRATED (trivial constant)</a:t>
                      </a:r>
                    </a:p>
                  </a:txBody>
                  <a:tcPr>
                    <a:solidFill>
                      <a:srgbClr val="FEF3CD"/>
                    </a:solidFill>
                  </a:tcPr>
                </a:tc>
                <a:tc>
                  <a:txBody>
                    <a:bodyPr/>
                    <a:lstStyle/>
                    <a:p>
                      <a:r>
                        <a:rPr sz="1300" b="0">
                          <a:solidFill>
                            <a:srgbClr val="262626"/>
                          </a:solidFill>
                        </a:rPr>
                        <a:t>$122,287</a:t>
                      </a:r>
                    </a:p>
                  </a:txBody>
                  <a:tcPr>
                    <a:solidFill>
                      <a:srgbClr val="FEF3CD"/>
                    </a:solidFill>
                  </a:tcPr>
                </a:tc>
                <a:tc>
                  <a:txBody>
                    <a:bodyPr/>
                    <a:lstStyle/>
                    <a:p>
                      <a:r>
                        <a:rPr sz="1300" b="0">
                          <a:solidFill>
                            <a:srgbClr val="262626"/>
                          </a:solidFill>
                        </a:rPr>
                        <a:t>[119,528, 124,996]</a:t>
                      </a:r>
                    </a:p>
                  </a:txBody>
                  <a:tcPr>
                    <a:solidFill>
                      <a:srgbClr val="FEF3CD"/>
                    </a:solidFill>
                  </a:tcPr>
                </a:tc>
                <a:tc>
                  <a:txBody>
                    <a:bodyPr/>
                    <a:lstStyle/>
                    <a:p>
                      <a:r>
                        <a:rPr sz="1300" b="0">
                          <a:solidFill>
                            <a:srgbClr val="262626"/>
                          </a:solidFill>
                        </a:rPr>
                        <a:t>96.8%</a:t>
                      </a:r>
                    </a:p>
                  </a:txBody>
                  <a:tcPr>
                    <a:solidFill>
                      <a:srgbClr val="FEF3CD"/>
                    </a:solidFill>
                  </a:tcPr>
                </a:tc>
              </a:tr>
              <a:tr h="450000">
                <a:tc>
                  <a:txBody>
                    <a:bodyPr/>
                    <a:lstStyle/>
                    <a:p>
                      <a:r>
                        <a:rPr sz="1200" b="1">
                          <a:solidFill>
                            <a:srgbClr val="1B5697"/>
                          </a:solidFill>
                        </a:rPr>
                        <a:t>LinTS  ← proposed</a:t>
                      </a:r>
                    </a:p>
                  </a:txBody>
                  <a:tcPr>
                    <a:solidFill>
                      <a:srgbClr val="E7F4E8"/>
                    </a:solidFill>
                  </a:tcPr>
                </a:tc>
                <a:tc>
                  <a:txBody>
                    <a:bodyPr/>
                    <a:lstStyle/>
                    <a:p>
                      <a:r>
                        <a:rPr sz="1300" b="1">
                          <a:solidFill>
                            <a:srgbClr val="1B5697"/>
                          </a:solidFill>
                        </a:rPr>
                        <a:t>$93,723</a:t>
                      </a:r>
                    </a:p>
                  </a:txBody>
                  <a:tcPr>
                    <a:solidFill>
                      <a:srgbClr val="E7F4E8"/>
                    </a:solidFill>
                  </a:tcPr>
                </a:tc>
                <a:tc>
                  <a:txBody>
                    <a:bodyPr/>
                    <a:lstStyle/>
                    <a:p>
                      <a:r>
                        <a:rPr sz="1300" b="1">
                          <a:solidFill>
                            <a:srgbClr val="1B5697"/>
                          </a:solidFill>
                        </a:rPr>
                        <a:t>[91,105, 96,481]</a:t>
                      </a:r>
                    </a:p>
                  </a:txBody>
                  <a:tcPr>
                    <a:solidFill>
                      <a:srgbClr val="E7F4E8"/>
                    </a:solidFill>
                  </a:tcPr>
                </a:tc>
                <a:tc>
                  <a:txBody>
                    <a:bodyPr/>
                    <a:lstStyle/>
                    <a:p>
                      <a:r>
                        <a:rPr sz="1300" b="1">
                          <a:solidFill>
                            <a:srgbClr val="1B5697"/>
                          </a:solidFill>
                        </a:rPr>
                        <a:t>74.2%</a:t>
                      </a:r>
                    </a:p>
                  </a:txBody>
                  <a:tcPr>
                    <a:solidFill>
                      <a:srgbClr val="E7F4E8"/>
                    </a:solidFill>
                  </a:tcPr>
                </a:tc>
              </a:tr>
              <a:tr h="450000">
                <a:tc>
                  <a:txBody>
                    <a:bodyPr/>
                    <a:lstStyle/>
                    <a:p>
                      <a:r>
                        <a:rPr sz="1200" b="1">
                          <a:solidFill>
                            <a:srgbClr val="1B5697"/>
                          </a:solidFill>
                        </a:rPr>
                        <a:t>LinUCB  ← proposed</a:t>
                      </a:r>
                    </a:p>
                  </a:txBody>
                  <a:tcPr>
                    <a:solidFill>
                      <a:srgbClr val="E7F4E8"/>
                    </a:solidFill>
                  </a:tcPr>
                </a:tc>
                <a:tc>
                  <a:txBody>
                    <a:bodyPr/>
                    <a:lstStyle/>
                    <a:p>
                      <a:r>
                        <a:rPr sz="1300" b="1">
                          <a:solidFill>
                            <a:srgbClr val="1B5697"/>
                          </a:solidFill>
                        </a:rPr>
                        <a:t>$91,864</a:t>
                      </a:r>
                    </a:p>
                  </a:txBody>
                  <a:tcPr>
                    <a:solidFill>
                      <a:srgbClr val="E7F4E8"/>
                    </a:solidFill>
                  </a:tcPr>
                </a:tc>
                <a:tc>
                  <a:txBody>
                    <a:bodyPr/>
                    <a:lstStyle/>
                    <a:p>
                      <a:r>
                        <a:rPr sz="1300" b="1">
                          <a:solidFill>
                            <a:srgbClr val="1B5697"/>
                          </a:solidFill>
                        </a:rPr>
                        <a:t>[89,139, 94,702]</a:t>
                      </a:r>
                    </a:p>
                  </a:txBody>
                  <a:tcPr>
                    <a:solidFill>
                      <a:srgbClr val="E7F4E8"/>
                    </a:solidFill>
                  </a:tcPr>
                </a:tc>
                <a:tc>
                  <a:txBody>
                    <a:bodyPr/>
                    <a:lstStyle/>
                    <a:p>
                      <a:r>
                        <a:rPr sz="1300" b="1">
                          <a:solidFill>
                            <a:srgbClr val="1B5697"/>
                          </a:solidFill>
                        </a:rPr>
                        <a:t>72.7%</a:t>
                      </a:r>
                    </a:p>
                  </a:txBody>
                  <a:tcPr>
                    <a:solidFill>
                      <a:srgbClr val="E7F4E8"/>
                    </a:solidFill>
                  </a:tcPr>
                </a:tc>
              </a:tr>
              <a:tr h="450000">
                <a:tc>
                  <a:txBody>
                    <a:bodyPr/>
                    <a:lstStyle/>
                    <a:p>
                      <a:r>
                        <a:rPr sz="1200" b="0">
                          <a:solidFill>
                            <a:srgbClr val="262626"/>
                          </a:solidFill>
                        </a:rPr>
                        <a:t>Epsilon-Greedy</a:t>
                      </a:r>
                    </a:p>
                  </a:txBody>
                  <a:tcPr>
                    <a:solidFill>
                      <a:srgbClr val="FFFFFF"/>
                    </a:solidFill>
                  </a:tcPr>
                </a:tc>
                <a:tc>
                  <a:txBody>
                    <a:bodyPr/>
                    <a:lstStyle/>
                    <a:p>
                      <a:r>
                        <a:rPr sz="1300" b="0">
                          <a:solidFill>
                            <a:srgbClr val="262626"/>
                          </a:solidFill>
                        </a:rPr>
                        <a:t>$76,441</a:t>
                      </a:r>
                    </a:p>
                  </a:txBody>
                  <a:tcPr>
                    <a:solidFill>
                      <a:srgbClr val="FFFFFF"/>
                    </a:solidFill>
                  </a:tcPr>
                </a:tc>
                <a:tc>
                  <a:txBody>
                    <a:bodyPr/>
                    <a:lstStyle/>
                    <a:p>
                      <a:r>
                        <a:rPr sz="1300" b="0">
                          <a:solidFill>
                            <a:srgbClr val="262626"/>
                          </a:solidFill>
                        </a:rPr>
                        <a:t>[73,767, 79,107]</a:t>
                      </a:r>
                    </a:p>
                  </a:txBody>
                  <a:tcPr>
                    <a:solidFill>
                      <a:srgbClr val="FFFFFF"/>
                    </a:solidFill>
                  </a:tcPr>
                </a:tc>
                <a:tc>
                  <a:txBody>
                    <a:bodyPr/>
                    <a:lstStyle/>
                    <a:p>
                      <a:r>
                        <a:rPr sz="1300" b="0">
                          <a:solidFill>
                            <a:srgbClr val="262626"/>
                          </a:solidFill>
                        </a:rPr>
                        <a:t>60.5%</a:t>
                      </a:r>
                    </a:p>
                  </a:txBody>
                  <a:tcPr>
                    <a:solidFill>
                      <a:srgbClr val="FFFFFF"/>
                    </a:solidFill>
                  </a:tcPr>
                </a:tc>
              </a:tr>
              <a:tr h="450000">
                <a:tc>
                  <a:txBody>
                    <a:bodyPr/>
                    <a:lstStyle/>
                    <a:p>
                      <a:r>
                        <a:rPr sz="1200" b="0">
                          <a:solidFill>
                            <a:srgbClr val="262626"/>
                          </a:solidFill>
                        </a:rPr>
                        <a:t>Static XGB (incumbent)</a:t>
                      </a:r>
                    </a:p>
                  </a:txBody>
                  <a:tcPr>
                    <a:solidFill>
                      <a:srgbClr val="FFFFFF"/>
                    </a:solidFill>
                  </a:tcPr>
                </a:tc>
                <a:tc>
                  <a:txBody>
                    <a:bodyPr/>
                    <a:lstStyle/>
                    <a:p>
                      <a:r>
                        <a:rPr sz="1300" b="0">
                          <a:solidFill>
                            <a:srgbClr val="262626"/>
                          </a:solidFill>
                        </a:rPr>
                        <a:t>$72,206</a:t>
                      </a:r>
                    </a:p>
                  </a:txBody>
                  <a:tcPr>
                    <a:solidFill>
                      <a:srgbClr val="FFFFFF"/>
                    </a:solidFill>
                  </a:tcPr>
                </a:tc>
                <a:tc>
                  <a:txBody>
                    <a:bodyPr/>
                    <a:lstStyle/>
                    <a:p>
                      <a:r>
                        <a:rPr sz="1300" b="0">
                          <a:solidFill>
                            <a:srgbClr val="262626"/>
                          </a:solidFill>
                        </a:rPr>
                        <a:t>[70,125, 74,352]</a:t>
                      </a:r>
                    </a:p>
                  </a:txBody>
                  <a:tcPr>
                    <a:solidFill>
                      <a:srgbClr val="FFFFFF"/>
                    </a:solidFill>
                  </a:tcPr>
                </a:tc>
                <a:tc>
                  <a:txBody>
                    <a:bodyPr/>
                    <a:lstStyle/>
                    <a:p>
                      <a:r>
                        <a:rPr sz="1300" b="0">
                          <a:solidFill>
                            <a:srgbClr val="262626"/>
                          </a:solidFill>
                        </a:rPr>
                        <a:t>57.1%</a:t>
                      </a:r>
                    </a:p>
                  </a:txBody>
                  <a:tcPr>
                    <a:solidFill>
                      <a:srgbClr val="FFFFFF"/>
                    </a:solidFill>
                  </a:tcPr>
                </a:tc>
              </a:tr>
              <a:tr h="450000">
                <a:tc>
                  <a:txBody>
                    <a:bodyPr/>
                    <a:lstStyle/>
                    <a:p>
                      <a:r>
                        <a:rPr sz="1200" b="0">
                          <a:solidFill>
                            <a:srgbClr val="262626"/>
                          </a:solidFill>
                        </a:rPr>
                        <a:t>AlwaysSTANDARD</a:t>
                      </a:r>
                    </a:p>
                  </a:txBody>
                  <a:tcPr>
                    <a:solidFill>
                      <a:srgbClr val="FFFFFF"/>
                    </a:solidFill>
                  </a:tcPr>
                </a:tc>
                <a:tc>
                  <a:txBody>
                    <a:bodyPr/>
                    <a:lstStyle/>
                    <a:p>
                      <a:r>
                        <a:rPr sz="1300" b="0">
                          <a:solidFill>
                            <a:srgbClr val="262626"/>
                          </a:solidFill>
                        </a:rPr>
                        <a:t>$34,684</a:t>
                      </a:r>
                    </a:p>
                  </a:txBody>
                  <a:tcPr>
                    <a:solidFill>
                      <a:srgbClr val="FFFFFF"/>
                    </a:solidFill>
                  </a:tcPr>
                </a:tc>
                <a:tc>
                  <a:txBody>
                    <a:bodyPr/>
                    <a:lstStyle/>
                    <a:p>
                      <a:r>
                        <a:rPr sz="1300" b="0">
                          <a:solidFill>
                            <a:srgbClr val="262626"/>
                          </a:solidFill>
                        </a:rPr>
                        <a:t>[33,694, 35,871]</a:t>
                      </a:r>
                    </a:p>
                  </a:txBody>
                  <a:tcPr>
                    <a:solidFill>
                      <a:srgbClr val="FFFFFF"/>
                    </a:solidFill>
                  </a:tcPr>
                </a:tc>
                <a:tc>
                  <a:txBody>
                    <a:bodyPr/>
                    <a:lstStyle/>
                    <a:p>
                      <a:r>
                        <a:rPr sz="1300" b="0">
                          <a:solidFill>
                            <a:srgbClr val="262626"/>
                          </a:solidFill>
                        </a:rPr>
                        <a:t>27.5%</a:t>
                      </a:r>
                    </a:p>
                  </a:txBody>
                  <a:tcPr>
                    <a:solidFill>
                      <a:srgbClr val="FFFFFF"/>
                    </a:solidFill>
                  </a:tcPr>
                </a:tc>
              </a:tr>
              <a:tr h="450000">
                <a:tc>
                  <a:txBody>
                    <a:bodyPr/>
                    <a:lstStyle/>
                    <a:p>
                      <a:r>
                        <a:rPr sz="1200" b="0">
                          <a:solidFill>
                            <a:srgbClr val="262626"/>
                          </a:solidFill>
                        </a:rPr>
                        <a:t>Random</a:t>
                      </a:r>
                    </a:p>
                  </a:txBody>
                  <a:tcPr>
                    <a:solidFill>
                      <a:srgbClr val="FFFFFF"/>
                    </a:solidFill>
                  </a:tcPr>
                </a:tc>
                <a:tc>
                  <a:txBody>
                    <a:bodyPr/>
                    <a:lstStyle/>
                    <a:p>
                      <a:r>
                        <a:rPr sz="1300" b="0">
                          <a:solidFill>
                            <a:srgbClr val="262626"/>
                          </a:solidFill>
                        </a:rPr>
                        <a:t>$1,980</a:t>
                      </a:r>
                    </a:p>
                  </a:txBody>
                  <a:tcPr>
                    <a:solidFill>
                      <a:srgbClr val="FFFFFF"/>
                    </a:solidFill>
                  </a:tcPr>
                </a:tc>
                <a:tc>
                  <a:txBody>
                    <a:bodyPr/>
                    <a:lstStyle/>
                    <a:p>
                      <a:r>
                        <a:rPr sz="1300" b="0">
                          <a:solidFill>
                            <a:srgbClr val="262626"/>
                          </a:solidFill>
                        </a:rPr>
                        <a:t>[739, 3,209]</a:t>
                      </a:r>
                    </a:p>
                  </a:txBody>
                  <a:tcPr>
                    <a:solidFill>
                      <a:srgbClr val="FFFFFF"/>
                    </a:solidFill>
                  </a:tcPr>
                </a:tc>
                <a:tc>
                  <a:txBody>
                    <a:bodyPr/>
                    <a:lstStyle/>
                    <a:p>
                      <a:r>
                        <a:rPr sz="1300" b="0">
                          <a:solidFill>
                            <a:srgbClr val="262626"/>
                          </a:solidFill>
                        </a:rPr>
                        <a:t>1.6%</a:t>
                      </a:r>
                    </a:p>
                  </a:txBody>
                  <a:tcPr>
                    <a:solidFill>
                      <a:srgbClr val="FFFFFF"/>
                    </a:solidFill>
                  </a:tcPr>
                </a:tc>
              </a:tr>
            </a:tbl>
          </a:graphicData>
        </a:graphic>
      </p:graphicFrame>
      <p:sp>
        <p:nvSpPr>
          <p:cNvPr id="22" name="TextBox 21"/>
          <p:cNvSpPr txBox="1"/>
          <p:nvPr/>
        </p:nvSpPr>
        <p:spPr>
          <a:xfrm>
            <a:off x="457200" y="6120000"/>
            <a:ext cx="11277295" cy="320000"/>
          </a:xfrm>
          <a:prstGeom prst="rect">
            <a:avLst/>
          </a:prstGeom>
          <a:noFill/>
        </p:spPr>
        <p:txBody>
          <a:bodyPr wrap="square">
            <a:spAutoFit/>
          </a:bodyPr>
          <a:lstStyle/>
          <a:p>
            <a:pPr algn="l">
              <a:spcBef>
                <a:spcPts val="0"/>
              </a:spcBef>
              <a:spcAft>
                <a:spcPts val="0"/>
              </a:spcAft>
            </a:pPr>
            <a:r>
              <a:rPr sz="1100" b="0" i="1">
                <a:solidFill>
                  <a:srgbClr val="505050"/>
                </a:solidFill>
                <a:latin typeface="Calibri"/>
              </a:rPr>
              <a:t>‡ The only policies above the bandits either see the future (Oracle) or approve nobody cheaply and everybody expensively (AlwaysRATED) — no regulator would allow the latter.</a:t>
            </a:r>
          </a:p>
        </p:txBody>
      </p:sp>
      <p:sp>
        <p:nvSpPr>
          <p:cNvPr id="23" name="Rectangle 2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5" name="Rectangle 2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Discussion</a:t>
            </a:r>
          </a:p>
        </p:txBody>
      </p:sp>
      <p:sp>
        <p:nvSpPr>
          <p:cNvPr id="27" name="Rectangle 2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17 / 34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SOPHEA, THREE WAYS</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360000"/>
          </a:xfrm>
          <a:prstGeom prst="rect">
            <a:avLst/>
          </a:prstGeom>
          <a:noFill/>
        </p:spPr>
        <p:txBody>
          <a:bodyPr wrap="square">
            <a:spAutoFit/>
          </a:bodyPr>
          <a:lstStyle/>
          <a:p>
            <a:pPr algn="l">
              <a:spcBef>
                <a:spcPts val="0"/>
              </a:spcBef>
              <a:spcAft>
                <a:spcPts val="0"/>
              </a:spcAft>
            </a:pPr>
            <a:r>
              <a:rPr sz="1500" b="0" i="1">
                <a:solidFill>
                  <a:srgbClr val="505050"/>
                </a:solidFill>
                <a:latin typeface="Calibri"/>
              </a:rPr>
              <a:t>The same applicant, decided by three different systems:</a:t>
            </a:r>
          </a:p>
        </p:txBody>
      </p:sp>
      <p:sp>
        <p:nvSpPr>
          <p:cNvPr id="21" name="Rectangle 20"/>
          <p:cNvSpPr/>
          <p:nvPr/>
        </p:nvSpPr>
        <p:spPr>
          <a:xfrm>
            <a:off x="457200" y="1650000"/>
            <a:ext cx="3559098" cy="35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1650000"/>
            <a:ext cx="3559098" cy="82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7200" y="1870000"/>
            <a:ext cx="3309098" cy="420000"/>
          </a:xfrm>
          <a:prstGeom prst="rect">
            <a:avLst/>
          </a:prstGeom>
          <a:noFill/>
        </p:spPr>
        <p:txBody>
          <a:bodyPr wrap="square">
            <a:spAutoFit/>
          </a:bodyPr>
          <a:lstStyle/>
          <a:p>
            <a:pPr algn="ctr">
              <a:spcBef>
                <a:spcPts val="0"/>
              </a:spcBef>
              <a:spcAft>
                <a:spcPts val="0"/>
              </a:spcAft>
            </a:pPr>
            <a:r>
              <a:rPr sz="1800" b="1" i="0">
                <a:solidFill>
                  <a:srgbClr val="1B5697"/>
                </a:solidFill>
                <a:latin typeface="Segoe UI"/>
              </a:rPr>
              <a:t>Static rules</a:t>
            </a:r>
          </a:p>
        </p:txBody>
      </p:sp>
      <p:sp>
        <p:nvSpPr>
          <p:cNvPr id="24" name="TextBox 23"/>
          <p:cNvSpPr txBox="1"/>
          <p:nvPr/>
        </p:nvSpPr>
        <p:spPr>
          <a:xfrm>
            <a:off x="607200" y="2290000"/>
            <a:ext cx="3309098" cy="340000"/>
          </a:xfrm>
          <a:prstGeom prst="rect">
            <a:avLst/>
          </a:prstGeom>
          <a:noFill/>
        </p:spPr>
        <p:txBody>
          <a:bodyPr wrap="square">
            <a:spAutoFit/>
          </a:bodyPr>
          <a:lstStyle/>
          <a:p>
            <a:pPr algn="ctr">
              <a:spcBef>
                <a:spcPts val="0"/>
              </a:spcBef>
              <a:spcAft>
                <a:spcPts val="0"/>
              </a:spcAft>
            </a:pPr>
            <a:r>
              <a:rPr sz="1200" b="0" i="1">
                <a:solidFill>
                  <a:srgbClr val="505050"/>
                </a:solidFill>
                <a:latin typeface="Calibri"/>
              </a:rPr>
              <a:t>today's incumbent</a:t>
            </a:r>
          </a:p>
        </p:txBody>
      </p:sp>
      <p:sp>
        <p:nvSpPr>
          <p:cNvPr id="25" name="Rectangle 24"/>
          <p:cNvSpPr/>
          <p:nvPr/>
        </p:nvSpPr>
        <p:spPr>
          <a:xfrm>
            <a:off x="757200" y="2800000"/>
            <a:ext cx="2959098" cy="90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200" y="2800000"/>
            <a:ext cx="2959098" cy="900000"/>
          </a:xfrm>
          <a:prstGeom prst="rect">
            <a:avLst/>
          </a:prstGeom>
          <a:noFill/>
        </p:spPr>
        <p:txBody>
          <a:bodyPr wrap="square" anchor="ctr">
            <a:spAutoFit/>
          </a:bodyPr>
          <a:lstStyle/>
          <a:p>
            <a:pPr algn="ctr">
              <a:spcBef>
                <a:spcPts val="0"/>
              </a:spcBef>
              <a:spcAft>
                <a:spcPts val="0"/>
              </a:spcAft>
            </a:pPr>
            <a:r>
              <a:rPr sz="2400" b="1" i="0">
                <a:solidFill>
                  <a:srgbClr val="D93B3B"/>
                </a:solidFill>
                <a:latin typeface="Segoe UI"/>
              </a:rPr>
              <a:t>DECLINE</a:t>
            </a:r>
          </a:p>
        </p:txBody>
      </p:sp>
      <p:sp>
        <p:nvSpPr>
          <p:cNvPr id="27" name="TextBox 26"/>
          <p:cNvSpPr txBox="1"/>
          <p:nvPr/>
        </p:nvSpPr>
        <p:spPr>
          <a:xfrm>
            <a:off x="607200" y="3900000"/>
            <a:ext cx="3309098" cy="1200000"/>
          </a:xfrm>
          <a:prstGeom prst="rect">
            <a:avLst/>
          </a:prstGeom>
          <a:noFill/>
        </p:spPr>
        <p:txBody>
          <a:bodyPr wrap="square">
            <a:spAutoFit/>
          </a:bodyPr>
          <a:lstStyle/>
          <a:p>
            <a:pPr algn="ctr">
              <a:spcBef>
                <a:spcPts val="0"/>
              </a:spcBef>
              <a:spcAft>
                <a:spcPts val="0"/>
              </a:spcAft>
            </a:pPr>
            <a:r>
              <a:rPr sz="1300" b="0" i="0">
                <a:solidFill>
                  <a:srgbClr val="262626"/>
                </a:solidFill>
                <a:latin typeface="Calibri"/>
              </a:rPr>
              <a:t>Sees two fields, crosses two thresholds, says no.</a:t>
            </a:r>
          </a:p>
        </p:txBody>
      </p:sp>
      <p:sp>
        <p:nvSpPr>
          <p:cNvPr id="28" name="Rectangle 27"/>
          <p:cNvSpPr/>
          <p:nvPr/>
        </p:nvSpPr>
        <p:spPr>
          <a:xfrm>
            <a:off x="4316298" y="1650000"/>
            <a:ext cx="3559098" cy="35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16298" y="1650000"/>
            <a:ext cx="3559098" cy="82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66298" y="1870000"/>
            <a:ext cx="3309098" cy="420000"/>
          </a:xfrm>
          <a:prstGeom prst="rect">
            <a:avLst/>
          </a:prstGeom>
          <a:noFill/>
        </p:spPr>
        <p:txBody>
          <a:bodyPr wrap="square">
            <a:spAutoFit/>
          </a:bodyPr>
          <a:lstStyle/>
          <a:p>
            <a:pPr algn="ctr">
              <a:spcBef>
                <a:spcPts val="0"/>
              </a:spcBef>
              <a:spcAft>
                <a:spcPts val="0"/>
              </a:spcAft>
            </a:pPr>
            <a:r>
              <a:rPr sz="1800" b="1" i="0">
                <a:solidFill>
                  <a:srgbClr val="1B5697"/>
                </a:solidFill>
                <a:latin typeface="Segoe UI"/>
              </a:rPr>
              <a:t>LinUCB bandit</a:t>
            </a:r>
          </a:p>
        </p:txBody>
      </p:sp>
      <p:sp>
        <p:nvSpPr>
          <p:cNvPr id="31" name="TextBox 30"/>
          <p:cNvSpPr txBox="1"/>
          <p:nvPr/>
        </p:nvSpPr>
        <p:spPr>
          <a:xfrm>
            <a:off x="4466298" y="2290000"/>
            <a:ext cx="3309098" cy="340000"/>
          </a:xfrm>
          <a:prstGeom prst="rect">
            <a:avLst/>
          </a:prstGeom>
          <a:noFill/>
        </p:spPr>
        <p:txBody>
          <a:bodyPr wrap="square">
            <a:spAutoFit/>
          </a:bodyPr>
          <a:lstStyle/>
          <a:p>
            <a:pPr algn="ctr">
              <a:spcBef>
                <a:spcPts val="0"/>
              </a:spcBef>
              <a:spcAft>
                <a:spcPts val="0"/>
              </a:spcAft>
            </a:pPr>
            <a:r>
              <a:rPr sz="1200" b="0" i="1">
                <a:solidFill>
                  <a:srgbClr val="505050"/>
                </a:solidFill>
                <a:latin typeface="Calibri"/>
              </a:rPr>
              <a:t>our learning system</a:t>
            </a:r>
          </a:p>
        </p:txBody>
      </p:sp>
      <p:sp>
        <p:nvSpPr>
          <p:cNvPr id="32" name="Rectangle 31"/>
          <p:cNvSpPr/>
          <p:nvPr/>
        </p:nvSpPr>
        <p:spPr>
          <a:xfrm>
            <a:off x="4616298" y="2800000"/>
            <a:ext cx="2959098" cy="9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16298" y="2800000"/>
            <a:ext cx="2959098" cy="900000"/>
          </a:xfrm>
          <a:prstGeom prst="rect">
            <a:avLst/>
          </a:prstGeom>
          <a:noFill/>
        </p:spPr>
        <p:txBody>
          <a:bodyPr wrap="square" anchor="ctr">
            <a:spAutoFit/>
          </a:bodyPr>
          <a:lstStyle/>
          <a:p>
            <a:pPr algn="ctr">
              <a:spcBef>
                <a:spcPts val="0"/>
              </a:spcBef>
              <a:spcAft>
                <a:spcPts val="0"/>
              </a:spcAft>
            </a:pPr>
            <a:r>
              <a:rPr sz="2400" b="1" i="0">
                <a:solidFill>
                  <a:srgbClr val="2E8B57"/>
                </a:solidFill>
                <a:latin typeface="Segoe UI"/>
              </a:rPr>
              <a:t>STANDARD</a:t>
            </a:r>
          </a:p>
        </p:txBody>
      </p:sp>
      <p:sp>
        <p:nvSpPr>
          <p:cNvPr id="34" name="TextBox 33"/>
          <p:cNvSpPr txBox="1"/>
          <p:nvPr/>
        </p:nvSpPr>
        <p:spPr>
          <a:xfrm>
            <a:off x="4466298" y="3900000"/>
            <a:ext cx="3309098" cy="1200000"/>
          </a:xfrm>
          <a:prstGeom prst="rect">
            <a:avLst/>
          </a:prstGeom>
          <a:noFill/>
        </p:spPr>
        <p:txBody>
          <a:bodyPr wrap="square">
            <a:spAutoFit/>
          </a:bodyPr>
          <a:lstStyle/>
          <a:p>
            <a:pPr algn="ctr">
              <a:spcBef>
                <a:spcPts val="0"/>
              </a:spcBef>
              <a:spcAft>
                <a:spcPts val="0"/>
              </a:spcAft>
            </a:pPr>
            <a:r>
              <a:rPr sz="1300" b="0" i="0">
                <a:solidFill>
                  <a:srgbClr val="262626"/>
                </a:solidFill>
                <a:latin typeface="Calibri"/>
              </a:rPr>
              <a:t>Weighs her whole profile, offers standard cover.</a:t>
            </a:r>
          </a:p>
        </p:txBody>
      </p:sp>
      <p:sp>
        <p:nvSpPr>
          <p:cNvPr id="35" name="Rectangle 34"/>
          <p:cNvSpPr/>
          <p:nvPr/>
        </p:nvSpPr>
        <p:spPr>
          <a:xfrm>
            <a:off x="8175396" y="1650000"/>
            <a:ext cx="3559098" cy="35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75396" y="1650000"/>
            <a:ext cx="3559098" cy="82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25396" y="1870000"/>
            <a:ext cx="3309098" cy="420000"/>
          </a:xfrm>
          <a:prstGeom prst="rect">
            <a:avLst/>
          </a:prstGeom>
          <a:noFill/>
        </p:spPr>
        <p:txBody>
          <a:bodyPr wrap="square">
            <a:spAutoFit/>
          </a:bodyPr>
          <a:lstStyle/>
          <a:p>
            <a:pPr algn="ctr">
              <a:spcBef>
                <a:spcPts val="0"/>
              </a:spcBef>
              <a:spcAft>
                <a:spcPts val="0"/>
              </a:spcAft>
            </a:pPr>
            <a:r>
              <a:rPr sz="1800" b="1" i="0">
                <a:solidFill>
                  <a:srgbClr val="1B5697"/>
                </a:solidFill>
                <a:latin typeface="Segoe UI"/>
              </a:rPr>
              <a:t>Oracle</a:t>
            </a:r>
          </a:p>
        </p:txBody>
      </p:sp>
      <p:sp>
        <p:nvSpPr>
          <p:cNvPr id="38" name="TextBox 37"/>
          <p:cNvSpPr txBox="1"/>
          <p:nvPr/>
        </p:nvSpPr>
        <p:spPr>
          <a:xfrm>
            <a:off x="8325396" y="2290000"/>
            <a:ext cx="3309098" cy="340000"/>
          </a:xfrm>
          <a:prstGeom prst="rect">
            <a:avLst/>
          </a:prstGeom>
          <a:noFill/>
        </p:spPr>
        <p:txBody>
          <a:bodyPr wrap="square">
            <a:spAutoFit/>
          </a:bodyPr>
          <a:lstStyle/>
          <a:p>
            <a:pPr algn="ctr">
              <a:spcBef>
                <a:spcPts val="0"/>
              </a:spcBef>
              <a:spcAft>
                <a:spcPts val="0"/>
              </a:spcAft>
            </a:pPr>
            <a:r>
              <a:rPr sz="1200" b="0" i="1">
                <a:solidFill>
                  <a:srgbClr val="505050"/>
                </a:solidFill>
                <a:latin typeface="Calibri"/>
              </a:rPr>
              <a:t>knows the true risk</a:t>
            </a:r>
          </a:p>
        </p:txBody>
      </p:sp>
      <p:sp>
        <p:nvSpPr>
          <p:cNvPr id="39" name="Rectangle 38"/>
          <p:cNvSpPr/>
          <p:nvPr/>
        </p:nvSpPr>
        <p:spPr>
          <a:xfrm>
            <a:off x="8475396" y="2800000"/>
            <a:ext cx="2959098" cy="90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75396" y="2800000"/>
            <a:ext cx="2959098" cy="900000"/>
          </a:xfrm>
          <a:prstGeom prst="rect">
            <a:avLst/>
          </a:prstGeom>
          <a:noFill/>
        </p:spPr>
        <p:txBody>
          <a:bodyPr wrap="square" anchor="ctr">
            <a:spAutoFit/>
          </a:bodyPr>
          <a:lstStyle/>
          <a:p>
            <a:pPr algn="ctr">
              <a:spcBef>
                <a:spcPts val="0"/>
              </a:spcBef>
              <a:spcAft>
                <a:spcPts val="0"/>
              </a:spcAft>
            </a:pPr>
            <a:r>
              <a:rPr sz="2400" b="1" i="0">
                <a:solidFill>
                  <a:srgbClr val="1B5697"/>
                </a:solidFill>
                <a:latin typeface="Segoe UI"/>
              </a:rPr>
              <a:t>STANDARD</a:t>
            </a:r>
          </a:p>
        </p:txBody>
      </p:sp>
      <p:sp>
        <p:nvSpPr>
          <p:cNvPr id="41" name="TextBox 40"/>
          <p:cNvSpPr txBox="1"/>
          <p:nvPr/>
        </p:nvSpPr>
        <p:spPr>
          <a:xfrm>
            <a:off x="8325396" y="3900000"/>
            <a:ext cx="3309098" cy="1200000"/>
          </a:xfrm>
          <a:prstGeom prst="rect">
            <a:avLst/>
          </a:prstGeom>
          <a:noFill/>
        </p:spPr>
        <p:txBody>
          <a:bodyPr wrap="square">
            <a:spAutoFit/>
          </a:bodyPr>
          <a:lstStyle/>
          <a:p>
            <a:pPr algn="ctr">
              <a:spcBef>
                <a:spcPts val="0"/>
              </a:spcBef>
              <a:spcAft>
                <a:spcPts val="0"/>
              </a:spcAft>
            </a:pPr>
            <a:r>
              <a:rPr sz="1300" b="0" i="0">
                <a:solidFill>
                  <a:srgbClr val="262626"/>
                </a:solidFill>
                <a:latin typeface="Calibri"/>
              </a:rPr>
              <a:t>The perfect-knowledge benchmark agrees: standard.</a:t>
            </a:r>
          </a:p>
        </p:txBody>
      </p:sp>
      <p:sp>
        <p:nvSpPr>
          <p:cNvPr id="42" name="TextBox 41"/>
          <p:cNvSpPr txBox="1"/>
          <p:nvPr/>
        </p:nvSpPr>
        <p:spPr>
          <a:xfrm>
            <a:off x="457200" y="5400000"/>
            <a:ext cx="11277295" cy="560000"/>
          </a:xfrm>
          <a:prstGeom prst="rect">
            <a:avLst/>
          </a:prstGeom>
          <a:noFill/>
        </p:spPr>
        <p:txBody>
          <a:bodyPr wrap="square">
            <a:spAutoFit/>
          </a:bodyPr>
          <a:lstStyle/>
          <a:p>
            <a:pPr algn="ctr">
              <a:spcBef>
                <a:spcPts val="0"/>
              </a:spcBef>
              <a:spcAft>
                <a:spcPts val="0"/>
              </a:spcAft>
            </a:pPr>
            <a:r>
              <a:rPr sz="1600" b="1" i="0">
                <a:solidFill>
                  <a:srgbClr val="1B5697"/>
                </a:solidFill>
                <a:latin typeface="Calibri"/>
              </a:rPr>
              <a:t>The bandit reaches the answer the all-knowing benchmark picks — the static rule never can.</a:t>
            </a:r>
          </a:p>
        </p:txBody>
      </p:sp>
      <p:sp>
        <p:nvSpPr>
          <p:cNvPr id="43" name="Rectangle 4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45" name="Rectangle 4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Discussion</a:t>
            </a:r>
          </a:p>
        </p:txBody>
      </p:sp>
      <p:sp>
        <p:nvSpPr>
          <p:cNvPr id="47" name="Rectangle 4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18 / 34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FAIRNESS &amp; HUMAN OVERSIGHT — RESULTS</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260000"/>
          </a:xfrm>
          <a:prstGeom prst="rect">
            <a:avLst/>
          </a:prstGeom>
          <a:noFill/>
        </p:spPr>
        <p:txBody>
          <a:bodyPr wrap="square">
            <a:spAutoFit/>
          </a:bodyPr>
          <a:lstStyle/>
          <a:p>
            <a:pPr algn="l">
              <a:spcBef>
                <a:spcPts val="0"/>
              </a:spcBef>
              <a:spcAft>
                <a:spcPts val="0"/>
              </a:spcAft>
            </a:pPr>
            <a:r>
              <a:rPr sz="1300" b="1" i="0">
                <a:solidFill>
                  <a:srgbClr val="1F6FC4"/>
                </a:solidFill>
                <a:latin typeface="Calibri"/>
              </a:rPr>
              <a:t>IS IT FAIR?  (EXP-006, 20 seeds)</a:t>
            </a:r>
          </a:p>
        </p:txBody>
      </p:sp>
      <p:sp>
        <p:nvSpPr>
          <p:cNvPr id="21" name="Rectangle 20"/>
          <p:cNvSpPr/>
          <p:nvPr/>
        </p:nvSpPr>
        <p:spPr>
          <a:xfrm>
            <a:off x="457200" y="1420000"/>
            <a:ext cx="5488647" cy="5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1420000"/>
            <a:ext cx="91440" cy="5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7200" y="149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Region — drift (PSI)</a:t>
            </a:r>
          </a:p>
        </p:txBody>
      </p:sp>
      <p:sp>
        <p:nvSpPr>
          <p:cNvPr id="24" name="TextBox 23"/>
          <p:cNvSpPr txBox="1"/>
          <p:nvPr/>
        </p:nvSpPr>
        <p:spPr>
          <a:xfrm>
            <a:off x="3750388" y="1490000"/>
            <a:ext cx="2035458" cy="230000"/>
          </a:xfrm>
          <a:prstGeom prst="rect">
            <a:avLst/>
          </a:prstGeom>
          <a:noFill/>
        </p:spPr>
        <p:txBody>
          <a:bodyPr wrap="square">
            <a:spAutoFit/>
          </a:bodyPr>
          <a:lstStyle/>
          <a:p>
            <a:pPr algn="r">
              <a:spcBef>
                <a:spcPts val="0"/>
              </a:spcBef>
              <a:spcAft>
                <a:spcPts val="0"/>
              </a:spcAft>
            </a:pPr>
            <a:r>
              <a:rPr sz="1000" b="1" i="0">
                <a:solidFill>
                  <a:srgbClr val="2E8B57"/>
                </a:solidFill>
                <a:latin typeface="Calibri"/>
              </a:rPr>
              <a:t>GREEN</a:t>
            </a:r>
          </a:p>
        </p:txBody>
      </p:sp>
      <p:sp>
        <p:nvSpPr>
          <p:cNvPr id="25" name="TextBox 24"/>
          <p:cNvSpPr txBox="1"/>
          <p:nvPr/>
        </p:nvSpPr>
        <p:spPr>
          <a:xfrm>
            <a:off x="597200" y="172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0.082</a:t>
            </a:r>
          </a:p>
        </p:txBody>
      </p:sp>
      <p:sp>
        <p:nvSpPr>
          <p:cNvPr id="26" name="Rectangle 25"/>
          <p:cNvSpPr/>
          <p:nvPr/>
        </p:nvSpPr>
        <p:spPr>
          <a:xfrm>
            <a:off x="6245847" y="1420000"/>
            <a:ext cx="5488647" cy="56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45847" y="1420000"/>
            <a:ext cx="91440" cy="56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85847" y="149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Occupation — drift (PSI)</a:t>
            </a:r>
          </a:p>
        </p:txBody>
      </p:sp>
      <p:sp>
        <p:nvSpPr>
          <p:cNvPr id="29" name="TextBox 28"/>
          <p:cNvSpPr txBox="1"/>
          <p:nvPr/>
        </p:nvSpPr>
        <p:spPr>
          <a:xfrm>
            <a:off x="9539035" y="1490000"/>
            <a:ext cx="2035458" cy="230000"/>
          </a:xfrm>
          <a:prstGeom prst="rect">
            <a:avLst/>
          </a:prstGeom>
          <a:noFill/>
        </p:spPr>
        <p:txBody>
          <a:bodyPr wrap="square">
            <a:spAutoFit/>
          </a:bodyPr>
          <a:lstStyle/>
          <a:p>
            <a:pPr algn="r">
              <a:spcBef>
                <a:spcPts val="0"/>
              </a:spcBef>
              <a:spcAft>
                <a:spcPts val="0"/>
              </a:spcAft>
            </a:pPr>
            <a:r>
              <a:rPr sz="1000" b="1" i="0">
                <a:solidFill>
                  <a:srgbClr val="E6A62E"/>
                </a:solidFill>
                <a:latin typeface="Calibri"/>
              </a:rPr>
              <a:t>AMBER</a:t>
            </a:r>
          </a:p>
        </p:txBody>
      </p:sp>
      <p:sp>
        <p:nvSpPr>
          <p:cNvPr id="30" name="TextBox 29"/>
          <p:cNvSpPr txBox="1"/>
          <p:nvPr/>
        </p:nvSpPr>
        <p:spPr>
          <a:xfrm>
            <a:off x="6385847" y="172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0.123</a:t>
            </a:r>
          </a:p>
        </p:txBody>
      </p:sp>
      <p:sp>
        <p:nvSpPr>
          <p:cNvPr id="31" name="Rectangle 30"/>
          <p:cNvSpPr/>
          <p:nvPr/>
        </p:nvSpPr>
        <p:spPr>
          <a:xfrm>
            <a:off x="457200" y="2040000"/>
            <a:ext cx="5488647" cy="5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2040000"/>
            <a:ext cx="91440" cy="5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7200" y="211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Region — approval parity</a:t>
            </a:r>
          </a:p>
        </p:txBody>
      </p:sp>
      <p:sp>
        <p:nvSpPr>
          <p:cNvPr id="34" name="TextBox 33"/>
          <p:cNvSpPr txBox="1"/>
          <p:nvPr/>
        </p:nvSpPr>
        <p:spPr>
          <a:xfrm>
            <a:off x="3750388" y="2110000"/>
            <a:ext cx="2035458" cy="230000"/>
          </a:xfrm>
          <a:prstGeom prst="rect">
            <a:avLst/>
          </a:prstGeom>
          <a:noFill/>
        </p:spPr>
        <p:txBody>
          <a:bodyPr wrap="square">
            <a:spAutoFit/>
          </a:bodyPr>
          <a:lstStyle/>
          <a:p>
            <a:pPr algn="r">
              <a:spcBef>
                <a:spcPts val="0"/>
              </a:spcBef>
              <a:spcAft>
                <a:spcPts val="0"/>
              </a:spcAft>
            </a:pPr>
            <a:r>
              <a:rPr sz="1000" b="1" i="0">
                <a:solidFill>
                  <a:srgbClr val="2E8B57"/>
                </a:solidFill>
                <a:latin typeface="Calibri"/>
              </a:rPr>
              <a:t>PASS</a:t>
            </a:r>
          </a:p>
        </p:txBody>
      </p:sp>
      <p:sp>
        <p:nvSpPr>
          <p:cNvPr id="35" name="TextBox 34"/>
          <p:cNvSpPr txBox="1"/>
          <p:nvPr/>
        </p:nvSpPr>
        <p:spPr>
          <a:xfrm>
            <a:off x="597200" y="234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85.72%</a:t>
            </a:r>
          </a:p>
        </p:txBody>
      </p:sp>
      <p:sp>
        <p:nvSpPr>
          <p:cNvPr id="36" name="Rectangle 35"/>
          <p:cNvSpPr/>
          <p:nvPr/>
        </p:nvSpPr>
        <p:spPr>
          <a:xfrm>
            <a:off x="6245847" y="2040000"/>
            <a:ext cx="5488647" cy="5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45847" y="2040000"/>
            <a:ext cx="91440" cy="5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85847" y="211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Occupation — approval parity</a:t>
            </a:r>
          </a:p>
        </p:txBody>
      </p:sp>
      <p:sp>
        <p:nvSpPr>
          <p:cNvPr id="39" name="TextBox 38"/>
          <p:cNvSpPr txBox="1"/>
          <p:nvPr/>
        </p:nvSpPr>
        <p:spPr>
          <a:xfrm>
            <a:off x="9539035" y="2110000"/>
            <a:ext cx="2035458" cy="230000"/>
          </a:xfrm>
          <a:prstGeom prst="rect">
            <a:avLst/>
          </a:prstGeom>
          <a:noFill/>
        </p:spPr>
        <p:txBody>
          <a:bodyPr wrap="square">
            <a:spAutoFit/>
          </a:bodyPr>
          <a:lstStyle/>
          <a:p>
            <a:pPr algn="r">
              <a:spcBef>
                <a:spcPts val="0"/>
              </a:spcBef>
              <a:spcAft>
                <a:spcPts val="0"/>
              </a:spcAft>
            </a:pPr>
            <a:r>
              <a:rPr sz="1000" b="1" i="0">
                <a:solidFill>
                  <a:srgbClr val="2E8B57"/>
                </a:solidFill>
                <a:latin typeface="Calibri"/>
              </a:rPr>
              <a:t>PASS</a:t>
            </a:r>
          </a:p>
        </p:txBody>
      </p:sp>
      <p:sp>
        <p:nvSpPr>
          <p:cNvPr id="40" name="TextBox 39"/>
          <p:cNvSpPr txBox="1"/>
          <p:nvPr/>
        </p:nvSpPr>
        <p:spPr>
          <a:xfrm>
            <a:off x="6385847" y="234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90.12%</a:t>
            </a:r>
          </a:p>
        </p:txBody>
      </p:sp>
      <p:sp>
        <p:nvSpPr>
          <p:cNvPr id="41" name="TextBox 40"/>
          <p:cNvSpPr txBox="1"/>
          <p:nvPr/>
        </p:nvSpPr>
        <p:spPr>
          <a:xfrm>
            <a:off x="457200" y="2740000"/>
            <a:ext cx="11277295" cy="300000"/>
          </a:xfrm>
          <a:prstGeom prst="rect">
            <a:avLst/>
          </a:prstGeom>
          <a:noFill/>
        </p:spPr>
        <p:txBody>
          <a:bodyPr wrap="square">
            <a:spAutoFit/>
          </a:bodyPr>
          <a:lstStyle/>
          <a:p>
            <a:pPr algn="l">
              <a:spcBef>
                <a:spcPts val="0"/>
              </a:spcBef>
              <a:spcAft>
                <a:spcPts val="0"/>
              </a:spcAft>
            </a:pPr>
            <a:r>
              <a:rPr sz="1100" b="0" i="1">
                <a:solidFill>
                  <a:srgbClr val="505050"/>
                </a:solidFill>
                <a:latin typeface="Calibri"/>
              </a:rPr>
              <a:t>1 of 6 fairness checks failed narrowly (occupation) — we report it and explain why; no regulatory threshold is breached.</a:t>
            </a:r>
          </a:p>
        </p:txBody>
      </p:sp>
      <p:sp>
        <p:nvSpPr>
          <p:cNvPr id="42" name="TextBox 41"/>
          <p:cNvSpPr txBox="1"/>
          <p:nvPr/>
        </p:nvSpPr>
        <p:spPr>
          <a:xfrm>
            <a:off x="457200" y="3260000"/>
            <a:ext cx="11277295" cy="260000"/>
          </a:xfrm>
          <a:prstGeom prst="rect">
            <a:avLst/>
          </a:prstGeom>
          <a:noFill/>
        </p:spPr>
        <p:txBody>
          <a:bodyPr wrap="square">
            <a:spAutoFit/>
          </a:bodyPr>
          <a:lstStyle/>
          <a:p>
            <a:pPr algn="l">
              <a:spcBef>
                <a:spcPts val="0"/>
              </a:spcBef>
              <a:spcAft>
                <a:spcPts val="0"/>
              </a:spcAft>
            </a:pPr>
            <a:r>
              <a:rPr sz="1300" b="1" i="0">
                <a:solidFill>
                  <a:srgbClr val="1F6FC4"/>
                </a:solidFill>
                <a:latin typeface="Calibri"/>
              </a:rPr>
              <a:t>DOES HUMAN OVERSIGHT HELP?  (EXP-008, 20 seeds)</a:t>
            </a:r>
          </a:p>
        </p:txBody>
      </p:sp>
      <p:sp>
        <p:nvSpPr>
          <p:cNvPr id="43" name="Rectangle 42"/>
          <p:cNvSpPr/>
          <p:nvPr/>
        </p:nvSpPr>
        <p:spPr>
          <a:xfrm>
            <a:off x="457200" y="3560000"/>
            <a:ext cx="5488647" cy="5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7200" y="3560000"/>
            <a:ext cx="9144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200" y="363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With human review</a:t>
            </a:r>
          </a:p>
        </p:txBody>
      </p:sp>
      <p:sp>
        <p:nvSpPr>
          <p:cNvPr id="46" name="TextBox 45"/>
          <p:cNvSpPr txBox="1"/>
          <p:nvPr/>
        </p:nvSpPr>
        <p:spPr>
          <a:xfrm>
            <a:off x="3750388" y="3630000"/>
            <a:ext cx="2035458" cy="230000"/>
          </a:xfrm>
          <a:prstGeom prst="rect">
            <a:avLst/>
          </a:prstGeom>
          <a:noFill/>
        </p:spPr>
        <p:txBody>
          <a:bodyPr wrap="square">
            <a:spAutoFit/>
          </a:bodyPr>
          <a:lstStyle/>
          <a:p>
            <a:pPr algn="r">
              <a:spcBef>
                <a:spcPts val="0"/>
              </a:spcBef>
              <a:spcAft>
                <a:spcPts val="0"/>
              </a:spcAft>
            </a:pPr>
            <a:r>
              <a:rPr sz="1000" b="1" i="0">
                <a:solidFill>
                  <a:srgbClr val="1B5697"/>
                </a:solidFill>
                <a:latin typeface="Calibri"/>
              </a:rPr>
              <a:t>vs $90,540</a:t>
            </a:r>
          </a:p>
        </p:txBody>
      </p:sp>
      <p:sp>
        <p:nvSpPr>
          <p:cNvPr id="47" name="TextBox 46"/>
          <p:cNvSpPr txBox="1"/>
          <p:nvPr/>
        </p:nvSpPr>
        <p:spPr>
          <a:xfrm>
            <a:off x="597200" y="386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$103,951</a:t>
            </a:r>
          </a:p>
        </p:txBody>
      </p:sp>
      <p:sp>
        <p:nvSpPr>
          <p:cNvPr id="48" name="Rectangle 47"/>
          <p:cNvSpPr/>
          <p:nvPr/>
        </p:nvSpPr>
        <p:spPr>
          <a:xfrm>
            <a:off x="6245847" y="3560000"/>
            <a:ext cx="5488647" cy="5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45847" y="3560000"/>
            <a:ext cx="91440" cy="5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85847" y="363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Improvement</a:t>
            </a:r>
          </a:p>
        </p:txBody>
      </p:sp>
      <p:sp>
        <p:nvSpPr>
          <p:cNvPr id="51" name="TextBox 50"/>
          <p:cNvSpPr txBox="1"/>
          <p:nvPr/>
        </p:nvSpPr>
        <p:spPr>
          <a:xfrm>
            <a:off x="9539035" y="3630000"/>
            <a:ext cx="2035458" cy="230000"/>
          </a:xfrm>
          <a:prstGeom prst="rect">
            <a:avLst/>
          </a:prstGeom>
          <a:noFill/>
        </p:spPr>
        <p:txBody>
          <a:bodyPr wrap="square">
            <a:spAutoFit/>
          </a:bodyPr>
          <a:lstStyle/>
          <a:p>
            <a:pPr algn="r">
              <a:spcBef>
                <a:spcPts val="0"/>
              </a:spcBef>
              <a:spcAft>
                <a:spcPts val="0"/>
              </a:spcAft>
            </a:pPr>
            <a:r>
              <a:rPr sz="1000" b="1" i="0">
                <a:solidFill>
                  <a:srgbClr val="2E8B57"/>
                </a:solidFill>
                <a:latin typeface="Calibri"/>
              </a:rPr>
              <a:t>vs the bandit</a:t>
            </a:r>
          </a:p>
        </p:txBody>
      </p:sp>
      <p:sp>
        <p:nvSpPr>
          <p:cNvPr id="52" name="TextBox 51"/>
          <p:cNvSpPr txBox="1"/>
          <p:nvPr/>
        </p:nvSpPr>
        <p:spPr>
          <a:xfrm>
            <a:off x="6385847" y="386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+14.8%</a:t>
            </a:r>
          </a:p>
        </p:txBody>
      </p:sp>
      <p:sp>
        <p:nvSpPr>
          <p:cNvPr id="53" name="Rectangle 52"/>
          <p:cNvSpPr/>
          <p:nvPr/>
        </p:nvSpPr>
        <p:spPr>
          <a:xfrm>
            <a:off x="457200" y="4180000"/>
            <a:ext cx="5488647" cy="5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4180000"/>
            <a:ext cx="9144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97200" y="425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Cases sent to a human</a:t>
            </a:r>
          </a:p>
        </p:txBody>
      </p:sp>
      <p:sp>
        <p:nvSpPr>
          <p:cNvPr id="56" name="TextBox 55"/>
          <p:cNvSpPr txBox="1"/>
          <p:nvPr/>
        </p:nvSpPr>
        <p:spPr>
          <a:xfrm>
            <a:off x="3750388" y="4250000"/>
            <a:ext cx="2035458" cy="230000"/>
          </a:xfrm>
          <a:prstGeom prst="rect">
            <a:avLst/>
          </a:prstGeom>
          <a:noFill/>
        </p:spPr>
        <p:txBody>
          <a:bodyPr wrap="square">
            <a:spAutoFit/>
          </a:bodyPr>
          <a:lstStyle/>
          <a:p>
            <a:pPr algn="r">
              <a:spcBef>
                <a:spcPts val="0"/>
              </a:spcBef>
              <a:spcAft>
                <a:spcPts val="0"/>
              </a:spcAft>
            </a:pPr>
            <a:r>
              <a:rPr sz="1000" b="1" i="0">
                <a:solidFill>
                  <a:srgbClr val="1B5697"/>
                </a:solidFill>
                <a:latin typeface="Calibri"/>
              </a:rPr>
              <a:t>1.3% of cases</a:t>
            </a:r>
          </a:p>
        </p:txBody>
      </p:sp>
      <p:sp>
        <p:nvSpPr>
          <p:cNvPr id="57" name="TextBox 56"/>
          <p:cNvSpPr txBox="1"/>
          <p:nvPr/>
        </p:nvSpPr>
        <p:spPr>
          <a:xfrm>
            <a:off x="597200" y="448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65 / 5,000</a:t>
            </a:r>
          </a:p>
        </p:txBody>
      </p:sp>
      <p:sp>
        <p:nvSpPr>
          <p:cNvPr id="58" name="Rectangle 57"/>
          <p:cNvSpPr/>
          <p:nvPr/>
        </p:nvSpPr>
        <p:spPr>
          <a:xfrm>
            <a:off x="6245847" y="4180000"/>
            <a:ext cx="5488647" cy="5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245847" y="4180000"/>
            <a:ext cx="9144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85847" y="425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Cost of that review</a:t>
            </a:r>
          </a:p>
        </p:txBody>
      </p:sp>
      <p:sp>
        <p:nvSpPr>
          <p:cNvPr id="61" name="TextBox 60"/>
          <p:cNvSpPr txBox="1"/>
          <p:nvPr/>
        </p:nvSpPr>
        <p:spPr>
          <a:xfrm>
            <a:off x="9539035" y="4250000"/>
            <a:ext cx="2035458" cy="230000"/>
          </a:xfrm>
          <a:prstGeom prst="rect">
            <a:avLst/>
          </a:prstGeom>
          <a:noFill/>
        </p:spPr>
        <p:txBody>
          <a:bodyPr wrap="square">
            <a:spAutoFit/>
          </a:bodyPr>
          <a:lstStyle/>
          <a:p>
            <a:pPr algn="r">
              <a:spcBef>
                <a:spcPts val="0"/>
              </a:spcBef>
              <a:spcAft>
                <a:spcPts val="0"/>
              </a:spcAft>
            </a:pPr>
            <a:r>
              <a:rPr sz="1000" b="1" i="0">
                <a:solidFill>
                  <a:srgbClr val="1B5697"/>
                </a:solidFill>
                <a:latin typeface="Calibri"/>
              </a:rPr>
              <a:t>2.2% of reward</a:t>
            </a:r>
          </a:p>
        </p:txBody>
      </p:sp>
      <p:sp>
        <p:nvSpPr>
          <p:cNvPr id="62" name="TextBox 61"/>
          <p:cNvSpPr txBox="1"/>
          <p:nvPr/>
        </p:nvSpPr>
        <p:spPr>
          <a:xfrm>
            <a:off x="6385847" y="448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$2,263</a:t>
            </a:r>
          </a:p>
        </p:txBody>
      </p:sp>
      <p:sp>
        <p:nvSpPr>
          <p:cNvPr id="63" name="TextBox 62"/>
          <p:cNvSpPr txBox="1"/>
          <p:nvPr/>
        </p:nvSpPr>
        <p:spPr>
          <a:xfrm>
            <a:off x="457200" y="4880000"/>
            <a:ext cx="11277295" cy="560000"/>
          </a:xfrm>
          <a:prstGeom prst="rect">
            <a:avLst/>
          </a:prstGeom>
          <a:noFill/>
        </p:spPr>
        <p:txBody>
          <a:bodyPr wrap="square">
            <a:spAutoFit/>
          </a:bodyPr>
          <a:lstStyle/>
          <a:p>
            <a:pPr algn="l">
              <a:spcBef>
                <a:spcPts val="0"/>
              </a:spcBef>
              <a:spcAft>
                <a:spcPts val="0"/>
              </a:spcAft>
            </a:pPr>
            <a:r>
              <a:rPr sz="1300" b="0" i="1">
                <a:solidFill>
                  <a:srgbClr val="1B5697"/>
                </a:solidFill>
                <a:latin typeface="Calibri"/>
              </a:rPr>
              <a:t>A human safety net adds real reward (+14.8%) for a small cost (2.2%) — sending only about 1 in 70 cases to an expert.</a:t>
            </a:r>
          </a:p>
        </p:txBody>
      </p:sp>
      <p:sp>
        <p:nvSpPr>
          <p:cNvPr id="64" name="Rectangle 6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66" name="Rectangle 6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Discussion</a:t>
            </a:r>
          </a:p>
        </p:txBody>
      </p:sp>
      <p:sp>
        <p:nvSpPr>
          <p:cNvPr id="68" name="Rectangle 6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19 / 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FINDINGS &amp; LIMITATIONS</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260000"/>
          </a:xfrm>
          <a:prstGeom prst="rect">
            <a:avLst/>
          </a:prstGeom>
          <a:noFill/>
        </p:spPr>
        <p:txBody>
          <a:bodyPr wrap="square">
            <a:spAutoFit/>
          </a:bodyPr>
          <a:lstStyle/>
          <a:p>
            <a:pPr algn="l">
              <a:spcBef>
                <a:spcPts val="0"/>
              </a:spcBef>
              <a:spcAft>
                <a:spcPts val="0"/>
              </a:spcAft>
            </a:pPr>
            <a:r>
              <a:rPr sz="1300" b="1" i="0">
                <a:solidFill>
                  <a:srgbClr val="1F6FC4"/>
                </a:solidFill>
                <a:latin typeface="Calibri"/>
              </a:rPr>
              <a:t>WHAT WE FOUND</a:t>
            </a:r>
          </a:p>
        </p:txBody>
      </p:sp>
      <p:sp>
        <p:nvSpPr>
          <p:cNvPr id="21" name="Rectangle 20"/>
          <p:cNvSpPr/>
          <p:nvPr/>
        </p:nvSpPr>
        <p:spPr>
          <a:xfrm>
            <a:off x="457200" y="1420000"/>
            <a:ext cx="5488647" cy="8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1420000"/>
            <a:ext cx="91440" cy="8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7200" y="1500000"/>
            <a:ext cx="5288647" cy="260000"/>
          </a:xfrm>
          <a:prstGeom prst="rect">
            <a:avLst/>
          </a:prstGeom>
          <a:noFill/>
        </p:spPr>
        <p:txBody>
          <a:bodyPr wrap="square">
            <a:spAutoFit/>
          </a:bodyPr>
          <a:lstStyle/>
          <a:p>
            <a:pPr algn="l">
              <a:spcBef>
                <a:spcPts val="0"/>
              </a:spcBef>
              <a:spcAft>
                <a:spcPts val="0"/>
              </a:spcAft>
            </a:pPr>
            <a:r>
              <a:rPr sz="1200" b="1" i="0">
                <a:solidFill>
                  <a:srgbClr val="1B5697"/>
                </a:solidFill>
                <a:latin typeface="Calibri"/>
              </a:rPr>
              <a:t>Learning beats static rules</a:t>
            </a:r>
          </a:p>
        </p:txBody>
      </p:sp>
      <p:sp>
        <p:nvSpPr>
          <p:cNvPr id="24" name="TextBox 23"/>
          <p:cNvSpPr txBox="1"/>
          <p:nvPr/>
        </p:nvSpPr>
        <p:spPr>
          <a:xfrm>
            <a:off x="607200" y="1780000"/>
            <a:ext cx="5288647" cy="240000"/>
          </a:xfrm>
          <a:prstGeom prst="rect">
            <a:avLst/>
          </a:prstGeom>
          <a:noFill/>
        </p:spPr>
        <p:txBody>
          <a:bodyPr wrap="square">
            <a:spAutoFit/>
          </a:bodyPr>
          <a:lstStyle/>
          <a:p>
            <a:pPr algn="l">
              <a:spcBef>
                <a:spcPts val="0"/>
              </a:spcBef>
              <a:spcAft>
                <a:spcPts val="0"/>
              </a:spcAft>
            </a:pPr>
            <a:r>
              <a:rPr sz="1300" b="1" i="0">
                <a:solidFill>
                  <a:srgbClr val="262626"/>
                </a:solidFill>
                <a:latin typeface="Calibri"/>
              </a:rPr>
              <a:t>+25.2%,  p &lt; 0.001,  d = 2.98</a:t>
            </a:r>
          </a:p>
        </p:txBody>
      </p:sp>
      <p:sp>
        <p:nvSpPr>
          <p:cNvPr id="25" name="TextBox 24"/>
          <p:cNvSpPr txBox="1"/>
          <p:nvPr/>
        </p:nvSpPr>
        <p:spPr>
          <a:xfrm>
            <a:off x="607200" y="2040000"/>
            <a:ext cx="5288647" cy="24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LinUCB earned $18,248 more than the static baseline across 20 repeats.</a:t>
            </a:r>
          </a:p>
        </p:txBody>
      </p:sp>
      <p:sp>
        <p:nvSpPr>
          <p:cNvPr id="26" name="Rectangle 25"/>
          <p:cNvSpPr/>
          <p:nvPr/>
        </p:nvSpPr>
        <p:spPr>
          <a:xfrm>
            <a:off x="6245847" y="1420000"/>
            <a:ext cx="5488647" cy="8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45847" y="1420000"/>
            <a:ext cx="91440" cy="8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5847" y="1500000"/>
            <a:ext cx="5288647" cy="260000"/>
          </a:xfrm>
          <a:prstGeom prst="rect">
            <a:avLst/>
          </a:prstGeom>
          <a:noFill/>
        </p:spPr>
        <p:txBody>
          <a:bodyPr wrap="square">
            <a:spAutoFit/>
          </a:bodyPr>
          <a:lstStyle/>
          <a:p>
            <a:pPr algn="l">
              <a:spcBef>
                <a:spcPts val="0"/>
              </a:spcBef>
              <a:spcAft>
                <a:spcPts val="0"/>
              </a:spcAft>
            </a:pPr>
            <a:r>
              <a:rPr sz="1200" b="1" i="0">
                <a:solidFill>
                  <a:srgbClr val="1B5697"/>
                </a:solidFill>
                <a:latin typeface="Calibri"/>
              </a:rPr>
              <a:t>No demographic bias introduced</a:t>
            </a:r>
          </a:p>
        </p:txBody>
      </p:sp>
      <p:sp>
        <p:nvSpPr>
          <p:cNvPr id="29" name="TextBox 28"/>
          <p:cNvSpPr txBox="1"/>
          <p:nvPr/>
        </p:nvSpPr>
        <p:spPr>
          <a:xfrm>
            <a:off x="6395847" y="1780000"/>
            <a:ext cx="5288647" cy="240000"/>
          </a:xfrm>
          <a:prstGeom prst="rect">
            <a:avLst/>
          </a:prstGeom>
          <a:noFill/>
        </p:spPr>
        <p:txBody>
          <a:bodyPr wrap="square">
            <a:spAutoFit/>
          </a:bodyPr>
          <a:lstStyle/>
          <a:p>
            <a:pPr algn="l">
              <a:spcBef>
                <a:spcPts val="0"/>
              </a:spcBef>
              <a:spcAft>
                <a:spcPts val="0"/>
              </a:spcAft>
            </a:pPr>
            <a:r>
              <a:rPr sz="1300" b="1" i="0">
                <a:solidFill>
                  <a:srgbClr val="262626"/>
                </a:solidFill>
                <a:latin typeface="Calibri"/>
              </a:rPr>
              <a:t>85.72% &amp; 90.12% approval parity</a:t>
            </a:r>
          </a:p>
        </p:txBody>
      </p:sp>
      <p:sp>
        <p:nvSpPr>
          <p:cNvPr id="30" name="TextBox 29"/>
          <p:cNvSpPr txBox="1"/>
          <p:nvPr/>
        </p:nvSpPr>
        <p:spPr>
          <a:xfrm>
            <a:off x="6395847" y="2040000"/>
            <a:ext cx="5288647" cy="24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Fairness held across regions and occupations.</a:t>
            </a:r>
          </a:p>
        </p:txBody>
      </p:sp>
      <p:sp>
        <p:nvSpPr>
          <p:cNvPr id="31" name="Rectangle 30"/>
          <p:cNvSpPr/>
          <p:nvPr/>
        </p:nvSpPr>
        <p:spPr>
          <a:xfrm>
            <a:off x="457200" y="2400000"/>
            <a:ext cx="5488647" cy="8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2400000"/>
            <a:ext cx="91440" cy="8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7200" y="2480000"/>
            <a:ext cx="5288647" cy="260000"/>
          </a:xfrm>
          <a:prstGeom prst="rect">
            <a:avLst/>
          </a:prstGeom>
          <a:noFill/>
        </p:spPr>
        <p:txBody>
          <a:bodyPr wrap="square">
            <a:spAutoFit/>
          </a:bodyPr>
          <a:lstStyle/>
          <a:p>
            <a:pPr algn="l">
              <a:spcBef>
                <a:spcPts val="0"/>
              </a:spcBef>
              <a:spcAft>
                <a:spcPts val="0"/>
              </a:spcAft>
            </a:pPr>
            <a:r>
              <a:rPr sz="1200" b="1" i="0">
                <a:solidFill>
                  <a:srgbClr val="1B5697"/>
                </a:solidFill>
                <a:latin typeface="Calibri"/>
              </a:rPr>
              <a:t>The learning — not the exploration — is what works</a:t>
            </a:r>
          </a:p>
        </p:txBody>
      </p:sp>
      <p:sp>
        <p:nvSpPr>
          <p:cNvPr id="34" name="TextBox 33"/>
          <p:cNvSpPr txBox="1"/>
          <p:nvPr/>
        </p:nvSpPr>
        <p:spPr>
          <a:xfrm>
            <a:off x="607200" y="2760000"/>
            <a:ext cx="5288647" cy="240000"/>
          </a:xfrm>
          <a:prstGeom prst="rect">
            <a:avLst/>
          </a:prstGeom>
          <a:noFill/>
        </p:spPr>
        <p:txBody>
          <a:bodyPr wrap="square">
            <a:spAutoFit/>
          </a:bodyPr>
          <a:lstStyle/>
          <a:p>
            <a:pPr algn="l">
              <a:spcBef>
                <a:spcPts val="0"/>
              </a:spcBef>
              <a:spcAft>
                <a:spcPts val="0"/>
              </a:spcAft>
            </a:pPr>
            <a:r>
              <a:rPr sz="1300" b="1" i="0">
                <a:solidFill>
                  <a:srgbClr val="262626"/>
                </a:solidFill>
                <a:latin typeface="Calibri"/>
              </a:rPr>
              <a:t>greedy version ties the full one (p = 0.58)</a:t>
            </a:r>
          </a:p>
        </p:txBody>
      </p:sp>
      <p:sp>
        <p:nvSpPr>
          <p:cNvPr id="35" name="TextBox 34"/>
          <p:cNvSpPr txBox="1"/>
          <p:nvPr/>
        </p:nvSpPr>
        <p:spPr>
          <a:xfrm>
            <a:off x="607200" y="3020000"/>
            <a:ext cx="5288647" cy="24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It's the updating-as-it-goes that beats a frozen model.</a:t>
            </a:r>
          </a:p>
        </p:txBody>
      </p:sp>
      <p:sp>
        <p:nvSpPr>
          <p:cNvPr id="36" name="Rectangle 35"/>
          <p:cNvSpPr/>
          <p:nvPr/>
        </p:nvSpPr>
        <p:spPr>
          <a:xfrm>
            <a:off x="6245847" y="2400000"/>
            <a:ext cx="5488647" cy="8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45847" y="2400000"/>
            <a:ext cx="91440" cy="8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95847" y="2480000"/>
            <a:ext cx="5288647" cy="260000"/>
          </a:xfrm>
          <a:prstGeom prst="rect">
            <a:avLst/>
          </a:prstGeom>
          <a:noFill/>
        </p:spPr>
        <p:txBody>
          <a:bodyPr wrap="square">
            <a:spAutoFit/>
          </a:bodyPr>
          <a:lstStyle/>
          <a:p>
            <a:pPr algn="l">
              <a:spcBef>
                <a:spcPts val="0"/>
              </a:spcBef>
              <a:spcAft>
                <a:spcPts val="0"/>
              </a:spcAft>
            </a:pPr>
            <a:r>
              <a:rPr sz="1200" b="1" i="0">
                <a:solidFill>
                  <a:srgbClr val="1B5697"/>
                </a:solidFill>
                <a:latin typeface="Calibri"/>
              </a:rPr>
              <a:t>Human oversight adds value cheaply</a:t>
            </a:r>
          </a:p>
        </p:txBody>
      </p:sp>
      <p:sp>
        <p:nvSpPr>
          <p:cNvPr id="39" name="TextBox 38"/>
          <p:cNvSpPr txBox="1"/>
          <p:nvPr/>
        </p:nvSpPr>
        <p:spPr>
          <a:xfrm>
            <a:off x="6395847" y="2760000"/>
            <a:ext cx="5288647" cy="240000"/>
          </a:xfrm>
          <a:prstGeom prst="rect">
            <a:avLst/>
          </a:prstGeom>
          <a:noFill/>
        </p:spPr>
        <p:txBody>
          <a:bodyPr wrap="square">
            <a:spAutoFit/>
          </a:bodyPr>
          <a:lstStyle/>
          <a:p>
            <a:pPr algn="l">
              <a:spcBef>
                <a:spcPts val="0"/>
              </a:spcBef>
              <a:spcAft>
                <a:spcPts val="0"/>
              </a:spcAft>
            </a:pPr>
            <a:r>
              <a:rPr sz="1300" b="1" i="0">
                <a:solidFill>
                  <a:srgbClr val="262626"/>
                </a:solidFill>
                <a:latin typeface="Calibri"/>
              </a:rPr>
              <a:t>+14.8% for 1.3% review, 2.2% cost</a:t>
            </a:r>
          </a:p>
        </p:txBody>
      </p:sp>
      <p:sp>
        <p:nvSpPr>
          <p:cNvPr id="40" name="TextBox 39"/>
          <p:cNvSpPr txBox="1"/>
          <p:nvPr/>
        </p:nvSpPr>
        <p:spPr>
          <a:xfrm>
            <a:off x="6395847" y="3020000"/>
            <a:ext cx="5288647" cy="24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A small human safety net pays for itself.</a:t>
            </a:r>
          </a:p>
        </p:txBody>
      </p:sp>
      <p:sp>
        <p:nvSpPr>
          <p:cNvPr id="41" name="TextBox 40"/>
          <p:cNvSpPr txBox="1"/>
          <p:nvPr/>
        </p:nvSpPr>
        <p:spPr>
          <a:xfrm>
            <a:off x="457200" y="3410000"/>
            <a:ext cx="11277295" cy="26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AND WHERE WE'RE HONEST ABOUT THE LIMITS</a:t>
            </a:r>
          </a:p>
        </p:txBody>
      </p:sp>
      <p:sp>
        <p:nvSpPr>
          <p:cNvPr id="42" name="Rectangle 41"/>
          <p:cNvSpPr/>
          <p:nvPr/>
        </p:nvSpPr>
        <p:spPr>
          <a:xfrm>
            <a:off x="457200" y="3700000"/>
            <a:ext cx="3612431" cy="11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7200" y="3700000"/>
            <a:ext cx="91440" cy="112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7200" y="3800000"/>
            <a:ext cx="3362431" cy="30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Synthetic data</a:t>
            </a:r>
          </a:p>
        </p:txBody>
      </p:sp>
      <p:sp>
        <p:nvSpPr>
          <p:cNvPr id="45" name="TextBox 44"/>
          <p:cNvSpPr txBox="1"/>
          <p:nvPr/>
        </p:nvSpPr>
        <p:spPr>
          <a:xfrm>
            <a:off x="607200" y="4120000"/>
            <a:ext cx="3362431" cy="6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Anchored to real surveys, but not real insurance claims.</a:t>
            </a:r>
          </a:p>
        </p:txBody>
      </p:sp>
      <p:sp>
        <p:nvSpPr>
          <p:cNvPr id="46" name="Rectangle 45"/>
          <p:cNvSpPr/>
          <p:nvPr/>
        </p:nvSpPr>
        <p:spPr>
          <a:xfrm>
            <a:off x="4289631" y="3700000"/>
            <a:ext cx="3612431" cy="11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89631" y="3700000"/>
            <a:ext cx="91440" cy="112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439631" y="3800000"/>
            <a:ext cx="3362431" cy="30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Single-period reward</a:t>
            </a:r>
          </a:p>
        </p:txBody>
      </p:sp>
      <p:sp>
        <p:nvSpPr>
          <p:cNvPr id="49" name="TextBox 48"/>
          <p:cNvSpPr txBox="1"/>
          <p:nvPr/>
        </p:nvSpPr>
        <p:spPr>
          <a:xfrm>
            <a:off x="4439631" y="4120000"/>
            <a:ext cx="3362431" cy="6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One-shot profit proxy — no multi-year renewals yet.</a:t>
            </a:r>
          </a:p>
        </p:txBody>
      </p:sp>
      <p:sp>
        <p:nvSpPr>
          <p:cNvPr id="50" name="Rectangle 49"/>
          <p:cNvSpPr/>
          <p:nvPr/>
        </p:nvSpPr>
        <p:spPr>
          <a:xfrm>
            <a:off x="8122062" y="3700000"/>
            <a:ext cx="3612431" cy="11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22062" y="3700000"/>
            <a:ext cx="91440" cy="112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72062" y="3800000"/>
            <a:ext cx="3362431" cy="30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Calibrated to one country</a:t>
            </a:r>
          </a:p>
        </p:txBody>
      </p:sp>
      <p:sp>
        <p:nvSpPr>
          <p:cNvPr id="53" name="TextBox 52"/>
          <p:cNvSpPr txBox="1"/>
          <p:nvPr/>
        </p:nvSpPr>
        <p:spPr>
          <a:xfrm>
            <a:off x="8272062" y="4120000"/>
            <a:ext cx="3362431" cy="6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Cambodia only; a constant policy still tops the ladder.</a:t>
            </a:r>
          </a:p>
        </p:txBody>
      </p:sp>
      <p:sp>
        <p:nvSpPr>
          <p:cNvPr id="54" name="Rectangle 5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56" name="Rectangle 5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Conclusion &amp; Future Work</a:t>
            </a:r>
          </a:p>
        </p:txBody>
      </p:sp>
      <p:sp>
        <p:nvSpPr>
          <p:cNvPr id="58" name="Rectangle 5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20 / 34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FUTURE WORK</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22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122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7200" y="132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Handle change over time</a:t>
            </a:r>
          </a:p>
        </p:txBody>
      </p:sp>
      <p:sp>
        <p:nvSpPr>
          <p:cNvPr id="23" name="TextBox 22"/>
          <p:cNvSpPr txBox="1"/>
          <p:nvPr/>
        </p:nvSpPr>
        <p:spPr>
          <a:xfrm>
            <a:off x="607200" y="1780000"/>
            <a:ext cx="5288647" cy="134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Forgetting-factor updates + PSI early-warning</a:t>
            </a:r>
          </a:p>
          <a:p>
            <a:pPr algn="l">
              <a:spcBef>
                <a:spcPts val="600"/>
              </a:spcBef>
            </a:pPr>
            <a:r>
              <a:rPr sz="1300" b="0" i="0">
                <a:solidFill>
                  <a:srgbClr val="505050"/>
                </a:solidFill>
                <a:latin typeface="Calibri"/>
              </a:rPr>
              <a:t>Adapt faster when the population shifts</a:t>
            </a:r>
          </a:p>
        </p:txBody>
      </p:sp>
      <p:sp>
        <p:nvSpPr>
          <p:cNvPr id="24" name="Rectangle 23"/>
          <p:cNvSpPr/>
          <p:nvPr/>
        </p:nvSpPr>
        <p:spPr>
          <a:xfrm>
            <a:off x="6245847" y="122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45847" y="122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5847" y="132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Richer models</a:t>
            </a:r>
          </a:p>
        </p:txBody>
      </p:sp>
      <p:sp>
        <p:nvSpPr>
          <p:cNvPr id="27" name="TextBox 26"/>
          <p:cNvSpPr txBox="1"/>
          <p:nvPr/>
        </p:nvSpPr>
        <p:spPr>
          <a:xfrm>
            <a:off x="6395847" y="1780000"/>
            <a:ext cx="5288647" cy="134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Neural bandit extensions</a:t>
            </a:r>
          </a:p>
          <a:p>
            <a:pPr algn="l">
              <a:spcBef>
                <a:spcPts val="600"/>
              </a:spcBef>
            </a:pPr>
            <a:r>
              <a:rPr sz="1300" b="0" i="0">
                <a:solidFill>
                  <a:srgbClr val="505050"/>
                </a:solidFill>
                <a:latin typeface="Calibri"/>
              </a:rPr>
              <a:t>Move beyond 34 simple features</a:t>
            </a:r>
          </a:p>
        </p:txBody>
      </p:sp>
      <p:sp>
        <p:nvSpPr>
          <p:cNvPr id="28" name="Rectangle 27"/>
          <p:cNvSpPr/>
          <p:nvPr/>
        </p:nvSpPr>
        <p:spPr>
          <a:xfrm>
            <a:off x="457200" y="342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342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7200" y="352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Real-world deployment</a:t>
            </a:r>
          </a:p>
        </p:txBody>
      </p:sp>
      <p:sp>
        <p:nvSpPr>
          <p:cNvPr id="31" name="TextBox 30"/>
          <p:cNvSpPr txBox="1"/>
          <p:nvPr/>
        </p:nvSpPr>
        <p:spPr>
          <a:xfrm>
            <a:off x="607200" y="3980000"/>
            <a:ext cx="5288647" cy="134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Shadow-mode trial with a Cambodian insurer</a:t>
            </a:r>
          </a:p>
          <a:p>
            <a:pPr algn="l">
              <a:spcBef>
                <a:spcPts val="600"/>
              </a:spcBef>
            </a:pPr>
            <a:r>
              <a:rPr sz="1300" b="0" i="0">
                <a:solidFill>
                  <a:srgbClr val="505050"/>
                </a:solidFill>
                <a:latin typeface="Calibri"/>
              </a:rPr>
              <a:t>Delayed reward via a claims-lag proxy</a:t>
            </a:r>
          </a:p>
        </p:txBody>
      </p:sp>
      <p:sp>
        <p:nvSpPr>
          <p:cNvPr id="32" name="Rectangle 31"/>
          <p:cNvSpPr/>
          <p:nvPr/>
        </p:nvSpPr>
        <p:spPr>
          <a:xfrm>
            <a:off x="6245847" y="342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45847" y="342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5847" y="352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Lifetime customer value</a:t>
            </a:r>
          </a:p>
        </p:txBody>
      </p:sp>
      <p:sp>
        <p:nvSpPr>
          <p:cNvPr id="35" name="TextBox 34"/>
          <p:cNvSpPr txBox="1"/>
          <p:nvPr/>
        </p:nvSpPr>
        <p:spPr>
          <a:xfrm>
            <a:off x="6395847" y="3980000"/>
            <a:ext cx="5288647" cy="134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Retention, renewals, cross-selling</a:t>
            </a:r>
          </a:p>
          <a:p>
            <a:pPr algn="l">
              <a:spcBef>
                <a:spcPts val="600"/>
              </a:spcBef>
            </a:pPr>
            <a:r>
              <a:rPr sz="1300" b="0" i="0">
                <a:solidFill>
                  <a:srgbClr val="505050"/>
                </a:solidFill>
                <a:latin typeface="Calibri"/>
              </a:rPr>
              <a:t>Beyond a single-decision reward</a:t>
            </a:r>
          </a:p>
        </p:txBody>
      </p:sp>
      <p:sp>
        <p:nvSpPr>
          <p:cNvPr id="36" name="Rectangle 3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8" name="Rectangle 3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Conclusion &amp; Future Work</a:t>
            </a:r>
          </a:p>
        </p:txBody>
      </p:sp>
      <p:sp>
        <p:nvSpPr>
          <p:cNvPr id="40" name="Rectangle 3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21 / 34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THE TAKEAWAY</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600000"/>
            <a:ext cx="11277295" cy="15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1600000"/>
            <a:ext cx="11277295" cy="1500000"/>
          </a:xfrm>
          <a:prstGeom prst="rect">
            <a:avLst/>
          </a:prstGeom>
          <a:noFill/>
        </p:spPr>
        <p:txBody>
          <a:bodyPr wrap="square" anchor="ctr">
            <a:spAutoFit/>
          </a:bodyPr>
          <a:lstStyle/>
          <a:p>
            <a:pPr algn="ctr"/>
            <a:r>
              <a:rPr sz="4000" b="1">
                <a:solidFill>
                  <a:srgbClr val="505050"/>
                </a:solidFill>
                <a:latin typeface="Segoe UI"/>
              </a:rPr>
              <a:t>2023: </a:t>
            </a:r>
            <a:r>
              <a:rPr sz="4000" b="1">
                <a:solidFill>
                  <a:srgbClr val="D93B3B"/>
                </a:solidFill>
                <a:latin typeface="Segoe UI"/>
              </a:rPr>
              <a:t>DECLINE</a:t>
            </a:r>
            <a:r>
              <a:rPr sz="4000" b="1">
                <a:solidFill>
                  <a:srgbClr val="505050"/>
                </a:solidFill>
                <a:latin typeface="Segoe UI"/>
              </a:rPr>
              <a:t>     2026: </a:t>
            </a:r>
            <a:r>
              <a:rPr sz="4000" b="1">
                <a:solidFill>
                  <a:srgbClr val="2E8B57"/>
                </a:solidFill>
                <a:latin typeface="Segoe UI"/>
              </a:rPr>
              <a:t>STANDARD</a:t>
            </a:r>
          </a:p>
        </p:txBody>
      </p:sp>
      <p:sp>
        <p:nvSpPr>
          <p:cNvPr id="22" name="TextBox 21"/>
          <p:cNvSpPr txBox="1"/>
          <p:nvPr/>
        </p:nvSpPr>
        <p:spPr>
          <a:xfrm>
            <a:off x="457200" y="3600000"/>
            <a:ext cx="11277295" cy="900000"/>
          </a:xfrm>
          <a:prstGeom prst="rect">
            <a:avLst/>
          </a:prstGeom>
          <a:noFill/>
        </p:spPr>
        <p:txBody>
          <a:bodyPr wrap="square">
            <a:spAutoFit/>
          </a:bodyPr>
          <a:lstStyle/>
          <a:p>
            <a:pPr algn="ctr">
              <a:spcBef>
                <a:spcPts val="0"/>
              </a:spcBef>
              <a:spcAft>
                <a:spcPts val="0"/>
              </a:spcAft>
            </a:pPr>
            <a:r>
              <a:rPr sz="1800" b="0" i="1">
                <a:solidFill>
                  <a:srgbClr val="262626"/>
                </a:solidFill>
                <a:latin typeface="Calibri"/>
              </a:rPr>
              <a:t>The same woman. A system that finally sees her whole picture — and keeps learning.</a:t>
            </a:r>
          </a:p>
        </p:txBody>
      </p:sp>
      <p:sp>
        <p:nvSpPr>
          <p:cNvPr id="23" name="TextBox 22"/>
          <p:cNvSpPr txBox="1"/>
          <p:nvPr/>
        </p:nvSpPr>
        <p:spPr>
          <a:xfrm>
            <a:off x="457200" y="4700000"/>
            <a:ext cx="11277295" cy="700000"/>
          </a:xfrm>
          <a:prstGeom prst="rect">
            <a:avLst/>
          </a:prstGeom>
          <a:noFill/>
        </p:spPr>
        <p:txBody>
          <a:bodyPr wrap="square">
            <a:spAutoFit/>
          </a:bodyPr>
          <a:lstStyle/>
          <a:p>
            <a:pPr algn="ctr">
              <a:spcBef>
                <a:spcPts val="0"/>
              </a:spcBef>
              <a:spcAft>
                <a:spcPts val="0"/>
              </a:spcAft>
            </a:pPr>
            <a:r>
              <a:rPr sz="2000" b="1" i="0">
                <a:solidFill>
                  <a:srgbClr val="1B5697"/>
                </a:solidFill>
                <a:latin typeface="Calibri"/>
              </a:rPr>
              <a:t>Cambodia has hundreds of thousands of applicants like her.</a:t>
            </a:r>
          </a:p>
        </p:txBody>
      </p:sp>
      <p:sp>
        <p:nvSpPr>
          <p:cNvPr id="24" name="Rectangle 2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6" name="Rectangle 2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Conclusion &amp; Future Work</a:t>
            </a:r>
          </a:p>
        </p:txBody>
      </p:sp>
      <p:sp>
        <p:nvSpPr>
          <p:cNvPr id="28" name="Rectangle 2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22 / 34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LIVE DEMONSTRATION</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550000"/>
            <a:ext cx="500000" cy="1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7200" y="1550000"/>
            <a:ext cx="420000" cy="1000000"/>
          </a:xfrm>
          <a:prstGeom prst="rect">
            <a:avLst/>
          </a:prstGeom>
          <a:noFill/>
        </p:spPr>
        <p:txBody>
          <a:bodyPr wrap="none" anchor="ctr">
            <a:spAutoFit/>
          </a:bodyPr>
          <a:lstStyle/>
          <a:p>
            <a:pPr algn="ctr">
              <a:spcBef>
                <a:spcPts val="0"/>
              </a:spcBef>
              <a:spcAft>
                <a:spcPts val="0"/>
              </a:spcAft>
            </a:pPr>
            <a:r>
              <a:rPr sz="2000" b="1" i="0">
                <a:solidFill>
                  <a:srgbClr val="FFFFFF"/>
                </a:solidFill>
                <a:latin typeface="Calibri"/>
              </a:rPr>
              <a:t>1</a:t>
            </a:r>
          </a:p>
        </p:txBody>
      </p:sp>
      <p:sp>
        <p:nvSpPr>
          <p:cNvPr id="22" name="TextBox 21"/>
          <p:cNvSpPr txBox="1"/>
          <p:nvPr/>
        </p:nvSpPr>
        <p:spPr>
          <a:xfrm>
            <a:off x="1097200" y="1550000"/>
            <a:ext cx="10537295" cy="1000000"/>
          </a:xfrm>
          <a:prstGeom prst="rect">
            <a:avLst/>
          </a:prstGeom>
          <a:noFill/>
        </p:spPr>
        <p:txBody>
          <a:bodyPr wrap="square" anchor="ctr">
            <a:spAutoFit/>
          </a:bodyPr>
          <a:lstStyle/>
          <a:p>
            <a:pPr algn="l">
              <a:spcBef>
                <a:spcPts val="0"/>
              </a:spcBef>
              <a:spcAft>
                <a:spcPts val="0"/>
              </a:spcAft>
            </a:pPr>
            <a:r>
              <a:rPr sz="1700" b="1" i="0">
                <a:solidFill>
                  <a:srgbClr val="1B5697"/>
                </a:solidFill>
                <a:latin typeface="Calibri"/>
              </a:rPr>
              <a:t>Score Sophea live</a:t>
            </a:r>
          </a:p>
          <a:p>
            <a:pPr algn="l">
              <a:spcBef>
                <a:spcPts val="400"/>
              </a:spcBef>
            </a:pPr>
            <a:r>
              <a:rPr sz="1500" b="0" i="0">
                <a:solidFill>
                  <a:srgbClr val="262626"/>
                </a:solidFill>
                <a:latin typeface="Calibri"/>
              </a:rPr>
              <a:t>→  decision + the fairness guardrail (PSI), on screen</a:t>
            </a:r>
          </a:p>
        </p:txBody>
      </p:sp>
      <p:sp>
        <p:nvSpPr>
          <p:cNvPr id="23" name="Rectangle 22"/>
          <p:cNvSpPr/>
          <p:nvPr/>
        </p:nvSpPr>
        <p:spPr>
          <a:xfrm>
            <a:off x="457200" y="2800000"/>
            <a:ext cx="500000" cy="1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7200" y="2800000"/>
            <a:ext cx="420000" cy="1000000"/>
          </a:xfrm>
          <a:prstGeom prst="rect">
            <a:avLst/>
          </a:prstGeom>
          <a:noFill/>
        </p:spPr>
        <p:txBody>
          <a:bodyPr wrap="none" anchor="ctr">
            <a:spAutoFit/>
          </a:bodyPr>
          <a:lstStyle/>
          <a:p>
            <a:pPr algn="ctr">
              <a:spcBef>
                <a:spcPts val="0"/>
              </a:spcBef>
              <a:spcAft>
                <a:spcPts val="0"/>
              </a:spcAft>
            </a:pPr>
            <a:r>
              <a:rPr sz="2000" b="1" i="0">
                <a:solidFill>
                  <a:srgbClr val="FFFFFF"/>
                </a:solidFill>
                <a:latin typeface="Calibri"/>
              </a:rPr>
              <a:t>2</a:t>
            </a:r>
          </a:p>
        </p:txBody>
      </p:sp>
      <p:sp>
        <p:nvSpPr>
          <p:cNvPr id="25" name="TextBox 24"/>
          <p:cNvSpPr txBox="1"/>
          <p:nvPr/>
        </p:nvSpPr>
        <p:spPr>
          <a:xfrm>
            <a:off x="1097200" y="2800000"/>
            <a:ext cx="10537295" cy="1000000"/>
          </a:xfrm>
          <a:prstGeom prst="rect">
            <a:avLst/>
          </a:prstGeom>
          <a:noFill/>
        </p:spPr>
        <p:txBody>
          <a:bodyPr wrap="square" anchor="ctr">
            <a:spAutoFit/>
          </a:bodyPr>
          <a:lstStyle/>
          <a:p>
            <a:pPr algn="l">
              <a:spcBef>
                <a:spcPts val="0"/>
              </a:spcBef>
              <a:spcAft>
                <a:spcPts val="0"/>
              </a:spcAft>
            </a:pPr>
            <a:r>
              <a:rPr sz="1700" b="1" i="0">
                <a:solidFill>
                  <a:srgbClr val="1B5697"/>
                </a:solidFill>
                <a:latin typeface="Calibri"/>
              </a:rPr>
              <a:t>A higher-risk applicant</a:t>
            </a:r>
          </a:p>
          <a:p>
            <a:pPr algn="l">
              <a:spcBef>
                <a:spcPts val="400"/>
              </a:spcBef>
            </a:pPr>
            <a:r>
              <a:rPr sz="1500" b="0" i="0">
                <a:solidFill>
                  <a:srgbClr val="262626"/>
                </a:solidFill>
                <a:latin typeface="Calibri"/>
              </a:rPr>
              <a:t>→  see the decision and the reward change</a:t>
            </a:r>
          </a:p>
        </p:txBody>
      </p:sp>
      <p:sp>
        <p:nvSpPr>
          <p:cNvPr id="26" name="Rectangle 25"/>
          <p:cNvSpPr/>
          <p:nvPr/>
        </p:nvSpPr>
        <p:spPr>
          <a:xfrm>
            <a:off x="457200" y="4050000"/>
            <a:ext cx="500000" cy="1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7200" y="4050000"/>
            <a:ext cx="420000" cy="1000000"/>
          </a:xfrm>
          <a:prstGeom prst="rect">
            <a:avLst/>
          </a:prstGeom>
          <a:noFill/>
        </p:spPr>
        <p:txBody>
          <a:bodyPr wrap="none" anchor="ctr">
            <a:spAutoFit/>
          </a:bodyPr>
          <a:lstStyle/>
          <a:p>
            <a:pPr algn="ctr">
              <a:spcBef>
                <a:spcPts val="0"/>
              </a:spcBef>
              <a:spcAft>
                <a:spcPts val="0"/>
              </a:spcAft>
            </a:pPr>
            <a:r>
              <a:rPr sz="2000" b="1" i="0">
                <a:solidFill>
                  <a:srgbClr val="FFFFFF"/>
                </a:solidFill>
                <a:latin typeface="Calibri"/>
              </a:rPr>
              <a:t>3</a:t>
            </a:r>
          </a:p>
        </p:txBody>
      </p:sp>
      <p:sp>
        <p:nvSpPr>
          <p:cNvPr id="28" name="TextBox 27"/>
          <p:cNvSpPr txBox="1"/>
          <p:nvPr/>
        </p:nvSpPr>
        <p:spPr>
          <a:xfrm>
            <a:off x="1097200" y="4050000"/>
            <a:ext cx="10537295" cy="1000000"/>
          </a:xfrm>
          <a:prstGeom prst="rect">
            <a:avLst/>
          </a:prstGeom>
          <a:noFill/>
        </p:spPr>
        <p:txBody>
          <a:bodyPr wrap="square" anchor="ctr">
            <a:spAutoFit/>
          </a:bodyPr>
          <a:lstStyle/>
          <a:p>
            <a:pPr algn="l">
              <a:spcBef>
                <a:spcPts val="0"/>
              </a:spcBef>
              <a:spcAft>
                <a:spcPts val="0"/>
              </a:spcAft>
            </a:pPr>
            <a:r>
              <a:rPr sz="1700" b="1" i="0">
                <a:solidFill>
                  <a:srgbClr val="1B5697"/>
                </a:solidFill>
                <a:latin typeface="Calibri"/>
              </a:rPr>
              <a:t>Watch it learn</a:t>
            </a:r>
          </a:p>
          <a:p>
            <a:pPr algn="l">
              <a:spcBef>
                <a:spcPts val="400"/>
              </a:spcBef>
            </a:pPr>
            <a:r>
              <a:rPr sz="1500" b="0" i="0">
                <a:solidFill>
                  <a:srgbClr val="262626"/>
                </a:solidFill>
                <a:latin typeface="Calibri"/>
              </a:rPr>
              <a:t>→  cumulative-reward animation, learning system vs static</a:t>
            </a:r>
          </a:p>
        </p:txBody>
      </p:sp>
      <p:sp>
        <p:nvSpPr>
          <p:cNvPr id="29" name="TextBox 28"/>
          <p:cNvSpPr txBox="1"/>
          <p:nvPr/>
        </p:nvSpPr>
        <p:spPr>
          <a:xfrm>
            <a:off x="457200" y="5150000"/>
            <a:ext cx="11277295" cy="400000"/>
          </a:xfrm>
          <a:prstGeom prst="rect">
            <a:avLst/>
          </a:prstGeom>
          <a:noFill/>
        </p:spPr>
        <p:txBody>
          <a:bodyPr wrap="square">
            <a:spAutoFit/>
          </a:bodyPr>
          <a:lstStyle/>
          <a:p>
            <a:pPr algn="ctr">
              <a:spcBef>
                <a:spcPts val="0"/>
              </a:spcBef>
              <a:spcAft>
                <a:spcPts val="0"/>
              </a:spcAft>
            </a:pPr>
            <a:r>
              <a:rPr sz="1300" b="0" i="1">
                <a:solidFill>
                  <a:srgbClr val="505050"/>
                </a:solidFill>
                <a:latin typeface="Calibri"/>
              </a:rPr>
              <a:t>A live FastAPI app — not a mockup.</a:t>
            </a:r>
          </a:p>
        </p:txBody>
      </p:sp>
      <p:sp>
        <p:nvSpPr>
          <p:cNvPr id="30" name="Rectangle 29"/>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2" name="Rectangle 31"/>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Demonstration</a:t>
            </a:r>
          </a:p>
        </p:txBody>
      </p:sp>
      <p:sp>
        <p:nvSpPr>
          <p:cNvPr id="34" name="Rectangle 33"/>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23 / 34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IF LIVE DEMO FAILS — A SCORED APPLICANT</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esk_underwriting.png"/>
          <p:cNvPicPr>
            <a:picLocks noChangeAspect="1"/>
          </p:cNvPicPr>
          <p:nvPr/>
        </p:nvPicPr>
        <p:blipFill>
          <a:blip r:embed="rId2"/>
          <a:stretch>
            <a:fillRect/>
          </a:stretch>
        </p:blipFill>
        <p:spPr>
          <a:xfrm>
            <a:off x="2575847" y="1200000"/>
            <a:ext cx="7040000" cy="4400000"/>
          </a:xfrm>
          <a:prstGeom prst="rect">
            <a:avLst/>
          </a:prstGeom>
        </p:spPr>
      </p:pic>
      <p:sp>
        <p:nvSpPr>
          <p:cNvPr id="21" name="TextBox 20"/>
          <p:cNvSpPr txBox="1"/>
          <p:nvPr/>
        </p:nvSpPr>
        <p:spPr>
          <a:xfrm>
            <a:off x="457200" y="5820000"/>
            <a:ext cx="11277295" cy="300000"/>
          </a:xfrm>
          <a:prstGeom prst="rect">
            <a:avLst/>
          </a:prstGeom>
          <a:noFill/>
        </p:spPr>
        <p:txBody>
          <a:bodyPr wrap="square">
            <a:spAutoFit/>
          </a:bodyPr>
          <a:lstStyle/>
          <a:p>
            <a:pPr algn="ctr">
              <a:spcBef>
                <a:spcPts val="0"/>
              </a:spcBef>
              <a:spcAft>
                <a:spcPts val="0"/>
              </a:spcAft>
            </a:pPr>
            <a:r>
              <a:rPr sz="1200" b="0" i="1">
                <a:solidFill>
                  <a:srgbClr val="505050"/>
                </a:solidFill>
                <a:latin typeface="Calibri"/>
              </a:rPr>
              <a:t>Fallback screenshot — Underwriting Desk view, a sample applicant scored.</a:t>
            </a:r>
          </a:p>
        </p:txBody>
      </p:sp>
      <p:sp>
        <p:nvSpPr>
          <p:cNvPr id="22" name="Rectangle 2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4" name="Rectangle 2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Demonstration</a:t>
            </a:r>
          </a:p>
        </p:txBody>
      </p:sp>
      <p:sp>
        <p:nvSpPr>
          <p:cNvPr id="26" name="Rectangle 2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24 / 34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IF LIVE DEMO FAILS — WATCH IT LEARN</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esk_learning.png"/>
          <p:cNvPicPr>
            <a:picLocks noChangeAspect="1"/>
          </p:cNvPicPr>
          <p:nvPr/>
        </p:nvPicPr>
        <p:blipFill>
          <a:blip r:embed="rId2"/>
          <a:stretch>
            <a:fillRect/>
          </a:stretch>
        </p:blipFill>
        <p:spPr>
          <a:xfrm>
            <a:off x="2575847" y="1200000"/>
            <a:ext cx="7040000" cy="4400000"/>
          </a:xfrm>
          <a:prstGeom prst="rect">
            <a:avLst/>
          </a:prstGeom>
        </p:spPr>
      </p:pic>
      <p:sp>
        <p:nvSpPr>
          <p:cNvPr id="21" name="TextBox 20"/>
          <p:cNvSpPr txBox="1"/>
          <p:nvPr/>
        </p:nvSpPr>
        <p:spPr>
          <a:xfrm>
            <a:off x="457200" y="5820000"/>
            <a:ext cx="11277295" cy="300000"/>
          </a:xfrm>
          <a:prstGeom prst="rect">
            <a:avLst/>
          </a:prstGeom>
          <a:noFill/>
        </p:spPr>
        <p:txBody>
          <a:bodyPr wrap="square">
            <a:spAutoFit/>
          </a:bodyPr>
          <a:lstStyle/>
          <a:p>
            <a:pPr algn="ctr">
              <a:spcBef>
                <a:spcPts val="0"/>
              </a:spcBef>
              <a:spcAft>
                <a:spcPts val="0"/>
              </a:spcAft>
            </a:pPr>
            <a:r>
              <a:rPr sz="1200" b="0" i="1">
                <a:solidFill>
                  <a:srgbClr val="505050"/>
                </a:solidFill>
                <a:latin typeface="Calibri"/>
              </a:rPr>
              <a:t>Fallback screenshot — cumulative reward, learning system vs static rules.</a:t>
            </a:r>
          </a:p>
        </p:txBody>
      </p:sp>
      <p:sp>
        <p:nvSpPr>
          <p:cNvPr id="22" name="Rectangle 2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4" name="Rectangle 2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Demonstration</a:t>
            </a:r>
          </a:p>
        </p:txBody>
      </p:sp>
      <p:sp>
        <p:nvSpPr>
          <p:cNvPr id="26" name="Rectangle 2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25 / 34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500000"/>
            <a:ext cx="11277295" cy="1000000"/>
          </a:xfrm>
          <a:prstGeom prst="rect">
            <a:avLst/>
          </a:prstGeom>
          <a:noFill/>
        </p:spPr>
        <p:txBody>
          <a:bodyPr wrap="square">
            <a:spAutoFit/>
          </a:bodyPr>
          <a:lstStyle/>
          <a:p>
            <a:pPr algn="ctr">
              <a:spcBef>
                <a:spcPts val="0"/>
              </a:spcBef>
              <a:spcAft>
                <a:spcPts val="0"/>
              </a:spcAft>
            </a:pPr>
            <a:r>
              <a:rPr sz="3400" b="1" i="0">
                <a:solidFill>
                  <a:srgbClr val="FFFFFF"/>
                </a:solidFill>
                <a:latin typeface="Segoe UI"/>
              </a:rPr>
              <a:t>Thank you for your attention.</a:t>
            </a:r>
          </a:p>
        </p:txBody>
      </p:sp>
      <p:sp>
        <p:nvSpPr>
          <p:cNvPr id="4" name="TextBox 3"/>
          <p:cNvSpPr txBox="1"/>
          <p:nvPr/>
        </p:nvSpPr>
        <p:spPr>
          <a:xfrm>
            <a:off x="457200" y="2700000"/>
            <a:ext cx="11277295" cy="600000"/>
          </a:xfrm>
          <a:prstGeom prst="rect">
            <a:avLst/>
          </a:prstGeom>
          <a:noFill/>
        </p:spPr>
        <p:txBody>
          <a:bodyPr wrap="square">
            <a:spAutoFit/>
          </a:bodyPr>
          <a:lstStyle/>
          <a:p>
            <a:pPr algn="ctr">
              <a:spcBef>
                <a:spcPts val="0"/>
              </a:spcBef>
              <a:spcAft>
                <a:spcPts val="0"/>
              </a:spcAft>
            </a:pPr>
            <a:r>
              <a:rPr sz="2000" b="0" i="1">
                <a:solidFill>
                  <a:srgbClr val="BDCEE4"/>
                </a:solidFill>
                <a:latin typeface="Calibri"/>
              </a:rPr>
              <a:t>Questions are welcome.</a:t>
            </a:r>
          </a:p>
        </p:txBody>
      </p:sp>
      <p:sp>
        <p:nvSpPr>
          <p:cNvPr id="5" name="Rectangle 4"/>
          <p:cNvSpPr/>
          <p:nvPr/>
        </p:nvSpPr>
        <p:spPr>
          <a:xfrm>
            <a:off x="457200" y="3800000"/>
            <a:ext cx="11277295" cy="5486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3920000"/>
            <a:ext cx="11277295" cy="340000"/>
          </a:xfrm>
          <a:prstGeom prst="rect">
            <a:avLst/>
          </a:prstGeom>
          <a:noFill/>
        </p:spPr>
        <p:txBody>
          <a:bodyPr wrap="square">
            <a:spAutoFit/>
          </a:bodyPr>
          <a:lstStyle/>
          <a:p>
            <a:pPr algn="ctr">
              <a:spcBef>
                <a:spcPts val="0"/>
              </a:spcBef>
              <a:spcAft>
                <a:spcPts val="0"/>
              </a:spcAft>
            </a:pPr>
            <a:r>
              <a:rPr sz="1300" b="1" i="0">
                <a:solidFill>
                  <a:srgbClr val="BDCEE4"/>
                </a:solidFill>
                <a:latin typeface="Calibri"/>
              </a:rPr>
              <a:t>BACKUP SLIDES IN THE APPENDIX</a:t>
            </a:r>
          </a:p>
        </p:txBody>
      </p:sp>
      <p:sp>
        <p:nvSpPr>
          <p:cNvPr id="7" name="TextBox 6"/>
          <p:cNvSpPr txBox="1"/>
          <p:nvPr/>
        </p:nvSpPr>
        <p:spPr>
          <a:xfrm>
            <a:off x="457200" y="4400000"/>
            <a:ext cx="11277295" cy="1100000"/>
          </a:xfrm>
          <a:prstGeom prst="rect">
            <a:avLst/>
          </a:prstGeom>
          <a:noFill/>
        </p:spPr>
        <p:txBody>
          <a:bodyPr wrap="square">
            <a:spAutoFit/>
          </a:bodyPr>
          <a:lstStyle/>
          <a:p>
            <a:pPr algn="ctr">
              <a:spcBef>
                <a:spcPts val="0"/>
              </a:spcBef>
              <a:spcAft>
                <a:spcPts val="0"/>
              </a:spcAft>
            </a:pPr>
            <a:r>
              <a:rPr sz="1300" b="0" i="0">
                <a:solidFill>
                  <a:srgbClr val="BDCEE4"/>
                </a:solidFill>
                <a:latin typeface="Calibri"/>
              </a:rPr>
              <a:t>A1 Baseline ladder   ·   A2 Number reconciliation   ·   A3 All 6 fairness checks</a:t>
            </a:r>
          </a:p>
          <a:p>
            <a:pPr algn="ctr">
              <a:spcBef>
                <a:spcPts val="800"/>
              </a:spcBef>
            </a:pPr>
            <a:r>
              <a:rPr sz="1300" b="0" i="0">
                <a:solidFill>
                  <a:srgbClr val="BDCEE4"/>
                </a:solidFill>
                <a:latin typeface="Calibri"/>
              </a:rPr>
              <a:t>A4 The maths   ·   A5 Sensitivity analysis   ·   A6 No train/test split</a:t>
            </a:r>
          </a:p>
          <a:p>
            <a:pPr algn="ctr">
              <a:spcBef>
                <a:spcPts val="800"/>
              </a:spcBef>
            </a:pPr>
            <a:r>
              <a:rPr sz="1300" b="0" i="0">
                <a:solidFill>
                  <a:srgbClr val="BDCEE4"/>
                </a:solidFill>
                <a:latin typeface="Calibri"/>
              </a:rPr>
              <a:t>A7 The exploration bonus (α)   ·   A8 The fairness index (PSI)</a:t>
            </a:r>
          </a:p>
        </p:txBody>
      </p:sp>
      <p:sp>
        <p:nvSpPr>
          <p:cNvPr id="8" name="Rectangle 7"/>
          <p:cNvSpPr/>
          <p:nvPr/>
        </p:nvSpPr>
        <p:spPr>
          <a:xfrm>
            <a:off x="0" y="6437376"/>
            <a:ext cx="12191695" cy="42062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BDCEE4"/>
                </a:solidFill>
                <a:latin typeface="Calibri"/>
              </a:rPr>
              <a:t>Q &amp; A</a:t>
            </a:r>
          </a:p>
        </p:txBody>
      </p:sp>
      <p:sp>
        <p:nvSpPr>
          <p:cNvPr id="11" name="TextBox 1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26 / 34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A1: COMPLETE BASELINE LADDER</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100000"/>
          <a:ext cx="11277295" cy="4600000"/>
        </p:xfrm>
        <a:graphic>
          <a:graphicData uri="http://schemas.openxmlformats.org/drawingml/2006/table">
            <a:tbl>
              <a:tblPr firstRow="1" bandRow="1">
                <a:tableStyleId>{5C22544A-7EE6-4342-B048-85BDC9FD1C3A}</a:tableStyleId>
              </a:tblPr>
              <a:tblGrid>
                <a:gridCol w="2819323"/>
                <a:gridCol w="2819323"/>
                <a:gridCol w="2819323"/>
                <a:gridCol w="2819326"/>
              </a:tblGrid>
              <a:tr h="460000">
                <a:tc>
                  <a:txBody>
                    <a:bodyPr/>
                    <a:lstStyle/>
                    <a:p>
                      <a:r>
                        <a:rPr b="1" sz="1300">
                          <a:solidFill>
                            <a:srgbClr val="FFFFFF"/>
                          </a:solidFill>
                        </a:rPr>
                        <a:t>Policy</a:t>
                      </a:r>
                    </a:p>
                  </a:txBody>
                  <a:tcPr>
                    <a:solidFill>
                      <a:srgbClr val="1B5697"/>
                    </a:solidFill>
                  </a:tcPr>
                </a:tc>
                <a:tc>
                  <a:txBody>
                    <a:bodyPr/>
                    <a:lstStyle/>
                    <a:p>
                      <a:r>
                        <a:rPr b="1" sz="1300">
                          <a:solidFill>
                            <a:srgbClr val="FFFFFF"/>
                          </a:solidFill>
                        </a:rPr>
                        <a:t>Cumulative Reward (mean)</a:t>
                      </a:r>
                    </a:p>
                  </a:txBody>
                  <a:tcPr>
                    <a:solidFill>
                      <a:srgbClr val="1B5697"/>
                    </a:solidFill>
                  </a:tcPr>
                </a:tc>
                <a:tc>
                  <a:txBody>
                    <a:bodyPr/>
                    <a:lstStyle/>
                    <a:p>
                      <a:r>
                        <a:rPr b="1" sz="1300">
                          <a:solidFill>
                            <a:srgbClr val="FFFFFF"/>
                          </a:solidFill>
                        </a:rPr>
                        <a:t>95% CI</a:t>
                      </a:r>
                    </a:p>
                  </a:txBody>
                  <a:tcPr>
                    <a:solidFill>
                      <a:srgbClr val="1B5697"/>
                    </a:solidFill>
                  </a:tcPr>
                </a:tc>
                <a:tc>
                  <a:txBody>
                    <a:bodyPr/>
                    <a:lstStyle/>
                    <a:p>
                      <a:r>
                        <a:rPr b="1" sz="1300">
                          <a:solidFill>
                            <a:srgbClr val="FFFFFF"/>
                          </a:solidFill>
                        </a:rPr>
                        <a:t>% of Oracle</a:t>
                      </a:r>
                    </a:p>
                  </a:txBody>
                  <a:tcPr>
                    <a:solidFill>
                      <a:srgbClr val="1B5697"/>
                    </a:solidFill>
                  </a:tcPr>
                </a:tc>
              </a:tr>
              <a:tr h="460000">
                <a:tc>
                  <a:txBody>
                    <a:bodyPr/>
                    <a:lstStyle/>
                    <a:p>
                      <a:r>
                        <a:rPr sz="1200" b="0">
                          <a:solidFill>
                            <a:srgbClr val="262626"/>
                          </a:solidFill>
                        </a:rPr>
                        <a:t>Oracle (perfect knowledge)</a:t>
                      </a:r>
                    </a:p>
                  </a:txBody>
                  <a:tcPr>
                    <a:solidFill>
                      <a:srgbClr val="F3F6FB"/>
                    </a:solidFill>
                  </a:tcPr>
                </a:tc>
                <a:tc>
                  <a:txBody>
                    <a:bodyPr/>
                    <a:lstStyle/>
                    <a:p>
                      <a:r>
                        <a:rPr sz="1300" b="0">
                          <a:solidFill>
                            <a:srgbClr val="262626"/>
                          </a:solidFill>
                        </a:rPr>
                        <a:t>$126,804</a:t>
                      </a:r>
                    </a:p>
                  </a:txBody>
                  <a:tcPr>
                    <a:solidFill>
                      <a:srgbClr val="F3F6FB"/>
                    </a:solidFill>
                  </a:tcPr>
                </a:tc>
                <a:tc>
                  <a:txBody>
                    <a:bodyPr/>
                    <a:lstStyle/>
                    <a:p>
                      <a:r>
                        <a:rPr sz="1300" b="0">
                          <a:solidFill>
                            <a:srgbClr val="262626"/>
                          </a:solidFill>
                        </a:rPr>
                        <a:t>[124,187, 128,428]</a:t>
                      </a:r>
                    </a:p>
                  </a:txBody>
                  <a:tcPr>
                    <a:solidFill>
                      <a:srgbClr val="F3F6FB"/>
                    </a:solidFill>
                  </a:tcPr>
                </a:tc>
                <a:tc>
                  <a:txBody>
                    <a:bodyPr/>
                    <a:lstStyle/>
                    <a:p>
                      <a:r>
                        <a:rPr sz="1300" b="0">
                          <a:solidFill>
                            <a:srgbClr val="262626"/>
                          </a:solidFill>
                        </a:rPr>
                        <a:t>100%</a:t>
                      </a:r>
                    </a:p>
                  </a:txBody>
                  <a:tcPr>
                    <a:solidFill>
                      <a:srgbClr val="F3F6FB"/>
                    </a:solidFill>
                  </a:tcPr>
                </a:tc>
              </a:tr>
              <a:tr h="460000">
                <a:tc>
                  <a:txBody>
                    <a:bodyPr/>
                    <a:lstStyle/>
                    <a:p>
                      <a:r>
                        <a:rPr sz="1200" b="0">
                          <a:solidFill>
                            <a:srgbClr val="262626"/>
                          </a:solidFill>
                        </a:rPr>
                        <a:t>LogisticOracle ‡ (full-supervision)</a:t>
                      </a:r>
                    </a:p>
                  </a:txBody>
                  <a:tcPr>
                    <a:solidFill>
                      <a:srgbClr val="F3F6FB"/>
                    </a:solidFill>
                  </a:tcPr>
                </a:tc>
                <a:tc>
                  <a:txBody>
                    <a:bodyPr/>
                    <a:lstStyle/>
                    <a:p>
                      <a:r>
                        <a:rPr sz="1300" b="0">
                          <a:solidFill>
                            <a:srgbClr val="262626"/>
                          </a:solidFill>
                        </a:rPr>
                        <a:t>$123,977</a:t>
                      </a:r>
                    </a:p>
                  </a:txBody>
                  <a:tcPr>
                    <a:solidFill>
                      <a:srgbClr val="F3F6FB"/>
                    </a:solidFill>
                  </a:tcPr>
                </a:tc>
                <a:tc>
                  <a:txBody>
                    <a:bodyPr/>
                    <a:lstStyle/>
                    <a:p>
                      <a:r>
                        <a:rPr sz="1300" b="0">
                          <a:solidFill>
                            <a:srgbClr val="262626"/>
                          </a:solidFill>
                        </a:rPr>
                        <a:t>[121,794, 126,126]</a:t>
                      </a:r>
                    </a:p>
                  </a:txBody>
                  <a:tcPr>
                    <a:solidFill>
                      <a:srgbClr val="F3F6FB"/>
                    </a:solidFill>
                  </a:tcPr>
                </a:tc>
                <a:tc>
                  <a:txBody>
                    <a:bodyPr/>
                    <a:lstStyle/>
                    <a:p>
                      <a:r>
                        <a:rPr sz="1300" b="0">
                          <a:solidFill>
                            <a:srgbClr val="262626"/>
                          </a:solidFill>
                        </a:rPr>
                        <a:t>98.1%</a:t>
                      </a:r>
                    </a:p>
                  </a:txBody>
                  <a:tcPr>
                    <a:solidFill>
                      <a:srgbClr val="F3F6FB"/>
                    </a:solidFill>
                  </a:tcPr>
                </a:tc>
              </a:tr>
              <a:tr h="460000">
                <a:tc>
                  <a:txBody>
                    <a:bodyPr/>
                    <a:lstStyle/>
                    <a:p>
                      <a:r>
                        <a:rPr sz="1200" b="0">
                          <a:solidFill>
                            <a:srgbClr val="262626"/>
                          </a:solidFill>
                        </a:rPr>
                        <a:t>AlwaysRATED (trivial constant)</a:t>
                      </a:r>
                    </a:p>
                  </a:txBody>
                  <a:tcPr>
                    <a:solidFill>
                      <a:srgbClr val="FEF3CD"/>
                    </a:solidFill>
                  </a:tcPr>
                </a:tc>
                <a:tc>
                  <a:txBody>
                    <a:bodyPr/>
                    <a:lstStyle/>
                    <a:p>
                      <a:r>
                        <a:rPr sz="1300" b="0">
                          <a:solidFill>
                            <a:srgbClr val="262626"/>
                          </a:solidFill>
                        </a:rPr>
                        <a:t>$122,287</a:t>
                      </a:r>
                    </a:p>
                  </a:txBody>
                  <a:tcPr>
                    <a:solidFill>
                      <a:srgbClr val="FEF3CD"/>
                    </a:solidFill>
                  </a:tcPr>
                </a:tc>
                <a:tc>
                  <a:txBody>
                    <a:bodyPr/>
                    <a:lstStyle/>
                    <a:p>
                      <a:r>
                        <a:rPr sz="1300" b="0">
                          <a:solidFill>
                            <a:srgbClr val="262626"/>
                          </a:solidFill>
                        </a:rPr>
                        <a:t>[119,528, 124,996]</a:t>
                      </a:r>
                    </a:p>
                  </a:txBody>
                  <a:tcPr>
                    <a:solidFill>
                      <a:srgbClr val="FEF3CD"/>
                    </a:solidFill>
                  </a:tcPr>
                </a:tc>
                <a:tc>
                  <a:txBody>
                    <a:bodyPr/>
                    <a:lstStyle/>
                    <a:p>
                      <a:r>
                        <a:rPr sz="1300" b="0">
                          <a:solidFill>
                            <a:srgbClr val="262626"/>
                          </a:solidFill>
                        </a:rPr>
                        <a:t>96.8%</a:t>
                      </a:r>
                    </a:p>
                  </a:txBody>
                  <a:tcPr>
                    <a:solidFill>
                      <a:srgbClr val="FEF3CD"/>
                    </a:solidFill>
                  </a:tcPr>
                </a:tc>
              </a:tr>
              <a:tr h="460000">
                <a:tc>
                  <a:txBody>
                    <a:bodyPr/>
                    <a:lstStyle/>
                    <a:p>
                      <a:r>
                        <a:rPr sz="1200" b="1">
                          <a:solidFill>
                            <a:srgbClr val="1B5697"/>
                          </a:solidFill>
                        </a:rPr>
                        <a:t>LinTS  ← proposed</a:t>
                      </a:r>
                    </a:p>
                  </a:txBody>
                  <a:tcPr>
                    <a:solidFill>
                      <a:srgbClr val="E7F4E8"/>
                    </a:solidFill>
                  </a:tcPr>
                </a:tc>
                <a:tc>
                  <a:txBody>
                    <a:bodyPr/>
                    <a:lstStyle/>
                    <a:p>
                      <a:r>
                        <a:rPr sz="1300" b="1">
                          <a:solidFill>
                            <a:srgbClr val="1B5697"/>
                          </a:solidFill>
                        </a:rPr>
                        <a:t>$93,723</a:t>
                      </a:r>
                    </a:p>
                  </a:txBody>
                  <a:tcPr>
                    <a:solidFill>
                      <a:srgbClr val="E7F4E8"/>
                    </a:solidFill>
                  </a:tcPr>
                </a:tc>
                <a:tc>
                  <a:txBody>
                    <a:bodyPr/>
                    <a:lstStyle/>
                    <a:p>
                      <a:r>
                        <a:rPr sz="1300" b="1">
                          <a:solidFill>
                            <a:srgbClr val="1B5697"/>
                          </a:solidFill>
                        </a:rPr>
                        <a:t>[91,105, 96,481]</a:t>
                      </a:r>
                    </a:p>
                  </a:txBody>
                  <a:tcPr>
                    <a:solidFill>
                      <a:srgbClr val="E7F4E8"/>
                    </a:solidFill>
                  </a:tcPr>
                </a:tc>
                <a:tc>
                  <a:txBody>
                    <a:bodyPr/>
                    <a:lstStyle/>
                    <a:p>
                      <a:r>
                        <a:rPr sz="1300" b="1">
                          <a:solidFill>
                            <a:srgbClr val="1B5697"/>
                          </a:solidFill>
                        </a:rPr>
                        <a:t>74.2%</a:t>
                      </a:r>
                    </a:p>
                  </a:txBody>
                  <a:tcPr>
                    <a:solidFill>
                      <a:srgbClr val="E7F4E8"/>
                    </a:solidFill>
                  </a:tcPr>
                </a:tc>
              </a:tr>
              <a:tr h="460000">
                <a:tc>
                  <a:txBody>
                    <a:bodyPr/>
                    <a:lstStyle/>
                    <a:p>
                      <a:r>
                        <a:rPr sz="1200" b="1">
                          <a:solidFill>
                            <a:srgbClr val="1B5697"/>
                          </a:solidFill>
                        </a:rPr>
                        <a:t>LinUCB  ← proposed</a:t>
                      </a:r>
                    </a:p>
                  </a:txBody>
                  <a:tcPr>
                    <a:solidFill>
                      <a:srgbClr val="E7F4E8"/>
                    </a:solidFill>
                  </a:tcPr>
                </a:tc>
                <a:tc>
                  <a:txBody>
                    <a:bodyPr/>
                    <a:lstStyle/>
                    <a:p>
                      <a:r>
                        <a:rPr sz="1300" b="1">
                          <a:solidFill>
                            <a:srgbClr val="1B5697"/>
                          </a:solidFill>
                        </a:rPr>
                        <a:t>$91,864</a:t>
                      </a:r>
                    </a:p>
                  </a:txBody>
                  <a:tcPr>
                    <a:solidFill>
                      <a:srgbClr val="E7F4E8"/>
                    </a:solidFill>
                  </a:tcPr>
                </a:tc>
                <a:tc>
                  <a:txBody>
                    <a:bodyPr/>
                    <a:lstStyle/>
                    <a:p>
                      <a:r>
                        <a:rPr sz="1300" b="1">
                          <a:solidFill>
                            <a:srgbClr val="1B5697"/>
                          </a:solidFill>
                        </a:rPr>
                        <a:t>[89,139, 94,702]</a:t>
                      </a:r>
                    </a:p>
                  </a:txBody>
                  <a:tcPr>
                    <a:solidFill>
                      <a:srgbClr val="E7F4E8"/>
                    </a:solidFill>
                  </a:tcPr>
                </a:tc>
                <a:tc>
                  <a:txBody>
                    <a:bodyPr/>
                    <a:lstStyle/>
                    <a:p>
                      <a:r>
                        <a:rPr sz="1300" b="1">
                          <a:solidFill>
                            <a:srgbClr val="1B5697"/>
                          </a:solidFill>
                        </a:rPr>
                        <a:t>72.7%</a:t>
                      </a:r>
                    </a:p>
                  </a:txBody>
                  <a:tcPr>
                    <a:solidFill>
                      <a:srgbClr val="E7F4E8"/>
                    </a:solidFill>
                  </a:tcPr>
                </a:tc>
              </a:tr>
              <a:tr h="460000">
                <a:tc>
                  <a:txBody>
                    <a:bodyPr/>
                    <a:lstStyle/>
                    <a:p>
                      <a:r>
                        <a:rPr sz="1200" b="0">
                          <a:solidFill>
                            <a:srgbClr val="262626"/>
                          </a:solidFill>
                        </a:rPr>
                        <a:t>Epsilon-Greedy</a:t>
                      </a:r>
                    </a:p>
                  </a:txBody>
                  <a:tcPr>
                    <a:solidFill>
                      <a:srgbClr val="FFFFFF"/>
                    </a:solidFill>
                  </a:tcPr>
                </a:tc>
                <a:tc>
                  <a:txBody>
                    <a:bodyPr/>
                    <a:lstStyle/>
                    <a:p>
                      <a:r>
                        <a:rPr sz="1300" b="0">
                          <a:solidFill>
                            <a:srgbClr val="262626"/>
                          </a:solidFill>
                        </a:rPr>
                        <a:t>$76,441</a:t>
                      </a:r>
                    </a:p>
                  </a:txBody>
                  <a:tcPr>
                    <a:solidFill>
                      <a:srgbClr val="FFFFFF"/>
                    </a:solidFill>
                  </a:tcPr>
                </a:tc>
                <a:tc>
                  <a:txBody>
                    <a:bodyPr/>
                    <a:lstStyle/>
                    <a:p>
                      <a:r>
                        <a:rPr sz="1300" b="0">
                          <a:solidFill>
                            <a:srgbClr val="262626"/>
                          </a:solidFill>
                        </a:rPr>
                        <a:t>[73,767, 79,107]</a:t>
                      </a:r>
                    </a:p>
                  </a:txBody>
                  <a:tcPr>
                    <a:solidFill>
                      <a:srgbClr val="FFFFFF"/>
                    </a:solidFill>
                  </a:tcPr>
                </a:tc>
                <a:tc>
                  <a:txBody>
                    <a:bodyPr/>
                    <a:lstStyle/>
                    <a:p>
                      <a:r>
                        <a:rPr sz="1300" b="0">
                          <a:solidFill>
                            <a:srgbClr val="262626"/>
                          </a:solidFill>
                        </a:rPr>
                        <a:t>60.5%</a:t>
                      </a:r>
                    </a:p>
                  </a:txBody>
                  <a:tcPr>
                    <a:solidFill>
                      <a:srgbClr val="FFFFFF"/>
                    </a:solidFill>
                  </a:tcPr>
                </a:tc>
              </a:tr>
              <a:tr h="460000">
                <a:tc>
                  <a:txBody>
                    <a:bodyPr/>
                    <a:lstStyle/>
                    <a:p>
                      <a:r>
                        <a:rPr sz="1200" b="0">
                          <a:solidFill>
                            <a:srgbClr val="262626"/>
                          </a:solidFill>
                        </a:rPr>
                        <a:t>Static XGB (incumbent)</a:t>
                      </a:r>
                    </a:p>
                  </a:txBody>
                  <a:tcPr>
                    <a:solidFill>
                      <a:srgbClr val="FFFFFF"/>
                    </a:solidFill>
                  </a:tcPr>
                </a:tc>
                <a:tc>
                  <a:txBody>
                    <a:bodyPr/>
                    <a:lstStyle/>
                    <a:p>
                      <a:r>
                        <a:rPr sz="1300" b="0">
                          <a:solidFill>
                            <a:srgbClr val="262626"/>
                          </a:solidFill>
                        </a:rPr>
                        <a:t>$72,206</a:t>
                      </a:r>
                    </a:p>
                  </a:txBody>
                  <a:tcPr>
                    <a:solidFill>
                      <a:srgbClr val="FFFFFF"/>
                    </a:solidFill>
                  </a:tcPr>
                </a:tc>
                <a:tc>
                  <a:txBody>
                    <a:bodyPr/>
                    <a:lstStyle/>
                    <a:p>
                      <a:r>
                        <a:rPr sz="1300" b="0">
                          <a:solidFill>
                            <a:srgbClr val="262626"/>
                          </a:solidFill>
                        </a:rPr>
                        <a:t>[70,125, 74,352]</a:t>
                      </a:r>
                    </a:p>
                  </a:txBody>
                  <a:tcPr>
                    <a:solidFill>
                      <a:srgbClr val="FFFFFF"/>
                    </a:solidFill>
                  </a:tcPr>
                </a:tc>
                <a:tc>
                  <a:txBody>
                    <a:bodyPr/>
                    <a:lstStyle/>
                    <a:p>
                      <a:r>
                        <a:rPr sz="1300" b="0">
                          <a:solidFill>
                            <a:srgbClr val="262626"/>
                          </a:solidFill>
                        </a:rPr>
                        <a:t>57.1%</a:t>
                      </a:r>
                    </a:p>
                  </a:txBody>
                  <a:tcPr>
                    <a:solidFill>
                      <a:srgbClr val="FFFFFF"/>
                    </a:solidFill>
                  </a:tcPr>
                </a:tc>
              </a:tr>
              <a:tr h="460000">
                <a:tc>
                  <a:txBody>
                    <a:bodyPr/>
                    <a:lstStyle/>
                    <a:p>
                      <a:r>
                        <a:rPr sz="1200" b="0">
                          <a:solidFill>
                            <a:srgbClr val="262626"/>
                          </a:solidFill>
                        </a:rPr>
                        <a:t>AlwaysSTANDARD</a:t>
                      </a:r>
                    </a:p>
                  </a:txBody>
                  <a:tcPr>
                    <a:solidFill>
                      <a:srgbClr val="FFFFFF"/>
                    </a:solidFill>
                  </a:tcPr>
                </a:tc>
                <a:tc>
                  <a:txBody>
                    <a:bodyPr/>
                    <a:lstStyle/>
                    <a:p>
                      <a:r>
                        <a:rPr sz="1300" b="0">
                          <a:solidFill>
                            <a:srgbClr val="262626"/>
                          </a:solidFill>
                        </a:rPr>
                        <a:t>$34,684</a:t>
                      </a:r>
                    </a:p>
                  </a:txBody>
                  <a:tcPr>
                    <a:solidFill>
                      <a:srgbClr val="FFFFFF"/>
                    </a:solidFill>
                  </a:tcPr>
                </a:tc>
                <a:tc>
                  <a:txBody>
                    <a:bodyPr/>
                    <a:lstStyle/>
                    <a:p>
                      <a:r>
                        <a:rPr sz="1300" b="0">
                          <a:solidFill>
                            <a:srgbClr val="262626"/>
                          </a:solidFill>
                        </a:rPr>
                        <a:t>[33,694, 35,871]</a:t>
                      </a:r>
                    </a:p>
                  </a:txBody>
                  <a:tcPr>
                    <a:solidFill>
                      <a:srgbClr val="FFFFFF"/>
                    </a:solidFill>
                  </a:tcPr>
                </a:tc>
                <a:tc>
                  <a:txBody>
                    <a:bodyPr/>
                    <a:lstStyle/>
                    <a:p>
                      <a:r>
                        <a:rPr sz="1300" b="0">
                          <a:solidFill>
                            <a:srgbClr val="262626"/>
                          </a:solidFill>
                        </a:rPr>
                        <a:t>27.5%</a:t>
                      </a:r>
                    </a:p>
                  </a:txBody>
                  <a:tcPr>
                    <a:solidFill>
                      <a:srgbClr val="FFFFFF"/>
                    </a:solidFill>
                  </a:tcPr>
                </a:tc>
              </a:tr>
              <a:tr h="460000">
                <a:tc>
                  <a:txBody>
                    <a:bodyPr/>
                    <a:lstStyle/>
                    <a:p>
                      <a:r>
                        <a:rPr sz="1200" b="0">
                          <a:solidFill>
                            <a:srgbClr val="262626"/>
                          </a:solidFill>
                        </a:rPr>
                        <a:t>Random</a:t>
                      </a:r>
                    </a:p>
                  </a:txBody>
                  <a:tcPr>
                    <a:solidFill>
                      <a:srgbClr val="FFFFFF"/>
                    </a:solidFill>
                  </a:tcPr>
                </a:tc>
                <a:tc>
                  <a:txBody>
                    <a:bodyPr/>
                    <a:lstStyle/>
                    <a:p>
                      <a:r>
                        <a:rPr sz="1300" b="0">
                          <a:solidFill>
                            <a:srgbClr val="262626"/>
                          </a:solidFill>
                        </a:rPr>
                        <a:t>$1,980</a:t>
                      </a:r>
                    </a:p>
                  </a:txBody>
                  <a:tcPr>
                    <a:solidFill>
                      <a:srgbClr val="FFFFFF"/>
                    </a:solidFill>
                  </a:tcPr>
                </a:tc>
                <a:tc>
                  <a:txBody>
                    <a:bodyPr/>
                    <a:lstStyle/>
                    <a:p>
                      <a:r>
                        <a:rPr sz="1300" b="0">
                          <a:solidFill>
                            <a:srgbClr val="262626"/>
                          </a:solidFill>
                        </a:rPr>
                        <a:t>[739, 3,209]</a:t>
                      </a:r>
                    </a:p>
                  </a:txBody>
                  <a:tcPr>
                    <a:solidFill>
                      <a:srgbClr val="FFFFFF"/>
                    </a:solidFill>
                  </a:tcPr>
                </a:tc>
                <a:tc>
                  <a:txBody>
                    <a:bodyPr/>
                    <a:lstStyle/>
                    <a:p>
                      <a:r>
                        <a:rPr sz="1300" b="0">
                          <a:solidFill>
                            <a:srgbClr val="262626"/>
                          </a:solidFill>
                        </a:rPr>
                        <a:t>1.6%</a:t>
                      </a:r>
                    </a:p>
                  </a:txBody>
                  <a:tcPr>
                    <a:solidFill>
                      <a:srgbClr val="FFFFFF"/>
                    </a:solidFill>
                  </a:tcPr>
                </a:tc>
              </a:tr>
            </a:tbl>
          </a:graphicData>
        </a:graphic>
      </p:graphicFrame>
      <p:sp>
        <p:nvSpPr>
          <p:cNvPr id="6" name="TextBox 5"/>
          <p:cNvSpPr txBox="1"/>
          <p:nvPr/>
        </p:nvSpPr>
        <p:spPr>
          <a:xfrm>
            <a:off x="457200" y="5780000"/>
            <a:ext cx="11277295" cy="350000"/>
          </a:xfrm>
          <a:prstGeom prst="rect">
            <a:avLst/>
          </a:prstGeom>
          <a:noFill/>
        </p:spPr>
        <p:txBody>
          <a:bodyPr wrap="square">
            <a:spAutoFit/>
          </a:bodyPr>
          <a:lstStyle/>
          <a:p>
            <a:pPr algn="l">
              <a:spcBef>
                <a:spcPts val="0"/>
              </a:spcBef>
              <a:spcAft>
                <a:spcPts val="0"/>
              </a:spcAft>
            </a:pPr>
            <a:r>
              <a:rPr sz="1200" b="0" i="1">
                <a:solidFill>
                  <a:srgbClr val="505050"/>
                </a:solidFill>
                <a:latin typeface="Calibri"/>
              </a:rPr>
              <a:t>‡ LogisticOracle: fit in-sample — not deployable. Oracle: full-information upper bound. AlwaysRATED is commercially &amp; regulatorily inadmissible. Bandits lead every admissible alternative.</a:t>
            </a:r>
          </a:p>
        </p:txBody>
      </p:sp>
      <p:sp>
        <p:nvSpPr>
          <p:cNvPr id="7" name="Rectangle 6"/>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9" name="Rectangle 8"/>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11" name="Rectangle 10"/>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27 / 34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A2: NUMBER RECONCILIATION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80000"/>
            <a:ext cx="11277295" cy="14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80000"/>
            <a:ext cx="91440" cy="14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60000"/>
            <a:ext cx="1550000" cy="1380000"/>
          </a:xfrm>
          <a:prstGeom prst="rect">
            <a:avLst/>
          </a:prstGeom>
          <a:noFill/>
        </p:spPr>
        <p:txBody>
          <a:bodyPr wrap="none" anchor="ctr">
            <a:spAutoFit/>
          </a:bodyPr>
          <a:lstStyle/>
          <a:p>
            <a:pPr algn="ctr">
              <a:spcBef>
                <a:spcPts val="0"/>
              </a:spcBef>
              <a:spcAft>
                <a:spcPts val="0"/>
              </a:spcAft>
            </a:pPr>
            <a:r>
              <a:rPr sz="3200" b="1" i="0">
                <a:solidFill>
                  <a:srgbClr val="1B5697"/>
                </a:solidFill>
                <a:latin typeface="Calibri"/>
              </a:rPr>
              <a:t>+25.2%</a:t>
            </a:r>
          </a:p>
        </p:txBody>
      </p:sp>
      <p:sp>
        <p:nvSpPr>
          <p:cNvPr id="8" name="TextBox 7"/>
          <p:cNvSpPr txBox="1"/>
          <p:nvPr/>
        </p:nvSpPr>
        <p:spPr>
          <a:xfrm>
            <a:off x="2307200" y="1260000"/>
            <a:ext cx="9327295"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EXP-005: LinUCB vs Static XGB (primary pre-registered result)</a:t>
            </a:r>
          </a:p>
        </p:txBody>
      </p:sp>
      <p:sp>
        <p:nvSpPr>
          <p:cNvPr id="9" name="TextBox 8"/>
          <p:cNvSpPr txBox="1"/>
          <p:nvPr/>
        </p:nvSpPr>
        <p:spPr>
          <a:xfrm>
            <a:off x="2307200" y="1680000"/>
            <a:ext cx="9327295" cy="9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LinUCB mean $90,540 vs Static XGB mean $72,292</a:t>
            </a:r>
          </a:p>
          <a:p>
            <a:pPr algn="l">
              <a:spcBef>
                <a:spcPts val="500"/>
              </a:spcBef>
            </a:pPr>
            <a:r>
              <a:rPr sz="1300" b="0" i="0">
                <a:solidFill>
                  <a:srgbClr val="505050"/>
                </a:solidFill>
                <a:latin typeface="Calibri"/>
              </a:rPr>
              <a:t>Paired Wilcoxon p &lt; 0.001, Cohen's d = 2.98, 20 seeds</a:t>
            </a:r>
          </a:p>
          <a:p>
            <a:pPr algn="l">
              <a:spcBef>
                <a:spcPts val="500"/>
              </a:spcBef>
            </a:pPr>
            <a:r>
              <a:rPr sz="1300" b="0" i="0">
                <a:solidFill>
                  <a:srgbClr val="505050"/>
                </a:solidFill>
                <a:latin typeface="Calibri"/>
              </a:rPr>
              <a:t>This is the headline figure cited throughout the thesis</a:t>
            </a:r>
          </a:p>
        </p:txBody>
      </p:sp>
      <p:sp>
        <p:nvSpPr>
          <p:cNvPr id="10" name="Rectangle 9"/>
          <p:cNvSpPr/>
          <p:nvPr/>
        </p:nvSpPr>
        <p:spPr>
          <a:xfrm>
            <a:off x="457200" y="2810000"/>
            <a:ext cx="11277295" cy="14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810000"/>
            <a:ext cx="91440" cy="14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200" y="2890000"/>
            <a:ext cx="1550000" cy="1380000"/>
          </a:xfrm>
          <a:prstGeom prst="rect">
            <a:avLst/>
          </a:prstGeom>
          <a:noFill/>
        </p:spPr>
        <p:txBody>
          <a:bodyPr wrap="none" anchor="ctr">
            <a:spAutoFit/>
          </a:bodyPr>
          <a:lstStyle/>
          <a:p>
            <a:pPr algn="ctr">
              <a:spcBef>
                <a:spcPts val="0"/>
              </a:spcBef>
              <a:spcAft>
                <a:spcPts val="0"/>
              </a:spcAft>
            </a:pPr>
            <a:r>
              <a:rPr sz="3200" b="1" i="0">
                <a:solidFill>
                  <a:srgbClr val="1B5697"/>
                </a:solidFill>
                <a:latin typeface="Calibri"/>
              </a:rPr>
              <a:t>+29.8%</a:t>
            </a:r>
          </a:p>
        </p:txBody>
      </p:sp>
      <p:sp>
        <p:nvSpPr>
          <p:cNvPr id="13" name="TextBox 12"/>
          <p:cNvSpPr txBox="1"/>
          <p:nvPr/>
        </p:nvSpPr>
        <p:spPr>
          <a:xfrm>
            <a:off x="2307200" y="2890000"/>
            <a:ext cx="9327295"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EXP-007: LinTS vs Static XGB (CRN benchmark harness)</a:t>
            </a:r>
          </a:p>
        </p:txBody>
      </p:sp>
      <p:sp>
        <p:nvSpPr>
          <p:cNvPr id="14" name="TextBox 13"/>
          <p:cNvSpPr txBox="1"/>
          <p:nvPr/>
        </p:nvSpPr>
        <p:spPr>
          <a:xfrm>
            <a:off x="2307200" y="3310000"/>
            <a:ext cx="9327295" cy="9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LinTS mean $93,723 vs Static XGB mean $72,206</a:t>
            </a:r>
          </a:p>
          <a:p>
            <a:pPr algn="l">
              <a:spcBef>
                <a:spcPts val="500"/>
              </a:spcBef>
            </a:pPr>
            <a:r>
              <a:rPr sz="1300" b="0" i="0">
                <a:solidFill>
                  <a:srgbClr val="505050"/>
                </a:solidFill>
                <a:latin typeface="Calibri"/>
              </a:rPr>
              <a:t>Different harness (common random numbers) — not the pre-registered test</a:t>
            </a:r>
          </a:p>
          <a:p>
            <a:pPr algn="l">
              <a:spcBef>
                <a:spcPts val="500"/>
              </a:spcBef>
            </a:pPr>
            <a:r>
              <a:rPr sz="1300" b="0" i="0">
                <a:solidFill>
                  <a:srgbClr val="505050"/>
                </a:solidFill>
                <a:latin typeface="Calibri"/>
              </a:rPr>
              <a:t>Reported for completeness; primary comparison is EXP-005</a:t>
            </a:r>
          </a:p>
        </p:txBody>
      </p:sp>
      <p:sp>
        <p:nvSpPr>
          <p:cNvPr id="15" name="Rectangle 14"/>
          <p:cNvSpPr/>
          <p:nvPr/>
        </p:nvSpPr>
        <p:spPr>
          <a:xfrm>
            <a:off x="457200" y="4440000"/>
            <a:ext cx="11277295" cy="14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4440000"/>
            <a:ext cx="91440" cy="14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4520000"/>
            <a:ext cx="1550000" cy="1380000"/>
          </a:xfrm>
          <a:prstGeom prst="rect">
            <a:avLst/>
          </a:prstGeom>
          <a:noFill/>
        </p:spPr>
        <p:txBody>
          <a:bodyPr wrap="none" anchor="ctr">
            <a:spAutoFit/>
          </a:bodyPr>
          <a:lstStyle/>
          <a:p>
            <a:pPr algn="ctr">
              <a:spcBef>
                <a:spcPts val="0"/>
              </a:spcBef>
              <a:spcAft>
                <a:spcPts val="0"/>
              </a:spcAft>
            </a:pPr>
            <a:r>
              <a:rPr sz="3200" b="1" i="0">
                <a:solidFill>
                  <a:srgbClr val="1B5697"/>
                </a:solidFill>
                <a:latin typeface="Calibri"/>
              </a:rPr>
              <a:t>+14.8%</a:t>
            </a:r>
          </a:p>
        </p:txBody>
      </p:sp>
      <p:sp>
        <p:nvSpPr>
          <p:cNvPr id="18" name="TextBox 17"/>
          <p:cNvSpPr txBox="1"/>
          <p:nvPr/>
        </p:nvSpPr>
        <p:spPr>
          <a:xfrm>
            <a:off x="2307200" y="4520000"/>
            <a:ext cx="9327295"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EXP-008: HITL reward vs vanilla bandit (20 seeds)</a:t>
            </a:r>
          </a:p>
        </p:txBody>
      </p:sp>
      <p:sp>
        <p:nvSpPr>
          <p:cNvPr id="19" name="TextBox 18"/>
          <p:cNvSpPr txBox="1"/>
          <p:nvPr/>
        </p:nvSpPr>
        <p:spPr>
          <a:xfrm>
            <a:off x="2307200" y="4940000"/>
            <a:ext cx="9327295" cy="9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HITL $103,951 vs vanilla bandit $90,540, p &lt; 0.001, d = 2.65</a:t>
            </a:r>
          </a:p>
          <a:p>
            <a:pPr algn="l">
              <a:spcBef>
                <a:spcPts val="500"/>
              </a:spcBef>
            </a:pPr>
            <a:r>
              <a:rPr sz="1300" b="0" i="0">
                <a:solidFill>
                  <a:srgbClr val="505050"/>
                </a:solidFill>
                <a:latin typeface="Calibri"/>
              </a:rPr>
              <a:t>Baseline is the vanilla bandit (NOT Static XGB or AlwaysRATED)</a:t>
            </a:r>
          </a:p>
          <a:p>
            <a:pPr algn="l">
              <a:spcBef>
                <a:spcPts val="500"/>
              </a:spcBef>
            </a:pPr>
            <a:r>
              <a:rPr sz="1300" b="0" i="0">
                <a:solidFill>
                  <a:srgbClr val="505050"/>
                </a:solidFill>
                <a:latin typeface="Calibri"/>
              </a:rPr>
              <a:t>At the single illustrative seed 42 this reads +6.5% ($102,100 vs $95,872)</a:t>
            </a:r>
          </a:p>
        </p:txBody>
      </p:sp>
      <p:sp>
        <p:nvSpPr>
          <p:cNvPr id="20" name="Rectangle 19"/>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2" name="Rectangle 21"/>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24" name="Rectangle 23"/>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28 / 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A3: ALL 6 FAIRNESS CRITERIA (EXP-006)</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8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8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7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1: PSI Region ≤ 0.25</a:t>
            </a:r>
          </a:p>
        </p:txBody>
      </p:sp>
      <p:sp>
        <p:nvSpPr>
          <p:cNvPr id="8" name="TextBox 7"/>
          <p:cNvSpPr txBox="1"/>
          <p:nvPr/>
        </p:nvSpPr>
        <p:spPr>
          <a:xfrm>
            <a:off x="607200" y="154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PSI = 0.082</a:t>
            </a:r>
          </a:p>
        </p:txBody>
      </p:sp>
      <p:sp>
        <p:nvSpPr>
          <p:cNvPr id="9" name="TextBox 8"/>
          <p:cNvSpPr txBox="1"/>
          <p:nvPr/>
        </p:nvSpPr>
        <p:spPr>
          <a:xfrm>
            <a:off x="607200" y="181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2E8B57"/>
                </a:solidFill>
                <a:latin typeface="Calibri"/>
              </a:rPr>
              <a:t>GREEN</a:t>
            </a:r>
          </a:p>
        </p:txBody>
      </p:sp>
      <p:sp>
        <p:nvSpPr>
          <p:cNvPr id="10" name="Rectangle 9"/>
          <p:cNvSpPr/>
          <p:nvPr/>
        </p:nvSpPr>
        <p:spPr>
          <a:xfrm>
            <a:off x="6245847" y="1200000"/>
            <a:ext cx="5488647" cy="88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847" y="1200000"/>
            <a:ext cx="91440" cy="88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5847" y="127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2: PSI Occupation ≤ 0.25</a:t>
            </a:r>
          </a:p>
        </p:txBody>
      </p:sp>
      <p:sp>
        <p:nvSpPr>
          <p:cNvPr id="13" name="TextBox 12"/>
          <p:cNvSpPr txBox="1"/>
          <p:nvPr/>
        </p:nvSpPr>
        <p:spPr>
          <a:xfrm>
            <a:off x="6395847" y="154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PSI = 0.123</a:t>
            </a:r>
          </a:p>
        </p:txBody>
      </p:sp>
      <p:sp>
        <p:nvSpPr>
          <p:cNvPr id="14" name="TextBox 13"/>
          <p:cNvSpPr txBox="1"/>
          <p:nvPr/>
        </p:nvSpPr>
        <p:spPr>
          <a:xfrm>
            <a:off x="6395847" y="181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E6A62E"/>
                </a:solidFill>
                <a:latin typeface="Calibri"/>
              </a:rPr>
              <a:t>AMBER</a:t>
            </a:r>
          </a:p>
        </p:txBody>
      </p:sp>
      <p:sp>
        <p:nvSpPr>
          <p:cNvPr id="15" name="Rectangle 14"/>
          <p:cNvSpPr/>
          <p:nvPr/>
        </p:nvSpPr>
        <p:spPr>
          <a:xfrm>
            <a:off x="457200" y="2180000"/>
            <a:ext cx="5488647" cy="8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180000"/>
            <a:ext cx="91440" cy="8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225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3: EEOC 4/5 rule — Region</a:t>
            </a:r>
          </a:p>
        </p:txBody>
      </p:sp>
      <p:sp>
        <p:nvSpPr>
          <p:cNvPr id="18" name="TextBox 17"/>
          <p:cNvSpPr txBox="1"/>
          <p:nvPr/>
        </p:nvSpPr>
        <p:spPr>
          <a:xfrm>
            <a:off x="607200" y="252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85.72% ≥ 80%</a:t>
            </a:r>
          </a:p>
        </p:txBody>
      </p:sp>
      <p:sp>
        <p:nvSpPr>
          <p:cNvPr id="19" name="TextBox 18"/>
          <p:cNvSpPr txBox="1"/>
          <p:nvPr/>
        </p:nvSpPr>
        <p:spPr>
          <a:xfrm>
            <a:off x="607200" y="279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2E8B57"/>
                </a:solidFill>
                <a:latin typeface="Calibri"/>
              </a:rPr>
              <a:t>PASS</a:t>
            </a:r>
          </a:p>
        </p:txBody>
      </p:sp>
      <p:sp>
        <p:nvSpPr>
          <p:cNvPr id="20" name="Rectangle 19"/>
          <p:cNvSpPr/>
          <p:nvPr/>
        </p:nvSpPr>
        <p:spPr>
          <a:xfrm>
            <a:off x="6245847" y="2180000"/>
            <a:ext cx="5488647" cy="8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2180000"/>
            <a:ext cx="91440" cy="8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5847" y="225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4: EEOC 4/5 rule — Occupation</a:t>
            </a:r>
          </a:p>
        </p:txBody>
      </p:sp>
      <p:sp>
        <p:nvSpPr>
          <p:cNvPr id="23" name="TextBox 22"/>
          <p:cNvSpPr txBox="1"/>
          <p:nvPr/>
        </p:nvSpPr>
        <p:spPr>
          <a:xfrm>
            <a:off x="6395847" y="252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90.12% ≥ 80%</a:t>
            </a:r>
          </a:p>
        </p:txBody>
      </p:sp>
      <p:sp>
        <p:nvSpPr>
          <p:cNvPr id="24" name="TextBox 23"/>
          <p:cNvSpPr txBox="1"/>
          <p:nvPr/>
        </p:nvSpPr>
        <p:spPr>
          <a:xfrm>
            <a:off x="6395847" y="279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2E8B57"/>
                </a:solidFill>
                <a:latin typeface="Calibri"/>
              </a:rPr>
              <a:t>PASS</a:t>
            </a:r>
          </a:p>
        </p:txBody>
      </p:sp>
      <p:sp>
        <p:nvSpPr>
          <p:cNvPr id="25" name="Rectangle 24"/>
          <p:cNvSpPr/>
          <p:nvPr/>
        </p:nvSpPr>
        <p:spPr>
          <a:xfrm>
            <a:off x="457200" y="3160000"/>
            <a:ext cx="5488647" cy="8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3160000"/>
            <a:ext cx="91440" cy="8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7200" y="323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5: Permutation test — Region</a:t>
            </a:r>
          </a:p>
        </p:txBody>
      </p:sp>
      <p:sp>
        <p:nvSpPr>
          <p:cNvPr id="28" name="TextBox 27"/>
          <p:cNvSpPr txBox="1"/>
          <p:nvPr/>
        </p:nvSpPr>
        <p:spPr>
          <a:xfrm>
            <a:off x="607200" y="350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p = 0.132</a:t>
            </a:r>
          </a:p>
        </p:txBody>
      </p:sp>
      <p:sp>
        <p:nvSpPr>
          <p:cNvPr id="29" name="TextBox 28"/>
          <p:cNvSpPr txBox="1"/>
          <p:nvPr/>
        </p:nvSpPr>
        <p:spPr>
          <a:xfrm>
            <a:off x="607200" y="377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2E8B57"/>
                </a:solidFill>
                <a:latin typeface="Calibri"/>
              </a:rPr>
              <a:t>PASS</a:t>
            </a:r>
          </a:p>
        </p:txBody>
      </p:sp>
      <p:sp>
        <p:nvSpPr>
          <p:cNvPr id="30" name="Rectangle 29"/>
          <p:cNvSpPr/>
          <p:nvPr/>
        </p:nvSpPr>
        <p:spPr>
          <a:xfrm>
            <a:off x="6245847" y="3160000"/>
            <a:ext cx="5488647" cy="88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5847" y="3160000"/>
            <a:ext cx="91440" cy="88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95847" y="323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6: Permutation test — Occupation</a:t>
            </a:r>
          </a:p>
        </p:txBody>
      </p:sp>
      <p:sp>
        <p:nvSpPr>
          <p:cNvPr id="33" name="TextBox 32"/>
          <p:cNvSpPr txBox="1"/>
          <p:nvPr/>
        </p:nvSpPr>
        <p:spPr>
          <a:xfrm>
            <a:off x="6395847" y="350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p &lt; 0.001</a:t>
            </a:r>
          </a:p>
        </p:txBody>
      </p:sp>
      <p:sp>
        <p:nvSpPr>
          <p:cNvPr id="34" name="TextBox 33"/>
          <p:cNvSpPr txBox="1"/>
          <p:nvPr/>
        </p:nvSpPr>
        <p:spPr>
          <a:xfrm>
            <a:off x="6395847" y="377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E6A62E"/>
                </a:solidFill>
                <a:latin typeface="Calibri"/>
              </a:rPr>
              <a:t>FAILED-with-interpretation</a:t>
            </a:r>
          </a:p>
        </p:txBody>
      </p:sp>
      <p:sp>
        <p:nvSpPr>
          <p:cNvPr id="35" name="TextBox 34"/>
          <p:cNvSpPr txBox="1"/>
          <p:nvPr/>
        </p:nvSpPr>
        <p:spPr>
          <a:xfrm>
            <a:off x="457200" y="4190000"/>
            <a:ext cx="11277295" cy="45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Criterion 6: a statistically significant occupation disparity under the permutation test. But PSI = 0.123 (AMBER, monitor only) and parity 90.12% ≥ 80% — reported FAILED in the interest of honesty, not a hard stop.</a:t>
            </a:r>
          </a:p>
        </p:txBody>
      </p:sp>
      <p:sp>
        <p:nvSpPr>
          <p:cNvPr id="36" name="Rectangle 3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8" name="Rectangle 3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40" name="Rectangle 3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29 / 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A4: MATHEMATICAL DETAILS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48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4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LinUCB UPDATE RULE</a:t>
            </a:r>
          </a:p>
        </p:txBody>
      </p:sp>
      <p:sp>
        <p:nvSpPr>
          <p:cNvPr id="8" name="TextBox 7"/>
          <p:cNvSpPr txBox="1"/>
          <p:nvPr/>
        </p:nvSpPr>
        <p:spPr>
          <a:xfrm>
            <a:off x="607200" y="1720000"/>
            <a:ext cx="5288647" cy="41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Design matrix:  A ← A + xₜ xₜᵀ</a:t>
            </a:r>
          </a:p>
          <a:p>
            <a:pPr algn="l">
              <a:spcBef>
                <a:spcPts val="600"/>
              </a:spcBef>
            </a:pPr>
            <a:r>
              <a:rPr sz="1300" b="0" i="0">
                <a:solidFill>
                  <a:srgbClr val="262626"/>
                </a:solidFill>
                <a:latin typeface="Calibri"/>
              </a:rPr>
              <a:t>Reward vector:  b ← b + rₜ xₜ</a:t>
            </a:r>
          </a:p>
          <a:p>
            <a:pPr algn="l">
              <a:spcBef>
                <a:spcPts val="600"/>
              </a:spcBef>
            </a:pPr>
            <a:r>
              <a:rPr sz="1300" b="0" i="0">
                <a:solidFill>
                  <a:srgbClr val="262626"/>
                </a:solidFill>
                <a:latin typeface="Calibri"/>
              </a:rPr>
              <a:t>Ridge estimate: θ̂ = A⁻¹ b</a:t>
            </a:r>
          </a:p>
          <a:p>
            <a:pPr algn="l">
              <a:spcBef>
                <a:spcPts val="600"/>
              </a:spcBef>
            </a:pPr>
            <a:r>
              <a:rPr sz="1300" b="0" i="0">
                <a:solidFill>
                  <a:srgbClr val="262626"/>
                </a:solidFill>
                <a:latin typeface="Calibri"/>
              </a:rPr>
              <a:t/>
            </a:r>
          </a:p>
          <a:p>
            <a:pPr algn="l">
              <a:spcBef>
                <a:spcPts val="600"/>
              </a:spcBef>
            </a:pPr>
            <a:r>
              <a:rPr sz="1300" b="0" i="0">
                <a:solidFill>
                  <a:srgbClr val="262626"/>
                </a:solidFill>
                <a:latin typeface="Calibri"/>
              </a:rPr>
              <a:t>UCB score:</a:t>
            </a:r>
          </a:p>
          <a:p>
            <a:pPr algn="l">
              <a:spcBef>
                <a:spcPts val="600"/>
              </a:spcBef>
            </a:pPr>
            <a:r>
              <a:rPr sz="1300" b="0" i="0">
                <a:solidFill>
                  <a:srgbClr val="262626"/>
                </a:solidFill>
                <a:latin typeface="Calibri"/>
              </a:rPr>
              <a:t>  p(x) = θ̂ᵀ x + α √(xᵀ A⁻¹ x)</a:t>
            </a:r>
          </a:p>
          <a:p>
            <a:pPr algn="l">
              <a:spcBef>
                <a:spcPts val="600"/>
              </a:spcBef>
            </a:pPr>
            <a:r>
              <a:rPr sz="1300" b="0" i="0">
                <a:solidFill>
                  <a:srgbClr val="262626"/>
                </a:solidFill>
                <a:latin typeface="Calibri"/>
              </a:rPr>
              <a:t/>
            </a:r>
          </a:p>
          <a:p>
            <a:pPr algn="l">
              <a:spcBef>
                <a:spcPts val="600"/>
              </a:spcBef>
            </a:pPr>
            <a:r>
              <a:rPr sz="1300" b="0" i="0">
                <a:solidFill>
                  <a:srgbClr val="262626"/>
                </a:solidFill>
                <a:latin typeface="Calibri"/>
              </a:rPr>
              <a:t>PSI formula:</a:t>
            </a:r>
          </a:p>
          <a:p>
            <a:pPr algn="l">
              <a:spcBef>
                <a:spcPts val="600"/>
              </a:spcBef>
            </a:pPr>
            <a:r>
              <a:rPr sz="1300" b="0" i="0">
                <a:solidFill>
                  <a:srgbClr val="262626"/>
                </a:solidFill>
                <a:latin typeface="Calibri"/>
              </a:rPr>
              <a:t>  PSI = Σ (Pₙₑw − Pₒₗd) × ln(Pₙₑw / Pₒₗd)</a:t>
            </a:r>
          </a:p>
          <a:p>
            <a:pPr algn="l">
              <a:spcBef>
                <a:spcPts val="600"/>
              </a:spcBef>
            </a:pPr>
            <a:r>
              <a:rPr sz="1300" b="0" i="0">
                <a:solidFill>
                  <a:srgbClr val="262626"/>
                </a:solidFill>
                <a:latin typeface="Calibri"/>
              </a:rPr>
              <a:t/>
            </a:r>
          </a:p>
          <a:p>
            <a:pPr algn="l">
              <a:spcBef>
                <a:spcPts val="600"/>
              </a:spcBef>
            </a:pPr>
            <a:r>
              <a:rPr sz="1300" b="0" i="0">
                <a:solidFill>
                  <a:srgbClr val="262626"/>
                </a:solidFill>
                <a:latin typeface="Calibri"/>
              </a:rPr>
              <a:t>HITL dual-update:</a:t>
            </a:r>
          </a:p>
          <a:p>
            <a:pPr algn="l">
              <a:spcBef>
                <a:spcPts val="600"/>
              </a:spcBef>
            </a:pPr>
            <a:r>
              <a:rPr sz="1300" b="0" i="0">
                <a:solidFill>
                  <a:srgbClr val="262626"/>
                </a:solidFill>
                <a:latin typeface="Calibri"/>
              </a:rPr>
              <a:t>  If human overrides → update on human label</a:t>
            </a:r>
          </a:p>
          <a:p>
            <a:pPr algn="l">
              <a:spcBef>
                <a:spcPts val="600"/>
              </a:spcBef>
            </a:pPr>
            <a:r>
              <a:rPr sz="1300" b="0" i="0">
                <a:solidFill>
                  <a:srgbClr val="262626"/>
                </a:solidFill>
                <a:latin typeface="Calibri"/>
              </a:rPr>
              <a:t>  Else update on bandit label</a:t>
            </a:r>
          </a:p>
        </p:txBody>
      </p:sp>
      <p:sp>
        <p:nvSpPr>
          <p:cNvPr id="9" name="Rectangle 8"/>
          <p:cNvSpPr/>
          <p:nvPr/>
        </p:nvSpPr>
        <p:spPr>
          <a:xfrm>
            <a:off x="6245847" y="1200000"/>
            <a:ext cx="5488647" cy="48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200000"/>
            <a:ext cx="91440" cy="4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KEY HYPERPARAMETERS</a:t>
            </a:r>
          </a:p>
        </p:txBody>
      </p:sp>
      <p:graphicFrame>
        <p:nvGraphicFramePr>
          <p:cNvPr id="12" name="Table 11"/>
          <p:cNvGraphicFramePr>
            <a:graphicFrameLocks noGrp="1"/>
          </p:cNvGraphicFramePr>
          <p:nvPr/>
        </p:nvGraphicFramePr>
        <p:xfrm>
          <a:off x="6395847" y="1750000"/>
          <a:ext cx="5288647" cy="4100000"/>
        </p:xfrm>
        <a:graphic>
          <a:graphicData uri="http://schemas.openxmlformats.org/drawingml/2006/table">
            <a:tbl>
              <a:tblPr firstRow="1" bandRow="1">
                <a:tableStyleId>{5C22544A-7EE6-4342-B048-85BDC9FD1C3A}</a:tableStyleId>
              </a:tblPr>
              <a:tblGrid>
                <a:gridCol w="2644323"/>
                <a:gridCol w="2644324"/>
              </a:tblGrid>
              <a:tr h="410000">
                <a:tc>
                  <a:txBody>
                    <a:bodyPr/>
                    <a:lstStyle/>
                    <a:p>
                      <a:r>
                        <a:rPr b="1" sz="1300">
                          <a:solidFill>
                            <a:srgbClr val="FFFFFF"/>
                          </a:solidFill>
                        </a:rPr>
                        <a:t>Parameter</a:t>
                      </a:r>
                    </a:p>
                  </a:txBody>
                  <a:tcPr>
                    <a:solidFill>
                      <a:srgbClr val="1B5697"/>
                    </a:solidFill>
                  </a:tcPr>
                </a:tc>
                <a:tc>
                  <a:txBody>
                    <a:bodyPr/>
                    <a:lstStyle/>
                    <a:p>
                      <a:r>
                        <a:rPr b="1" sz="1300">
                          <a:solidFill>
                            <a:srgbClr val="FFFFFF"/>
                          </a:solidFill>
                        </a:rPr>
                        <a:t>Value</a:t>
                      </a:r>
                    </a:p>
                  </a:txBody>
                  <a:tcPr>
                    <a:solidFill>
                      <a:srgbClr val="1B5697"/>
                    </a:solidFill>
                  </a:tcPr>
                </a:tc>
              </a:tr>
              <a:tr h="410000">
                <a:tc>
                  <a:txBody>
                    <a:bodyPr/>
                    <a:lstStyle/>
                    <a:p>
                      <a:r>
                        <a:rPr sz="1200">
                          <a:solidFill>
                            <a:srgbClr val="262626"/>
                          </a:solidFill>
                        </a:rPr>
                        <a:t>LinUCB α</a:t>
                      </a:r>
                    </a:p>
                  </a:txBody>
                  <a:tcPr>
                    <a:solidFill>
                      <a:srgbClr val="F3F6FB"/>
                    </a:solidFill>
                  </a:tcPr>
                </a:tc>
                <a:tc>
                  <a:txBody>
                    <a:bodyPr/>
                    <a:lstStyle/>
                    <a:p>
                      <a:r>
                        <a:rPr sz="1200">
                          <a:solidFill>
                            <a:srgbClr val="262626"/>
                          </a:solidFill>
                        </a:rPr>
                        <a:t>1.0</a:t>
                      </a:r>
                    </a:p>
                  </a:txBody>
                  <a:tcPr>
                    <a:solidFill>
                      <a:srgbClr val="F3F6FB"/>
                    </a:solidFill>
                  </a:tcPr>
                </a:tc>
              </a:tr>
              <a:tr h="410000">
                <a:tc>
                  <a:txBody>
                    <a:bodyPr/>
                    <a:lstStyle/>
                    <a:p>
                      <a:r>
                        <a:rPr sz="1200">
                          <a:solidFill>
                            <a:srgbClr val="262626"/>
                          </a:solidFill>
                        </a:rPr>
                        <a:t>LinTS v²</a:t>
                      </a:r>
                    </a:p>
                  </a:txBody>
                  <a:tcPr>
                    <a:solidFill>
                      <a:srgbClr val="FFFFFF"/>
                    </a:solidFill>
                  </a:tcPr>
                </a:tc>
                <a:tc>
                  <a:txBody>
                    <a:bodyPr/>
                    <a:lstStyle/>
                    <a:p>
                      <a:r>
                        <a:rPr sz="1200">
                          <a:solidFill>
                            <a:srgbClr val="262626"/>
                          </a:solidFill>
                        </a:rPr>
                        <a:t>1.0</a:t>
                      </a:r>
                    </a:p>
                  </a:txBody>
                  <a:tcPr>
                    <a:solidFill>
                      <a:srgbClr val="FFFFFF"/>
                    </a:solidFill>
                  </a:tcPr>
                </a:tc>
              </a:tr>
              <a:tr h="410000">
                <a:tc>
                  <a:txBody>
                    <a:bodyPr/>
                    <a:lstStyle/>
                    <a:p>
                      <a:r>
                        <a:rPr sz="1200">
                          <a:solidFill>
                            <a:srgbClr val="262626"/>
                          </a:solidFill>
                        </a:rPr>
                        <a:t>Ridge λ</a:t>
                      </a:r>
                    </a:p>
                  </a:txBody>
                  <a:tcPr>
                    <a:solidFill>
                      <a:srgbClr val="F3F6FB"/>
                    </a:solidFill>
                  </a:tcPr>
                </a:tc>
                <a:tc>
                  <a:txBody>
                    <a:bodyPr/>
                    <a:lstStyle/>
                    <a:p>
                      <a:r>
                        <a:rPr sz="1200">
                          <a:solidFill>
                            <a:srgbClr val="262626"/>
                          </a:solidFill>
                        </a:rPr>
                        <a:t>1.0</a:t>
                      </a:r>
                    </a:p>
                  </a:txBody>
                  <a:tcPr>
                    <a:solidFill>
                      <a:srgbClr val="F3F6FB"/>
                    </a:solidFill>
                  </a:tcPr>
                </a:tc>
              </a:tr>
              <a:tr h="410000">
                <a:tc>
                  <a:txBody>
                    <a:bodyPr/>
                    <a:lstStyle/>
                    <a:p>
                      <a:r>
                        <a:rPr sz="1200">
                          <a:solidFill>
                            <a:srgbClr val="262626"/>
                          </a:solidFill>
                        </a:rPr>
                        <a:t>Horizon T</a:t>
                      </a:r>
                    </a:p>
                  </a:txBody>
                  <a:tcPr>
                    <a:solidFill>
                      <a:srgbClr val="FFFFFF"/>
                    </a:solidFill>
                  </a:tcPr>
                </a:tc>
                <a:tc>
                  <a:txBody>
                    <a:bodyPr/>
                    <a:lstStyle/>
                    <a:p>
                      <a:r>
                        <a:rPr sz="1200">
                          <a:solidFill>
                            <a:srgbClr val="262626"/>
                          </a:solidFill>
                        </a:rPr>
                        <a:t>5,000</a:t>
                      </a:r>
                    </a:p>
                  </a:txBody>
                  <a:tcPr>
                    <a:solidFill>
                      <a:srgbClr val="FFFFFF"/>
                    </a:solidFill>
                  </a:tcPr>
                </a:tc>
              </a:tr>
              <a:tr h="410000">
                <a:tc>
                  <a:txBody>
                    <a:bodyPr/>
                    <a:lstStyle/>
                    <a:p>
                      <a:r>
                        <a:rPr sz="1200">
                          <a:solidFill>
                            <a:srgbClr val="262626"/>
                          </a:solidFill>
                        </a:rPr>
                        <a:t>Seeds</a:t>
                      </a:r>
                    </a:p>
                  </a:txBody>
                  <a:tcPr>
                    <a:solidFill>
                      <a:srgbClr val="F3F6FB"/>
                    </a:solidFill>
                  </a:tcPr>
                </a:tc>
                <a:tc>
                  <a:txBody>
                    <a:bodyPr/>
                    <a:lstStyle/>
                    <a:p>
                      <a:r>
                        <a:rPr sz="1200">
                          <a:solidFill>
                            <a:srgbClr val="262626"/>
                          </a:solidFill>
                        </a:rPr>
                        <a:t>20</a:t>
                      </a:r>
                    </a:p>
                  </a:txBody>
                  <a:tcPr>
                    <a:solidFill>
                      <a:srgbClr val="F3F6FB"/>
                    </a:solidFill>
                  </a:tcPr>
                </a:tc>
              </a:tr>
              <a:tr h="410000">
                <a:tc>
                  <a:txBody>
                    <a:bodyPr/>
                    <a:lstStyle/>
                    <a:p>
                      <a:r>
                        <a:rPr sz="1200">
                          <a:solidFill>
                            <a:srgbClr val="262626"/>
                          </a:solidFill>
                        </a:rPr>
                        <a:t>HITL threshold κ</a:t>
                      </a:r>
                    </a:p>
                  </a:txBody>
                  <a:tcPr>
                    <a:solidFill>
                      <a:srgbClr val="FFFFFF"/>
                    </a:solidFill>
                  </a:tcPr>
                </a:tc>
                <a:tc>
                  <a:txBody>
                    <a:bodyPr/>
                    <a:lstStyle/>
                    <a:p>
                      <a:r>
                        <a:rPr sz="1200">
                          <a:solidFill>
                            <a:srgbClr val="262626"/>
                          </a:solidFill>
                        </a:rPr>
                        <a:t>0.7</a:t>
                      </a:r>
                    </a:p>
                  </a:txBody>
                  <a:tcPr>
                    <a:solidFill>
                      <a:srgbClr val="FFFFFF"/>
                    </a:solidFill>
                  </a:tcPr>
                </a:tc>
              </a:tr>
              <a:tr h="410000">
                <a:tc>
                  <a:txBody>
                    <a:bodyPr/>
                    <a:lstStyle/>
                    <a:p>
                      <a:r>
                        <a:rPr sz="1200">
                          <a:solidFill>
                            <a:srgbClr val="262626"/>
                          </a:solidFill>
                        </a:rPr>
                        <a:t>Discount γ (EXP-015)</a:t>
                      </a:r>
                    </a:p>
                  </a:txBody>
                  <a:tcPr>
                    <a:solidFill>
                      <a:srgbClr val="F3F6FB"/>
                    </a:solidFill>
                  </a:tcPr>
                </a:tc>
                <a:tc>
                  <a:txBody>
                    <a:bodyPr/>
                    <a:lstStyle/>
                    <a:p>
                      <a:r>
                        <a:rPr sz="1200">
                          <a:solidFill>
                            <a:srgbClr val="262626"/>
                          </a:solidFill>
                        </a:rPr>
                        <a:t>0.999</a:t>
                      </a:r>
                    </a:p>
                  </a:txBody>
                  <a:tcPr>
                    <a:solidFill>
                      <a:srgbClr val="F3F6FB"/>
                    </a:solidFill>
                  </a:tcPr>
                </a:tc>
              </a:tr>
              <a:tr h="410000">
                <a:tc>
                  <a:txBody>
                    <a:bodyPr/>
                    <a:lstStyle/>
                    <a:p>
                      <a:r>
                        <a:rPr sz="1200">
                          <a:solidFill>
                            <a:srgbClr val="262626"/>
                          </a:solidFill>
                        </a:rPr>
                        <a:t>PSI AMBER threshold</a:t>
                      </a:r>
                    </a:p>
                  </a:txBody>
                  <a:tcPr>
                    <a:solidFill>
                      <a:srgbClr val="FFFFFF"/>
                    </a:solidFill>
                  </a:tcPr>
                </a:tc>
                <a:tc>
                  <a:txBody>
                    <a:bodyPr/>
                    <a:lstStyle/>
                    <a:p>
                      <a:r>
                        <a:rPr sz="1200">
                          <a:solidFill>
                            <a:srgbClr val="262626"/>
                          </a:solidFill>
                        </a:rPr>
                        <a:t>0.10</a:t>
                      </a:r>
                    </a:p>
                  </a:txBody>
                  <a:tcPr>
                    <a:solidFill>
                      <a:srgbClr val="FFFFFF"/>
                    </a:solidFill>
                  </a:tcPr>
                </a:tc>
              </a:tr>
              <a:tr h="410000">
                <a:tc>
                  <a:txBody>
                    <a:bodyPr/>
                    <a:lstStyle/>
                    <a:p>
                      <a:r>
                        <a:rPr sz="1200">
                          <a:solidFill>
                            <a:srgbClr val="262626"/>
                          </a:solidFill>
                        </a:rPr>
                        <a:t>PSI RED threshold</a:t>
                      </a:r>
                    </a:p>
                  </a:txBody>
                  <a:tcPr>
                    <a:solidFill>
                      <a:srgbClr val="F3F6FB"/>
                    </a:solidFill>
                  </a:tcPr>
                </a:tc>
                <a:tc>
                  <a:txBody>
                    <a:bodyPr/>
                    <a:lstStyle/>
                    <a:p>
                      <a:r>
                        <a:rPr sz="1200">
                          <a:solidFill>
                            <a:srgbClr val="262626"/>
                          </a:solidFill>
                        </a:rPr>
                        <a:t>0.25</a:t>
                      </a:r>
                    </a:p>
                  </a:txBody>
                  <a:tcPr>
                    <a:solidFill>
                      <a:srgbClr val="F3F6FB"/>
                    </a:solidFill>
                  </a:tcPr>
                </a:tc>
              </a:tr>
            </a:tbl>
          </a:graphicData>
        </a:graphic>
      </p:graphicFrame>
      <p:sp>
        <p:nvSpPr>
          <p:cNvPr id="13" name="Rectangle 1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5" name="Rectangle 1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17" name="Rectangle 1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30 / 34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A5: SENSITIVITY ANALYSIS (EXP-012, 10 SEEDS)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50000"/>
            <a:ext cx="5074782" cy="30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α sweep — LinUCB cumulative reward</a:t>
            </a:r>
          </a:p>
        </p:txBody>
      </p:sp>
      <p:graphicFrame>
        <p:nvGraphicFramePr>
          <p:cNvPr id="6" name="Table 5"/>
          <p:cNvGraphicFramePr>
            <a:graphicFrameLocks noGrp="1"/>
          </p:cNvGraphicFramePr>
          <p:nvPr/>
        </p:nvGraphicFramePr>
        <p:xfrm>
          <a:off x="457200" y="1500000"/>
          <a:ext cx="5074782" cy="2500000"/>
        </p:xfrm>
        <a:graphic>
          <a:graphicData uri="http://schemas.openxmlformats.org/drawingml/2006/table">
            <a:tbl>
              <a:tblPr firstRow="1" bandRow="1">
                <a:tableStyleId>{5C22544A-7EE6-4342-B048-85BDC9FD1C3A}</a:tableStyleId>
              </a:tblPr>
              <a:tblGrid>
                <a:gridCol w="1691594"/>
                <a:gridCol w="1691594"/>
                <a:gridCol w="1691594"/>
              </a:tblGrid>
              <a:tr h="416666">
                <a:tc>
                  <a:txBody>
                    <a:bodyPr/>
                    <a:lstStyle/>
                    <a:p>
                      <a:r>
                        <a:rPr b="1" sz="1300">
                          <a:solidFill>
                            <a:srgbClr val="FFFFFF"/>
                          </a:solidFill>
                        </a:rPr>
                        <a:t>α</a:t>
                      </a:r>
                    </a:p>
                  </a:txBody>
                  <a:tcPr>
                    <a:solidFill>
                      <a:srgbClr val="1B5697"/>
                    </a:solidFill>
                  </a:tcPr>
                </a:tc>
                <a:tc>
                  <a:txBody>
                    <a:bodyPr/>
                    <a:lstStyle/>
                    <a:p>
                      <a:r>
                        <a:rPr b="1" sz="1300">
                          <a:solidFill>
                            <a:srgbClr val="FFFFFF"/>
                          </a:solidFill>
                        </a:rPr>
                        <a:t>Reward</a:t>
                      </a:r>
                    </a:p>
                  </a:txBody>
                  <a:tcPr>
                    <a:solidFill>
                      <a:srgbClr val="1B5697"/>
                    </a:solidFill>
                  </a:tcPr>
                </a:tc>
                <a:tc>
                  <a:txBody>
                    <a:bodyPr/>
                    <a:lstStyle/>
                    <a:p>
                      <a:r>
                        <a:rPr b="1" sz="1300">
                          <a:solidFill>
                            <a:srgbClr val="FFFFFF"/>
                          </a:solidFill>
                        </a:rPr>
                        <a:t>vs best</a:t>
                      </a:r>
                    </a:p>
                  </a:txBody>
                  <a:tcPr>
                    <a:solidFill>
                      <a:srgbClr val="1B5697"/>
                    </a:solidFill>
                  </a:tcPr>
                </a:tc>
              </a:tr>
              <a:tr h="416666">
                <a:tc>
                  <a:txBody>
                    <a:bodyPr/>
                    <a:lstStyle/>
                    <a:p>
                      <a:r>
                        <a:rPr sz="1300">
                          <a:solidFill>
                            <a:srgbClr val="262626"/>
                          </a:solidFill>
                        </a:rPr>
                        <a:t>0.1</a:t>
                      </a:r>
                    </a:p>
                  </a:txBody>
                  <a:tcPr>
                    <a:solidFill>
                      <a:srgbClr val="F3F6FB"/>
                    </a:solidFill>
                  </a:tcPr>
                </a:tc>
                <a:tc>
                  <a:txBody>
                    <a:bodyPr/>
                    <a:lstStyle/>
                    <a:p>
                      <a:r>
                        <a:rPr sz="1300">
                          <a:solidFill>
                            <a:srgbClr val="262626"/>
                          </a:solidFill>
                        </a:rPr>
                        <a:t>$90,645</a:t>
                      </a:r>
                    </a:p>
                  </a:txBody>
                  <a:tcPr>
                    <a:solidFill>
                      <a:srgbClr val="F3F6FB"/>
                    </a:solidFill>
                  </a:tcPr>
                </a:tc>
                <a:tc>
                  <a:txBody>
                    <a:bodyPr/>
                    <a:lstStyle/>
                    <a:p>
                      <a:r>
                        <a:rPr sz="1300">
                          <a:solidFill>
                            <a:srgbClr val="262626"/>
                          </a:solidFill>
                        </a:rPr>
                        <a:t>−0.8%</a:t>
                      </a:r>
                    </a:p>
                  </a:txBody>
                  <a:tcPr>
                    <a:solidFill>
                      <a:srgbClr val="F3F6FB"/>
                    </a:solidFill>
                  </a:tcPr>
                </a:tc>
              </a:tr>
              <a:tr h="416666">
                <a:tc>
                  <a:txBody>
                    <a:bodyPr/>
                    <a:lstStyle/>
                    <a:p>
                      <a:r>
                        <a:rPr sz="1300">
                          <a:solidFill>
                            <a:srgbClr val="262626"/>
                          </a:solidFill>
                        </a:rPr>
                        <a:t>0.5</a:t>
                      </a:r>
                    </a:p>
                  </a:txBody>
                  <a:tcPr>
                    <a:solidFill>
                      <a:srgbClr val="F3F6FB"/>
                    </a:solidFill>
                  </a:tcPr>
                </a:tc>
                <a:tc>
                  <a:txBody>
                    <a:bodyPr/>
                    <a:lstStyle/>
                    <a:p>
                      <a:r>
                        <a:rPr sz="1300">
                          <a:solidFill>
                            <a:srgbClr val="262626"/>
                          </a:solidFill>
                        </a:rPr>
                        <a:t>$88,473</a:t>
                      </a:r>
                    </a:p>
                  </a:txBody>
                  <a:tcPr>
                    <a:solidFill>
                      <a:srgbClr val="F3F6FB"/>
                    </a:solidFill>
                  </a:tcPr>
                </a:tc>
                <a:tc>
                  <a:txBody>
                    <a:bodyPr/>
                    <a:lstStyle/>
                    <a:p>
                      <a:r>
                        <a:rPr sz="1300">
                          <a:solidFill>
                            <a:srgbClr val="262626"/>
                          </a:solidFill>
                        </a:rPr>
                        <a:t>−3.2%</a:t>
                      </a:r>
                    </a:p>
                  </a:txBody>
                  <a:tcPr>
                    <a:solidFill>
                      <a:srgbClr val="F3F6FB"/>
                    </a:solidFill>
                  </a:tcPr>
                </a:tc>
              </a:tr>
              <a:tr h="416666">
                <a:tc>
                  <a:txBody>
                    <a:bodyPr/>
                    <a:lstStyle/>
                    <a:p>
                      <a:r>
                        <a:rPr sz="1300">
                          <a:solidFill>
                            <a:srgbClr val="2E8B57"/>
                          </a:solidFill>
                        </a:rPr>
                        <a:t>1.0 (default)</a:t>
                      </a:r>
                    </a:p>
                  </a:txBody>
                  <a:tcPr>
                    <a:solidFill>
                      <a:srgbClr val="E7F4E8"/>
                    </a:solidFill>
                  </a:tcPr>
                </a:tc>
                <a:tc>
                  <a:txBody>
                    <a:bodyPr/>
                    <a:lstStyle/>
                    <a:p>
                      <a:r>
                        <a:rPr sz="1300">
                          <a:solidFill>
                            <a:srgbClr val="2E8B57"/>
                          </a:solidFill>
                        </a:rPr>
                        <a:t>$91,378</a:t>
                      </a:r>
                    </a:p>
                  </a:txBody>
                  <a:tcPr>
                    <a:solidFill>
                      <a:srgbClr val="E7F4E8"/>
                    </a:solidFill>
                  </a:tcPr>
                </a:tc>
                <a:tc>
                  <a:txBody>
                    <a:bodyPr/>
                    <a:lstStyle/>
                    <a:p>
                      <a:r>
                        <a:rPr sz="1300">
                          <a:solidFill>
                            <a:srgbClr val="2E8B57"/>
                          </a:solidFill>
                        </a:rPr>
                        <a:t>BEST</a:t>
                      </a:r>
                    </a:p>
                  </a:txBody>
                  <a:tcPr>
                    <a:solidFill>
                      <a:srgbClr val="E7F4E8"/>
                    </a:solidFill>
                  </a:tcPr>
                </a:tc>
              </a:tr>
              <a:tr h="416666">
                <a:tc>
                  <a:txBody>
                    <a:bodyPr/>
                    <a:lstStyle/>
                    <a:p>
                      <a:r>
                        <a:rPr sz="1300">
                          <a:solidFill>
                            <a:srgbClr val="262626"/>
                          </a:solidFill>
                        </a:rPr>
                        <a:t>2.0</a:t>
                      </a:r>
                    </a:p>
                  </a:txBody>
                  <a:tcPr>
                    <a:solidFill>
                      <a:srgbClr val="F3F6FB"/>
                    </a:solidFill>
                  </a:tcPr>
                </a:tc>
                <a:tc>
                  <a:txBody>
                    <a:bodyPr/>
                    <a:lstStyle/>
                    <a:p>
                      <a:r>
                        <a:rPr sz="1300">
                          <a:solidFill>
                            <a:srgbClr val="262626"/>
                          </a:solidFill>
                        </a:rPr>
                        <a:t>$89,953</a:t>
                      </a:r>
                    </a:p>
                  </a:txBody>
                  <a:tcPr>
                    <a:solidFill>
                      <a:srgbClr val="F3F6FB"/>
                    </a:solidFill>
                  </a:tcPr>
                </a:tc>
                <a:tc>
                  <a:txBody>
                    <a:bodyPr/>
                    <a:lstStyle/>
                    <a:p>
                      <a:r>
                        <a:rPr sz="1300">
                          <a:solidFill>
                            <a:srgbClr val="262626"/>
                          </a:solidFill>
                        </a:rPr>
                        <a:t>−1.6%</a:t>
                      </a:r>
                    </a:p>
                  </a:txBody>
                  <a:tcPr>
                    <a:solidFill>
                      <a:srgbClr val="F3F6FB"/>
                    </a:solidFill>
                  </a:tcPr>
                </a:tc>
              </a:tr>
              <a:tr h="416670">
                <a:tc>
                  <a:txBody>
                    <a:bodyPr/>
                    <a:lstStyle/>
                    <a:p>
                      <a:r>
                        <a:rPr sz="1300">
                          <a:solidFill>
                            <a:srgbClr val="262626"/>
                          </a:solidFill>
                        </a:rPr>
                        <a:t>5.0</a:t>
                      </a:r>
                    </a:p>
                  </a:txBody>
                  <a:tcPr>
                    <a:solidFill>
                      <a:srgbClr val="F3F6FB"/>
                    </a:solidFill>
                  </a:tcPr>
                </a:tc>
                <a:tc>
                  <a:txBody>
                    <a:bodyPr/>
                    <a:lstStyle/>
                    <a:p>
                      <a:r>
                        <a:rPr sz="1300">
                          <a:solidFill>
                            <a:srgbClr val="262626"/>
                          </a:solidFill>
                        </a:rPr>
                        <a:t>$90,959</a:t>
                      </a:r>
                    </a:p>
                  </a:txBody>
                  <a:tcPr>
                    <a:solidFill>
                      <a:srgbClr val="F3F6FB"/>
                    </a:solidFill>
                  </a:tcPr>
                </a:tc>
                <a:tc>
                  <a:txBody>
                    <a:bodyPr/>
                    <a:lstStyle/>
                    <a:p>
                      <a:r>
                        <a:rPr sz="1300">
                          <a:solidFill>
                            <a:srgbClr val="262626"/>
                          </a:solidFill>
                        </a:rPr>
                        <a:t>−0.5%</a:t>
                      </a:r>
                    </a:p>
                  </a:txBody>
                  <a:tcPr>
                    <a:solidFill>
                      <a:srgbClr val="F3F6FB"/>
                    </a:solidFill>
                  </a:tcPr>
                </a:tc>
              </a:tr>
            </a:tbl>
          </a:graphicData>
        </a:graphic>
      </p:graphicFrame>
      <p:sp>
        <p:nvSpPr>
          <p:cNvPr id="7" name="TextBox 6"/>
          <p:cNvSpPr txBox="1"/>
          <p:nvPr/>
        </p:nvSpPr>
        <p:spPr>
          <a:xfrm>
            <a:off x="5751982" y="1150000"/>
            <a:ext cx="5982512" cy="30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LinUCB advantage over Static XGB (every setting)</a:t>
            </a:r>
          </a:p>
        </p:txBody>
      </p:sp>
      <p:graphicFrame>
        <p:nvGraphicFramePr>
          <p:cNvPr id="8" name="Table 7"/>
          <p:cNvGraphicFramePr>
            <a:graphicFrameLocks noGrp="1"/>
          </p:cNvGraphicFramePr>
          <p:nvPr/>
        </p:nvGraphicFramePr>
        <p:xfrm>
          <a:off x="5751982" y="1500000"/>
          <a:ext cx="5982512" cy="2500000"/>
        </p:xfrm>
        <a:graphic>
          <a:graphicData uri="http://schemas.openxmlformats.org/drawingml/2006/table">
            <a:tbl>
              <a:tblPr firstRow="1" bandRow="1">
                <a:tableStyleId>{5C22544A-7EE6-4342-B048-85BDC9FD1C3A}</a:tableStyleId>
              </a:tblPr>
              <a:tblGrid>
                <a:gridCol w="1994170"/>
                <a:gridCol w="1994170"/>
                <a:gridCol w="1994172"/>
              </a:tblGrid>
              <a:tr h="416666">
                <a:tc>
                  <a:txBody>
                    <a:bodyPr/>
                    <a:lstStyle/>
                    <a:p>
                      <a:r>
                        <a:rPr b="1" sz="1300">
                          <a:solidFill>
                            <a:srgbClr val="FFFFFF"/>
                          </a:solidFill>
                        </a:rPr>
                        <a:t>Stress setting</a:t>
                      </a:r>
                    </a:p>
                  </a:txBody>
                  <a:tcPr>
                    <a:solidFill>
                      <a:srgbClr val="1B5697"/>
                    </a:solidFill>
                  </a:tcPr>
                </a:tc>
                <a:tc>
                  <a:txBody>
                    <a:bodyPr/>
                    <a:lstStyle/>
                    <a:p>
                      <a:r>
                        <a:rPr b="1" sz="1300">
                          <a:solidFill>
                            <a:srgbClr val="FFFFFF"/>
                          </a:solidFill>
                        </a:rPr>
                        <a:t>Advantage</a:t>
                      </a:r>
                    </a:p>
                  </a:txBody>
                  <a:tcPr>
                    <a:solidFill>
                      <a:srgbClr val="1B5697"/>
                    </a:solidFill>
                  </a:tcPr>
                </a:tc>
                <a:tc>
                  <a:txBody>
                    <a:bodyPr/>
                    <a:lstStyle/>
                    <a:p>
                      <a:r>
                        <a:rPr b="1" sz="1300">
                          <a:solidFill>
                            <a:srgbClr val="FFFFFF"/>
                          </a:solidFill>
                        </a:rPr>
                        <a:t>Effect</a:t>
                      </a:r>
                    </a:p>
                  </a:txBody>
                  <a:tcPr>
                    <a:solidFill>
                      <a:srgbClr val="1B5697"/>
                    </a:solidFill>
                  </a:tcPr>
                </a:tc>
              </a:tr>
              <a:tr h="416666">
                <a:tc>
                  <a:txBody>
                    <a:bodyPr/>
                    <a:lstStyle/>
                    <a:p>
                      <a:r>
                        <a:rPr sz="1200" b="0">
                          <a:solidFill>
                            <a:srgbClr val="262626"/>
                          </a:solidFill>
                        </a:rPr>
                        <a:t>Adverse selection ×1.0</a:t>
                      </a:r>
                    </a:p>
                  </a:txBody>
                  <a:tcPr>
                    <a:solidFill>
                      <a:srgbClr val="F3F6FB"/>
                    </a:solidFill>
                  </a:tcPr>
                </a:tc>
                <a:tc>
                  <a:txBody>
                    <a:bodyPr/>
                    <a:lstStyle/>
                    <a:p>
                      <a:r>
                        <a:rPr sz="1200" b="1">
                          <a:solidFill>
                            <a:srgbClr val="2E8B57"/>
                          </a:solidFill>
                        </a:rPr>
                        <a:t>+$26,371</a:t>
                      </a:r>
                    </a:p>
                  </a:txBody>
                  <a:tcPr>
                    <a:solidFill>
                      <a:srgbClr val="F3F6FB"/>
                    </a:solidFill>
                  </a:tcPr>
                </a:tc>
                <a:tc>
                  <a:txBody>
                    <a:bodyPr/>
                    <a:lstStyle/>
                    <a:p>
                      <a:r>
                        <a:rPr sz="1200" b="0">
                          <a:solidFill>
                            <a:srgbClr val="262626"/>
                          </a:solidFill>
                        </a:rPr>
                        <a:t>d = 4.70</a:t>
                      </a:r>
                    </a:p>
                  </a:txBody>
                  <a:tcPr>
                    <a:solidFill>
                      <a:srgbClr val="F3F6FB"/>
                    </a:solidFill>
                  </a:tcPr>
                </a:tc>
              </a:tr>
              <a:tr h="416666">
                <a:tc>
                  <a:txBody>
                    <a:bodyPr/>
                    <a:lstStyle/>
                    <a:p>
                      <a:r>
                        <a:rPr sz="1200" b="0">
                          <a:solidFill>
                            <a:srgbClr val="262626"/>
                          </a:solidFill>
                        </a:rPr>
                        <a:t>Adverse selection ×1.35</a:t>
                      </a:r>
                    </a:p>
                  </a:txBody>
                  <a:tcPr>
                    <a:solidFill>
                      <a:srgbClr val="FFFFFF"/>
                    </a:solidFill>
                  </a:tcPr>
                </a:tc>
                <a:tc>
                  <a:txBody>
                    <a:bodyPr/>
                    <a:lstStyle/>
                    <a:p>
                      <a:r>
                        <a:rPr sz="1200" b="1">
                          <a:solidFill>
                            <a:srgbClr val="2E8B57"/>
                          </a:solidFill>
                        </a:rPr>
                        <a:t>+$20,028</a:t>
                      </a:r>
                    </a:p>
                  </a:txBody>
                  <a:tcPr>
                    <a:solidFill>
                      <a:srgbClr val="FFFFFF"/>
                    </a:solidFill>
                  </a:tcPr>
                </a:tc>
                <a:tc>
                  <a:txBody>
                    <a:bodyPr/>
                    <a:lstStyle/>
                    <a:p>
                      <a:r>
                        <a:rPr sz="1200" b="0">
                          <a:solidFill>
                            <a:srgbClr val="262626"/>
                          </a:solidFill>
                        </a:rPr>
                        <a:t>d = 3.05</a:t>
                      </a:r>
                    </a:p>
                  </a:txBody>
                  <a:tcPr>
                    <a:solidFill>
                      <a:srgbClr val="FFFFFF"/>
                    </a:solidFill>
                  </a:tcPr>
                </a:tc>
              </a:tr>
              <a:tr h="416666">
                <a:tc>
                  <a:txBody>
                    <a:bodyPr/>
                    <a:lstStyle/>
                    <a:p>
                      <a:r>
                        <a:rPr sz="1200" b="0">
                          <a:solidFill>
                            <a:srgbClr val="262626"/>
                          </a:solidFill>
                        </a:rPr>
                        <a:t>Adverse selection ×1.7</a:t>
                      </a:r>
                    </a:p>
                  </a:txBody>
                  <a:tcPr>
                    <a:solidFill>
                      <a:srgbClr val="F3F6FB"/>
                    </a:solidFill>
                  </a:tcPr>
                </a:tc>
                <a:tc>
                  <a:txBody>
                    <a:bodyPr/>
                    <a:lstStyle/>
                    <a:p>
                      <a:r>
                        <a:rPr sz="1200" b="1">
                          <a:solidFill>
                            <a:srgbClr val="2E8B57"/>
                          </a:solidFill>
                        </a:rPr>
                        <a:t>+$20,239</a:t>
                      </a:r>
                    </a:p>
                  </a:txBody>
                  <a:tcPr>
                    <a:solidFill>
                      <a:srgbClr val="F3F6FB"/>
                    </a:solidFill>
                  </a:tcPr>
                </a:tc>
                <a:tc>
                  <a:txBody>
                    <a:bodyPr/>
                    <a:lstStyle/>
                    <a:p>
                      <a:r>
                        <a:rPr sz="1200" b="0">
                          <a:solidFill>
                            <a:srgbClr val="262626"/>
                          </a:solidFill>
                        </a:rPr>
                        <a:t>d = 3.34</a:t>
                      </a:r>
                    </a:p>
                  </a:txBody>
                  <a:tcPr>
                    <a:solidFill>
                      <a:srgbClr val="F3F6FB"/>
                    </a:solidFill>
                  </a:tcPr>
                </a:tc>
              </a:tr>
              <a:tr h="416666">
                <a:tc>
                  <a:txBody>
                    <a:bodyPr/>
                    <a:lstStyle/>
                    <a:p>
                      <a:r>
                        <a:rPr sz="1200" b="0">
                          <a:solidFill>
                            <a:srgbClr val="262626"/>
                          </a:solidFill>
                        </a:rPr>
                        <a:t>Elasticity slope 2.5</a:t>
                      </a:r>
                    </a:p>
                  </a:txBody>
                  <a:tcPr>
                    <a:solidFill>
                      <a:srgbClr val="FFFFFF"/>
                    </a:solidFill>
                  </a:tcPr>
                </a:tc>
                <a:tc>
                  <a:txBody>
                    <a:bodyPr/>
                    <a:lstStyle/>
                    <a:p>
                      <a:r>
                        <a:rPr sz="1200" b="1">
                          <a:solidFill>
                            <a:srgbClr val="2E8B57"/>
                          </a:solidFill>
                        </a:rPr>
                        <a:t>+$23,222</a:t>
                      </a:r>
                    </a:p>
                  </a:txBody>
                  <a:tcPr>
                    <a:solidFill>
                      <a:srgbClr val="FFFFFF"/>
                    </a:solidFill>
                  </a:tcPr>
                </a:tc>
                <a:tc>
                  <a:txBody>
                    <a:bodyPr/>
                    <a:lstStyle/>
                    <a:p>
                      <a:r>
                        <a:rPr sz="1200" b="0">
                          <a:solidFill>
                            <a:srgbClr val="262626"/>
                          </a:solidFill>
                        </a:rPr>
                        <a:t>d = 1.14</a:t>
                      </a:r>
                    </a:p>
                  </a:txBody>
                  <a:tcPr>
                    <a:solidFill>
                      <a:srgbClr val="FFFFFF"/>
                    </a:solidFill>
                  </a:tcPr>
                </a:tc>
              </a:tr>
              <a:tr h="416670">
                <a:tc>
                  <a:txBody>
                    <a:bodyPr/>
                    <a:lstStyle/>
                    <a:p>
                      <a:r>
                        <a:rPr sz="1200" b="0">
                          <a:solidFill>
                            <a:srgbClr val="262626"/>
                          </a:solidFill>
                        </a:rPr>
                        <a:t>Elasticity slope 4.5</a:t>
                      </a:r>
                    </a:p>
                  </a:txBody>
                  <a:tcPr>
                    <a:solidFill>
                      <a:srgbClr val="F3F6FB"/>
                    </a:solidFill>
                  </a:tcPr>
                </a:tc>
                <a:tc>
                  <a:txBody>
                    <a:bodyPr/>
                    <a:lstStyle/>
                    <a:p>
                      <a:r>
                        <a:rPr sz="1200" b="1">
                          <a:solidFill>
                            <a:srgbClr val="2E8B57"/>
                          </a:solidFill>
                        </a:rPr>
                        <a:t>+$17,358</a:t>
                      </a:r>
                    </a:p>
                  </a:txBody>
                  <a:tcPr>
                    <a:solidFill>
                      <a:srgbClr val="F3F6FB"/>
                    </a:solidFill>
                  </a:tcPr>
                </a:tc>
                <a:tc>
                  <a:txBody>
                    <a:bodyPr/>
                    <a:lstStyle/>
                    <a:p>
                      <a:r>
                        <a:rPr sz="1200" b="0">
                          <a:solidFill>
                            <a:srgbClr val="262626"/>
                          </a:solidFill>
                        </a:rPr>
                        <a:t>d = 2.24</a:t>
                      </a:r>
                    </a:p>
                  </a:txBody>
                  <a:tcPr>
                    <a:solidFill>
                      <a:srgbClr val="F3F6FB"/>
                    </a:solidFill>
                  </a:tcPr>
                </a:tc>
              </a:tr>
            </a:tbl>
          </a:graphicData>
        </a:graphic>
      </p:graphicFrame>
      <p:sp>
        <p:nvSpPr>
          <p:cNvPr id="9" name="Rectangle 8"/>
          <p:cNvSpPr/>
          <p:nvPr/>
        </p:nvSpPr>
        <p:spPr>
          <a:xfrm>
            <a:off x="457200" y="4350000"/>
            <a:ext cx="11277295" cy="1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4350000"/>
            <a:ext cx="91440" cy="10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200" y="4460000"/>
            <a:ext cx="10917295" cy="800000"/>
          </a:xfrm>
          <a:prstGeom prst="rect">
            <a:avLst/>
          </a:prstGeom>
          <a:noFill/>
        </p:spPr>
        <p:txBody>
          <a:bodyPr wrap="square">
            <a:spAutoFit/>
          </a:bodyPr>
          <a:lstStyle/>
          <a:p>
            <a:pPr algn="l">
              <a:spcBef>
                <a:spcPts val="0"/>
              </a:spcBef>
              <a:spcAft>
                <a:spcPts val="0"/>
              </a:spcAft>
            </a:pPr>
            <a:r>
              <a:rPr sz="1400" b="1" i="0">
                <a:solidFill>
                  <a:srgbClr val="2E8B57"/>
                </a:solidFill>
                <a:latin typeface="Calibri"/>
              </a:rPr>
              <a:t>Robust: α = 1.0 is regret-minimising, and LinUCB beats Static XGB at every α, adverse-selection factor and elasticity slope tested.</a:t>
            </a:r>
          </a:p>
          <a:p>
            <a:pPr algn="l">
              <a:spcBef>
                <a:spcPts val="600"/>
              </a:spcBef>
            </a:pPr>
            <a:r>
              <a:rPr sz="1200" b="0" i="1">
                <a:solidFill>
                  <a:srgbClr val="505050"/>
                </a:solidFill>
                <a:latin typeface="Calibri"/>
              </a:rPr>
              <a:t>Note: α = 1.0 gives $91,378 over 10 seeds here; the headline $90,540 is the 20-seed EXP-005 figure — both real, different seed counts.</a:t>
            </a:r>
          </a:p>
        </p:txBody>
      </p:sp>
      <p:sp>
        <p:nvSpPr>
          <p:cNvPr id="12" name="Rectangle 1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4" name="Rectangle 1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16" name="Rectangle 1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31 / 34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A6: WHY A BANDIT HAS NO TRAIN/TEST SPLIT</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10000"/>
            <a:ext cx="11277295" cy="48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A contextual bandit learns online — there is no train/test split. Here is what that means, and how generalisation is measured instead.</a:t>
            </a:r>
          </a:p>
        </p:txBody>
      </p:sp>
      <p:sp>
        <p:nvSpPr>
          <p:cNvPr id="6" name="Rectangle 5"/>
          <p:cNvSpPr/>
          <p:nvPr/>
        </p:nvSpPr>
        <p:spPr>
          <a:xfrm>
            <a:off x="457200" y="1680000"/>
            <a:ext cx="5488647" cy="264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80000"/>
            <a:ext cx="91440" cy="264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7200" y="1800000"/>
            <a:ext cx="530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Supervised ML  (e.g. Static XGB incumbent)</a:t>
            </a:r>
          </a:p>
        </p:txBody>
      </p:sp>
      <p:sp>
        <p:nvSpPr>
          <p:cNvPr id="9" name="TextBox 8"/>
          <p:cNvSpPr txBox="1"/>
          <p:nvPr/>
        </p:nvSpPr>
        <p:spPr>
          <a:xfrm>
            <a:off x="607200" y="2220000"/>
            <a:ext cx="5308647" cy="20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Split data: train / validation / test</a:t>
            </a:r>
          </a:p>
          <a:p>
            <a:pPr algn="l">
              <a:spcBef>
                <a:spcPts val="400"/>
              </a:spcBef>
            </a:pPr>
            <a:r>
              <a:rPr sz="1300" b="0" i="0">
                <a:solidFill>
                  <a:srgbClr val="505050"/>
                </a:solidFill>
                <a:latin typeface="Calibri"/>
              </a:rPr>
              <a:t>Fit once on the training set</a:t>
            </a:r>
          </a:p>
          <a:p>
            <a:pPr algn="l">
              <a:spcBef>
                <a:spcPts val="400"/>
              </a:spcBef>
            </a:pPr>
            <a:r>
              <a:rPr sz="1300" b="0" i="0">
                <a:solidFill>
                  <a:srgbClr val="505050"/>
                </a:solidFill>
                <a:latin typeface="Calibri"/>
              </a:rPr>
              <a:t>Freeze the weights; deploy unchanged</a:t>
            </a:r>
          </a:p>
          <a:p>
            <a:pPr algn="l">
              <a:spcBef>
                <a:spcPts val="400"/>
              </a:spcBef>
            </a:pPr>
            <a:r>
              <a:rPr sz="1300" b="0" i="0">
                <a:solidFill>
                  <a:srgbClr val="505050"/>
                </a:solidFill>
                <a:latin typeface="Calibri"/>
              </a:rPr>
              <a:t>Generalisation = score on a held-out test set</a:t>
            </a:r>
          </a:p>
        </p:txBody>
      </p:sp>
      <p:sp>
        <p:nvSpPr>
          <p:cNvPr id="10" name="Rectangle 9"/>
          <p:cNvSpPr/>
          <p:nvPr/>
        </p:nvSpPr>
        <p:spPr>
          <a:xfrm>
            <a:off x="6245847" y="1680000"/>
            <a:ext cx="5488647" cy="264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847" y="1680000"/>
            <a:ext cx="91440" cy="264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5847" y="1800000"/>
            <a:ext cx="530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Contextual bandit  (LinUCB / LinTS)</a:t>
            </a:r>
          </a:p>
        </p:txBody>
      </p:sp>
      <p:sp>
        <p:nvSpPr>
          <p:cNvPr id="13" name="TextBox 12"/>
          <p:cNvSpPr txBox="1"/>
          <p:nvPr/>
        </p:nvSpPr>
        <p:spPr>
          <a:xfrm>
            <a:off x="6395847" y="2220000"/>
            <a:ext cx="5308647" cy="20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No split — meets applicants one at a time</a:t>
            </a:r>
          </a:p>
          <a:p>
            <a:pPr algn="l">
              <a:spcBef>
                <a:spcPts val="400"/>
              </a:spcBef>
            </a:pPr>
            <a:r>
              <a:rPr sz="1300" b="0" i="0">
                <a:solidFill>
                  <a:srgbClr val="505050"/>
                </a:solidFill>
                <a:latin typeface="Calibri"/>
              </a:rPr>
              <a:t>Each round: select arm → observe reward → update</a:t>
            </a:r>
          </a:p>
          <a:p>
            <a:pPr algn="l">
              <a:spcBef>
                <a:spcPts val="400"/>
              </a:spcBef>
            </a:pPr>
            <a:r>
              <a:rPr sz="1300" b="0" i="0">
                <a:solidFill>
                  <a:srgbClr val="505050"/>
                </a:solidFill>
                <a:latin typeface="Calibri"/>
              </a:rPr>
              <a:t>Every round is BOTH 'train' and 'test'</a:t>
            </a:r>
          </a:p>
          <a:p>
            <a:pPr algn="l">
              <a:spcBef>
                <a:spcPts val="400"/>
              </a:spcBef>
            </a:pPr>
            <a:r>
              <a:rPr sz="1300" b="0" i="0">
                <a:solidFill>
                  <a:srgbClr val="505050"/>
                </a:solidFill>
                <a:latin typeface="Calibri"/>
              </a:rPr>
              <a:t>Ridge prior λ = 1.0 regularises online — no static fit to overfit</a:t>
            </a:r>
          </a:p>
        </p:txBody>
      </p:sp>
      <p:sp>
        <p:nvSpPr>
          <p:cNvPr id="14" name="Rectangle 13"/>
          <p:cNvSpPr/>
          <p:nvPr/>
        </p:nvSpPr>
        <p:spPr>
          <a:xfrm>
            <a:off x="457200" y="4400000"/>
            <a:ext cx="11277295" cy="17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400000"/>
            <a:ext cx="91440" cy="17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200" y="4510000"/>
            <a:ext cx="10917295" cy="1570000"/>
          </a:xfrm>
          <a:prstGeom prst="rect">
            <a:avLst/>
          </a:prstGeom>
          <a:noFill/>
        </p:spPr>
        <p:txBody>
          <a:bodyPr wrap="square">
            <a:spAutoFit/>
          </a:bodyPr>
          <a:lstStyle/>
          <a:p>
            <a:pPr algn="l">
              <a:spcBef>
                <a:spcPts val="0"/>
              </a:spcBef>
              <a:spcAft>
                <a:spcPts val="0"/>
              </a:spcAft>
            </a:pPr>
            <a:r>
              <a:rPr sz="1400" b="1" i="0">
                <a:solidFill>
                  <a:srgbClr val="2E8B57"/>
                </a:solidFill>
                <a:latin typeface="Calibri"/>
              </a:rPr>
              <a:t>HOW WE EVALUATE INSTEAD — generalisation without a holdout</a:t>
            </a:r>
          </a:p>
          <a:p>
            <a:pPr algn="l">
              <a:spcBef>
                <a:spcPts val="800"/>
              </a:spcBef>
            </a:pPr>
            <a:r>
              <a:rPr sz="1300" b="0" i="0">
                <a:solidFill>
                  <a:srgbClr val="262626"/>
                </a:solidFill>
                <a:latin typeface="Calibri"/>
              </a:rPr>
              <a:t>• Performance = cumulative regret vs the Oracle, averaged over 20 independent random seeds — the seeds play the role of the held-out test set.</a:t>
            </a:r>
          </a:p>
          <a:p>
            <a:pPr algn="l">
              <a:spcBef>
                <a:spcPts val="500"/>
              </a:spcBef>
            </a:pPr>
            <a:r>
              <a:rPr sz="1300" b="0" i="0">
                <a:solidFill>
                  <a:srgbClr val="262626"/>
                </a:solidFill>
                <a:latin typeface="Calibri"/>
              </a:rPr>
              <a:t>• Pre-registered pass criteria + fixed seeds → fully reproducible; no test-set leakage is possible because there is no test set to leak.</a:t>
            </a:r>
          </a:p>
          <a:p>
            <a:pPr algn="l">
              <a:spcBef>
                <a:spcPts val="500"/>
              </a:spcBef>
            </a:pPr>
            <a:r>
              <a:rPr sz="1300" b="0" i="0">
                <a:solidFill>
                  <a:srgbClr val="262626"/>
                </a:solidFill>
                <a:latin typeface="Calibri"/>
              </a:rPr>
              <a:t>• The Static XGB incumbent IS fit offline and frozen — so the benchmark is fair: a supervised model at its best vs a bandit learning from scratch.</a:t>
            </a:r>
          </a:p>
        </p:txBody>
      </p:sp>
      <p:sp>
        <p:nvSpPr>
          <p:cNvPr id="17" name="Rectangle 16"/>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9" name="Rectangle 18"/>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21" name="Rectangle 20"/>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32 / 34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A7: THE EXPLORATION BONUS (α), IN PLAIN WORDS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20000"/>
            <a:ext cx="11277295"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230000"/>
            <a:ext cx="11277295" cy="480000"/>
          </a:xfrm>
          <a:prstGeom prst="rect">
            <a:avLst/>
          </a:prstGeom>
          <a:noFill/>
        </p:spPr>
        <p:txBody>
          <a:bodyPr wrap="square" anchor="ctr">
            <a:spAutoFit/>
          </a:bodyPr>
          <a:lstStyle/>
          <a:p>
            <a:pPr algn="ctr">
              <a:spcBef>
                <a:spcPts val="0"/>
              </a:spcBef>
              <a:spcAft>
                <a:spcPts val="0"/>
              </a:spcAft>
            </a:pPr>
            <a:r>
              <a:rPr sz="2000" b="1" i="0">
                <a:solidFill>
                  <a:srgbClr val="FFFFFF"/>
                </a:solidFill>
                <a:latin typeface="Segoe UI"/>
              </a:rPr>
              <a:t>Arm score  =  expected payoff  +  α × how-unsure-we-still-are</a:t>
            </a:r>
          </a:p>
        </p:txBody>
      </p:sp>
      <p:sp>
        <p:nvSpPr>
          <p:cNvPr id="7" name="Rectangle 6"/>
          <p:cNvSpPr/>
          <p:nvPr/>
        </p:nvSpPr>
        <p:spPr>
          <a:xfrm>
            <a:off x="457200" y="2050000"/>
            <a:ext cx="5488647" cy="24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050000"/>
            <a:ext cx="91440" cy="24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7200" y="2170000"/>
            <a:ext cx="5188647" cy="42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The one formula:</a:t>
            </a:r>
          </a:p>
        </p:txBody>
      </p:sp>
      <p:sp>
        <p:nvSpPr>
          <p:cNvPr id="10" name="TextBox 9"/>
          <p:cNvSpPr txBox="1"/>
          <p:nvPr/>
        </p:nvSpPr>
        <p:spPr>
          <a:xfrm>
            <a:off x="627200" y="2600000"/>
            <a:ext cx="5188647" cy="1750000"/>
          </a:xfrm>
          <a:prstGeom prst="rect">
            <a:avLst/>
          </a:prstGeom>
          <a:noFill/>
        </p:spPr>
        <p:txBody>
          <a:bodyPr wrap="square">
            <a:spAutoFit/>
          </a:bodyPr>
          <a:lstStyle/>
          <a:p>
            <a:pPr algn="l">
              <a:spcBef>
                <a:spcPts val="0"/>
              </a:spcBef>
              <a:spcAft>
                <a:spcPts val="0"/>
              </a:spcAft>
            </a:pPr>
            <a:r>
              <a:rPr sz="1800" b="1" i="0">
                <a:solidFill>
                  <a:srgbClr val="262626"/>
                </a:solidFill>
                <a:latin typeface="Calibri"/>
              </a:rPr>
              <a:t>UCB  =  x̄  +  α · √(xᵀA⁻¹x)</a:t>
            </a:r>
          </a:p>
          <a:p>
            <a:pPr algn="l">
              <a:spcBef>
                <a:spcPts val="1400"/>
              </a:spcBef>
            </a:pPr>
            <a:r>
              <a:rPr sz="1300" b="0" i="0">
                <a:solidFill>
                  <a:srgbClr val="505050"/>
                </a:solidFill>
                <a:latin typeface="Calibri"/>
              </a:rPr>
              <a:t>x̄   →  best guess of the payoff</a:t>
            </a:r>
          </a:p>
          <a:p>
            <a:pPr algn="l">
              <a:spcBef>
                <a:spcPts val="600"/>
              </a:spcBef>
            </a:pPr>
            <a:r>
              <a:rPr sz="1300" b="0" i="0">
                <a:solidFill>
                  <a:srgbClr val="505050"/>
                </a:solidFill>
                <a:latin typeface="Calibri"/>
              </a:rPr>
              <a:t>α    →  how adventurous to be (we use 1.0)</a:t>
            </a:r>
          </a:p>
          <a:p>
            <a:pPr algn="l">
              <a:spcBef>
                <a:spcPts val="600"/>
              </a:spcBef>
            </a:pPr>
            <a:r>
              <a:rPr sz="1300" b="0" i="0">
                <a:solidFill>
                  <a:srgbClr val="505050"/>
                </a:solidFill>
                <a:latin typeface="Calibri"/>
              </a:rPr>
              <a:t>√(…) →  how uncertain we still are</a:t>
            </a:r>
          </a:p>
        </p:txBody>
      </p:sp>
      <p:sp>
        <p:nvSpPr>
          <p:cNvPr id="11" name="Rectangle 10"/>
          <p:cNvSpPr/>
          <p:nvPr/>
        </p:nvSpPr>
        <p:spPr>
          <a:xfrm>
            <a:off x="6245847" y="2050000"/>
            <a:ext cx="5488647" cy="240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847" y="2050000"/>
            <a:ext cx="91440" cy="24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5847" y="2170000"/>
            <a:ext cx="5188647" cy="42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Sophea's STANDARD arm:</a:t>
            </a:r>
          </a:p>
        </p:txBody>
      </p:sp>
      <p:sp>
        <p:nvSpPr>
          <p:cNvPr id="14" name="TextBox 13"/>
          <p:cNvSpPr txBox="1"/>
          <p:nvPr/>
        </p:nvSpPr>
        <p:spPr>
          <a:xfrm>
            <a:off x="6415847" y="2600000"/>
            <a:ext cx="5188647" cy="1750000"/>
          </a:xfrm>
          <a:prstGeom prst="rect">
            <a:avLst/>
          </a:prstGeom>
          <a:noFill/>
        </p:spPr>
        <p:txBody>
          <a:bodyPr wrap="square">
            <a:spAutoFit/>
          </a:bodyPr>
          <a:lstStyle/>
          <a:p>
            <a:pPr algn="l">
              <a:spcBef>
                <a:spcPts val="0"/>
              </a:spcBef>
              <a:spcAft>
                <a:spcPts val="0"/>
              </a:spcAft>
            </a:pPr>
            <a:r>
              <a:rPr sz="1400" b="1" i="0">
                <a:solidFill>
                  <a:srgbClr val="262626"/>
                </a:solidFill>
                <a:latin typeface="Calibri"/>
              </a:rPr>
              <a:t>score 0.52  =  payoff guess  +  a small curiosity bonus</a:t>
            </a:r>
          </a:p>
          <a:p>
            <a:pPr algn="l">
              <a:spcBef>
                <a:spcPts val="1200"/>
              </a:spcBef>
            </a:pPr>
            <a:r>
              <a:rPr sz="1300" b="0" i="0">
                <a:solidFill>
                  <a:srgbClr val="505050"/>
                </a:solidFill>
                <a:latin typeface="Calibri"/>
              </a:rPr>
              <a:t>The bonus nudges the system to try arms it hasn't seen often — so it keeps learning instead of locking in early.</a:t>
            </a:r>
          </a:p>
        </p:txBody>
      </p:sp>
      <p:sp>
        <p:nvSpPr>
          <p:cNvPr id="15" name="Rectangle 14"/>
          <p:cNvSpPr/>
          <p:nvPr/>
        </p:nvSpPr>
        <p:spPr>
          <a:xfrm>
            <a:off x="457200" y="4650000"/>
            <a:ext cx="11277295" cy="11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4650000"/>
            <a:ext cx="91440" cy="115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7200" y="4760000"/>
            <a:ext cx="10917295" cy="950000"/>
          </a:xfrm>
          <a:prstGeom prst="rect">
            <a:avLst/>
          </a:prstGeom>
          <a:noFill/>
        </p:spPr>
        <p:txBody>
          <a:bodyPr wrap="square">
            <a:spAutoFit/>
          </a:bodyPr>
          <a:lstStyle/>
          <a:p>
            <a:pPr algn="l">
              <a:spcBef>
                <a:spcPts val="0"/>
              </a:spcBef>
              <a:spcAft>
                <a:spcPts val="0"/>
              </a:spcAft>
            </a:pPr>
            <a:r>
              <a:rPr sz="1400" b="1" i="0">
                <a:solidFill>
                  <a:srgbClr val="2E8B57"/>
                </a:solidFill>
                <a:latin typeface="Calibri"/>
              </a:rPr>
              <a:t>Too high → wastes decisions exploring.  Too low → never learns.</a:t>
            </a:r>
          </a:p>
          <a:p>
            <a:pPr algn="l">
              <a:spcBef>
                <a:spcPts val="800"/>
              </a:spcBef>
            </a:pPr>
            <a:r>
              <a:rPr sz="1300" b="0" i="0">
                <a:solidFill>
                  <a:srgbClr val="262626"/>
                </a:solidFill>
                <a:latin typeface="Calibri"/>
              </a:rPr>
              <a:t>We swept α ∈ {0.1, 0.5, 1, 2, 5} over 10 seeds — the reward barely moves and α = 1.0 is best (Appendix A5).</a:t>
            </a:r>
          </a:p>
        </p:txBody>
      </p:sp>
      <p:sp>
        <p:nvSpPr>
          <p:cNvPr id="18" name="Rectangle 1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0" name="Rectangle 1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22" name="Rectangle 2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33 / 34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A8: THE FAIRNESS INDEX (PSI), STEP BY STEP</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20000"/>
            <a:ext cx="11277295" cy="9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20000"/>
            <a:ext cx="9144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200" y="1210000"/>
            <a:ext cx="10917295" cy="380000"/>
          </a:xfrm>
          <a:prstGeom prst="rect">
            <a:avLst/>
          </a:prstGeom>
          <a:noFill/>
        </p:spPr>
        <p:txBody>
          <a:bodyPr wrap="square">
            <a:spAutoFit/>
          </a:bodyPr>
          <a:lstStyle/>
          <a:p>
            <a:pPr algn="l">
              <a:spcBef>
                <a:spcPts val="0"/>
              </a:spcBef>
              <a:spcAft>
                <a:spcPts val="0"/>
              </a:spcAft>
            </a:pPr>
            <a:r>
              <a:rPr sz="2000" b="1" i="0">
                <a:solidFill>
                  <a:srgbClr val="262626"/>
                </a:solidFill>
                <a:latin typeface="Calibri"/>
              </a:rPr>
              <a:t>PSI  =  Σ  (Aᵢ − Eᵢ) × ln(Aᵢ / Eᵢ)</a:t>
            </a:r>
          </a:p>
        </p:txBody>
      </p:sp>
      <p:sp>
        <p:nvSpPr>
          <p:cNvPr id="8" name="TextBox 7"/>
          <p:cNvSpPr txBox="1"/>
          <p:nvPr/>
        </p:nvSpPr>
        <p:spPr>
          <a:xfrm>
            <a:off x="637200" y="1620000"/>
            <a:ext cx="10917295" cy="34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Aᵢ = share we approve now in group i    ·    Eᵢ = share in the training data</a:t>
            </a:r>
          </a:p>
        </p:txBody>
      </p:sp>
      <p:sp>
        <p:nvSpPr>
          <p:cNvPr id="9" name="Rectangle 8"/>
          <p:cNvSpPr/>
          <p:nvPr/>
        </p:nvSpPr>
        <p:spPr>
          <a:xfrm>
            <a:off x="457200" y="2200000"/>
            <a:ext cx="5488647" cy="265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7200" y="2300000"/>
            <a:ext cx="523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A worked example — 2 regions</a:t>
            </a:r>
          </a:p>
        </p:txBody>
      </p:sp>
      <p:sp>
        <p:nvSpPr>
          <p:cNvPr id="11" name="TextBox 10"/>
          <p:cNvSpPr txBox="1"/>
          <p:nvPr/>
        </p:nvSpPr>
        <p:spPr>
          <a:xfrm>
            <a:off x="607200" y="2740000"/>
            <a:ext cx="5238647" cy="20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Region A:  trained 60%,  now 55%</a:t>
            </a:r>
          </a:p>
          <a:p>
            <a:pPr algn="l">
              <a:spcBef>
                <a:spcPts val="600"/>
              </a:spcBef>
            </a:pPr>
            <a:r>
              <a:rPr sz="1300" b="0" i="0">
                <a:solidFill>
                  <a:srgbClr val="262626"/>
                </a:solidFill>
                <a:latin typeface="Calibri"/>
              </a:rPr>
              <a:t>Region B:  trained 40%,  now 45%</a:t>
            </a:r>
          </a:p>
          <a:p>
            <a:pPr algn="l">
              <a:spcBef>
                <a:spcPts val="600"/>
              </a:spcBef>
            </a:pPr>
            <a:r>
              <a:rPr sz="1300" b="0" i="0">
                <a:solidFill>
                  <a:srgbClr val="262626"/>
                </a:solidFill>
                <a:latin typeface="Calibri"/>
              </a:rPr>
              <a:t/>
            </a:r>
          </a:p>
          <a:p>
            <a:pPr algn="l">
              <a:spcBef>
                <a:spcPts val="600"/>
              </a:spcBef>
            </a:pPr>
            <a:r>
              <a:rPr sz="1300" b="0" i="0">
                <a:solidFill>
                  <a:srgbClr val="262626"/>
                </a:solidFill>
                <a:latin typeface="Calibri"/>
              </a:rPr>
              <a:t>A: (0.55−0.60)·ln(0.55/0.60) = 0.0044</a:t>
            </a:r>
          </a:p>
          <a:p>
            <a:pPr algn="l">
              <a:spcBef>
                <a:spcPts val="600"/>
              </a:spcBef>
            </a:pPr>
            <a:r>
              <a:rPr sz="1300" b="0" i="0">
                <a:solidFill>
                  <a:srgbClr val="262626"/>
                </a:solidFill>
                <a:latin typeface="Calibri"/>
              </a:rPr>
              <a:t>B: (0.45−0.40)·ln(0.45/0.40) = 0.0059</a:t>
            </a:r>
          </a:p>
          <a:p>
            <a:pPr algn="l">
              <a:spcBef>
                <a:spcPts val="600"/>
              </a:spcBef>
            </a:pPr>
            <a:r>
              <a:rPr sz="1300" b="0" i="0">
                <a:solidFill>
                  <a:srgbClr val="262626"/>
                </a:solidFill>
                <a:latin typeface="Calibri"/>
              </a:rPr>
              <a:t/>
            </a:r>
          </a:p>
          <a:p>
            <a:pPr algn="l">
              <a:spcBef>
                <a:spcPts val="600"/>
              </a:spcBef>
            </a:pPr>
            <a:r>
              <a:rPr sz="1300" b="1" i="0">
                <a:solidFill>
                  <a:srgbClr val="2E8B57"/>
                </a:solidFill>
                <a:latin typeface="Calibri"/>
              </a:rPr>
              <a:t>PSI ≈ 0.010   →   GREEN (all clear)</a:t>
            </a:r>
          </a:p>
        </p:txBody>
      </p:sp>
      <p:sp>
        <p:nvSpPr>
          <p:cNvPr id="12" name="Rectangle 11"/>
          <p:cNvSpPr/>
          <p:nvPr/>
        </p:nvSpPr>
        <p:spPr>
          <a:xfrm>
            <a:off x="6245847" y="2200000"/>
            <a:ext cx="5488647" cy="5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5847" y="2200000"/>
            <a:ext cx="91440" cy="5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5847" y="2200000"/>
            <a:ext cx="1600000" cy="560000"/>
          </a:xfrm>
          <a:prstGeom prst="rect">
            <a:avLst/>
          </a:prstGeom>
          <a:noFill/>
        </p:spPr>
        <p:txBody>
          <a:bodyPr wrap="square" anchor="ctr">
            <a:spAutoFit/>
          </a:bodyPr>
          <a:lstStyle/>
          <a:p>
            <a:pPr algn="l">
              <a:spcBef>
                <a:spcPts val="0"/>
              </a:spcBef>
              <a:spcAft>
                <a:spcPts val="0"/>
              </a:spcAft>
            </a:pPr>
            <a:r>
              <a:rPr sz="1600" b="1" i="0">
                <a:solidFill>
                  <a:srgbClr val="2E8B57"/>
                </a:solidFill>
                <a:latin typeface="Segoe UI"/>
              </a:rPr>
              <a:t>GREEN</a:t>
            </a:r>
          </a:p>
        </p:txBody>
      </p:sp>
      <p:sp>
        <p:nvSpPr>
          <p:cNvPr id="15" name="TextBox 14"/>
          <p:cNvSpPr txBox="1"/>
          <p:nvPr/>
        </p:nvSpPr>
        <p:spPr>
          <a:xfrm>
            <a:off x="8145847" y="2200000"/>
            <a:ext cx="3488647" cy="560000"/>
          </a:xfrm>
          <a:prstGeom prst="rect">
            <a:avLst/>
          </a:prstGeom>
          <a:noFill/>
        </p:spPr>
        <p:txBody>
          <a:bodyPr wrap="square" anchor="ctr">
            <a:spAutoFit/>
          </a:bodyPr>
          <a:lstStyle/>
          <a:p>
            <a:pPr algn="l">
              <a:spcBef>
                <a:spcPts val="0"/>
              </a:spcBef>
              <a:spcAft>
                <a:spcPts val="0"/>
              </a:spcAft>
            </a:pPr>
            <a:r>
              <a:rPr sz="1400" b="1" i="0">
                <a:solidFill>
                  <a:srgbClr val="262626"/>
                </a:solidFill>
                <a:latin typeface="Calibri"/>
              </a:rPr>
              <a:t>PSI &lt; 0.10</a:t>
            </a:r>
          </a:p>
        </p:txBody>
      </p:sp>
      <p:sp>
        <p:nvSpPr>
          <p:cNvPr id="16" name="Rectangle 15"/>
          <p:cNvSpPr/>
          <p:nvPr/>
        </p:nvSpPr>
        <p:spPr>
          <a:xfrm>
            <a:off x="6245847" y="2850000"/>
            <a:ext cx="5488647" cy="56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847" y="2850000"/>
            <a:ext cx="91440" cy="56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5847" y="2850000"/>
            <a:ext cx="1600000" cy="560000"/>
          </a:xfrm>
          <a:prstGeom prst="rect">
            <a:avLst/>
          </a:prstGeom>
          <a:noFill/>
        </p:spPr>
        <p:txBody>
          <a:bodyPr wrap="square" anchor="ctr">
            <a:spAutoFit/>
          </a:bodyPr>
          <a:lstStyle/>
          <a:p>
            <a:pPr algn="l">
              <a:spcBef>
                <a:spcPts val="0"/>
              </a:spcBef>
              <a:spcAft>
                <a:spcPts val="0"/>
              </a:spcAft>
            </a:pPr>
            <a:r>
              <a:rPr sz="1600" b="1" i="0">
                <a:solidFill>
                  <a:srgbClr val="E6A62E"/>
                </a:solidFill>
                <a:latin typeface="Segoe UI"/>
              </a:rPr>
              <a:t>AMBER</a:t>
            </a:r>
          </a:p>
        </p:txBody>
      </p:sp>
      <p:sp>
        <p:nvSpPr>
          <p:cNvPr id="19" name="TextBox 18"/>
          <p:cNvSpPr txBox="1"/>
          <p:nvPr/>
        </p:nvSpPr>
        <p:spPr>
          <a:xfrm>
            <a:off x="8145847" y="2850000"/>
            <a:ext cx="3488647" cy="560000"/>
          </a:xfrm>
          <a:prstGeom prst="rect">
            <a:avLst/>
          </a:prstGeom>
          <a:noFill/>
        </p:spPr>
        <p:txBody>
          <a:bodyPr wrap="square" anchor="ctr">
            <a:spAutoFit/>
          </a:bodyPr>
          <a:lstStyle/>
          <a:p>
            <a:pPr algn="l">
              <a:spcBef>
                <a:spcPts val="0"/>
              </a:spcBef>
              <a:spcAft>
                <a:spcPts val="0"/>
              </a:spcAft>
            </a:pPr>
            <a:r>
              <a:rPr sz="1400" b="1" i="0">
                <a:solidFill>
                  <a:srgbClr val="262626"/>
                </a:solidFill>
                <a:latin typeface="Calibri"/>
              </a:rPr>
              <a:t>0.10 – 0.25</a:t>
            </a:r>
          </a:p>
        </p:txBody>
      </p:sp>
      <p:sp>
        <p:nvSpPr>
          <p:cNvPr id="20" name="Rectangle 19"/>
          <p:cNvSpPr/>
          <p:nvPr/>
        </p:nvSpPr>
        <p:spPr>
          <a:xfrm>
            <a:off x="6245847" y="3500000"/>
            <a:ext cx="5488647" cy="56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3500000"/>
            <a:ext cx="91440" cy="560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5847" y="3500000"/>
            <a:ext cx="1600000" cy="560000"/>
          </a:xfrm>
          <a:prstGeom prst="rect">
            <a:avLst/>
          </a:prstGeom>
          <a:noFill/>
        </p:spPr>
        <p:txBody>
          <a:bodyPr wrap="square" anchor="ctr">
            <a:spAutoFit/>
          </a:bodyPr>
          <a:lstStyle/>
          <a:p>
            <a:pPr algn="l">
              <a:spcBef>
                <a:spcPts val="0"/>
              </a:spcBef>
              <a:spcAft>
                <a:spcPts val="0"/>
              </a:spcAft>
            </a:pPr>
            <a:r>
              <a:rPr sz="1600" b="1" i="0">
                <a:solidFill>
                  <a:srgbClr val="D93B3B"/>
                </a:solidFill>
                <a:latin typeface="Segoe UI"/>
              </a:rPr>
              <a:t>RED</a:t>
            </a:r>
          </a:p>
        </p:txBody>
      </p:sp>
      <p:sp>
        <p:nvSpPr>
          <p:cNvPr id="23" name="TextBox 22"/>
          <p:cNvSpPr txBox="1"/>
          <p:nvPr/>
        </p:nvSpPr>
        <p:spPr>
          <a:xfrm>
            <a:off x="8145847" y="3500000"/>
            <a:ext cx="3488647" cy="560000"/>
          </a:xfrm>
          <a:prstGeom prst="rect">
            <a:avLst/>
          </a:prstGeom>
          <a:noFill/>
        </p:spPr>
        <p:txBody>
          <a:bodyPr wrap="square" anchor="ctr">
            <a:spAutoFit/>
          </a:bodyPr>
          <a:lstStyle/>
          <a:p>
            <a:pPr algn="l">
              <a:spcBef>
                <a:spcPts val="0"/>
              </a:spcBef>
              <a:spcAft>
                <a:spcPts val="0"/>
              </a:spcAft>
            </a:pPr>
            <a:r>
              <a:rPr sz="1400" b="1" i="0">
                <a:solidFill>
                  <a:srgbClr val="262626"/>
                </a:solidFill>
                <a:latin typeface="Calibri"/>
              </a:rPr>
              <a:t>PSI &gt; 0.25</a:t>
            </a:r>
          </a:p>
        </p:txBody>
      </p:sp>
      <p:sp>
        <p:nvSpPr>
          <p:cNvPr id="24" name="TextBox 23"/>
          <p:cNvSpPr txBox="1"/>
          <p:nvPr/>
        </p:nvSpPr>
        <p:spPr>
          <a:xfrm>
            <a:off x="6245847" y="4190000"/>
            <a:ext cx="5488647" cy="70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Our result (EXP-006, 20 seeds):</a:t>
            </a:r>
          </a:p>
          <a:p>
            <a:pPr algn="l">
              <a:spcBef>
                <a:spcPts val="600"/>
              </a:spcBef>
            </a:pPr>
            <a:r>
              <a:rPr sz="1300" b="0" i="0">
                <a:solidFill>
                  <a:srgbClr val="262626"/>
                </a:solidFill>
                <a:latin typeface="Calibri"/>
              </a:rPr>
              <a:t>Region 0.082 (GREEN) · Occupation 0.123 (AMBER)</a:t>
            </a:r>
          </a:p>
        </p:txBody>
      </p:sp>
      <p:sp>
        <p:nvSpPr>
          <p:cNvPr id="25" name="TextBox 24"/>
          <p:cNvSpPr txBox="1"/>
          <p:nvPr/>
        </p:nvSpPr>
        <p:spPr>
          <a:xfrm>
            <a:off x="457200" y="5100000"/>
            <a:ext cx="11277295" cy="7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PSI is a monitor, not an enforcer: it detects drift but does not change the policy. An enforcement layer is future work.</a:t>
            </a:r>
          </a:p>
        </p:txBody>
      </p:sp>
      <p:sp>
        <p:nvSpPr>
          <p:cNvPr id="26" name="Rectangle 2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8" name="Rectangle 2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30" name="Rectangle 2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34 /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