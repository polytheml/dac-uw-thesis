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4320"/>
            <a:ext cx="914400" cy="901541"/>
          </a:xfrm>
          <a:prstGeom prst="rect">
            <a:avLst/>
          </a:prstGeom>
        </p:spPr>
      </p:pic>
      <p:pic>
        <p:nvPicPr>
          <p:cNvPr id="4" name="Picture 3" descr="A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365760"/>
            <a:ext cx="1325880" cy="1256418"/>
          </a:xfrm>
          <a:prstGeom prst="rect">
            <a:avLst/>
          </a:prstGeom>
        </p:spPr>
      </p:pic>
      <p:pic>
        <p:nvPicPr>
          <p:cNvPr id="5" name="Picture 4" descr="DA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2720" y="320040"/>
            <a:ext cx="1325880" cy="7458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108960" y="38404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62626"/>
                </a:solidFill>
                <a:latin typeface="Segoe UI"/>
              </a:rPr>
              <a:t>Institute of Technology of Cambodia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841248"/>
            <a:ext cx="6583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05050"/>
                </a:solidFill>
                <a:latin typeface="Calibri"/>
              </a:rPr>
              <a:t>Department of Applied Mathematics and Statistics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353312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  <a:latin typeface="Calibri"/>
              </a:rPr>
              <a:t>Introduction  ·  Literature  ·  System Design  ·  Implementation  ·  Results  ·  Conclusion  ·  Demonstration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13248" y="1874519"/>
            <a:ext cx="1371600" cy="41148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148840"/>
            <a:ext cx="105156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62626"/>
                </a:solidFill>
                <a:latin typeface="Segoe UI"/>
              </a:rPr>
              <a:t>ADAPTIVE HEALTH INSURANCE UNDERWRITING VIA CONTEXTUAL BANDITS: A REINFORCEMENT LEARNING APPROACH FOR CAMBODIA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13248" y="3886200"/>
            <a:ext cx="1371600" cy="41148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0" y="4224528"/>
            <a:ext cx="121916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505050"/>
                </a:solidFill>
                <a:latin typeface="Calibri"/>
              </a:rPr>
              <a:t>Thesis Defense — Presented by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0" y="4535424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5697"/>
                </a:solidFill>
                <a:latin typeface="Segoe UI"/>
              </a:rPr>
              <a:t>LUN CHANPOLY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5193792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62626"/>
                </a:solidFill>
                <a:latin typeface="Calibri"/>
              </a:rPr>
              <a:t>Supervisor   :  Dr. HAS Sothea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5193792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62626"/>
                </a:solidFill>
                <a:latin typeface="Calibri"/>
              </a:rPr>
              <a:t>Organization  :  DAC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522976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62626"/>
                </a:solidFill>
                <a:latin typeface="Calibri"/>
              </a:rPr>
              <a:t>Duration       :  Mar 2026 – Jun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5522976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62626"/>
                </a:solidFill>
                <a:latin typeface="Calibri"/>
              </a:rPr>
              <a:t>DAC Advisor  :  Mr. ON Radet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0" y="6035040"/>
            <a:ext cx="1219169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05050"/>
                </a:solidFill>
                <a:latin typeface="Calibri"/>
              </a:rPr>
              <a:t>8 July 2026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Title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 July 2026  ·  – / 35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0000"/>
            <a:ext cx="11277295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TABLE OF 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80000"/>
            <a:ext cx="560000" cy="56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7200" y="1180000"/>
            <a:ext cx="520000" cy="56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7200" y="1180000"/>
            <a:ext cx="10477295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B5697"/>
                </a:solidFill>
                <a:latin typeface="Calibri"/>
              </a:rPr>
              <a:t>Introduction &amp; Problem Background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80000"/>
            <a:ext cx="560000" cy="56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7200" y="1880000"/>
            <a:ext cx="520000" cy="56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7200" y="1880000"/>
            <a:ext cx="10477295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B5697"/>
                </a:solidFill>
                <a:latin typeface="Calibri"/>
              </a:rPr>
              <a:t>Literature Review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580000"/>
            <a:ext cx="560000" cy="56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7200" y="2580000"/>
            <a:ext cx="520000" cy="56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iii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7200" y="2580000"/>
            <a:ext cx="10477295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B5697"/>
                </a:solidFill>
                <a:latin typeface="Calibri"/>
              </a:rPr>
              <a:t>System Design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80000"/>
            <a:ext cx="560000" cy="56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200" y="3280000"/>
            <a:ext cx="520000" cy="56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iv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7200" y="3280000"/>
            <a:ext cx="10477295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B5697"/>
                </a:solidFill>
                <a:latin typeface="Calibri"/>
              </a:rPr>
              <a:t>Implementation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980000"/>
            <a:ext cx="560000" cy="56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200" y="3980000"/>
            <a:ext cx="520000" cy="56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7200" y="3980000"/>
            <a:ext cx="10477295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B5697"/>
                </a:solidFill>
                <a:latin typeface="Calibri"/>
              </a:rPr>
              <a:t>Results &amp; Discussion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680000"/>
            <a:ext cx="560000" cy="56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200" y="4680000"/>
            <a:ext cx="520000" cy="56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vi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7200" y="4680000"/>
            <a:ext cx="10477295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B5697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380000"/>
            <a:ext cx="560000" cy="56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200" y="5380000"/>
            <a:ext cx="520000" cy="56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vii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7200" y="5380000"/>
            <a:ext cx="10477295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B5697"/>
                </a:solidFill>
                <a:latin typeface="Calibri"/>
              </a:rPr>
              <a:t>Demonstration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Contents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 July 2026  ·  – / 35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741670" cy="3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i. Introduction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74167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4167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ii. Literature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348334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334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iii. System Design</a:t>
            </a:r>
          </a:p>
        </p:txBody>
      </p:sp>
      <p:sp>
        <p:nvSpPr>
          <p:cNvPr id="9" name="Rectangle 8"/>
          <p:cNvSpPr/>
          <p:nvPr/>
        </p:nvSpPr>
        <p:spPr>
          <a:xfrm>
            <a:off x="522501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2501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iv. Implementation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6668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668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v. Results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0835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0835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vi. Conclusion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450020" y="0"/>
            <a:ext cx="1741675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50020" y="0"/>
            <a:ext cx="1741675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vii. Demo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30000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80000"/>
            <a:ext cx="11277295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A MARKET THE SYSTEM WAS NOT BUILT FOR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ambodia_map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5847" y="1420000"/>
            <a:ext cx="3900000" cy="2968696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457200" y="1420000"/>
            <a:ext cx="3000000" cy="136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7200" y="1500000"/>
            <a:ext cx="2760000" cy="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Segoe UI"/>
              </a:rPr>
              <a:t>&lt; 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7200" y="2320000"/>
            <a:ext cx="27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BDCEE4"/>
                </a:solidFill>
                <a:latin typeface="Calibri"/>
              </a:rPr>
              <a:t>have any health insurance (2023 est.)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000000"/>
            <a:ext cx="3000000" cy="108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000000"/>
            <a:ext cx="73152" cy="108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7200" y="3110000"/>
            <a:ext cx="2760000" cy="8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Calibri"/>
              </a:rPr>
              <a:t>The state scheme (NSSF) covers formal-sector workers only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— roughly 16% of the population.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734495" y="2200000"/>
            <a:ext cx="3000000" cy="108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734495" y="2200000"/>
            <a:ext cx="73152" cy="108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04495" y="2310000"/>
            <a:ext cx="2760000" cy="8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Calibri"/>
              </a:rPr>
              <a:t>Everyone else is underwritten by hand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— fixed rules, no learning, no fairness check.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700000"/>
            <a:ext cx="11277295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Calibri"/>
              </a:rPr>
              <a:t>This is the 98% the current system was not built for.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980000"/>
            <a:ext cx="11277295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  <a:latin typeface="Calibri"/>
              </a:rPr>
              <a:t>Sources: ILO (2023) · Cambodia Demographic &amp; Health Survey (2021-22).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Introduction &amp; Problem Background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 July 2026  ·  3 / 35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741670" cy="3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i. Introduction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74167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4167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ii. Literature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348334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334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iii. System Design</a:t>
            </a:r>
          </a:p>
        </p:txBody>
      </p:sp>
      <p:sp>
        <p:nvSpPr>
          <p:cNvPr id="9" name="Rectangle 8"/>
          <p:cNvSpPr/>
          <p:nvPr/>
        </p:nvSpPr>
        <p:spPr>
          <a:xfrm>
            <a:off x="522501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2501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iv. Implementation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6668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668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v. Results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0835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0835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vi. Conclusion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450020" y="0"/>
            <a:ext cx="1741675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50020" y="0"/>
            <a:ext cx="1741675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vii. Demo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30000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80000"/>
            <a:ext cx="11277295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MEET SOPHEA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1120000"/>
            <a:ext cx="5200000" cy="5237376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1120000"/>
            <a:ext cx="91440" cy="52373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00" y="1260000"/>
            <a:ext cx="500000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Calibri"/>
              </a:rPr>
              <a:t>SOPHEA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00" y="1760000"/>
            <a:ext cx="500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04040"/>
                </a:solidFill>
                <a:latin typeface="Calibri"/>
              </a:rPr>
              <a:t>Age 43  ·  Other Provinces  ·  Garment Worker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00" y="2200000"/>
            <a:ext cx="4950000" cy="2743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7200" y="2300000"/>
            <a:ext cx="5000000" cy="3937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400" b="1">
                <a:solidFill>
                  <a:srgbClr val="1B5697"/>
                </a:solidFill>
              </a:rPr>
              <a:t>BMI:  </a:t>
            </a:r>
            <a:r>
              <a:rPr sz="1400">
                <a:solidFill>
                  <a:srgbClr val="505050"/>
                </a:solidFill>
              </a:rPr>
              <a:t>25.7</a:t>
            </a:r>
          </a:p>
          <a:p>
            <a:pPr>
              <a:spcBef>
                <a:spcPts val="1000"/>
              </a:spcBef>
            </a:pPr>
            <a:r>
              <a:rPr sz="1400" b="1">
                <a:solidFill>
                  <a:srgbClr val="1B5697"/>
                </a:solidFill>
              </a:rPr>
              <a:t>Smoker:  </a:t>
            </a:r>
            <a:r>
              <a:rPr sz="1400">
                <a:solidFill>
                  <a:srgbClr val="505050"/>
                </a:solidFill>
              </a:rPr>
              <a:t>No</a:t>
            </a:r>
          </a:p>
          <a:p>
            <a:pPr>
              <a:spcBef>
                <a:spcPts val="1000"/>
              </a:spcBef>
            </a:pPr>
            <a:r>
              <a:rPr sz="1400" b="1">
                <a:solidFill>
                  <a:srgbClr val="1B5697"/>
                </a:solidFill>
              </a:rPr>
              <a:t>Physical Activity:  </a:t>
            </a:r>
            <a:r>
              <a:rPr sz="1400">
                <a:solidFill>
                  <a:srgbClr val="505050"/>
                </a:solidFill>
              </a:rPr>
              <a:t>Low  (sedentary factory work)</a:t>
            </a:r>
          </a:p>
          <a:p>
            <a:pPr>
              <a:spcBef>
                <a:spcPts val="1000"/>
              </a:spcBef>
            </a:pPr>
            <a:r>
              <a:rPr sz="1400" b="1">
                <a:solidFill>
                  <a:srgbClr val="1B5697"/>
                </a:solidFill>
              </a:rPr>
              <a:t>Clinical Flag:  </a:t>
            </a:r>
            <a:r>
              <a:rPr sz="1400">
                <a:solidFill>
                  <a:srgbClr val="505050"/>
                </a:solidFill>
              </a:rPr>
              <a:t>Hypertension  (managed)</a:t>
            </a:r>
          </a:p>
          <a:p>
            <a:pPr>
              <a:spcBef>
                <a:spcPts val="1000"/>
              </a:spcBef>
            </a:pPr>
            <a:r>
              <a:rPr sz="1400" b="1">
                <a:solidFill>
                  <a:srgbClr val="1B5697"/>
                </a:solidFill>
              </a:rPr>
              <a:t>Wealth Index:  </a:t>
            </a:r>
            <a:r>
              <a:rPr sz="1400">
                <a:solidFill>
                  <a:srgbClr val="505050"/>
                </a:solidFill>
              </a:rPr>
              <a:t>Middle</a:t>
            </a:r>
          </a:p>
          <a:p>
            <a:pPr>
              <a:spcBef>
                <a:spcPts val="1000"/>
              </a:spcBef>
            </a:pPr>
            <a:r>
              <a:rPr sz="1400" b="1">
                <a:solidFill>
                  <a:srgbClr val="1B5697"/>
                </a:solidFill>
              </a:rPr>
              <a:t>Education:  </a:t>
            </a:r>
            <a:r>
              <a:rPr sz="1400">
                <a:solidFill>
                  <a:srgbClr val="505050"/>
                </a:solidFill>
              </a:rPr>
              <a:t>Secondary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37200" y="1200000"/>
            <a:ext cx="6054495" cy="1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505050"/>
                </a:solidFill>
                <a:latin typeface="Calibri"/>
              </a:rPr>
              <a:t>In 2023 she applies for voluntary health insurance.
The static system predicts her mortality risk from her full profile.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37200" y="2670000"/>
            <a:ext cx="6054495" cy="55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937200" y="2670000"/>
            <a:ext cx="73152" cy="550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67200" y="2800000"/>
            <a:ext cx="5894495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D4E00"/>
                </a:solidFill>
                <a:latin typeface="Calibri"/>
              </a:rPr>
              <a:t>PREDICTED MORTALITY:  1.83×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37200" y="3340000"/>
            <a:ext cx="6054495" cy="55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937200" y="3340000"/>
            <a:ext cx="73152" cy="550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67200" y="3470000"/>
            <a:ext cx="5894495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D4E00"/>
                </a:solidFill>
                <a:latin typeface="Calibri"/>
              </a:rPr>
              <a:t>FIXED BAND:  1.5×–2.2× → RATED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37200" y="3970000"/>
            <a:ext cx="6054495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505050"/>
                </a:solidFill>
                <a:latin typeface="Calibri"/>
              </a:rPr>
              <a:t>The threshold band decides. In 2023 the system offers: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37200" y="4370000"/>
            <a:ext cx="6054495" cy="82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937200" y="4370000"/>
            <a:ext cx="109728" cy="820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07200" y="4530000"/>
            <a:ext cx="5854495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E6A62E"/>
                </a:solidFill>
                <a:latin typeface="Calibri"/>
              </a:rPr>
              <a:t>RATED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37200" y="5350000"/>
            <a:ext cx="6054495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505050"/>
                </a:solidFill>
                <a:latin typeface="Calibri"/>
              </a:rPr>
              <a:t>Sophea gets covered — but pays a loaded premium.</a:t>
            </a:r>
          </a:p>
          <a:p>
            <a:pPr algn="l">
              <a:spcBef>
                <a:spcPts val="800"/>
              </a:spcBef>
            </a:pPr>
            <a:r>
              <a:rPr sz="1500" b="1" i="0">
                <a:solidFill>
                  <a:srgbClr val="1B5697"/>
                </a:solidFill>
                <a:latin typeface="Calibri"/>
              </a:rPr>
              <a:t>Was that the right price?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Introduction &amp; Problem Background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 July 2026  ·  4 / 35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741670" cy="3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i. Introduction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74167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4167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ii. Literature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348334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334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iii. System Design</a:t>
            </a:r>
          </a:p>
        </p:txBody>
      </p:sp>
      <p:sp>
        <p:nvSpPr>
          <p:cNvPr id="9" name="Rectangle 8"/>
          <p:cNvSpPr/>
          <p:nvPr/>
        </p:nvSpPr>
        <p:spPr>
          <a:xfrm>
            <a:off x="522501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2501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iv. Implementation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6668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668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v. Results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0835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0835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vi. Conclusion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450020" y="0"/>
            <a:ext cx="1741675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50020" y="0"/>
            <a:ext cx="1741675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vii. Demo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30000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80000"/>
            <a:ext cx="11277295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WHY STATIC RULES FAIL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1120000"/>
            <a:ext cx="11277295" cy="6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Getting the risk right isn't the same as getting the price right —</a:t>
            </a:r>
          </a:p>
          <a:p>
            <a:pPr algn="ctr">
              <a:spcBef>
                <a:spcPts val="400"/>
              </a:spcBef>
            </a:pPr>
            <a:r>
              <a:rPr sz="1800" b="0" i="1">
                <a:solidFill>
                  <a:srgbClr val="505050"/>
                </a:solidFill>
                <a:latin typeface="Calibri"/>
              </a:rPr>
              <a:t>and a fixed rule can't tell the difference.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050000"/>
            <a:ext cx="3559098" cy="355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2050000"/>
            <a:ext cx="3559098" cy="82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7200" y="2280000"/>
            <a:ext cx="3309098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B5697"/>
                </a:solidFill>
                <a:latin typeface="Segoe UI"/>
              </a:rPr>
              <a:t>Fixed cutoffs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7200" y="2900000"/>
            <a:ext cx="3309098" cy="2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62626"/>
                </a:solidFill>
                <a:latin typeface="Calibri"/>
              </a:rPr>
              <a:t>Its risk estimate for Sophea is accurate — 1.83× against a true 1.84×. But a fixed band can't weigh whether a loaded premium is still worth offering — it just applies the same cutoff to everyone in the band.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16298" y="2050000"/>
            <a:ext cx="3559098" cy="355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16298" y="2050000"/>
            <a:ext cx="3559098" cy="82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66298" y="2280000"/>
            <a:ext cx="3309098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B5697"/>
                </a:solidFill>
                <a:latin typeface="Segoe UI"/>
              </a:rPr>
              <a:t>Never updates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66298" y="2900000"/>
            <a:ext cx="3309098" cy="2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62626"/>
                </a:solidFill>
                <a:latin typeface="Calibri"/>
              </a:rPr>
              <a:t>Claims come back over the years, but the rule stays frozen. It repeats the same pricing mistake on the next Sophea, and the next.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75396" y="2050000"/>
            <a:ext cx="3559098" cy="355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75396" y="2050000"/>
            <a:ext cx="3559098" cy="82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5396" y="2280000"/>
            <a:ext cx="3309098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B5697"/>
                </a:solidFill>
                <a:latin typeface="Segoe UI"/>
              </a:rPr>
              <a:t>Nobody checks fairness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5396" y="2900000"/>
            <a:ext cx="3309098" cy="2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62626"/>
                </a:solidFill>
                <a:latin typeface="Calibri"/>
              </a:rPr>
              <a:t>No one tracks whether whole regions or occupations are being quietly shut out. Bias can build up unseen.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Introduction &amp; Problem Background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 July 2026  ·  5 / 35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741670" cy="3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i. Introduction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74167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4167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ii. Literature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348334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334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iii. System Design</a:t>
            </a:r>
          </a:p>
        </p:txBody>
      </p:sp>
      <p:sp>
        <p:nvSpPr>
          <p:cNvPr id="9" name="Rectangle 8"/>
          <p:cNvSpPr/>
          <p:nvPr/>
        </p:nvSpPr>
        <p:spPr>
          <a:xfrm>
            <a:off x="522501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2501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iv. Implementation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6668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668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v. Results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0835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0835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vi. Conclusion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450020" y="0"/>
            <a:ext cx="1741675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50020" y="0"/>
            <a:ext cx="1741675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vii. Demo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30000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80000"/>
            <a:ext cx="11277295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GOAL &amp; OBJECTIVES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1120000"/>
            <a:ext cx="11277295" cy="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B5697"/>
                </a:solidFill>
                <a:latin typeface="Calibri"/>
              </a:rPr>
              <a:t>Can a system that learns from every decision underwrite better — and stay fair — than today's fixed rules?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900000"/>
            <a:ext cx="620000" cy="52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7200" y="1900000"/>
            <a:ext cx="580000" cy="52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RQ1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7200" y="1900000"/>
            <a:ext cx="10457295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62626"/>
                </a:solidFill>
                <a:latin typeface="Calibri"/>
              </a:rPr>
              <a:t>Does a learning system earn more, and make fewer mistakes, than the fixed-rule baseline?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510000"/>
            <a:ext cx="620000" cy="52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7200" y="2510000"/>
            <a:ext cx="580000" cy="52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RQ2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7200" y="2510000"/>
            <a:ext cx="10457295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62626"/>
                </a:solidFill>
                <a:latin typeface="Calibri"/>
              </a:rPr>
              <a:t>Does it stay fair across regions and occupations — without being told to?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120000"/>
            <a:ext cx="620000" cy="52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7200" y="3120000"/>
            <a:ext cx="580000" cy="52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RQ3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17200" y="3120000"/>
            <a:ext cx="10457295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62626"/>
                </a:solidFill>
                <a:latin typeface="Calibri"/>
              </a:rPr>
              <a:t>Which learning method works best (LinTS, LinUCB, ε-Greedy)?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3800000"/>
            <a:ext cx="11277295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6FC4"/>
                </a:solidFill>
                <a:latin typeface="Calibri"/>
              </a:rPr>
              <a:t>WHY IT MATTERS — CAMBODIA'S SDGs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160000"/>
            <a:ext cx="3612431" cy="9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4160000"/>
            <a:ext cx="1120000" cy="9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4310000"/>
            <a:ext cx="1120000" cy="3800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SDG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4680000"/>
            <a:ext cx="1120000" cy="32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DCEE4"/>
                </a:solidFill>
                <a:latin typeface="Calibri"/>
              </a:rPr>
              <a:t>Good Health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97200" y="4340000"/>
            <a:ext cx="2272431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Widen coverage beyond the formal sector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89631" y="4160000"/>
            <a:ext cx="3612431" cy="9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89631" y="4160000"/>
            <a:ext cx="1120000" cy="9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89631" y="4310000"/>
            <a:ext cx="1120000" cy="3800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SDG 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89631" y="4680000"/>
            <a:ext cx="1120000" cy="32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DCEE4"/>
                </a:solidFill>
                <a:latin typeface="Calibri"/>
              </a:rPr>
              <a:t>No Poverty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29631" y="4340000"/>
            <a:ext cx="2272431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Shield families from catastrophic health costs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2062" y="4160000"/>
            <a:ext cx="3612431" cy="9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122062" y="4160000"/>
            <a:ext cx="1120000" cy="9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22062" y="4310000"/>
            <a:ext cx="1120000" cy="3800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SDG 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22062" y="4680000"/>
            <a:ext cx="1120000" cy="32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DCEE4"/>
                </a:solidFill>
                <a:latin typeface="Calibri"/>
              </a:rPr>
              <a:t>Less Inequality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62062" y="4340000"/>
            <a:ext cx="2272431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Keep underwriting demographically fair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Introduction &amp; Problem Background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 July 2026  ·  6 / 35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741670" cy="3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i. Introduction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74167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4167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ii. Literature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348334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334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iii. System Design</a:t>
            </a:r>
          </a:p>
        </p:txBody>
      </p:sp>
      <p:sp>
        <p:nvSpPr>
          <p:cNvPr id="9" name="Rectangle 8"/>
          <p:cNvSpPr/>
          <p:nvPr/>
        </p:nvSpPr>
        <p:spPr>
          <a:xfrm>
            <a:off x="522501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2501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iv. Implementation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6668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668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v. Results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0835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0835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vi. Conclusion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450020" y="0"/>
            <a:ext cx="1741675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50020" y="0"/>
            <a:ext cx="1741675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vii. Demo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30000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80000"/>
            <a:ext cx="11277295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ABOUT DECENT ACTUARIAL CONSULTANTS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1200000"/>
            <a:ext cx="3900000" cy="5157376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1200000"/>
            <a:ext cx="91440" cy="51573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A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200" y="1480000"/>
            <a:ext cx="3200000" cy="1800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37200" y="3530000"/>
            <a:ext cx="3540000" cy="2727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62626"/>
                </a:solidFill>
                <a:latin typeface="Calibri"/>
              </a:rPr>
              <a:t>Taipei-headquartered actuarial consultancy — Taiwan, Vietnam, Cambodia &amp; wider SE Asia.
Thesis completed during a 3-month internship (Mar–Jun 2026), DAC Phnom Penh office.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37200" y="1200000"/>
            <a:ext cx="7097295" cy="784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637200" y="1200000"/>
            <a:ext cx="91440" cy="784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87200" y="1320000"/>
            <a:ext cx="6917295" cy="5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05050"/>
                </a:solidFill>
                <a:latin typeface="Calibri"/>
              </a:rPr>
              <a:t>Appointed Actuary Services — Life &amp; General Insurance, Southeast Asia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37200" y="2074000"/>
            <a:ext cx="7097295" cy="784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37200" y="2074000"/>
            <a:ext cx="91440" cy="784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87200" y="2194000"/>
            <a:ext cx="6917295" cy="5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05050"/>
                </a:solidFill>
                <a:latin typeface="Calibri"/>
              </a:rPr>
              <a:t>IFRS 17 Implementation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37200" y="2948000"/>
            <a:ext cx="7097295" cy="784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637200" y="2948000"/>
            <a:ext cx="91440" cy="784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87200" y="3068000"/>
            <a:ext cx="6917295" cy="5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05050"/>
                </a:solidFill>
                <a:latin typeface="Calibri"/>
              </a:rPr>
              <a:t>Product Development — Life &amp; General Insurance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37200" y="3822000"/>
            <a:ext cx="7097295" cy="784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637200" y="3822000"/>
            <a:ext cx="91440" cy="784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87200" y="3942000"/>
            <a:ext cx="6917295" cy="5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05050"/>
                </a:solidFill>
                <a:latin typeface="Calibri"/>
              </a:rPr>
              <a:t>Asset–Liability Management &amp; Enterprise Risk Management (ALM/ERM)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37200" y="4696000"/>
            <a:ext cx="7097295" cy="784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637200" y="4696000"/>
            <a:ext cx="91440" cy="784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87200" y="4816000"/>
            <a:ext cx="6917295" cy="5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05050"/>
                </a:solidFill>
                <a:latin typeface="Calibri"/>
              </a:rPr>
              <a:t>Mergers &amp; Acquisitions Advisory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37200" y="5570000"/>
            <a:ext cx="7097295" cy="784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637200" y="5570000"/>
            <a:ext cx="91440" cy="784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87200" y="5690000"/>
            <a:ext cx="6917295" cy="5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05050"/>
                </a:solidFill>
                <a:latin typeface="Calibri"/>
              </a:rPr>
              <a:t>Education &amp; Cooperation — University partnerships, government-academia-industry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Introduction &amp; Problem Background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 July 2026  ·  7 / 35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741670" cy="3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i. Introduction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74167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4167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ii. Literature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348334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334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iii. System Design</a:t>
            </a:r>
          </a:p>
        </p:txBody>
      </p:sp>
      <p:sp>
        <p:nvSpPr>
          <p:cNvPr id="9" name="Rectangle 8"/>
          <p:cNvSpPr/>
          <p:nvPr/>
        </p:nvSpPr>
        <p:spPr>
          <a:xfrm>
            <a:off x="522501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2501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iv. Implementation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6668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668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v. Results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0835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0835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vi. Conclusion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450020" y="0"/>
            <a:ext cx="1741675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50020" y="0"/>
            <a:ext cx="1741675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vii. Demo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30000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80000"/>
            <a:ext cx="11277295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PROJECT TIMELINE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fig_project_timeline_3mon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0074" y="1180000"/>
            <a:ext cx="8191547" cy="4650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980000"/>
            <a:ext cx="11277295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05050"/>
                </a:solidFill>
                <a:latin typeface="Calibri"/>
              </a:rPr>
              <a:t>A three-month internship: research &amp; modelling → experiments → engineering → writing &amp; defense.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Introduction &amp; Problem Background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 July 2026  ·  8 / 35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i. Introduction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741670" y="0"/>
            <a:ext cx="1741670" cy="3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4167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ii. Literature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348334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334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iii. System Design</a:t>
            </a:r>
          </a:p>
        </p:txBody>
      </p:sp>
      <p:sp>
        <p:nvSpPr>
          <p:cNvPr id="9" name="Rectangle 8"/>
          <p:cNvSpPr/>
          <p:nvPr/>
        </p:nvSpPr>
        <p:spPr>
          <a:xfrm>
            <a:off x="522501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2501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iv. Implementation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6668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668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v. Results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0835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0835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vi. Conclusion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450020" y="0"/>
            <a:ext cx="1741675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50020" y="0"/>
            <a:ext cx="1741675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vii. Demo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30000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80000"/>
            <a:ext cx="11277295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THE LITERATURE, IN ONE TABLE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1120000"/>
            <a:ext cx="11277295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505050"/>
                </a:solidFill>
                <a:latin typeface="Calibri"/>
              </a:rPr>
              <a:t>Four bodies of work meet in this thesis: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57200" y="1560000"/>
          <a:ext cx="11277295" cy="34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0000"/>
                <a:gridCol w="3200000"/>
                <a:gridCol w="5177295"/>
              </a:tblGrid>
              <a:tr h="690000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Topic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Key sources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What it tells us (plain words)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</a:tr>
              <a:tr h="69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5697"/>
                          </a:solidFill>
                        </a:rPr>
                        <a:t>Health insurance in</a:t>
                      </a:r>
                    </a:p>
                    <a:p>
                      <a:r>
                        <a:rPr sz="1200" b="1">
                          <a:solidFill>
                            <a:srgbClr val="1B5697"/>
                          </a:solidFill>
                        </a:rPr>
                        <a:t>emerging markets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CDHS 2021-22 · ILO 2023 · ADB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Cambodia is barely insured (&lt;2%); the state scheme reaches only formal workers.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69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5697"/>
                          </a:solidFill>
                        </a:rPr>
                        <a:t>Contextual bandits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Li et al. 2010 (LinUCB)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Agrawal &amp; Goyal 2013 (LinTS)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Learn which action pays off, one decision at a time — no big offline dataset needed.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9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5697"/>
                          </a:solidFill>
                        </a:rPr>
                        <a:t>Fairness &amp; drift</a:t>
                      </a:r>
                    </a:p>
                    <a:p>
                      <a:r>
                        <a:rPr sz="1200" b="1">
                          <a:solidFill>
                            <a:srgbClr val="1B5697"/>
                          </a:solidFill>
                        </a:rPr>
                        <a:t>monitoring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Siddiqi 2006 (PSI)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Barocas et al.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PSI flags when who-we-approve drifts away from who-we-trained-on.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69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5697"/>
                          </a:solidFill>
                        </a:rPr>
                        <a:t>Human-in-the-loop</a:t>
                      </a:r>
                    </a:p>
                    <a:p>
                      <a:r>
                        <a:rPr sz="1200" b="1">
                          <a:solidFill>
                            <a:srgbClr val="1B5697"/>
                          </a:solidFill>
                        </a:rPr>
                        <a:t>underwriting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HITL review literature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Send only the genuinely uncertain cases to a human expert.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457200" y="5300000"/>
            <a:ext cx="11277295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23" name="Rectangle 22"/>
          <p:cNvSpPr/>
          <p:nvPr/>
        </p:nvSpPr>
        <p:spPr>
          <a:xfrm>
            <a:off x="457200" y="5250000"/>
            <a:ext cx="11277295" cy="70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5250000"/>
            <a:ext cx="91440" cy="70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7200" y="5360000"/>
            <a:ext cx="10917295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E8B57"/>
                </a:solidFill>
                <a:latin typeface="Calibri"/>
              </a:rPr>
              <a:t>The gap: no prior work applies online-learning underwriting to Cambodia.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Literature Review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 July 2026  ·  9 / 35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i. Introduction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74167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4167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ii. Literature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3483340" y="0"/>
            <a:ext cx="1741670" cy="3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334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iii. System Design</a:t>
            </a:r>
          </a:p>
        </p:txBody>
      </p:sp>
      <p:sp>
        <p:nvSpPr>
          <p:cNvPr id="9" name="Rectangle 8"/>
          <p:cNvSpPr/>
          <p:nvPr/>
        </p:nvSpPr>
        <p:spPr>
          <a:xfrm>
            <a:off x="522501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2501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iv. Implementation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6668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668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v. Results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0835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0835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vi. Conclusion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450020" y="0"/>
            <a:ext cx="1741675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50020" y="0"/>
            <a:ext cx="1741675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vii. Demo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30000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80000"/>
            <a:ext cx="11277295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HOW THE SYSTEM WORKS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95847" y="1450000"/>
            <a:ext cx="1500000" cy="7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5847" y="1550000"/>
            <a:ext cx="1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Applicant
Context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95847" y="1650000"/>
            <a:ext cx="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95847" y="1450000"/>
            <a:ext cx="1500000" cy="70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45847" y="1550000"/>
            <a:ext cx="1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Bandit
Policy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5847" y="1650000"/>
            <a:ext cx="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95847" y="1450000"/>
            <a:ext cx="1500000" cy="70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45847" y="1550000"/>
            <a:ext cx="1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Underwriting
Action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95847" y="1650000"/>
            <a:ext cx="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5847" y="1450000"/>
            <a:ext cx="1500000" cy="700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45847" y="1550000"/>
            <a:ext cx="1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Actuarial
Reward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95847" y="1650000"/>
            <a:ext cx="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95847" y="1450000"/>
            <a:ext cx="1500000" cy="70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45847" y="1550000"/>
            <a:ext cx="1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Drift monitor
+ HITL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95847" y="1650000"/>
            <a:ext cx="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595847" y="1450000"/>
            <a:ext cx="1500000" cy="700000"/>
          </a:xfrm>
          <a:prstGeom prst="rect">
            <a:avLst/>
          </a:prstGeom>
          <a:solidFill>
            <a:srgbClr val="C07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45847" y="1550000"/>
            <a:ext cx="1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Decision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2450000"/>
            <a:ext cx="11277295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Calibri"/>
              </a:rPr>
              <a:t>In plain words: the system decides, sees what happens, and gets a little smarter each round.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57200" y="3150000"/>
            <a:ext cx="40000" cy="40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7200" y="3190000"/>
            <a:ext cx="10577295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62626"/>
                </a:solidFill>
                <a:latin typeface="Calibri"/>
              </a:rPr>
              <a:t>It reads a short profile of the applicant.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57200" y="3770000"/>
            <a:ext cx="40000" cy="40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77200" y="3810000"/>
            <a:ext cx="10577295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62626"/>
                </a:solidFill>
                <a:latin typeface="Calibri"/>
              </a:rPr>
              <a:t>It picks one of four actions: Standard · Rated · Decline · Refer to a human.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57200" y="4390000"/>
            <a:ext cx="40000" cy="40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77200" y="4430000"/>
            <a:ext cx="10577295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62626"/>
                </a:solidFill>
                <a:latin typeface="Calibri"/>
              </a:rPr>
              <a:t>It earns a reward: premiums collected minus the claims that follow.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57200" y="5010000"/>
            <a:ext cx="40000" cy="40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7200" y="5050000"/>
            <a:ext cx="10577295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62626"/>
                </a:solidFill>
                <a:latin typeface="Calibri"/>
              </a:rPr>
              <a:t>A drift monitor (PSI) watches whether who we approve shifts over time.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7200" y="5630000"/>
            <a:ext cx="40000" cy="40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77200" y="5670000"/>
            <a:ext cx="10577295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62626"/>
                </a:solidFill>
                <a:latin typeface="Calibri"/>
              </a:rPr>
              <a:t>Uncertain cases are handed to a human expert.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System Design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 July 2026  ·  10 / 35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i. Introduction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74167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4167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ii. Literature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3483340" y="0"/>
            <a:ext cx="1741670" cy="3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334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iii. System Design</a:t>
            </a:r>
          </a:p>
        </p:txBody>
      </p:sp>
      <p:sp>
        <p:nvSpPr>
          <p:cNvPr id="9" name="Rectangle 8"/>
          <p:cNvSpPr/>
          <p:nvPr/>
        </p:nvSpPr>
        <p:spPr>
          <a:xfrm>
            <a:off x="522501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2501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iv. Implementation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6668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668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v. Results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0835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0835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vi. Conclusion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450020" y="0"/>
            <a:ext cx="1741675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50020" y="0"/>
            <a:ext cx="1741675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vii. Demo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30000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80000"/>
            <a:ext cx="11277295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HOW THE SYSTEM DECIDES FOR SOPHEA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1120000"/>
            <a:ext cx="4700000" cy="49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1120000"/>
            <a:ext cx="91440" cy="49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200" y="1250000"/>
            <a:ext cx="44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Segoe UI"/>
              </a:rPr>
              <a:t>What it knows about Sophea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7200" y="1780000"/>
            <a:ext cx="44000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</a:pPr>
            <a:r>
              <a:rPr sz="1600" b="1">
                <a:solidFill>
                  <a:srgbClr val="1F6FC4"/>
                </a:solidFill>
              </a:rPr>
              <a:t>•  </a:t>
            </a:r>
            <a:r>
              <a:rPr sz="1500">
                <a:solidFill>
                  <a:srgbClr val="262626"/>
                </a:solidFill>
              </a:rPr>
              <a:t>Age 43</a:t>
            </a:r>
          </a:p>
          <a:p>
            <a:pPr>
              <a:spcBef>
                <a:spcPts val="1400"/>
              </a:spcBef>
            </a:pPr>
            <a:r>
              <a:rPr sz="1600" b="1">
                <a:solidFill>
                  <a:srgbClr val="1F6FC4"/>
                </a:solidFill>
              </a:rPr>
              <a:t>•  </a:t>
            </a:r>
            <a:r>
              <a:rPr sz="1500">
                <a:solidFill>
                  <a:srgbClr val="262626"/>
                </a:solidFill>
              </a:rPr>
              <a:t>Non-smoker</a:t>
            </a:r>
          </a:p>
          <a:p>
            <a:pPr>
              <a:spcBef>
                <a:spcPts val="1400"/>
              </a:spcBef>
            </a:pPr>
            <a:r>
              <a:rPr sz="1600" b="1">
                <a:solidFill>
                  <a:srgbClr val="1F6FC4"/>
                </a:solidFill>
              </a:rPr>
              <a:t>•  </a:t>
            </a:r>
            <a:r>
              <a:rPr sz="1500">
                <a:solidFill>
                  <a:srgbClr val="262626"/>
                </a:solidFill>
              </a:rPr>
              <a:t>Managed blood pressure</a:t>
            </a:r>
          </a:p>
          <a:p>
            <a:pPr>
              <a:spcBef>
                <a:spcPts val="1400"/>
              </a:spcBef>
            </a:pPr>
            <a:r>
              <a:rPr sz="1600" b="1">
                <a:solidFill>
                  <a:srgbClr val="1F6FC4"/>
                </a:solidFill>
              </a:rPr>
              <a:t>•  </a:t>
            </a:r>
            <a:r>
              <a:rPr sz="1500">
                <a:solidFill>
                  <a:srgbClr val="262626"/>
                </a:solidFill>
              </a:rPr>
              <a:t>Sedentary work</a:t>
            </a:r>
          </a:p>
          <a:p>
            <a:pPr>
              <a:spcBef>
                <a:spcPts val="1400"/>
              </a:spcBef>
            </a:pPr>
            <a:r>
              <a:rPr sz="1600" b="1">
                <a:solidFill>
                  <a:srgbClr val="1F6FC4"/>
                </a:solidFill>
              </a:rPr>
              <a:t>•  </a:t>
            </a:r>
            <a:r>
              <a:rPr sz="1500">
                <a:solidFill>
                  <a:srgbClr val="262626"/>
                </a:solidFill>
              </a:rPr>
              <a:t>Garment worker, Other Provinces</a:t>
            </a:r>
          </a:p>
          <a:p>
            <a:pPr>
              <a:spcBef>
                <a:spcPts val="1400"/>
              </a:spcBef>
            </a:pPr>
            <a:r>
              <a:rPr sz="1600" b="1">
                <a:solidFill>
                  <a:srgbClr val="1F6FC4"/>
                </a:solidFill>
              </a:rPr>
              <a:t>•  </a:t>
            </a:r>
            <a:r>
              <a:rPr sz="1500">
                <a:solidFill>
                  <a:srgbClr val="262626"/>
                </a:solidFill>
              </a:rPr>
              <a:t>Middle wealth index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200" y="5450000"/>
            <a:ext cx="44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05050"/>
                </a:solidFill>
                <a:latin typeface="Calibri"/>
              </a:rPr>
              <a:t>(A short profile — 34 facts in all.)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07200" y="1180000"/>
            <a:ext cx="622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Segoe UI"/>
              </a:rPr>
              <a:t>It scores each option (higher = better)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07200" y="1680000"/>
            <a:ext cx="6227295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STANDARD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07200" y="1980000"/>
            <a:ext cx="5027295" cy="62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507200" y="1980000"/>
            <a:ext cx="5027295" cy="62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507200" y="1980000"/>
            <a:ext cx="5027295" cy="620000"/>
          </a:xfrm>
          <a:prstGeom prst="rect">
            <a:avLst/>
          </a:prstGeom>
          <a:noFill/>
          <a:ln w="31750">
            <a:solidFill>
              <a:srgbClr val="1B56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94495" y="1980000"/>
            <a:ext cx="1100000" cy="6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0.66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07200" y="2560000"/>
            <a:ext cx="6227295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D93B3B"/>
                </a:solidFill>
                <a:latin typeface="Calibri"/>
              </a:rPr>
              <a:t>DECLINE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07200" y="2860000"/>
            <a:ext cx="5027295" cy="62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507200" y="2860000"/>
            <a:ext cx="1523422" cy="620000"/>
          </a:xfrm>
          <a:prstGeom prst="rect">
            <a:avLst/>
          </a:prstGeom>
          <a:solidFill>
            <a:srgbClr val="D9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94495" y="2860000"/>
            <a:ext cx="1100000" cy="6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D93B3B"/>
                </a:solidFill>
                <a:latin typeface="Calibri"/>
              </a:rPr>
              <a:t>0.20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07200" y="3440000"/>
            <a:ext cx="6227295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E8B57"/>
                </a:solidFill>
                <a:latin typeface="Calibri"/>
              </a:rPr>
              <a:t>REFER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07200" y="3740000"/>
            <a:ext cx="5027295" cy="62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507200" y="3740000"/>
            <a:ext cx="990224" cy="62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94495" y="3740000"/>
            <a:ext cx="1100000" cy="6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E8B57"/>
                </a:solidFill>
                <a:latin typeface="Calibri"/>
              </a:rPr>
              <a:t>0.13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07200" y="4320000"/>
            <a:ext cx="6227295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7D4E00"/>
                </a:solidFill>
                <a:latin typeface="Calibri"/>
              </a:rPr>
              <a:t>RATED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507200" y="4620000"/>
            <a:ext cx="5027295" cy="62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507200" y="4620000"/>
            <a:ext cx="0" cy="620000"/>
          </a:xfrm>
          <a:prstGeom prst="rect">
            <a:avLst/>
          </a:prstGeom>
          <a:solidFill>
            <a:srgbClr val="7D4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94495" y="4620000"/>
            <a:ext cx="1100000" cy="6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7D4E00"/>
                </a:solidFill>
                <a:latin typeface="Calibri"/>
              </a:rPr>
              <a:t>0.00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07200" y="5380000"/>
            <a:ext cx="6227295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Highest score wins → STANDARD. Sophea gets coverage.</a:t>
            </a:r>
          </a:p>
          <a:p>
            <a:pPr algn="l">
              <a:spcBef>
                <a:spcPts val="600"/>
              </a:spcBef>
            </a:pPr>
            <a:r>
              <a:rPr sz="1200" b="0" i="1">
                <a:solidFill>
                  <a:srgbClr val="505050"/>
                </a:solidFill>
                <a:latin typeface="Calibri"/>
              </a:rPr>
              <a:t>In plain words: it estimates how each option would pay off for someone like her, then adds a small bonus for options it hasn't tried often. (The maths is in Appendix A7.)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System Design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 July 2026  ·  11 / 35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i. Introduction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74167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4167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ii. Literature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3483340" y="0"/>
            <a:ext cx="1741670" cy="3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334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iii. System Design</a:t>
            </a:r>
          </a:p>
        </p:txBody>
      </p:sp>
      <p:sp>
        <p:nvSpPr>
          <p:cNvPr id="9" name="Rectangle 8"/>
          <p:cNvSpPr/>
          <p:nvPr/>
        </p:nvSpPr>
        <p:spPr>
          <a:xfrm>
            <a:off x="522501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2501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iv. Implementation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6668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668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v. Results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0835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0835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vi. Conclusion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450020" y="0"/>
            <a:ext cx="1741675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50020" y="0"/>
            <a:ext cx="1741675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vii. Demo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30000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80000"/>
            <a:ext cx="11277295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WHAT THE SYSTEM EARNS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1150000"/>
            <a:ext cx="11277295" cy="78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1260000"/>
            <a:ext cx="11277295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Segoe UI"/>
              </a:rPr>
              <a:t>Reward  =  Premiums collected  −  Claims paid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350000"/>
            <a:ext cx="3559098" cy="240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2350000"/>
            <a:ext cx="3559098" cy="82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7200" y="2600000"/>
            <a:ext cx="3309098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E8B57"/>
                </a:solidFill>
                <a:latin typeface="Segoe UI"/>
              </a:rPr>
              <a:t>Insure someone healthy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7200" y="3300000"/>
            <a:ext cx="3309098" cy="1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62626"/>
                </a:solidFill>
                <a:latin typeface="Calibri"/>
              </a:rPr>
              <a:t>You collect premiums and pay few claims  →  earn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16298" y="2350000"/>
            <a:ext cx="3559098" cy="2400000"/>
          </a:xfrm>
          <a:prstGeom prst="rect">
            <a:avLst/>
          </a:prstGeom>
          <a:solidFill>
            <a:srgbClr val="F8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16298" y="2350000"/>
            <a:ext cx="3559098" cy="82000"/>
          </a:xfrm>
          <a:prstGeom prst="rect">
            <a:avLst/>
          </a:prstGeom>
          <a:solidFill>
            <a:srgbClr val="D9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66298" y="2600000"/>
            <a:ext cx="3309098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93B3B"/>
                </a:solidFill>
                <a:latin typeface="Segoe UI"/>
              </a:rPr>
              <a:t>Insure a frequent claimer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66298" y="3300000"/>
            <a:ext cx="3309098" cy="1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62626"/>
                </a:solidFill>
                <a:latin typeface="Calibri"/>
              </a:rPr>
              <a:t>Claims outrun the premiums  →  lose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75396" y="2350000"/>
            <a:ext cx="3559098" cy="24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75396" y="2350000"/>
            <a:ext cx="3559098" cy="82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5396" y="2600000"/>
            <a:ext cx="3309098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Segoe UI"/>
              </a:rPr>
              <a:t>Decline everyone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5396" y="3300000"/>
            <a:ext cx="3309098" cy="1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62626"/>
                </a:solidFill>
                <a:latin typeface="Calibri"/>
              </a:rPr>
              <a:t>No premiums at all  →  earn nothing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150000"/>
            <a:ext cx="11277295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1B5697"/>
                </a:solidFill>
                <a:latin typeface="Calibri"/>
              </a:rPr>
              <a:t>So the system is rewarded for insuring the right people at the right price — not for saying yes to everyone, and not for saying no to everyone.</a:t>
            </a:r>
          </a:p>
          <a:p>
            <a:pPr algn="l">
              <a:spcBef>
                <a:spcPts val="800"/>
              </a:spcBef>
            </a:pPr>
            <a:r>
              <a:rPr sz="1100" b="0" i="1">
                <a:solidFill>
                  <a:srgbClr val="505050"/>
                </a:solidFill>
                <a:latin typeface="Calibri"/>
              </a:rPr>
              <a:t>Full actuarial detail — risk loadings, adverse selection, price elasticity — is in the reward simulator (thesis Table 8; Appendix A5).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System Design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 July 2026  ·  12 / 35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i. Introduction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74167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4167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ii. Literature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3483340" y="0"/>
            <a:ext cx="1741670" cy="3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334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iii. System Design</a:t>
            </a:r>
          </a:p>
        </p:txBody>
      </p:sp>
      <p:sp>
        <p:nvSpPr>
          <p:cNvPr id="9" name="Rectangle 8"/>
          <p:cNvSpPr/>
          <p:nvPr/>
        </p:nvSpPr>
        <p:spPr>
          <a:xfrm>
            <a:off x="522501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2501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iv. Implementation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6668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668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v. Results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0835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0835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vi. Conclusion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450020" y="0"/>
            <a:ext cx="1741675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50020" y="0"/>
            <a:ext cx="1741675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vii. Demo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30000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80000"/>
            <a:ext cx="11277295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THE DRIFT MONITOR (PSI)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1080000"/>
            <a:ext cx="11277295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Calibri"/>
              </a:rPr>
              <a:t>PSI asks one question:</a:t>
            </a:r>
          </a:p>
          <a:p>
            <a:pPr algn="l">
              <a:spcBef>
                <a:spcPts val="400"/>
              </a:spcBef>
            </a:pPr>
            <a:r>
              <a:rPr sz="1500" b="0" i="1">
                <a:solidFill>
                  <a:srgbClr val="505050"/>
                </a:solidFill>
                <a:latin typeface="Calibri"/>
              </a:rPr>
              <a:t>Has the mix of people we approve today drifted from the system's own first 500 decisions?</a:t>
            </a:r>
          </a:p>
        </p:txBody>
      </p:sp>
      <p:pic>
        <p:nvPicPr>
          <p:cNvPr id="21" name="Picture 20" descr="slide_p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60000"/>
            <a:ext cx="11277295" cy="4164427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57200" y="5884427"/>
            <a:ext cx="11277295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05050"/>
                </a:solidFill>
                <a:latin typeface="Calibri"/>
              </a:rPr>
              <a:t>Wobbles while exploring, settles as the policy converges — never breaches RED (Region 0.082 GREEN · Occupation 0.123 AMBER). PSI is a stability monitor of who-we-approve, not a proof of group fairness — demographic parity is tested separately (Appendix A3).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System Design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 July 2026  ·  13 / 35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i. Introduction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74167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4167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ii. Literature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348334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334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iii. System Design</a:t>
            </a:r>
          </a:p>
        </p:txBody>
      </p:sp>
      <p:sp>
        <p:nvSpPr>
          <p:cNvPr id="9" name="Rectangle 8"/>
          <p:cNvSpPr/>
          <p:nvPr/>
        </p:nvSpPr>
        <p:spPr>
          <a:xfrm>
            <a:off x="5225010" y="0"/>
            <a:ext cx="1741670" cy="3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2501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iv. Implementation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6668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668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v. Results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0835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0835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vi. Conclusion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450020" y="0"/>
            <a:ext cx="1741675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50020" y="0"/>
            <a:ext cx="1741675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vii. Demo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30000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80000"/>
            <a:ext cx="11277295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HOW WE TESTED 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1120000"/>
            <a:ext cx="11277295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505050"/>
                </a:solidFill>
                <a:latin typeface="Calibri"/>
              </a:rPr>
              <a:t>2,000 synthetic, Cambodia-shaped applicant profiles, run through multiple times — reshuffled each pass — to give the learner enough rounds to prove itself. (Data details: Appendix A9.)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00000"/>
            <a:ext cx="3559098" cy="265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00000"/>
            <a:ext cx="3559098" cy="82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7200" y="1950000"/>
            <a:ext cx="3309098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Segoe UI"/>
              </a:rPr>
              <a:t>5,000 applicants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7200" y="2750000"/>
            <a:ext cx="3309098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62626"/>
                </a:solidFill>
                <a:latin typeface="Calibri"/>
              </a:rPr>
              <a:t>seen one at a time, in order — exactly how it would run in production.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16298" y="1700000"/>
            <a:ext cx="3559098" cy="265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16298" y="1700000"/>
            <a:ext cx="3559098" cy="82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66298" y="1950000"/>
            <a:ext cx="3309098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E8B57"/>
                </a:solidFill>
                <a:latin typeface="Segoe UI"/>
              </a:rPr>
              <a:t>20 independent repeats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66298" y="2750000"/>
            <a:ext cx="3309098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62626"/>
                </a:solidFill>
                <a:latin typeface="Calibri"/>
              </a:rPr>
              <a:t>each with a different random draw. The learning system led in all 20 (in-simulation).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75396" y="1700000"/>
            <a:ext cx="3559098" cy="265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75396" y="1700000"/>
            <a:ext cx="3559098" cy="82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5396" y="1950000"/>
            <a:ext cx="3309098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6FC4"/>
                </a:solidFill>
                <a:latin typeface="Segoe UI"/>
              </a:rPr>
              <a:t>Compared head-to-head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5396" y="2750000"/>
            <a:ext cx="3309098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62626"/>
                </a:solidFill>
                <a:latin typeface="Calibri"/>
              </a:rPr>
              <a:t>against the incumbent static-rules approach on the same applicants.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600000"/>
            <a:ext cx="11277295" cy="78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200" y="4710000"/>
            <a:ext cx="10917295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62626"/>
                </a:solidFill>
                <a:latin typeface="Calibri"/>
              </a:rPr>
              <a:t>A learning system has no train/test split — it learns as it goes. So we judge it by how much reward it loses versus a perfect-knowledge Oracle, averaged over the 20 repeats.</a:t>
            </a:r>
          </a:p>
          <a:p>
            <a:pPr algn="l">
              <a:spcBef>
                <a:spcPts val="400"/>
              </a:spcBef>
            </a:pPr>
            <a:r>
              <a:rPr sz="1200" b="0" i="1">
                <a:solidFill>
                  <a:srgbClr val="505050"/>
                </a:solidFill>
                <a:latin typeface="Calibri"/>
              </a:rPr>
              <a:t>Details: Appendix A6.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550000"/>
            <a:ext cx="11277295" cy="7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05050"/>
                </a:solidFill>
                <a:latin typeface="Calibri"/>
              </a:rPr>
              <a:t>Under the hood: bootstrap 95% confidence intervals, paired Wilcoxon signed-rank tests, Bonferroni correction, Cohen's d effect sizes; experiments EXP-005 through EXP-015.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Implementation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 July 2026  ·  14 / 35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i. Introduction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74167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4167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ii. Literature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348334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334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iii. System Design</a:t>
            </a:r>
          </a:p>
        </p:txBody>
      </p:sp>
      <p:sp>
        <p:nvSpPr>
          <p:cNvPr id="9" name="Rectangle 8"/>
          <p:cNvSpPr/>
          <p:nvPr/>
        </p:nvSpPr>
        <p:spPr>
          <a:xfrm>
            <a:off x="522501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2501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iv. Implementation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66680" y="0"/>
            <a:ext cx="1741670" cy="3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668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v. Results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0835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0835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vi. Conclusion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450020" y="0"/>
            <a:ext cx="1741675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50020" y="0"/>
            <a:ext cx="1741675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vii. Demo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30000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80000"/>
            <a:ext cx="11277295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THE HEADLINE RESULT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1180000"/>
            <a:ext cx="4900000" cy="165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1280000"/>
            <a:ext cx="49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Segoe UI"/>
              </a:rPr>
              <a:t>+25.2%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280000"/>
            <a:ext cx="490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BDCEE4"/>
                </a:solidFill>
                <a:latin typeface="Calibri"/>
              </a:rPr>
              <a:t>more cumulative reward than the static rules — in simulation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050000"/>
            <a:ext cx="49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B5697"/>
                </a:solidFill>
                <a:latin typeface="Calibri"/>
              </a:rPr>
              <a:t>$90,540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learning system (LinUCB)</a:t>
            </a:r>
          </a:p>
          <a:p>
            <a:pPr algn="l">
              <a:spcBef>
                <a:spcPts val="1000"/>
              </a:spcBef>
            </a:pPr>
            <a:r>
              <a:rPr sz="1500" b="1" i="0">
                <a:solidFill>
                  <a:srgbClr val="262626"/>
                </a:solidFill>
                <a:latin typeface="Calibri"/>
              </a:rPr>
              <a:t>vs  $72,292  static rules (XGBoost)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550000"/>
            <a:ext cx="49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For every $100 the old rules earned, the learning system earned $125 —</a:t>
            </a:r>
          </a:p>
          <a:p>
            <a:pPr algn="l">
              <a:spcBef>
                <a:spcPts val="400"/>
              </a:spcBef>
            </a:pPr>
            <a:r>
              <a:rPr sz="1500" b="0" i="1">
                <a:solidFill>
                  <a:srgbClr val="505050"/>
                </a:solidFill>
                <a:latin typeface="Calibri"/>
              </a:rPr>
              <a:t>and the gap held across all 20 repeats.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850000"/>
            <a:ext cx="49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05050"/>
                </a:solidFill>
                <a:latin typeface="Calibri"/>
              </a:rPr>
              <a:t>20 seeds · p &lt; 0.001 · d = 2.98 · CDHS-anchored simulated environment</a:t>
            </a:r>
          </a:p>
        </p:txBody>
      </p:sp>
      <p:pic>
        <p:nvPicPr>
          <p:cNvPr id="26" name="Picture 25" descr="slide_reward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7200" y="1350000"/>
            <a:ext cx="5900000" cy="252110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557200" y="5350000"/>
            <a:ext cx="590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05050"/>
                </a:solidFill>
                <a:latin typeface="Calibri"/>
              </a:rPr>
              <a:t>Cumulative reward — learning system vs static rules.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Results &amp; Discussion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 July 2026  ·  15 / 35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i. Introduction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74167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4167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ii. Literature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348334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334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iii. System Design</a:t>
            </a:r>
          </a:p>
        </p:txBody>
      </p:sp>
      <p:sp>
        <p:nvSpPr>
          <p:cNvPr id="9" name="Rectangle 8"/>
          <p:cNvSpPr/>
          <p:nvPr/>
        </p:nvSpPr>
        <p:spPr>
          <a:xfrm>
            <a:off x="522501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2501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iv. Implementation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66680" y="0"/>
            <a:ext cx="1741670" cy="3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668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v. Results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0835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0835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vi. Conclusion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450020" y="0"/>
            <a:ext cx="1741675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50020" y="0"/>
            <a:ext cx="1741675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vii. Demo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30000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80000"/>
            <a:ext cx="11277295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THE BASELINE LADDER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1120000"/>
            <a:ext cx="11277295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505050"/>
                </a:solidFill>
                <a:latin typeface="Calibri"/>
              </a:rPr>
              <a:t>Every realistic alternative we tried lands below the bandits.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57200" y="1540000"/>
          <a:ext cx="11277295" cy="45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450000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Policy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Cumulative Reward (mean)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% of Oracle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Oracle (perfect knowledge)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$126,804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[124,187, 128,428]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LogisticOracle ‡ (full-supervision)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$123,977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[121,794, 126,126]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98.1%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AlwaysRATED (trivial constant)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$122,287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[119,528, 124,996]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96.8%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5697"/>
                          </a:solidFill>
                        </a:rPr>
                        <a:t>LinTS  ← proposed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$93,723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[91,105, 96,481]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74.2%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5697"/>
                          </a:solidFill>
                        </a:rPr>
                        <a:t>LinUCB  ← proposed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$91,864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[89,139, 94,702]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72.7%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Epsilon-Greedy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$76,441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[73,767, 79,107]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60.5%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Static XGB (incumbent)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$72,206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[70,125, 74,352]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57.1%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AlwaysSTANDARD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$34,684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[33,694, 35,871]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27.5%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Random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$1,980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[739, 3,209]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457200" y="6120000"/>
            <a:ext cx="11277295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05050"/>
                </a:solidFill>
                <a:latin typeface="Calibri"/>
              </a:rPr>
              <a:t>‡ The only policies above the bandits either see the future (Oracle) or approve nobody cheaply and everybody expensively (AlwaysRATED) — no regulator would allow the latter.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Results &amp; Discussion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 July 2026  ·  16 / 35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i. Introduction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74167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4167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ii. Literature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348334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334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iii. System Design</a:t>
            </a:r>
          </a:p>
        </p:txBody>
      </p:sp>
      <p:sp>
        <p:nvSpPr>
          <p:cNvPr id="9" name="Rectangle 8"/>
          <p:cNvSpPr/>
          <p:nvPr/>
        </p:nvSpPr>
        <p:spPr>
          <a:xfrm>
            <a:off x="522501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2501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iv. Implementation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66680" y="0"/>
            <a:ext cx="1741670" cy="3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668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v. Results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0835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0835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vi. Conclusion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450020" y="0"/>
            <a:ext cx="1741675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50020" y="0"/>
            <a:ext cx="1741675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vii. Demo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30000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80000"/>
            <a:ext cx="11277295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SOPHEA, THREE WAYS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1120000"/>
            <a:ext cx="11277295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505050"/>
                </a:solidFill>
                <a:latin typeface="Calibri"/>
              </a:rPr>
              <a:t>The same applicant, decided by three different systems: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650000"/>
            <a:ext cx="3559098" cy="355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650000"/>
            <a:ext cx="3559098" cy="82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7200" y="1870000"/>
            <a:ext cx="3309098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Segoe UI"/>
              </a:rPr>
              <a:t>Static rules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7200" y="2290000"/>
            <a:ext cx="3309098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05050"/>
                </a:solidFill>
                <a:latin typeface="Calibri"/>
              </a:rPr>
              <a:t>today's incumbent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7200" y="2800000"/>
            <a:ext cx="2959098" cy="90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7200" y="2800000"/>
            <a:ext cx="2959098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6A62E"/>
                </a:solidFill>
                <a:latin typeface="Segoe UI"/>
              </a:rPr>
              <a:t>RATED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7200" y="3900000"/>
            <a:ext cx="3309098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Predicts 1.83× mortality — close to her true risk — but the fixed band still loads her premium.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16298" y="1650000"/>
            <a:ext cx="3559098" cy="355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16298" y="1650000"/>
            <a:ext cx="3559098" cy="82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66298" y="1870000"/>
            <a:ext cx="3309098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Segoe UI"/>
              </a:rPr>
              <a:t>LinUCB bandit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66298" y="2290000"/>
            <a:ext cx="3309098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05050"/>
                </a:solidFill>
                <a:latin typeface="Calibri"/>
              </a:rPr>
              <a:t>our learning system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16298" y="2800000"/>
            <a:ext cx="2959098" cy="90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16298" y="2800000"/>
            <a:ext cx="2959098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E8B57"/>
                </a:solidFill>
                <a:latin typeface="Segoe UI"/>
              </a:rPr>
              <a:t>STANDARD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66298" y="3900000"/>
            <a:ext cx="3309098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Weighs the price trade-off: offers standard cover outright.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75396" y="1650000"/>
            <a:ext cx="3559098" cy="355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75396" y="1650000"/>
            <a:ext cx="3559098" cy="82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25396" y="1870000"/>
            <a:ext cx="3309098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Segoe UI"/>
              </a:rPr>
              <a:t>Oracle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5396" y="2290000"/>
            <a:ext cx="3309098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05050"/>
                </a:solidFill>
                <a:latin typeface="Calibri"/>
              </a:rPr>
              <a:t>knows the true risk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75396" y="2800000"/>
            <a:ext cx="2959098" cy="900000"/>
          </a:xfrm>
          <a:prstGeom prst="rect">
            <a:avLst/>
          </a:prstGeom>
          <a:solidFill>
            <a:srgbClr val="D4E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75396" y="2800000"/>
            <a:ext cx="2959098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B5697"/>
                </a:solidFill>
                <a:latin typeface="Segoe UI"/>
              </a:rPr>
              <a:t>STANDARD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5396" y="3900000"/>
            <a:ext cx="3309098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With true risk known (1.84×), a loaded premium isn't worth the lost sale.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5400000"/>
            <a:ext cx="11277295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Calibri"/>
              </a:rPr>
              <a:t>The bandit reaches the answer the all-knowing benchmark picks — the static rule never can.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Results &amp; Discussion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 July 2026  ·  17 / 35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i. Introduction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74167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4167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ii. Literature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348334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334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iii. System Design</a:t>
            </a:r>
          </a:p>
        </p:txBody>
      </p:sp>
      <p:sp>
        <p:nvSpPr>
          <p:cNvPr id="9" name="Rectangle 8"/>
          <p:cNvSpPr/>
          <p:nvPr/>
        </p:nvSpPr>
        <p:spPr>
          <a:xfrm>
            <a:off x="522501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2501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iv. Implementation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66680" y="0"/>
            <a:ext cx="1741670" cy="3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668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v. Results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0835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0835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vi. Conclusion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450020" y="0"/>
            <a:ext cx="1741675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50020" y="0"/>
            <a:ext cx="1741675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vii. Demo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30000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80000"/>
            <a:ext cx="11277295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FAIRNESS &amp; HUMAN OVERSIGHT — RESULTS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1120000"/>
            <a:ext cx="11277295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6FC4"/>
                </a:solidFill>
                <a:latin typeface="Calibri"/>
              </a:rPr>
              <a:t>IS IT FAIR?  (EXP-006, 20 seeds)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420000"/>
            <a:ext cx="5488647" cy="56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420000"/>
            <a:ext cx="91440" cy="56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7200" y="1490000"/>
            <a:ext cx="3293188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  <a:latin typeface="Calibri"/>
              </a:rPr>
              <a:t>Region — drift (PSI)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50388" y="1490000"/>
            <a:ext cx="2035458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E8B57"/>
                </a:solidFill>
                <a:latin typeface="Calibri"/>
              </a:rPr>
              <a:t>GREEN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7200" y="1720000"/>
            <a:ext cx="5268647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Calibri"/>
              </a:rPr>
              <a:t>0.082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45847" y="1420000"/>
            <a:ext cx="5488647" cy="56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45847" y="1420000"/>
            <a:ext cx="91440" cy="560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85847" y="1490000"/>
            <a:ext cx="3293188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  <a:latin typeface="Calibri"/>
              </a:rPr>
              <a:t>Occupation — drift (PSI)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39035" y="1490000"/>
            <a:ext cx="2035458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6A62E"/>
                </a:solidFill>
                <a:latin typeface="Calibri"/>
              </a:rPr>
              <a:t>AMBER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85847" y="1720000"/>
            <a:ext cx="5268647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Calibri"/>
              </a:rPr>
              <a:t>0.123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2040000"/>
            <a:ext cx="5488647" cy="56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2040000"/>
            <a:ext cx="91440" cy="56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7200" y="2110000"/>
            <a:ext cx="3293188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  <a:latin typeface="Calibri"/>
              </a:rPr>
              <a:t>Region — approval parity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50388" y="2110000"/>
            <a:ext cx="2035458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E8B57"/>
                </a:solidFill>
                <a:latin typeface="Calibri"/>
              </a:rPr>
              <a:t>PASS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7200" y="2340000"/>
            <a:ext cx="5268647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Calibri"/>
              </a:rPr>
              <a:t>85.72%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45847" y="2040000"/>
            <a:ext cx="5488647" cy="56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45847" y="2040000"/>
            <a:ext cx="91440" cy="56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85847" y="2110000"/>
            <a:ext cx="3293188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  <a:latin typeface="Calibri"/>
              </a:rPr>
              <a:t>Occupation — approval parity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39035" y="2110000"/>
            <a:ext cx="2035458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E8B57"/>
                </a:solidFill>
                <a:latin typeface="Calibri"/>
              </a:rPr>
              <a:t>PASS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85847" y="2340000"/>
            <a:ext cx="5268647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Calibri"/>
              </a:rPr>
              <a:t>90.12%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2740000"/>
            <a:ext cx="11277295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05050"/>
                </a:solidFill>
                <a:latin typeface="Calibri"/>
              </a:rPr>
              <a:t>1 of 6 fairness checks failed narrowly (occupation) — we report it and explain why; no regulatory threshold is breached.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3260000"/>
            <a:ext cx="11277295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6FC4"/>
                </a:solidFill>
                <a:latin typeface="Calibri"/>
              </a:rPr>
              <a:t>DOES HUMAN OVERSIGHT HELP?  (EXP-008, 20 seeds)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3560000"/>
            <a:ext cx="5488647" cy="5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7200" y="3560000"/>
            <a:ext cx="91440" cy="56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7200" y="3630000"/>
            <a:ext cx="3293188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  <a:latin typeface="Calibri"/>
              </a:rPr>
              <a:t>With human review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50388" y="3630000"/>
            <a:ext cx="2035458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5697"/>
                </a:solidFill>
                <a:latin typeface="Calibri"/>
              </a:rPr>
              <a:t>vs $90,540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7200" y="3860000"/>
            <a:ext cx="5268647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Calibri"/>
              </a:rPr>
              <a:t>$103,951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45847" y="3560000"/>
            <a:ext cx="5488647" cy="56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245847" y="3560000"/>
            <a:ext cx="91440" cy="56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85847" y="3630000"/>
            <a:ext cx="3293188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  <a:latin typeface="Calibri"/>
              </a:rPr>
              <a:t>Improvement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539035" y="3630000"/>
            <a:ext cx="2035458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E8B57"/>
                </a:solidFill>
                <a:latin typeface="Calibri"/>
              </a:rPr>
              <a:t>vs the bandit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85847" y="3860000"/>
            <a:ext cx="5268647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Calibri"/>
              </a:rPr>
              <a:t>+14.8%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4180000"/>
            <a:ext cx="5488647" cy="5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57200" y="4180000"/>
            <a:ext cx="91440" cy="56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7200" y="4250000"/>
            <a:ext cx="3293188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  <a:latin typeface="Calibri"/>
              </a:rPr>
              <a:t>Cases sent to a human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50388" y="4250000"/>
            <a:ext cx="2035458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5697"/>
                </a:solidFill>
                <a:latin typeface="Calibri"/>
              </a:rPr>
              <a:t>1.3% of cases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7200" y="4480000"/>
            <a:ext cx="5268647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Calibri"/>
              </a:rPr>
              <a:t>65 / 5,000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45847" y="4180000"/>
            <a:ext cx="5488647" cy="5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245847" y="4180000"/>
            <a:ext cx="91440" cy="56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85847" y="4250000"/>
            <a:ext cx="3293188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  <a:latin typeface="Calibri"/>
              </a:rPr>
              <a:t>Cost of that review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39035" y="4250000"/>
            <a:ext cx="2035458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5697"/>
                </a:solidFill>
                <a:latin typeface="Calibri"/>
              </a:rPr>
              <a:t>2.2% of reward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85847" y="4480000"/>
            <a:ext cx="5268647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Calibri"/>
              </a:rPr>
              <a:t>$2,263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57200" y="4880000"/>
            <a:ext cx="11277295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1B5697"/>
                </a:solidFill>
                <a:latin typeface="Calibri"/>
              </a:rPr>
              <a:t>A human safety net adds real reward (+14.8%) for a small cost (2.2%) — sending only about 1 in 70 cases to an expert.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Results &amp; Discussion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 July 2026  ·  18 / 35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i. Introduction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74167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4167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ii. Literature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348334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334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iii. System Design</a:t>
            </a:r>
          </a:p>
        </p:txBody>
      </p:sp>
      <p:sp>
        <p:nvSpPr>
          <p:cNvPr id="9" name="Rectangle 8"/>
          <p:cNvSpPr/>
          <p:nvPr/>
        </p:nvSpPr>
        <p:spPr>
          <a:xfrm>
            <a:off x="522501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2501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iv. Implementation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6668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668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v. Results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08350" y="0"/>
            <a:ext cx="1741670" cy="3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0835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vi. Conclusion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450020" y="0"/>
            <a:ext cx="1741675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50020" y="0"/>
            <a:ext cx="1741675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vii. Demo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30000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80000"/>
            <a:ext cx="11277295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FINDINGS &amp; LIMITATIONS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1120000"/>
            <a:ext cx="11277295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6FC4"/>
                </a:solidFill>
                <a:latin typeface="Calibri"/>
              </a:rPr>
              <a:t>WHAT WE FOUND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420000"/>
            <a:ext cx="5488647" cy="88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420000"/>
            <a:ext cx="91440" cy="88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7200" y="1500000"/>
            <a:ext cx="5288647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5697"/>
                </a:solidFill>
                <a:latin typeface="Calibri"/>
              </a:rPr>
              <a:t>Learning outperforms static rules (in simulation)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7200" y="1780000"/>
            <a:ext cx="5288647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62626"/>
                </a:solidFill>
                <a:latin typeface="Calibri"/>
              </a:rPr>
              <a:t>+25.2%,  p &lt; 0.001,  d = 2.98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7200" y="2040000"/>
            <a:ext cx="5288647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  <a:latin typeface="Calibri"/>
              </a:rPr>
              <a:t>LinUCB earned $18,248 more than the static baseline across 20 repeats.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45847" y="1420000"/>
            <a:ext cx="5488647" cy="88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45847" y="1420000"/>
            <a:ext cx="91440" cy="88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5847" y="1500000"/>
            <a:ext cx="5288647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5697"/>
                </a:solidFill>
                <a:latin typeface="Calibri"/>
              </a:rPr>
              <a:t>No demographic parity failures on the primary metrics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5847" y="1780000"/>
            <a:ext cx="5288647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62626"/>
                </a:solidFill>
                <a:latin typeface="Calibri"/>
              </a:rPr>
              <a:t>85.72% &amp; 90.12% approval parity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5847" y="2040000"/>
            <a:ext cx="5288647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  <a:latin typeface="Calibri"/>
              </a:rPr>
              <a:t>Cleared the 4/5 rule; criterion 6 flagged (interpreted in A3).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2400000"/>
            <a:ext cx="5488647" cy="88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2400000"/>
            <a:ext cx="91440" cy="88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7200" y="2480000"/>
            <a:ext cx="5288647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5697"/>
                </a:solidFill>
                <a:latin typeface="Calibri"/>
              </a:rPr>
              <a:t>The learning — not the exploration — is what works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7200" y="2760000"/>
            <a:ext cx="5288647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62626"/>
                </a:solidFill>
                <a:latin typeface="Calibri"/>
              </a:rPr>
              <a:t>greedy version ties the full one (p = 0.58)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7200" y="3020000"/>
            <a:ext cx="5288647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  <a:latin typeface="Calibri"/>
              </a:rPr>
              <a:t>It's the updating-as-it-goes that beats a frozen model.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45847" y="2400000"/>
            <a:ext cx="5488647" cy="88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45847" y="2400000"/>
            <a:ext cx="91440" cy="88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95847" y="2480000"/>
            <a:ext cx="5288647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5697"/>
                </a:solidFill>
                <a:latin typeface="Calibri"/>
              </a:rPr>
              <a:t>Human oversight adds value cheaply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95847" y="2760000"/>
            <a:ext cx="5288647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62626"/>
                </a:solidFill>
                <a:latin typeface="Calibri"/>
              </a:rPr>
              <a:t>+14.8% for 1.3% review, 2.2% cost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95847" y="3020000"/>
            <a:ext cx="5288647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  <a:latin typeface="Calibri"/>
              </a:rPr>
              <a:t>A small human safety net pays for itself.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3410000"/>
            <a:ext cx="11277295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D4E00"/>
                </a:solidFill>
                <a:latin typeface="Calibri"/>
              </a:rPr>
              <a:t>AND WHERE WE'RE HONEST ABOUT THE LIMITS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3700000"/>
            <a:ext cx="3612431" cy="112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3700000"/>
            <a:ext cx="91440" cy="1120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7200" y="3800000"/>
            <a:ext cx="3362431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D4E00"/>
                </a:solidFill>
                <a:latin typeface="Calibri"/>
              </a:rPr>
              <a:t>Synthetic data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7200" y="4120000"/>
            <a:ext cx="3362431" cy="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Anchored to real surveys, but not real insurance claims.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89631" y="3700000"/>
            <a:ext cx="3612431" cy="112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89631" y="3700000"/>
            <a:ext cx="91440" cy="1120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39631" y="3800000"/>
            <a:ext cx="3362431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D4E00"/>
                </a:solidFill>
                <a:latin typeface="Calibri"/>
              </a:rPr>
              <a:t>Single-period reward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39631" y="4120000"/>
            <a:ext cx="3362431" cy="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One-shot profit proxy — no multi-year renewals yet.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2062" y="3700000"/>
            <a:ext cx="3612431" cy="112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122062" y="3700000"/>
            <a:ext cx="91440" cy="1120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272062" y="3800000"/>
            <a:ext cx="3362431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D4E00"/>
                </a:solidFill>
                <a:latin typeface="Calibri"/>
              </a:rPr>
              <a:t>Calibrated to one country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72062" y="4120000"/>
            <a:ext cx="3362431" cy="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Cambodia only; a constant policy still tops the ladder.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 July 2026  ·  19 / 35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i. Introduction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74167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4167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ii. Literature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348334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334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iii. System Design</a:t>
            </a:r>
          </a:p>
        </p:txBody>
      </p:sp>
      <p:sp>
        <p:nvSpPr>
          <p:cNvPr id="9" name="Rectangle 8"/>
          <p:cNvSpPr/>
          <p:nvPr/>
        </p:nvSpPr>
        <p:spPr>
          <a:xfrm>
            <a:off x="522501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2501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iv. Implementation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6668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668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v. Results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08350" y="0"/>
            <a:ext cx="1741670" cy="3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0835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vi. Conclusion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450020" y="0"/>
            <a:ext cx="1741675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50020" y="0"/>
            <a:ext cx="1741675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vii. Demo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30000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80000"/>
            <a:ext cx="11277295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FUTURE WORK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1220000"/>
            <a:ext cx="5488647" cy="20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1220000"/>
            <a:ext cx="91440" cy="20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7200" y="132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Handle change over time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7200" y="1780000"/>
            <a:ext cx="5288647" cy="1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PSI RED (&gt; 0.25) triggers a DiscountedLinUCB warm-restart (λ = 0.90)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Adapt faster when the population shifts, without a full cold retrain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45847" y="1220000"/>
            <a:ext cx="5488647" cy="20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45847" y="1220000"/>
            <a:ext cx="91440" cy="20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95847" y="132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Real-world deployment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95847" y="1780000"/>
            <a:ext cx="5288647" cy="1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Shadow-mode trial with a Cambodian insurer, scoped with the IRC regulator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Delayed reward (6–24mo claims lag) via a proxy or survival model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420000"/>
            <a:ext cx="5488647" cy="20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3420000"/>
            <a:ext cx="91440" cy="20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7200" y="352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Richer models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7200" y="3980000"/>
            <a:ext cx="5288647" cy="1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Neural bandit extensions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Move beyond 34 simple features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45847" y="3420000"/>
            <a:ext cx="5488647" cy="20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5847" y="3420000"/>
            <a:ext cx="91440" cy="20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95847" y="352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Lifetime customer value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95847" y="3980000"/>
            <a:ext cx="5288647" cy="1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Retention, renewals, cross-selling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Beyond a single-decision reward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 July 2026  ·  20 / 35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i. Introduction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74167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4167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ii. Literature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348334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334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iii. System Design</a:t>
            </a:r>
          </a:p>
        </p:txBody>
      </p:sp>
      <p:sp>
        <p:nvSpPr>
          <p:cNvPr id="9" name="Rectangle 8"/>
          <p:cNvSpPr/>
          <p:nvPr/>
        </p:nvSpPr>
        <p:spPr>
          <a:xfrm>
            <a:off x="522501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2501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iv. Implementation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6668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668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v. Results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08350" y="0"/>
            <a:ext cx="1741670" cy="3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0835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vi. Conclusion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450020" y="0"/>
            <a:ext cx="1741675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50020" y="0"/>
            <a:ext cx="1741675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vii. Demo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30000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80000"/>
            <a:ext cx="11277295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NEXT STEPS (PERSONALLY)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1120000"/>
            <a:ext cx="11277295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6FC4"/>
                </a:solidFill>
                <a:latin typeface="Calibri"/>
              </a:rPr>
              <a:t>THE ACADEMIC WORK ABOVE CONTINUES — HERE'S WHERE I'M TAKING IT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550000"/>
            <a:ext cx="5488647" cy="28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550000"/>
            <a:ext cx="91440" cy="28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7200" y="1680000"/>
            <a:ext cx="5288647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Calibri"/>
              </a:rPr>
              <a:t>Continuing with DAC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7200" y="2210000"/>
            <a:ext cx="5288647" cy="2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Hardening this pipeline for DAC's actual client work</a:t>
            </a:r>
          </a:p>
          <a:p>
            <a:pPr algn="l">
              <a:spcBef>
                <a:spcPts val="8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PSI monitoring + drift response, built production-grade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5847" y="1550000"/>
            <a:ext cx="5488647" cy="28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5847" y="1550000"/>
            <a:ext cx="91440" cy="28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95847" y="1680000"/>
            <a:ext cx="5288647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Calibri"/>
              </a:rPr>
              <a:t>MSIG Vietnam PA POC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95847" y="2210000"/>
            <a:ext cx="5288647" cy="2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A dynamic-underwriting proof-of-concept for personal accident cover</a:t>
            </a:r>
          </a:p>
          <a:p>
            <a:pPr algn="l">
              <a:spcBef>
                <a:spcPts val="8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Same offline-eval + human-in-the-loop architecture, design already locked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650000"/>
            <a:ext cx="11277295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1B5697"/>
                </a:solidFill>
                <a:latin typeface="Calibri"/>
              </a:rPr>
              <a:t>Same core idea — learn from data offline, keep a human in the loop, keep a drift monitor running — applied to the next problem.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 July 2026  ·  21 / 35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i. Introduction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74167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4167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ii. Literature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348334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334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iii. System Design</a:t>
            </a:r>
          </a:p>
        </p:txBody>
      </p:sp>
      <p:sp>
        <p:nvSpPr>
          <p:cNvPr id="9" name="Rectangle 8"/>
          <p:cNvSpPr/>
          <p:nvPr/>
        </p:nvSpPr>
        <p:spPr>
          <a:xfrm>
            <a:off x="522501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2501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iv. Implementation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6668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668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v. Results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08350" y="0"/>
            <a:ext cx="1741670" cy="3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0835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vi. Conclusion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450020" y="0"/>
            <a:ext cx="1741675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50020" y="0"/>
            <a:ext cx="1741675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vii. Demo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30000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80000"/>
            <a:ext cx="11277295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THE TAKEAWAY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1600000"/>
            <a:ext cx="11277295" cy="15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1600000"/>
            <a:ext cx="11277295" cy="1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505050"/>
                </a:solidFill>
                <a:latin typeface="Segoe UI"/>
              </a:rPr>
              <a:t>2023: </a:t>
            </a:r>
            <a:r>
              <a:rPr sz="4000" b="1">
                <a:solidFill>
                  <a:srgbClr val="E6A62E"/>
                </a:solidFill>
                <a:latin typeface="Segoe UI"/>
              </a:rPr>
              <a:t>RATED</a:t>
            </a:r>
            <a:r>
              <a:rPr sz="4000" b="1">
                <a:solidFill>
                  <a:srgbClr val="505050"/>
                </a:solidFill>
                <a:latin typeface="Segoe UI"/>
              </a:rPr>
              <a:t>     2026: </a:t>
            </a:r>
            <a:r>
              <a:rPr sz="4000" b="1">
                <a:solidFill>
                  <a:srgbClr val="2E8B57"/>
                </a:solidFill>
                <a:latin typeface="Segoe UI"/>
              </a:rPr>
              <a:t>STANDARD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600000"/>
            <a:ext cx="11277295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262626"/>
                </a:solidFill>
                <a:latin typeface="Calibri"/>
              </a:rPr>
              <a:t>The same woman. A system that weighs the price trade-off a fixed rule can't — and keeps learning.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700000"/>
            <a:ext cx="11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B5697"/>
                </a:solidFill>
                <a:latin typeface="Calibri"/>
              </a:rPr>
              <a:t>Cambodia has hundreds of thousands of applicants like her.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 July 2026  ·  22 / 35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i. Introduction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74167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4167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ii. Literature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348334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334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iii. System Design</a:t>
            </a:r>
          </a:p>
        </p:txBody>
      </p:sp>
      <p:sp>
        <p:nvSpPr>
          <p:cNvPr id="9" name="Rectangle 8"/>
          <p:cNvSpPr/>
          <p:nvPr/>
        </p:nvSpPr>
        <p:spPr>
          <a:xfrm>
            <a:off x="522501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2501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iv. Implementation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6668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668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v. Results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0835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0835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vi. Conclusion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450020" y="0"/>
            <a:ext cx="1741675" cy="3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50020" y="0"/>
            <a:ext cx="1741675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vii. Demo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30000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80000"/>
            <a:ext cx="11277295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LIVE DEMONSTRATION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1550000"/>
            <a:ext cx="500000" cy="10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7200" y="1550000"/>
            <a:ext cx="420000" cy="10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00" y="1550000"/>
            <a:ext cx="10537295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B5697"/>
                </a:solidFill>
                <a:latin typeface="Calibri"/>
              </a:rPr>
              <a:t>Score Sophea live</a:t>
            </a:r>
          </a:p>
          <a:p>
            <a:pPr algn="l">
              <a:spcBef>
                <a:spcPts val="400"/>
              </a:spcBef>
            </a:pPr>
            <a:r>
              <a:rPr sz="1500" b="0" i="0">
                <a:solidFill>
                  <a:srgbClr val="262626"/>
                </a:solidFill>
                <a:latin typeface="Calibri"/>
              </a:rPr>
              <a:t>→  decision + the drift monitor (PSI), on screen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800000"/>
            <a:ext cx="500000" cy="10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7200" y="2800000"/>
            <a:ext cx="420000" cy="10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00" y="2800000"/>
            <a:ext cx="10537295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B5697"/>
                </a:solidFill>
                <a:latin typeface="Calibri"/>
              </a:rPr>
              <a:t>A higher-risk applicant</a:t>
            </a:r>
          </a:p>
          <a:p>
            <a:pPr algn="l">
              <a:spcBef>
                <a:spcPts val="400"/>
              </a:spcBef>
            </a:pPr>
            <a:r>
              <a:rPr sz="1500" b="0" i="0">
                <a:solidFill>
                  <a:srgbClr val="262626"/>
                </a:solidFill>
                <a:latin typeface="Calibri"/>
              </a:rPr>
              <a:t>→  see the decision and the reward change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050000"/>
            <a:ext cx="500000" cy="10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7200" y="4050000"/>
            <a:ext cx="420000" cy="10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00" y="4050000"/>
            <a:ext cx="10537295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B5697"/>
                </a:solidFill>
                <a:latin typeface="Calibri"/>
              </a:rPr>
              <a:t>Watch it learn</a:t>
            </a:r>
          </a:p>
          <a:p>
            <a:pPr algn="l">
              <a:spcBef>
                <a:spcPts val="400"/>
              </a:spcBef>
            </a:pPr>
            <a:r>
              <a:rPr sz="1500" b="0" i="0">
                <a:solidFill>
                  <a:srgbClr val="262626"/>
                </a:solidFill>
                <a:latin typeface="Calibri"/>
              </a:rPr>
              <a:t>→  cumulative-reward animation, learning system vs static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150000"/>
            <a:ext cx="11277295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05050"/>
                </a:solidFill>
                <a:latin typeface="Calibri"/>
              </a:rPr>
              <a:t>A live FastAPI app — not a mockup.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Demonstration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 July 2026  ·  23 / 35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i. Introduction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74167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4167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ii. Literature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348334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334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iii. System Design</a:t>
            </a:r>
          </a:p>
        </p:txBody>
      </p:sp>
      <p:sp>
        <p:nvSpPr>
          <p:cNvPr id="9" name="Rectangle 8"/>
          <p:cNvSpPr/>
          <p:nvPr/>
        </p:nvSpPr>
        <p:spPr>
          <a:xfrm>
            <a:off x="522501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2501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iv. Implementation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6668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668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v. Results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0835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0835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vi. Conclusion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450020" y="0"/>
            <a:ext cx="1741675" cy="3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50020" y="0"/>
            <a:ext cx="1741675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vii. Demo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30000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80000"/>
            <a:ext cx="11277295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IF LIVE DEMO FAILS — A SCORED APPLICANT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desk_underwri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5847" y="1200000"/>
            <a:ext cx="7040000" cy="4400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820000"/>
            <a:ext cx="11277295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05050"/>
                </a:solidFill>
                <a:latin typeface="Calibri"/>
              </a:rPr>
              <a:t>Fallback screenshot — Underwriting Desk view, a sample applicant scored.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Demonstration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 July 2026  ·  24 / 35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i. Introduction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74167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4167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ii. Literature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348334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334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iii. System Design</a:t>
            </a:r>
          </a:p>
        </p:txBody>
      </p:sp>
      <p:sp>
        <p:nvSpPr>
          <p:cNvPr id="9" name="Rectangle 8"/>
          <p:cNvSpPr/>
          <p:nvPr/>
        </p:nvSpPr>
        <p:spPr>
          <a:xfrm>
            <a:off x="522501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2501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iv. Implementation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6668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668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v. Results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08350" y="0"/>
            <a:ext cx="1741670" cy="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08350" y="0"/>
            <a:ext cx="1741670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Segoe UI"/>
              </a:rPr>
              <a:t>vi. Conclusion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450020" y="0"/>
            <a:ext cx="1741675" cy="3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50020" y="0"/>
            <a:ext cx="1741675" cy="3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vii. Demo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30000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80000"/>
            <a:ext cx="11277295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IF LIVE DEMO FAILS — WATCH IT LEARN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desk_le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5847" y="1200000"/>
            <a:ext cx="7040000" cy="4400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820000"/>
            <a:ext cx="11277295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05050"/>
                </a:solidFill>
                <a:latin typeface="Calibri"/>
              </a:rPr>
              <a:t>Fallback screenshot — cumulative reward, learning system vs static rules.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Demonstration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 July 2026  ·  25 / 35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500000"/>
            <a:ext cx="11277295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Thank you for your attention.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00000"/>
            <a:ext cx="11277295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BDCEE4"/>
                </a:solidFill>
                <a:latin typeface="Calibri"/>
              </a:rPr>
              <a:t>Questions are welcome.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800000"/>
            <a:ext cx="11277295" cy="54864"/>
          </a:xfrm>
          <a:prstGeom prst="rect">
            <a:avLst/>
          </a:prstGeom>
          <a:solidFill>
            <a:srgbClr val="162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3920000"/>
            <a:ext cx="11277295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BDCEE4"/>
                </a:solidFill>
                <a:latin typeface="Calibri"/>
              </a:rPr>
              <a:t>BACKUP SLIDES IN THE APPENDIX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00000"/>
            <a:ext cx="11277295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BDCEE4"/>
                </a:solidFill>
                <a:latin typeface="Calibri"/>
              </a:rPr>
              <a:t>A1 Baseline ladder   ·   A2 Number reconciliation   ·   A3 All 6 fairness checks</a:t>
            </a:r>
          </a:p>
          <a:p>
            <a:pPr algn="ctr">
              <a:spcBef>
                <a:spcPts val="800"/>
              </a:spcBef>
            </a:pPr>
            <a:r>
              <a:rPr sz="1300" b="0" i="0">
                <a:solidFill>
                  <a:srgbClr val="BDCEE4"/>
                </a:solidFill>
                <a:latin typeface="Calibri"/>
              </a:rPr>
              <a:t>A4 The maths   ·   A5 Sensitivity analysis   ·   A6 No train/test split</a:t>
            </a:r>
          </a:p>
          <a:p>
            <a:pPr algn="ctr">
              <a:spcBef>
                <a:spcPts val="800"/>
              </a:spcBef>
            </a:pPr>
            <a:r>
              <a:rPr sz="1300" b="0" i="0">
                <a:solidFill>
                  <a:srgbClr val="BDCEE4"/>
                </a:solidFill>
                <a:latin typeface="Calibri"/>
              </a:rPr>
              <a:t>A7 The exploration bonus (α)   ·   A8 The drift index (PSI)   ·   A9 The data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162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BDCEE4"/>
                </a:solidFill>
                <a:latin typeface="Calibri"/>
              </a:rPr>
              <a:t>Q &amp;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 July 2026  ·  26 / 35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0000"/>
            <a:ext cx="11277295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A1: COMPLETE BASELINE LADDER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00000"/>
          <a:ext cx="11277295" cy="4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460000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Policy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Cumulative Reward (mean)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% of Oracle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Oracle (perfect knowledge)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$126,804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[124,187, 128,428]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LogisticOracle ‡ (full-supervision)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$123,977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[121,794, 126,126]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98.1%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AlwaysRATED (trivial constant)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$122,287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[119,528, 124,996]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96.8%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5697"/>
                          </a:solidFill>
                        </a:rPr>
                        <a:t>LinTS  ← proposed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$93,723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[91,105, 96,481]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74.2%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5697"/>
                          </a:solidFill>
                        </a:rPr>
                        <a:t>LinUCB  ← proposed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$91,864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[89,139, 94,702]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72.7%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Epsilon-Greedy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$76,441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[73,767, 79,107]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60.5%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Static XGB (incumbent)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$72,206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[70,125, 74,352]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57.1%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AlwaysSTANDARD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$34,684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[33,694, 35,871]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27.5%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Random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$1,980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[739, 3,209]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780000"/>
            <a:ext cx="1127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05050"/>
                </a:solidFill>
                <a:latin typeface="Calibri"/>
              </a:rPr>
              <a:t>‡ LogisticOracle: fit in-sample — not deployable. Oracle: full-information upper bound. AlwaysRATED is commercially &amp; regulatorily inadmissible. Bandits lead every admissible alternative.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 July 2026  ·  27 / 35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0000"/>
            <a:ext cx="11277295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A2: NUMBER RECONCILIATION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80000"/>
            <a:ext cx="11277295" cy="148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80000"/>
            <a:ext cx="91440" cy="148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260000"/>
            <a:ext cx="1550000" cy="138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B5697"/>
                </a:solidFill>
                <a:latin typeface="Calibri"/>
              </a:rPr>
              <a:t>+25.2%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07200" y="1260000"/>
            <a:ext cx="932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EXP-005: LinUCB vs Static XGB (primary pre-registered result)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07200" y="1680000"/>
            <a:ext cx="9327295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LinUCB mean $90,540 vs Static XGB mean $72,292</a:t>
            </a:r>
          </a:p>
          <a:p>
            <a:pPr algn="l">
              <a:spcBef>
                <a:spcPts val="5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Paired Wilcoxon p &lt; 0.001, Cohen's d = 2.98, 20 seeds</a:t>
            </a:r>
          </a:p>
          <a:p>
            <a:pPr algn="l">
              <a:spcBef>
                <a:spcPts val="5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This is the headline figure cited throughout the thesis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810000"/>
            <a:ext cx="11277295" cy="148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810000"/>
            <a:ext cx="91440" cy="148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7200" y="2890000"/>
            <a:ext cx="1550000" cy="138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B5697"/>
                </a:solidFill>
                <a:latin typeface="Calibri"/>
              </a:rPr>
              <a:t>+29.8%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07200" y="2890000"/>
            <a:ext cx="932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EXP-007: LinTS vs Static XGB (CRN benchmark harness)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07200" y="3310000"/>
            <a:ext cx="9327295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LinTS mean $93,723 vs Static XGB mean $72,206</a:t>
            </a:r>
          </a:p>
          <a:p>
            <a:pPr algn="l">
              <a:spcBef>
                <a:spcPts val="5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Different harness (common random numbers) — not the pre-registered test</a:t>
            </a:r>
          </a:p>
          <a:p>
            <a:pPr algn="l">
              <a:spcBef>
                <a:spcPts val="5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Reported for completeness; primary comparison is EXP-005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440000"/>
            <a:ext cx="11277295" cy="148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4440000"/>
            <a:ext cx="91440" cy="148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7200" y="4520000"/>
            <a:ext cx="1550000" cy="138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B5697"/>
                </a:solidFill>
                <a:latin typeface="Calibri"/>
              </a:rPr>
              <a:t>+14.8%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07200" y="4520000"/>
            <a:ext cx="932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EXP-008: HITL reward vs vanilla bandit (20 seeds)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7200" y="4940000"/>
            <a:ext cx="9327295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HITL $103,951 vs vanilla bandit $90,540, p &lt; 0.001, d = 2.65</a:t>
            </a:r>
          </a:p>
          <a:p>
            <a:pPr algn="l">
              <a:spcBef>
                <a:spcPts val="5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Baseline is the vanilla bandit (NOT Static XGB or AlwaysRATED)</a:t>
            </a:r>
          </a:p>
          <a:p>
            <a:pPr algn="l">
              <a:spcBef>
                <a:spcPts val="5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At the single illustrative seed 42 this reads +6.5% ($102,100 vs $95,872)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Appendix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 July 2026  ·  28 / 35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0000"/>
            <a:ext cx="11277295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A3: ALL 6 FAIRNESS CRITERIA (EXP-006)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488647" cy="88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88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270000"/>
            <a:ext cx="5288647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Criterion 1: PSI Region ≤ 0.25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540000"/>
            <a:ext cx="5288647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PSI = 0.082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7200" y="1810000"/>
            <a:ext cx="5288647" cy="22000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E8B57"/>
                </a:solidFill>
                <a:latin typeface="Calibri"/>
              </a:rPr>
              <a:t>GREEN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847" y="1200000"/>
            <a:ext cx="5488647" cy="88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45847" y="1200000"/>
            <a:ext cx="91440" cy="880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5847" y="1270000"/>
            <a:ext cx="5288647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Criterion 2: PSI Occupation ≤ 0.25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5847" y="1540000"/>
            <a:ext cx="5288647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PSI = 0.123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5847" y="1810000"/>
            <a:ext cx="5288647" cy="22000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6A62E"/>
                </a:solidFill>
                <a:latin typeface="Calibri"/>
              </a:rPr>
              <a:t>AMBER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180000"/>
            <a:ext cx="5488647" cy="88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180000"/>
            <a:ext cx="91440" cy="88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7200" y="2250000"/>
            <a:ext cx="5288647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Criterion 3: EEOC 4/5 rule — Region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7200" y="2520000"/>
            <a:ext cx="5288647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85.72% ≥ 80%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7200" y="2790000"/>
            <a:ext cx="5288647" cy="22000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E8B57"/>
                </a:solidFill>
                <a:latin typeface="Calibri"/>
              </a:rPr>
              <a:t>PASS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5847" y="2180000"/>
            <a:ext cx="5488647" cy="88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5847" y="2180000"/>
            <a:ext cx="91440" cy="88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95847" y="2250000"/>
            <a:ext cx="5288647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Criterion 4: EEOC 4/5 rule — Occupation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5847" y="2520000"/>
            <a:ext cx="5288647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90.12% ≥ 80%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5847" y="2790000"/>
            <a:ext cx="5288647" cy="22000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E8B57"/>
                </a:solidFill>
                <a:latin typeface="Calibri"/>
              </a:rPr>
              <a:t>PASS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160000"/>
            <a:ext cx="5488647" cy="88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160000"/>
            <a:ext cx="91440" cy="88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7200" y="3230000"/>
            <a:ext cx="5288647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Criterion 5: Permutation test — Region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7200" y="3500000"/>
            <a:ext cx="5288647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p = 0.132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7200" y="3770000"/>
            <a:ext cx="5288647" cy="22000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E8B57"/>
                </a:solidFill>
                <a:latin typeface="Calibri"/>
              </a:rPr>
              <a:t>PASS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45847" y="3160000"/>
            <a:ext cx="5488647" cy="88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45847" y="3160000"/>
            <a:ext cx="91440" cy="880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95847" y="3230000"/>
            <a:ext cx="5288647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Criterion 6: Permutation test — Occupation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95847" y="3500000"/>
            <a:ext cx="5288647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p &lt; 0.001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95847" y="3770000"/>
            <a:ext cx="5288647" cy="22000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6A62E"/>
                </a:solidFill>
                <a:latin typeface="Calibri"/>
              </a:rPr>
              <a:t>FAILED-with-interpretation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4190000"/>
            <a:ext cx="11277295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05050"/>
                </a:solidFill>
                <a:latin typeface="Calibri"/>
              </a:rPr>
              <a:t>Criterion 6: a statistically significant occupation disparity under the permutation test. But PSI = 0.123 (AMBER, monitor only) and parity 90.12% ≥ 80% — reported FAILED in the interest of honesty, not a hard stop.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Appendix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 July 2026  ·  29 / 35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0000"/>
            <a:ext cx="11277295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A4: MATHEMATICAL DETAILS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488647" cy="48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48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3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Calibri"/>
              </a:rPr>
              <a:t>LinUCB UPDATE RULE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720000"/>
            <a:ext cx="5288647" cy="4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Design matrix:  A ← A + xₜ xₜᵀ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>Reward vector:  b ← b + rₜ xₜ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>Ridge estimate: θ̂ = A⁻¹ b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>UCB score: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>  p(x) = θ̂ᵀ x + α √(xᵀ A⁻¹ x)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>Regret bound (motivation, not a guarantee):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>  √(Td) is proven for SupLinUCB, not plain LinUCB;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>  LinTS sits √d above the lower bound. (PSI: A8.)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>HITL dual-update: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>  If human overrides → update on human label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>  Else update on bandit label</a:t>
            </a:r>
          </a:p>
        </p:txBody>
      </p:sp>
      <p:sp>
        <p:nvSpPr>
          <p:cNvPr id="9" name="Rectangle 8"/>
          <p:cNvSpPr/>
          <p:nvPr/>
        </p:nvSpPr>
        <p:spPr>
          <a:xfrm>
            <a:off x="6245847" y="1200000"/>
            <a:ext cx="5488647" cy="48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847" y="1200000"/>
            <a:ext cx="91440" cy="48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5847" y="13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Calibri"/>
              </a:rPr>
              <a:t>KEY HYPERPARAMETERS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95847" y="1750000"/>
          <a:ext cx="5288647" cy="4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4323"/>
                <a:gridCol w="2644324"/>
              </a:tblGrid>
              <a:tr h="410000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</a:tr>
              <a:tr h="41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LinUCB α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1.0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41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LinTS v²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Ridge λ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1.0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41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Horizon 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Seeds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41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HITL threshold 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0.7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Discount γ (EXP-015)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0.999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41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PSI AMBER threshold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PSI RED threshold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0.25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Appendix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 July 2026  ·  30 / 35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0000"/>
            <a:ext cx="11277295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A5: SENSITIVITY ANALYSIS (EXP-012, 10 SEEDS)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50000"/>
            <a:ext cx="5074782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α sweep — LinUCB cumulative reward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00000"/>
          <a:ext cx="5074782" cy="25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594"/>
                <a:gridCol w="1691594"/>
                <a:gridCol w="1691594"/>
              </a:tblGrid>
              <a:tr h="416666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α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Reward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vs best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</a:tr>
              <a:tr h="416666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0.1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$90,645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−0.8%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416666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0.5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$88,473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−3.2%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416666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E8B57"/>
                          </a:solidFill>
                        </a:rPr>
                        <a:t>1.0 (default)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E8B57"/>
                          </a:solidFill>
                        </a:rPr>
                        <a:t>$91,378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E8B57"/>
                          </a:solidFill>
                        </a:rPr>
                        <a:t>BEST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  <a:tr h="416666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2.0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$89,953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−1.6%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41667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5.0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$90,959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−0.5%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751982" y="1150000"/>
            <a:ext cx="5982512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LinUCB advantage over Static XGB (every setting)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51982" y="1500000"/>
          <a:ext cx="5982512" cy="25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4170"/>
                <a:gridCol w="1994170"/>
                <a:gridCol w="1994172"/>
              </a:tblGrid>
              <a:tr h="416666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Stress setting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Advantage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Effect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</a:tr>
              <a:tr h="41666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Adverse selection ×1.0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8B57"/>
                          </a:solidFill>
                        </a:rPr>
                        <a:t>+$26,371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d = 4.70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41666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Adverse selection ×1.35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8B57"/>
                          </a:solidFill>
                        </a:rPr>
                        <a:t>+$20,028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d = 3.05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666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Adverse selection ×1.7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8B57"/>
                          </a:solidFill>
                        </a:rPr>
                        <a:t>+$20,239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d = 3.34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41666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Elasticity slope 2.5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8B57"/>
                          </a:solidFill>
                        </a:rPr>
                        <a:t>+$23,222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d = 1.14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667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Elasticity slope 4.5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8B57"/>
                          </a:solidFill>
                        </a:rPr>
                        <a:t>+$17,358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d = 2.24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57200" y="4350000"/>
            <a:ext cx="11277295" cy="10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350000"/>
            <a:ext cx="91440" cy="100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200" y="4460000"/>
            <a:ext cx="1091729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E8B57"/>
                </a:solidFill>
                <a:latin typeface="Calibri"/>
              </a:rPr>
              <a:t>Robust: α = 1.0 is regret-minimising, and LinUCB outperforms Static XGB (in-simulation) at every α, adverse-selection factor and elasticity slope tested.</a:t>
            </a:r>
          </a:p>
          <a:p>
            <a:pPr algn="l">
              <a:spcBef>
                <a:spcPts val="600"/>
              </a:spcBef>
            </a:pPr>
            <a:r>
              <a:rPr sz="1200" b="0" i="1">
                <a:solidFill>
                  <a:srgbClr val="505050"/>
                </a:solidFill>
                <a:latin typeface="Calibri"/>
              </a:rPr>
              <a:t>Note: α = 1.0 gives $91,378 over 10 seeds here; the headline $90,540 is the 20-seed EXP-005 figure — both real, different seed counts.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Appendix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 July 2026  ·  31 / 35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0000"/>
            <a:ext cx="11277295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A6: WHY A BANDIT HAS NO TRAIN/TEST SPLIT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10000"/>
            <a:ext cx="11277295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05050"/>
                </a:solidFill>
                <a:latin typeface="Calibri"/>
              </a:rPr>
              <a:t>A contextual bandit learns online — there is no train/test split. Here is what that means, and how generalisation is measured instead.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80000"/>
            <a:ext cx="5488647" cy="264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80000"/>
            <a:ext cx="91440" cy="264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7200" y="1800000"/>
            <a:ext cx="530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Segoe UI"/>
              </a:rPr>
              <a:t>Supervised ML  (e.g. Static XGB incumbent)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7200" y="2220000"/>
            <a:ext cx="5308647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Split data: train / validation / test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Fit once on the training set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Freeze the weights; deploy unchanged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Generalisation = score on a held-out test set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847" y="1680000"/>
            <a:ext cx="5488647" cy="2640000"/>
          </a:xfrm>
          <a:prstGeom prst="rect">
            <a:avLst/>
          </a:prstGeom>
          <a:solidFill>
            <a:srgbClr val="D4E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45847" y="1680000"/>
            <a:ext cx="91440" cy="264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5847" y="1800000"/>
            <a:ext cx="530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Segoe UI"/>
              </a:rPr>
              <a:t>Contextual bandit  (LinUCB / LinTS)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5847" y="2220000"/>
            <a:ext cx="5308647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No split — meets applicants one at a time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Each round: select arm → observe reward → update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Every round is BOTH 'train' and 'test'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Ridge prior λ = 1.0 regularises online — no static fit to overfit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400000"/>
            <a:ext cx="11277295" cy="170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400000"/>
            <a:ext cx="91440" cy="170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200" y="4510000"/>
            <a:ext cx="10917295" cy="15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E8B57"/>
                </a:solidFill>
                <a:latin typeface="Calibri"/>
              </a:rPr>
              <a:t>HOW WE EVALUATE INSTEAD — generalisation without a holdout</a:t>
            </a:r>
          </a:p>
          <a:p>
            <a:pPr algn="l">
              <a:spcBef>
                <a:spcPts val="8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>• Performance = cumulative regret vs the Oracle, averaged over 20 independent random seeds — the seeds play the role of the held-out test set.</a:t>
            </a:r>
          </a:p>
          <a:p>
            <a:pPr algn="l">
              <a:spcBef>
                <a:spcPts val="5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>• Pre-registered pass criteria + fixed seeds → fully reproducible; no test-set leakage is possible because there is no test set to leak.</a:t>
            </a:r>
          </a:p>
          <a:p>
            <a:pPr algn="l">
              <a:spcBef>
                <a:spcPts val="5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>• The Static XGB incumbent IS fit offline and frozen — so the benchmark is fair: a supervised model at its best vs a bandit learning from scratch.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Appendix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 July 2026  ·  32 / 35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0000"/>
            <a:ext cx="11277295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A7: THE EXPLORATION BONUS (α), IN PLAIN WORDS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20000"/>
            <a:ext cx="11277295" cy="7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30000"/>
            <a:ext cx="11277295" cy="4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Segoe UI"/>
              </a:rPr>
              <a:t>Arm score  =  expected payoff  +  α × how-unsure-we-still-are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50000"/>
            <a:ext cx="5488647" cy="24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050000"/>
            <a:ext cx="91440" cy="24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7200" y="2170000"/>
            <a:ext cx="5188647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Calibri"/>
              </a:rPr>
              <a:t>The one formula: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200" y="2600000"/>
            <a:ext cx="5188647" cy="1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62626"/>
                </a:solidFill>
                <a:latin typeface="Calibri"/>
              </a:rPr>
              <a:t>UCB  =  x̄  +  α · √(xᵀA⁻¹x)</a:t>
            </a:r>
          </a:p>
          <a:p>
            <a:pPr algn="l">
              <a:spcBef>
                <a:spcPts val="14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x̄   →  best guess of the payoff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α    →  how adventurous to be (we use 1.0)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√(…) →  how uncertain we still are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45847" y="2050000"/>
            <a:ext cx="5488647" cy="2400000"/>
          </a:xfrm>
          <a:prstGeom prst="rect">
            <a:avLst/>
          </a:prstGeom>
          <a:solidFill>
            <a:srgbClr val="D4E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45847" y="2050000"/>
            <a:ext cx="91440" cy="24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5847" y="2170000"/>
            <a:ext cx="5188647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Calibri"/>
              </a:rPr>
              <a:t>Sophea's STANDARD arm: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5847" y="2600000"/>
            <a:ext cx="5188647" cy="1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62626"/>
                </a:solidFill>
                <a:latin typeface="Calibri"/>
              </a:rPr>
              <a:t>score 0.66  =  payoff guess  +  a small curiosity bonus</a:t>
            </a:r>
          </a:p>
          <a:p>
            <a:pPr algn="l">
              <a:spcBef>
                <a:spcPts val="12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The bonus nudges the system to try arms it hasn't seen often — so it keeps learning instead of locking in early.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650000"/>
            <a:ext cx="11277295" cy="115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4650000"/>
            <a:ext cx="91440" cy="115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200" y="4760000"/>
            <a:ext cx="10917295" cy="9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E8B57"/>
                </a:solidFill>
                <a:latin typeface="Calibri"/>
              </a:rPr>
              <a:t>Too high → wastes decisions exploring.  Too low → never learns.</a:t>
            </a:r>
          </a:p>
          <a:p>
            <a:pPr algn="l">
              <a:spcBef>
                <a:spcPts val="8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>We swept α ∈ {0.1, 0.5, 1, 2, 5} over 10 seeds — the reward barely moves and α = 1.0 is best (Appendix A5).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Appendix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 July 2026  ·  33 / 35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0000"/>
            <a:ext cx="11277295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A8: THE DRIFT INDEX (PSI), STEP BY STEP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20000"/>
            <a:ext cx="11277295" cy="9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20000"/>
            <a:ext cx="91440" cy="9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7200" y="1210000"/>
            <a:ext cx="1091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62626"/>
                </a:solidFill>
                <a:latin typeface="Calibri"/>
              </a:rPr>
              <a:t>PSI  =  Σ  (Aᵢ − Eᵢ) × ln(Aᵢ / Eᵢ)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200" y="1620000"/>
            <a:ext cx="10917295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05050"/>
                </a:solidFill>
                <a:latin typeface="Calibri"/>
              </a:rPr>
              <a:t>Aᵢ = share we approve now in group i    ·    Eᵢ = share in the system's own first 500 decisions (the reference window)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00000"/>
            <a:ext cx="5488647" cy="265000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7200" y="2300000"/>
            <a:ext cx="523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Calibri"/>
              </a:rPr>
              <a:t>A worked example — 2 regions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7200" y="2740000"/>
            <a:ext cx="5238647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Region A:  first 500 decisions 60%,  now 55%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>Region B:  first 500 decisions 40%,  now 45%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>A: (0.55−0.60)·ln(0.55/0.60) = 0.0044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>B: (0.45−0.40)·ln(0.45/0.40) = 0.0059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300" b="1" i="0">
                <a:solidFill>
                  <a:srgbClr val="2E8B57"/>
                </a:solidFill>
                <a:latin typeface="Calibri"/>
              </a:rPr>
              <a:t>PSI ≈ 0.010   →   GREEN (all clear)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5847" y="2200000"/>
            <a:ext cx="5488647" cy="56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5847" y="2200000"/>
            <a:ext cx="91440" cy="56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5847" y="2200000"/>
            <a:ext cx="16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E8B57"/>
                </a:solidFill>
                <a:latin typeface="Segoe UI"/>
              </a:rPr>
              <a:t>GREEN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45847" y="2200000"/>
            <a:ext cx="3488647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62626"/>
                </a:solidFill>
                <a:latin typeface="Calibri"/>
              </a:rPr>
              <a:t>PSI &lt; 0.10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45847" y="2850000"/>
            <a:ext cx="5488647" cy="56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5847" y="2850000"/>
            <a:ext cx="91440" cy="560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5847" y="2850000"/>
            <a:ext cx="16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6A62E"/>
                </a:solidFill>
                <a:latin typeface="Segoe UI"/>
              </a:rPr>
              <a:t>AMBER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45847" y="2850000"/>
            <a:ext cx="3488647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62626"/>
                </a:solidFill>
                <a:latin typeface="Calibri"/>
              </a:rPr>
              <a:t>0.10 – 0.25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5847" y="3500000"/>
            <a:ext cx="5488647" cy="560000"/>
          </a:xfrm>
          <a:prstGeom prst="rect">
            <a:avLst/>
          </a:prstGeom>
          <a:solidFill>
            <a:srgbClr val="F8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5847" y="3500000"/>
            <a:ext cx="91440" cy="560000"/>
          </a:xfrm>
          <a:prstGeom prst="rect">
            <a:avLst/>
          </a:prstGeom>
          <a:solidFill>
            <a:srgbClr val="D9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847" y="3500000"/>
            <a:ext cx="16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93B3B"/>
                </a:solidFill>
                <a:latin typeface="Segoe UI"/>
              </a:rPr>
              <a:t>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45847" y="3500000"/>
            <a:ext cx="3488647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62626"/>
                </a:solidFill>
                <a:latin typeface="Calibri"/>
              </a:rPr>
              <a:t>PSI &gt; 0.25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45847" y="4190000"/>
            <a:ext cx="5488647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Our result (EXP-006, 20 seeds):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>Region 0.082 (GREEN) · Occupation 0.123 (AMBER)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100000"/>
            <a:ext cx="11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05050"/>
                </a:solidFill>
                <a:latin typeface="Calibri"/>
              </a:rPr>
              <a:t>PSI is a monitor, not an enforcer: it detects drift but does not change the policy — and detecting drift is not the same as guaranteeing demographic fairness, which is tested separately (A3). An enforcement layer is future work.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Appendix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 July 2026  ·  34 / 35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0000"/>
            <a:ext cx="11277295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A9: THE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60000"/>
            <a:ext cx="2769323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B5697"/>
                </a:solidFill>
                <a:latin typeface="Calibri"/>
              </a:rPr>
              <a:t>2,000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00000"/>
            <a:ext cx="2769323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05050"/>
                </a:solidFill>
                <a:latin typeface="Calibri"/>
              </a:rPr>
              <a:t>SYNTHETIC
APPLICANTS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76523" y="1160000"/>
            <a:ext cx="2769323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B5697"/>
                </a:solidFill>
                <a:latin typeface="Calibri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76523" y="1700000"/>
            <a:ext cx="2769323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05050"/>
                </a:solidFill>
                <a:latin typeface="Calibri"/>
              </a:rPr>
              <a:t>FACTS ABOUT
EACH PERSON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5846" y="1160000"/>
            <a:ext cx="2769323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B5697"/>
                </a:solidFill>
                <a:latin typeface="Calibr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5846" y="1700000"/>
            <a:ext cx="2769323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05050"/>
                </a:solidFill>
                <a:latin typeface="Calibri"/>
              </a:rPr>
              <a:t>POSSIBLE
DECISIONS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15169" y="1160000"/>
            <a:ext cx="2769323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B5697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15169" y="1700000"/>
            <a:ext cx="2769323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05050"/>
                </a:solidFill>
                <a:latin typeface="Calibri"/>
              </a:rPr>
              <a:t>REAL-SURVEY
ANCHORS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57200" y="2280000"/>
          <a:ext cx="11277295" cy="33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418750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Features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Dims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</a:tr>
              <a:tr h="41875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B5697"/>
                          </a:solidFill>
                        </a:rPr>
                        <a:t>Demographics &amp; Vitals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Age, Gender, BMI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41875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B5697"/>
                          </a:solidFill>
                        </a:rPr>
                        <a:t>Lifestyle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Smoking, Alcohol, Exercise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75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B5697"/>
                          </a:solidFill>
                        </a:rPr>
                        <a:t>Social Determinants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Education, Wealth, Self-rated health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41875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B5697"/>
                          </a:solidFill>
                        </a:rPr>
                        <a:t>Economic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Monthly income, Family history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75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B5697"/>
                          </a:solidFill>
                        </a:rPr>
                        <a:t>Clinical Flags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Hypertension, Diabetes, Heart, COPD, Arthritis, TB, Hepatitis B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7+1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41875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B5697"/>
                          </a:solidFill>
                        </a:rPr>
                        <a:t>Region (one-hot)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8 macro-regions (CDHS 2021-22)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75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B5697"/>
                          </a:solidFill>
                        </a:rPr>
                        <a:t>Occupation (one-hot)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Rice farmer 28%, Garment 20%, Market vendor 15%, Moto 12%…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457200" y="5780000"/>
            <a:ext cx="11277295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05050"/>
                </a:solidFill>
                <a:latin typeface="Calibri"/>
              </a:rPr>
              <a:t>Synthetic because no insurer would share real records — but shaped to match published Cambodia statistics (CDHS 2021-22, STEPS, ILO, WHO).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Appendix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 July 2026  ·  35 / 35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