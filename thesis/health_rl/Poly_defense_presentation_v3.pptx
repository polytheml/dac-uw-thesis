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Distinguished Committee. I am Lun Chanpoly, and I am here to defend my master's thesis — Adaptive Health Insurance Underwriting via Contextual Bandits: A Reinforcement Learning Approach for Cambodia — a project born from my internship at Decent Actuarial Consultants in Phnom Penh, from March to June 2026, under the supervision of Dr. Has Sothea and the guidance of Mr. ON Radet at DAC.</a:t>
            </a:r>
          </a:p>
          <a:p/>
          <a:p>
            <a:r>
              <a:t>This research was driven by a single, urgent question: how do we make underwriting in Cambodia not just faster, but fundamentally smarter and more inclusive? By the end of this presentation, I hope to show you that we have a rigorous, honest, and practically useful answer.</a:t>
            </a:r>
          </a:p>
          <a:p/>
          <a:p>
            <a:r>
              <a:t>But first, let me tell you about a person named Sophea.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take you through five sections. We begin with why this problem matters — which I will show you through a story. Then a brief survey of what the research literature offers. Then the methodology I designed and implemented. Then the results — including some honest findings that did not go as expected. And finally, what all of this means for Cambodia.</a:t>
            </a:r>
          </a:p>
          <a:p/>
          <a:p>
            <a:r>
              <a:t>I also have five technical appendix slides available if the Committee wishes to go deeper on any specific point.</a:t>
            </a:r>
          </a:p>
          <a:p/>
          <a:p>
            <a:r>
              <a:t>Let me start with the person at the center of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card on screen.]</a:t>
            </a:r>
          </a:p>
          <a:p/>
          <a:p>
            <a:r>
              <a:t>This is Sophea. You can see her profile here on the left: 42 years old, a rice farmer from Kampong Cham Province. She is active — high physical activity from field farming — a non-smoker, with a BMI of 24.1, well within the normal range. Her only health flag: managed hypertension.</a:t>
            </a:r>
          </a:p>
          <a:p/>
          <a:p>
            <a:r>
              <a:t>[Point to the two amber flag boxes on the right.]</a:t>
            </a:r>
          </a:p>
          <a:p/>
          <a:p>
            <a:r>
              <a:t>In 2023, Sophea walks into a private insurer in Phnom Penh and applies for voluntary health insurance. The static rule-based system checks two fields: OCCUPATION — Agriculture. CONDITION FLAG — Hypertension. Both thresholds are crossed.</a:t>
            </a:r>
          </a:p>
          <a:p/>
          <a:p>
            <a:r>
              <a:t>[Point to the red DECLINE box.]</a:t>
            </a:r>
          </a:p>
          <a:p/>
          <a:p>
            <a:r>
              <a:t>The system decision, shown here in red: DECLINE. Sophea leaves without coverage.</a:t>
            </a:r>
          </a:p>
          <a:p/>
          <a:p>
            <a:r>
              <a:t>But I have to ask: was that the right answer? This research is my attempt to answer that question — not with intuition, but with a system that learns. To pursue it rigorously, I joined the organization that works with decisions like this every 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that question, I joined Decent Actuarial Consultants — DAC — as a research intern in March 2026.</a:t>
            </a:r>
          </a:p>
          <a:p/>
          <a:p>
            <a:r>
              <a:t>DAC is a regional actuarial consultancy with offices in Taipei, Phnom Penh, and Vietnam. Their services span life and non-life insurance — appointed actuary work, IFRS 17 implementation, product development, ALM and ERM, M&amp;A advisory, and university partnerships.</a:t>
            </a:r>
          </a:p>
          <a:p/>
          <a:p>
            <a:r>
              <a:t>Their clients include some of the insurers who work with applicants like Sophea every day. Supervised by Mr. ON Radet, my task was to design and validate an adaptive underwriting system — and build a working prototype. The thesis and demonstration you will see today are the outputs of that internship.</a:t>
            </a:r>
          </a:p>
          <a:p/>
          <a:p>
            <a:r>
              <a:t>With that institutional context established, let me show you the market Sophea lives in — and why her situation is not exceptional.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large stat on the left.]</a:t>
            </a:r>
          </a:p>
          <a:p/>
          <a:p>
            <a:r>
              <a:t>To understand why Sophea's case is the norm and not the exception, we have to look at the market she lives in. This number — under two percent — is the estimated health insurance penetration in Cambodia in 2023. Not 10 percent. Not 20 percent. Under two percent of the population with private voluntary health coverage.</a:t>
            </a:r>
          </a:p>
          <a:p/>
          <a:p>
            <a:r>
              <a:t>The NSSF provides mandatory coverage, but only to formal-sector workers — roughly 16 percent of the population. For the remaining majority — the 98 percent Sophea represents — the current system is not just inefficient, it is effectively invisible: manual and rule-based, with agent networks consuming 15 to 30 percent of premium revenue, and no demographic-parity monitoring in practice.</a:t>
            </a:r>
          </a:p>
          <a:p/>
          <a:p>
            <a:r>
              <a:t>[Point to the SDG panel on the right.]</a:t>
            </a:r>
          </a:p>
          <a:p/>
          <a:p>
            <a:r>
              <a:t>This research connects directly to three of Cambodia's SDGs. SDG 3 — Good Health and Well-being — by widening access. SDG 1 — No Poverty — by shielding households from catastrophic health costs. SDG 10 — Reduced Inequalities — through the PSI fairness guardrail.</a:t>
            </a:r>
          </a:p>
          <a:p/>
          <a:p>
            <a:r>
              <a:t>Sophea's situation is not an edge case — she is one of the 98 percent the current market was not built for.</a:t>
            </a:r>
          </a:p>
          <a:p/>
          <a:p>
            <a:r>
              <a:t>That gap points to four precise failure modes in the current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static system that declined Sophea has four specific blind spots — each one visible in her case.</a:t>
            </a:r>
          </a:p>
          <a:p/>
          <a:p>
            <a:r>
              <a:t>First: Static Thresholds. Fixed cutoffs ignore context. Sophea's BMI, her physical activity, her non-smoking status — all invisible to the rule engine. Two ones triggered two thresholds and the system said no.</a:t>
            </a:r>
          </a:p>
          <a:p/>
          <a:p>
            <a:r>
              <a:t>Second: No Online Adaptation. Claims feedback never reaches the model. Static weights trained once on historical data do not update from new outcomes. Every applicant — including Sophea — is assessed against stale beliefs.</a:t>
            </a:r>
          </a:p>
          <a:p/>
          <a:p>
            <a:r>
              <a:t>Third: Demographic Blindspot. No parity metric is tracked. If the system systematically declined farmers or rural applicants at elevated rates, that pattern would be invisible to the insurer.</a:t>
            </a:r>
          </a:p>
          <a:p/>
          <a:p>
            <a:r>
              <a:t>Fourth: No Intelligent Triage. Human experts review routine cases instead of the borderline ones — like Sophea's — that actually need expert judgment.</a:t>
            </a:r>
          </a:p>
          <a:p/>
          <a:p>
            <a:r>
              <a:t>Each blind spot costs Sophea something. Together, they define the problem this thesis sets out to solve.</a:t>
            </a:r>
          </a:p>
          <a:p/>
          <a:p>
            <a:r>
              <a:t>With the problem clearly stated, I formulated four research questions to guide exactly what I would measure.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research questions frame this work.</a:t>
            </a:r>
          </a:p>
          <a:p/>
          <a:p>
            <a:r>
              <a:t>RQ1 asks the primary empirical question: do contextual bandits achieve higher cumulative reward and lower regret than the Static XGBoost baseline over 5,000 rounds?</a:t>
            </a:r>
          </a:p>
          <a:p/>
          <a:p>
            <a:r>
              <a:t>RQ2 asks about fairness: does the bandit framework maintain demographic parity on regional and occupational approval rates — without explicit fairness constraints baked into the reward?</a:t>
            </a:r>
          </a:p>
          <a:p/>
          <a:p>
            <a:r>
              <a:t>RQ3 asks about the ranking: what is the relative performance of LinTS, LinUCB, Epsilon-Greedy, and Static XGB?</a:t>
            </a:r>
          </a:p>
          <a:p/>
          <a:p>
            <a:r>
              <a:t>RQ4 asks about deployment feasibility: is the system technically viable for low-resource mobile infrastructure — under 200 milliseconds latency?</a:t>
            </a:r>
          </a:p>
          <a:p/>
          <a:p>
            <a:r>
              <a:t>All four questions have empirical answers in the results section. I will tell you which ones came back exactly as expected — and which ones did not.</a:t>
            </a:r>
          </a:p>
          <a:p/>
          <a:p>
            <a:r>
              <a:t>These questions translate directly into four deliverables and five measurable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produced four deliverables and five measurable secondary objectives.</a:t>
            </a:r>
          </a:p>
          <a:p/>
          <a:p>
            <a:r>
              <a:t>On the left — the four deliverables.</a:t>
            </a:r>
          </a:p>
          <a:p/>
          <a:p>
            <a:r>
              <a:t>D1: a 2,000-record synthetic Cambodia health insurance dataset, anchored on CDHS 2021-22, STEPS, ILO, and WHO sources. Sophea is one of those 2,000. She is statistically realistic — not a cartoon.</a:t>
            </a:r>
          </a:p>
          <a:p/>
          <a:p>
            <a:r>
              <a:t>D2: the contextual bandit underwriting engine — LinUCB, LinTS, and Epsilon-Greedy — with sub-200 millisecond latency.</a:t>
            </a:r>
          </a:p>
          <a:p/>
          <a:p>
            <a:r>
              <a:t>D3: the actuarial reward simulator that converts underwriting decisions into a profit signal the bandit can learn from.</a:t>
            </a:r>
          </a:p>
          <a:p/>
          <a:p>
            <a:r>
              <a:t>D4: the PSI fairness monitoring framework with GREEN-AMBER-RED alerts.</a:t>
            </a:r>
          </a:p>
          <a:p/>
          <a:p>
            <a:r>
              <a:t>On the right — the five secondary objectives that map directly to the experiments I will describe in the results section.</a:t>
            </a:r>
          </a:p>
          <a:p/>
          <a:p>
            <a:r>
              <a:t>Before I describe what I built, let me briefly survey the research literature that shaped how I built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system I built, let me briefly survey what the research literature told me about how to build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areas shaped the design of this system.</a:t>
            </a:r>
          </a:p>
          <a:p/>
          <a:p>
            <a:r>
              <a:t>First: emerging-market health insurance. Reports from CDHS 2021-22, ILO 2023, and ADB established Cambodia's context. Under 2 percent penetration. NSSF covering only the formal sector. Private insurers working with manual, rule-based systems.</a:t>
            </a:r>
          </a:p>
          <a:p/>
          <a:p>
            <a:r>
              <a:t>Second: linear contextual bandits. LinUCB from Li et al. 2010 and LinTS from Agrawal and Goyal 2013 both achieve sub-linear regret of order d-root-T-log-T. This theoretical guarantee is why I chose them: provably efficient, interpretable, and low compute.</a:t>
            </a:r>
          </a:p>
          <a:p/>
          <a:p>
            <a:r>
              <a:t>Third: neural bandits. NeuralUCB, NeuralTS, and EE-Net relax the linear reward assumption. Natural future-work candidates, but they require large datasets and risk overfitting on 2,000 records.</a:t>
            </a:r>
          </a:p>
          <a:p/>
          <a:p>
            <a:r>
              <a:t>Fourth: fairness in insurance machine learning. Barocas et al. and Ensign et al. warned specifically about feedback loops that harm rural and occupational groups — exactly Sophea's category.</a:t>
            </a:r>
          </a:p>
          <a:p/>
          <a:p>
            <a:r>
              <a:t>Fifth: Population Stability Index. PSI gives us three interpretable zones: GREEN below 0.10, AMBER 0.10 to 0.25, RED above 0.25. The full review cites 25 sources in APA format.</a:t>
            </a:r>
          </a:p>
          <a:p/>
          <a:p>
            <a:r>
              <a:t>Two of these areas — linear bandits and algorithm selection — deserve a direct comparison before we proceed to the system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table.]</a:t>
            </a:r>
          </a:p>
          <a:p/>
          <a:p>
            <a:r>
              <a:t>Five algorithms appear in this comparison. The two highlighted rows — LinUCB and LinTS — are our proposed policies.</a:t>
            </a:r>
          </a:p>
          <a:p/>
          <a:p>
            <a:r>
              <a:t>Both achieve sub-linear regret of order d-root-T-log-T. Both have per-round cost of order d-squared — fast enough for real-time underwriting decisions. Both require only moderate data.</a:t>
            </a:r>
          </a:p>
          <a:p/>
          <a:p>
            <a:r>
              <a:t>LinUCB uses a deterministic UCB exploration bonus — a confidence interval around the estimated reward. LinTS uses posterior sampling — it draws a sample from the Bayesian posterior and picks the best arm under that sample.</a:t>
            </a:r>
          </a:p>
          <a:p/>
          <a:p>
            <a:r>
              <a:t>NeuralUCB and EE-Net are included for context. They relax the linear reward assumption but require much larger datasets and are not viable for our 2,000-record setting.</a:t>
            </a:r>
          </a:p>
          <a:p/>
          <a:p>
            <a:r>
              <a:t>Epsilon-Greedy is included as a weaker admissible baseline — it achieves only O of T to the two-thirds regret in the worst case.</a:t>
            </a:r>
          </a:p>
          <a:p/>
          <a:p>
            <a:r>
              <a:t>With LinUCB and LinTS selected as the proposed policies, let me now show you the system I designed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show you the system I built to give Sophea a better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pipeline diagram left to right.]</a:t>
            </a:r>
          </a:p>
          <a:p/>
          <a:p>
            <a:r>
              <a:t>How do we replace the rigidity that failed Sophea? I built a closed-loop pipeline. An applicant's context vector enters on the left. A bandit policy selects one of four underwriting arms. An actuarial reward simulator returns a profit signal. PSI and HITL guardrails monitor the decision. The final decision goes out on the right — and the reward loops back to update the bandit.</a:t>
            </a:r>
          </a:p>
          <a:p/>
          <a:p>
            <a:r>
              <a:t>Five key components:</a:t>
            </a:r>
          </a:p>
          <a:p/>
          <a:p>
            <a:r>
              <a:t>One — a 34-dimensional standardised context vector per applicant.</a:t>
            </a:r>
          </a:p>
          <a:p/>
          <a:p>
            <a:r>
              <a:t>Two — four underwriting arms: STANDARD, RATED, DECLINE, REFER.</a:t>
            </a:r>
          </a:p>
          <a:p/>
          <a:p>
            <a:r>
              <a:t>Three — actuarial simulator returning revenue minus expected claims plus noise of plus-or-minus 8 percent.</a:t>
            </a:r>
          </a:p>
          <a:p/>
          <a:p>
            <a:r>
              <a:t>Four — PSI guardrail on a 500-round sliding window.</a:t>
            </a:r>
          </a:p>
          <a:p/>
          <a:p>
            <a:r>
              <a:t>Five — HITL wrapper that escalates when the bandit's uncertainty exceeds threshold kappa.</a:t>
            </a:r>
          </a:p>
          <a:p/>
          <a:p>
            <a:r>
              <a:t>Every decision feeds back into making the next decision sharper — a system that evolves with every single applicant, not one frozen at deployment. That is the fundamental difference from the static system.</a:t>
            </a:r>
          </a:p>
          <a:p/>
          <a:p>
            <a:r>
              <a:t>To make this pipeline concrete, I will zoom in to each component in turn — beginning with how the system sees Sophea.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traced the full architecture pipeline from left to right, we now zoom in to the first stage — applicant context.</a:t>
            </a:r>
          </a:p>
          <a:p/>
          <a:p>
            <a:r>
              <a:t>[Point to the highlighted input block.]</a:t>
            </a:r>
          </a:p>
          <a:p/>
          <a:p>
            <a:r>
              <a:t>Each applicant is encoded as a 34-dimensional vector drawn from CDHS-anchored features. That vector is the bandit's sole input to every underwriting decision.</a:t>
            </a:r>
          </a:p>
          <a:p/>
          <a:p>
            <a:r>
              <a:t>This is what the system sees. Let me show you exactly what those 34 dimensions look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system sees Sophea: 34 numbers, nothing more.</a:t>
            </a:r>
          </a:p>
          <a:p/>
          <a:p>
            <a:r>
              <a:t>[Point to the stat boxes at the top.]</a:t>
            </a:r>
          </a:p>
          <a:p/>
          <a:p>
            <a:r>
              <a:t>2,000 synthetic applicants. 34 context features. 4 underwriting arms. 4 real-world anchoring sources.</a:t>
            </a:r>
          </a:p>
          <a:p/>
          <a:p>
            <a:r>
              <a:t>[Point to the feature table.]</a:t>
            </a:r>
          </a:p>
          <a:p/>
          <a:p>
            <a:r>
              <a:t>The 34 dimensions come from seven feature categories. Demographics and vitals — age, gender, BMI. Lifestyle — smoking, alcohol, exercise. Social determinants — education, wealth, self-rated health. Economic features. Clinical flags — hypertension, diabetes, heart disease, COPD, arthritis, TB, hepatitis B. Region — eight one-hot encoded CDHS macro-regions. Occupation — seven one-hot encoded categories.</a:t>
            </a:r>
          </a:p>
          <a:p/>
          <a:p>
            <a:r>
              <a:t>Sophea is represented in this dataset as a vector: age 42, female, BMI 24.1, non-smoker, hypertension flag on, Kampong Cham indicator on, agriculture indicator on, and twenty-seven more features. The static system saw two of those features. The bandit sees all 34.</a:t>
            </a:r>
          </a:p>
          <a:p/>
          <a:p>
            <a:r>
              <a:t>Building on this, the bandit must now select an action — and it needs a reward signal to learn from. Let me zoom in to show how that reward is constructed.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Sophea's context encoded as a 34-dimensional vector, the bandit selects an action and receives a reward signal. We now zoom in to that reward stage.</a:t>
            </a:r>
          </a:p>
          <a:p/>
          <a:p>
            <a:r>
              <a:t>[Point to the highlighted reward block.]</a:t>
            </a:r>
          </a:p>
          <a:p/>
          <a:p>
            <a:r>
              <a:t>After the bandit selects an arm, the actuarial simulator scores that decision — premium revenue minus expected claims, with an adverse-selection penalty and noise of plus-or-minus 8 percent. That number is the signal that drives learning.</a:t>
            </a:r>
          </a:p>
          <a:p/>
          <a:p>
            <a:r>
              <a:t>Let me show you how that signal is calculated in detail.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reward formula at the top.]</a:t>
            </a:r>
          </a:p>
          <a:p/>
          <a:p>
            <a:r>
              <a:t>Reward equals premium revenue minus expected claims, with noise of plus-or-minus 8 percent. The adverse-selection factor of 1.35 applies when the risk multiplier exceeds 2.0 — this penalises overloading high-risk applicants who then drop out of the pool.</a:t>
            </a:r>
          </a:p>
          <a:p/>
          <a:p>
            <a:r>
              <a:t>[Point to the table rows.]</a:t>
            </a:r>
          </a:p>
          <a:p/>
          <a:p>
            <a:r>
              <a:t>STANDARD: accept at standard premium. Positive net reward for a correctly priced risk. Sophea at STANDARD earns a healthy actuarial margin.</a:t>
            </a:r>
          </a:p>
          <a:p/>
          <a:p>
            <a:r>
              <a:t>RATED: accept with a 25 percent loading. Higher revenue, but elastic demand penalises over-charging healthy applicants. The slope is negative 3.5.</a:t>
            </a:r>
          </a:p>
          <a:p/>
          <a:p>
            <a:r>
              <a:t>DECLINE: reject. Zero premium revenue. The penalty of minus $10 captures the opportunity cost of refusing a viable applicant.</a:t>
            </a:r>
          </a:p>
          <a:p/>
          <a:p>
            <a:r>
              <a:t>REFER: escalate to human. Deferred reward — 70 percent of the best available arm, minus $35 review cost. This incentivises selective escalation, not blanket referral.</a:t>
            </a:r>
          </a:p>
          <a:p/>
          <a:p>
            <a:r>
              <a:t>With the reward structure defined, the next question is: how does the bandit use these signals to choose between the four arms?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on the reward structure we just examined, we now zoom in to the decision stage — how the bandit translates that reward signal into an underwriting action.</a:t>
            </a:r>
          </a:p>
          <a:p/>
          <a:p>
            <a:r>
              <a:t>[Point to the highlighted policy block.]</a:t>
            </a:r>
          </a:p>
          <a:p/>
          <a:p>
            <a:r>
              <a:t>The bandit computes a UCB score for each of the four arms — STANDARD, RATED, DECLINE, REFER — and selects the argmax. This is the step where the exploration-exploitation trade-off meets the actuarial judgment.</a:t>
            </a:r>
          </a:p>
          <a:p/>
          <a:p>
            <a:r>
              <a:t>To better understand this decision, let me show it working on Sophea's actual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Sophea's vector enters the bandit.</a:t>
            </a:r>
          </a:p>
          <a:p/>
          <a:p>
            <a:r>
              <a:t>[Point to the left feature list.]</a:t>
            </a:r>
          </a:p>
          <a:p/>
          <a:p>
            <a:r>
              <a:t>`age_std=0.3, bmi_std=−0.1, smoker=0, hypertension=1, kampong_cham=1, agriculture=1` — and twenty-eight more standardised features. This 34-dimensional vector is the bandit's complete and only view of Sophea. No underwriter notes. No prior history.</a:t>
            </a:r>
          </a:p>
          <a:p/>
          <a:p>
            <a:r>
              <a:t>[Point to the LinUCB formula on the right.]</a:t>
            </a:r>
          </a:p>
          <a:p/>
          <a:p>
            <a:r>
              <a:t>The LinUCB arm score formula: theta-hat transposed Sophea's vector, plus alpha times the square root of her vector transposed A-inverse her vector. The second term is the exploration bonus — large early in training when A is sparse, shrinking as the gram matrix fills in.</a:t>
            </a:r>
          </a:p>
          <a:p/>
          <a:p>
            <a:r>
              <a:t>The bandit computes this score for each of the four arms — RATED, STANDARD, DECLINE, REFER — and takes the argmax.</a:t>
            </a:r>
          </a:p>
          <a:p/>
          <a:p>
            <a:r>
              <a:t>Across 5,000 rounds, those individual decisions accumulate into a full performance picture — the policy ladder.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argmax banner at the top.]</a:t>
            </a:r>
          </a:p>
          <a:p/>
          <a:p>
            <a:r>
              <a:t>ArgMax = STANDARD (0.52). The bandit gives Sophea the right answer.</a:t>
            </a:r>
          </a:p>
          <a:p/>
          <a:p>
            <a:r>
              <a:t>After sufficient training, the computed arm values for Sophea are: RATED 0.31, STANDARD 0.52, DECLINE 0.10, REFER 0.28. The STANDARD arm wins by a clear margin. The system issues coverage at the correct actuarial price.</a:t>
            </a:r>
          </a:p>
          <a:p/>
          <a:p>
            <a:r>
              <a:t>We did not just optimize for profit here — we optimized for access. A DECLINE became a STANDARD.</a:t>
            </a:r>
          </a:p>
          <a:p/>
          <a:p>
            <a:r>
              <a:t>[Point to the policy ladder table.]</a:t>
            </a:r>
          </a:p>
          <a:p/>
          <a:p>
            <a:r>
              <a:t>Here is the full policy ladder across 5,000 rounds. Oracle — the theoretically perfect policy — earns $126,804. That is the ceiling.</a:t>
            </a:r>
          </a:p>
          <a:p/>
          <a:p>
            <a:r>
              <a:t>LinTS earns $93,723 at plus 29.8 percent over Static XGB. LinUCB earns $91,864 at plus 27.2 percent. Epsilon-Greedy earns $76,441. Static XGB — the system that declined Sophea — earns $72,206.</a:t>
            </a:r>
          </a:p>
          <a:p/>
          <a:p>
            <a:r>
              <a:t>[Point to the note at the bottom.]</a:t>
            </a:r>
          </a:p>
          <a:p/>
          <a:p>
            <a:r>
              <a:t>AlwaysRATED earns $122,287 — between Oracle and LinTS. This is reported honestly in the note: commercially and regulatorily inadmissible. It cannot be deployed. The admissible comparison is LinUCB versus Static XGB.</a:t>
            </a:r>
          </a:p>
          <a:p/>
          <a:p>
            <a:r>
              <a:t>A system that performs well is only half the story. It must also be fair. This naturally leads to the guardrails — let me zoom 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established how the bandit selects actions and earns rewards, we now zoom in to the guardrails — the layers that ensure the system remains trustworthy in practice.</a:t>
            </a:r>
          </a:p>
          <a:p/>
          <a:p>
            <a:r>
              <a:t>[Point to the highlighted PSI and HITL blocks.]</a:t>
            </a:r>
          </a:p>
          <a:p/>
          <a:p>
            <a:r>
              <a:t>The PSI monitor checks demographic parity on a 500-round sliding window. The HITL wrapper catches decisions where the bandit is uncertain. Together these two layers ensure the system remains fair, auditable, and safe to deploy.</a:t>
            </a:r>
          </a:p>
          <a:p/>
          <a:p>
            <a:r>
              <a:t>Let me take you through each layer in detail — starting with the PSI monitor.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traffic-light zones.]</a:t>
            </a:r>
          </a:p>
          <a:p/>
          <a:p>
            <a:r>
              <a:t>The PSI guardrail monitors the approved-portfolio distribution against the applicant population on a rolling 500-round window — separately for region and occupation.</a:t>
            </a:r>
          </a:p>
          <a:p/>
          <a:p>
            <a:r>
              <a:t>PSI equals the sum over each segment of: actual approval percentage minus expected percentage, times the natural log of actual over expected. This follows Siddiqi 2006, validated by Yurdakul and Naranjo 2020.</a:t>
            </a:r>
          </a:p>
          <a:p/>
          <a:p>
            <a:r>
              <a:t>GREEN below 0.10 — no significant shift, policy is stable.</a:t>
            </a:r>
          </a:p>
          <a:p/>
          <a:p>
            <a:r>
              <a:t>AMBER 0.10 to 0.25 — moderate shift, monitor closely, flag for review.</a:t>
            </a:r>
          </a:p>
          <a:p/>
          <a:p>
            <a:r>
              <a:t>RED above 0.25 — major shift, halt or recalibrate the bandit, escalate to compliance.</a:t>
            </a:r>
          </a:p>
          <a:p/>
          <a:p>
            <a:r>
              <a:t>The EXP-006 result: LinUCB sits GREEN on all 8 regions and 7 occupations across 20 seeds. Mean PSI 0.042 for region and 0.037 for occupation. Sophea's Kampong Cham region PSI: 0.082 — GREEN. Her occupation category PSI max: 0.123 — AMBER, in the monitor zone, below RED.</a:t>
            </a:r>
          </a:p>
          <a:p/>
          <a:p>
            <a:r>
              <a:t>Turning now to the second guardrail: the HITL wrapper.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four-step loop on the left.]</a:t>
            </a:r>
          </a:p>
          <a:p/>
          <a:p>
            <a:r>
              <a:t>The HITL wrapper adds a safety layer on top of the bandit.</a:t>
            </a:r>
          </a:p>
          <a:p/>
          <a:p>
            <a:r>
              <a:t>Step 1: the bandit selects an arm as usual. Step 2: if the margin between the best and second-best arm score is below threshold kappa of 0.7 — the system is genuinely uncertain — the case is escalated to REFER. Step 3: a human actuary reviews the full context and makes the final call. Step 4: the system performs a dual update — updating both the selected arm on the human label, and penalising the REFER arm to prevent over-selection.</a:t>
            </a:r>
          </a:p>
          <a:p/>
          <a:p>
            <a:r>
              <a:t>[Point to the gotcha card on the right.]</a:t>
            </a:r>
          </a:p>
          <a:p/>
          <a:p>
            <a:r>
              <a:t>The dual update is critical. Without it, REFER accumulates reward without cost, creating an over-selection spiral. This was an implementation gotcha discovered during EXP-008 development.</a:t>
            </a:r>
          </a:p>
          <a:p/>
          <a:p>
            <a:r>
              <a:t>The headline result: plus 6.5 percent reward gain over vanilla bandit, at a review rate of only 1.5 percent. 75 applications reviewed out of 5,000. That is the value of targeted human judgment.</a:t>
            </a:r>
          </a:p>
          <a:p/>
          <a:p>
            <a:r>
              <a:t>Having described the full system design, let me now show you the experimental framework I used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statistics protocol banner.]</a:t>
            </a:r>
          </a:p>
          <a:p/>
          <a:p>
            <a:r>
              <a:t>Every experiment follows the same rigorous protocol: 20 independent seeds, bootstrap 95 percent confidence intervals, paired Wilcoxon signed-rank tests, Bonferroni correction for multiple comparisons, and Cohen's d effect sizes.</a:t>
            </a:r>
          </a:p>
          <a:p/>
          <a:p>
            <a:r>
              <a:t>[Point to the experiment table.]</a:t>
            </a:r>
          </a:p>
          <a:p/>
          <a:p>
            <a:r>
              <a:t>Nine experiments in total.</a:t>
            </a:r>
          </a:p>
          <a:p/>
          <a:p>
            <a:r>
              <a:t>EXP-005 is the primary pre-registered test — LinUCB versus Static XGB over 5,000 rounds, 20 seeds. This is the experiment that answers RQ1.</a:t>
            </a:r>
          </a:p>
          <a:p/>
          <a:p>
            <a:r>
              <a:t>EXP-006 runs the six fairness criteria — PSI plus EEOC four-fifths rule — answering RQ2.</a:t>
            </a:r>
          </a:p>
          <a:p/>
          <a:p>
            <a:r>
              <a:t>EXP-007 is the full benchmark ladder using Common Random Numbers for variance reduction.</a:t>
            </a:r>
          </a:p>
          <a:p/>
          <a:p>
            <a:r>
              <a:t>EXP-008 to EXP-015 cover HITL, drift adaptation, cold start, ablation, regret bound validation, and drift rescue — progressively interrogating the system's boundaries.</a:t>
            </a:r>
          </a:p>
          <a:p/>
          <a:p>
            <a:r>
              <a:t>Nine pre-registered experiments. Let me now tell you what they found.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tell you what the system actually did — including what it got right, what it got wrong, and what I reported honestly either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full ladder table.]</a:t>
            </a:r>
          </a:p>
          <a:p/>
          <a:p>
            <a:r>
              <a:t>This is the complete baseline ladder across 20 seeds. Oracle sits at $126,804 — the theoretical ceiling. LinTS at $93,723. LinUCB at $91,864. Both are highlighted in green as our proposed admissible policies.</a:t>
            </a:r>
          </a:p>
          <a:p/>
          <a:p>
            <a:r>
              <a:t>[Point to the AlwaysRATED row.]</a:t>
            </a:r>
          </a:p>
          <a:p/>
          <a:p>
            <a:r>
              <a:t>I want to be direct about this number — $122,287. AlwaysRATED beats both bandits. I report this honestly. AlwaysRATED is inadmissible: no Cambodian insurer can apply a blanket 25% surcharge to every applicant regardless of risk. Our claim is scoped to admissible policies. Among those, bandits rank first and second.</a:t>
            </a:r>
          </a:p>
          <a:p/>
          <a:p>
            <a:r>
              <a:t>That +25.2% is the gap between 2023 Sophea and 2026 Sophea — between the static system that declined her and the bandit that learned to see her correctly.</a:t>
            </a:r>
          </a:p>
          <a:p/>
          <a:p>
            <a:r>
              <a:t>Two additional points of transparency:</a:t>
            </a:r>
          </a:p>
          <a:p/>
          <a:p>
            <a:r>
              <a:t>LinTS versus LinUCB: p equals 0.87. They are statistically tied at the top of the admissible set. I do not claim one beats the other.</a:t>
            </a:r>
          </a:p>
          <a:p/>
          <a:p>
            <a:r>
              <a:t>AlwaysSTANDARD earns only $34,684 — well below Static XGB. A naive all-approve policy is not the answer.</a:t>
            </a:r>
          </a:p>
          <a:p/>
          <a:p>
            <a:r>
              <a:t>That is the summary picture. Let me now walk you through the primary pre-registered experiment that underpins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metrics on the left.]</a:t>
            </a:r>
          </a:p>
          <a:p/>
          <a:p>
            <a:r>
              <a:t>EXP-005 is the pre-registered primary experiment. Paired Wilcoxon test across 20 independent seeds, LinUCB versus Static XGB.</a:t>
            </a:r>
          </a:p>
          <a:p/>
          <a:p>
            <a:r>
              <a:t>LinUCB cumulative reward: $90,540 plus-or-minus $5,382, 95 percent CI [88,287 – 92,886]. Static XGB: $72,292 plus-or-minus $4,120, CI [70,646 – 74,136].</a:t>
            </a:r>
          </a:p>
          <a:p/>
          <a:p>
            <a:r>
              <a:t>Improvement: plus $18,248 — that is +25.2%. Cohen's d equals 2.98. P less than 0.001.</a:t>
            </a:r>
          </a:p>
          <a:p/>
          <a:p>
            <a:r>
              <a:t>[Point to the bottom banner.]</a:t>
            </a:r>
          </a:p>
          <a:p/>
          <a:p>
            <a:r>
              <a:t>+25.2% is the gap between 2023 Sophea and 2026 Sophea — between the system that declined her and the bandit that learned to price her correctly.</a:t>
            </a:r>
          </a:p>
          <a:p/>
          <a:p>
            <a:r>
              <a:t>[Point to the convergence panel on the right.]</a:t>
            </a:r>
          </a:p>
          <a:p/>
          <a:p>
            <a:r>
              <a:t>The convergence indicators confirm the learning is genuine. Action entropy drops from 1.314 to 1.105 nats — exploration giving way to exploitation. Oracle-agreement in the last 500 rounds reaches 37.8 percent. And the regret curve follows O of root-T — log-log slope 0.572, R-squared 0.9915. All five EXP-005 criteria: PASSED.</a:t>
            </a:r>
          </a:p>
          <a:p/>
          <a:p>
            <a:r>
              <a:t>Performance confirmed. The next question is fairness — did the bandit introduce any demographic bias in its decisions?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smart system that is unfair is a failure — so this audit was non-negotiable. The fairness audit evaluates six pre-registered criteria. Five passed. One failed — and I want to address that failure directly.</a:t>
            </a:r>
          </a:p>
          <a:p/>
          <a:p>
            <a:r>
              <a:t>[Point to the six criterion cards.]</a:t>
            </a:r>
          </a:p>
          <a:p/>
          <a:p>
            <a:r>
              <a:t>Region PSI: 0.082 — GREEN. Occupation PSI: 0.123 — AMBER, in the monitor zone but below RED. Region parity at 85.72 percent — above the 80 percent four-fifths threshold. Occupation parity at 90.12 percent — also above 80 percent. Region permutation test: p equals 0.132 — no significant association.</a:t>
            </a:r>
          </a:p>
          <a:p/>
          <a:p>
            <a:r>
              <a:t>[Point to the amber Criterion 6 card.]</a:t>
            </a:r>
          </a:p>
          <a:p/>
          <a:p>
            <a:r>
              <a:t>Criterion 6 — occupation-to-action independence — FAILED, p less than 0.001. The system's decisions are statistically associated with occupation.</a:t>
            </a:r>
          </a:p>
          <a:p/>
          <a:p>
            <a:r>
              <a:t>My interpretation: occupation is an actuarially valid risk factor. Rice farmers, garment workers, and office workers carry genuinely different health risk profiles. The association is statistically significant but practically small — no regulatory threshold is breached. The system is learning those profiles, not mimicking human bias — a distinction that makes it more transparent, not less. I call this FAILED-with-interpretation. I stand by that verdict. PSI is a monitor, not an enforcer — constrained-action guardrails are future work.</a:t>
            </a:r>
          </a:p>
          <a:p/>
          <a:p>
            <a:r>
              <a:t>With fairness addressed, let me show you the full benchmark comparison across all policies.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EXP-007 uses the CRN — Common Random Numbers — harness for variance reduction. All policies run on the same sequence of applicant draws, making comparisons sharper.</a:t>
            </a:r>
          </a:p>
          <a:p/>
          <a:p>
            <a:r>
              <a:t>[Point to the left table.]</a:t>
            </a:r>
          </a:p>
          <a:p/>
          <a:p>
            <a:r>
              <a:t>AlwaysRATED leads at $122,287 — as expected and reported honestly. LinTS at $93,723. LinUCB at $91,864. Epsilon-Greedy at $76,441. Static XGB at $72,206.</a:t>
            </a:r>
          </a:p>
          <a:p/>
          <a:p>
            <a:r>
              <a:t>[Point to the pairwise comparison cards on the right.]</a:t>
            </a:r>
          </a:p>
          <a:p/>
          <a:p>
            <a:r>
              <a:t>LinTS versus LinUCB: p equals 0.87, d equals 0.26 — TIED. They are statistically indistinguishable at the top of the admissible set.</a:t>
            </a:r>
          </a:p>
          <a:p/>
          <a:p>
            <a:r>
              <a:t>LinUCB versus Static XGB: minus $19,774 regret, p less than 0.001, d equals negative 3.41 — WIN.</a:t>
            </a:r>
          </a:p>
          <a:p/>
          <a:p>
            <a:r>
              <a:t>LinTS versus Static XGB: minus $21,400 regret, p less than 0.001, d equals negative 3.89 — WIN.</a:t>
            </a:r>
          </a:p>
          <a:p/>
          <a:p>
            <a:r>
              <a:t>Two coexisting findings: adaptive bandits decisively beat the frozen static rule. And the trivial constant AlwaysRATED still beats all bandits — honestly reported.</a:t>
            </a:r>
          </a:p>
          <a:p/>
          <a:p>
            <a:r>
              <a:t>Building on this benchmark, the HITL layer adds targeted human judgment on top of the bandit baseline.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key metrics.]</a:t>
            </a:r>
          </a:p>
          <a:p/>
          <a:p>
            <a:r>
              <a:t>EXP-008 evaluates the HITL wrapper with kappa of 0.7 — the headline setting.</a:t>
            </a:r>
          </a:p>
          <a:p/>
          <a:p>
            <a:r>
              <a:t>HITL reward: $102,100. Vanilla bandit: $95,872. Improvement: plus $6,228 — that is plus 6.5 percent. Review cost: $2,625 — about 2.6 percent of reward. Human overrides: 75 out of 5,000 applications. A review rate of 1.5 percent. Alignment score between human expert and bandit: 60 percent.</a:t>
            </a:r>
          </a:p>
          <a:p/>
          <a:p>
            <a:r>
              <a:t>[Point to the note at the bottom.]</a:t>
            </a:r>
          </a:p>
          <a:p/>
          <a:p>
            <a:r>
              <a:t>Important scope note: plus 6.5 percent is versus the vanilla bandit — not versus AlwaysRATED, not versus Static XGB. This measures the incremental value of targeted human oversight on top of the bandit baseline.</a:t>
            </a:r>
          </a:p>
          <a:p/>
          <a:p>
            <a:r>
              <a:t>Thirteen applicants reviewed per thousand. The actuary's judgment on those thirteen cases is worth a 6.5 percent gain on the whole portfolio. That is the value of the HITL layer.</a:t>
            </a:r>
          </a:p>
          <a:p/>
          <a:p>
            <a:r>
              <a:t>These findings motivate a deeper question: what exactly drives the bandit's value — and where does it fall short?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left ablation panel.]</a:t>
            </a:r>
          </a:p>
          <a:p/>
          <a:p>
            <a:r>
              <a:t>EXP-011 tells us the exploration bonus is not what drives the value — Greedy-only ties full LinUCB. The value comes from online ridge updating. EXP-015 tells us that even under drift, the constant beats us. These two findings together define the boundary of what this thesis can and cannot claim.</a:t>
            </a:r>
          </a:p>
          <a:p/>
          <a:p>
            <a:r>
              <a:t>On the left: EXP-011. Full LinUCB versus Greedy-only with alpha equals zero. p equals 0.580, d equals 0.13 — statistically tied. Exploration is not load-bearing.</a:t>
            </a:r>
          </a:p>
          <a:p/>
          <a:p>
            <a:r>
              <a:t>But Greedy-only versus Static XGB: plus $18,969, p less than 0.001, d equals 3.01. Online ridge updating IS the mechanism. The bandit beats Static XGB not because of its UCB exploration bonus but because it updates its ridge estimator from every new applicant.</a:t>
            </a:r>
          </a:p>
          <a:p/>
          <a:p>
            <a:r>
              <a:t>[Point to the right drift panel.]</a:t>
            </a:r>
          </a:p>
          <a:p/>
          <a:p>
            <a:r>
              <a:t>On the right: EXP-015. Under a realistic drift shock, AlwaysRATED earns $99,321. LinTS earns $71,429 — minus 39 percent. LinUCB earns $71,373 — minus 39.2 percent. The discounted LinUCB with gamma of 0.999 earns $70,995 — no meaningful improvement.</a:t>
            </a:r>
          </a:p>
          <a:p/>
          <a:p>
            <a:r>
              <a:t>Non-stationarity does not rescue the bandit. We honestly report this as a boundary of the current framework.</a:t>
            </a:r>
          </a:p>
          <a:p/>
          <a:p>
            <a:r>
              <a:t>Two further questions matter for real deployment: when does the bandit become trustworthy, and does its regret decay as theory predicts?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cold start table on the left.]</a:t>
            </a:r>
          </a:p>
          <a:p/>
          <a:p>
            <a:r>
              <a:t>EXP-010 asks: at what horizon does the bandit certify its superiority? This matters because a real insurer cannot wait 5,000 applicants before trusting the system.</a:t>
            </a:r>
          </a:p>
          <a:p/>
          <a:p>
            <a:r>
              <a:t>At T equals 200, FreshXGB leads bandits by 2.1 times. At T equals 500, still 1.26 times. At T equals 1,000, the systems tie. At T equals 2,000, bandits cross over and take the lead.</a:t>
            </a:r>
          </a:p>
          <a:p/>
          <a:p>
            <a:r>
              <a:t>Operational implication: warm-start required for the first 1,000 to 2,000 applications. A hybrid deployment — XGBoost until crossover, bandit thereafter — is the practical path.</a:t>
            </a:r>
          </a:p>
          <a:p/>
          <a:p>
            <a:r>
              <a:t>LinTS passes the T equals 2,000 Wilcoxon test with p equals 0.0039. LinUCB draws level but is not certified — p equals 0.0840. I report LinUCB honestly as draws-level, not a proven win at 2,000.</a:t>
            </a:r>
          </a:p>
          <a:p/>
          <a:p>
            <a:r>
              <a:t>[Point to the regret bound panel on the right.]</a:t>
            </a:r>
          </a:p>
          <a:p/>
          <a:p>
            <a:r>
              <a:t>EXP-013: log-log slope 0.572, theory 0.5 — near-optimal. R-squared 0.9915. Sublinear regret confirmed empirically.</a:t>
            </a:r>
          </a:p>
          <a:p/>
          <a:p>
            <a:r>
              <a:t>With the empirical evidence established, let me now show you the system working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browser at localhost:8000 before this slide.]</a:t>
            </a:r>
          </a:p>
          <a:p/>
          <a:p>
            <a:r>
              <a:t>I will now show you Sophea's application — not as a number in a table, but as a live interaction with the prototype dashboard.</a:t>
            </a:r>
          </a:p>
          <a:p/>
          <a:p>
            <a:r>
              <a:t>[Enter Sophea's profile: age 42, female, BMI 24.1, smoker: no, hypertension: yes, Kampong Cham, agriculture.]</a:t>
            </a:r>
          </a:p>
          <a:p/>
          <a:p>
            <a:r>
              <a:t>Enter Sophea's profile live — show STANDARD decision. Age 42, female, BMI 24.1, non-smoker, hypertension managed, Kampong Cham, agriculture. The bandit sees her 34 features, computes the arm scores, and issues its decision.</a:t>
            </a:r>
          </a:p>
          <a:p/>
          <a:p>
            <a:r>
              <a:t>[Show the STANDARD decision.]</a:t>
            </a:r>
          </a:p>
          <a:p/>
          <a:p>
            <a:r>
              <a:t>STANDARD premium. The correct actuarial answer. The one she was denied in 2023.</a:t>
            </a:r>
          </a:p>
          <a:p/>
          <a:p>
            <a:r>
              <a:t>[Submit a high-risk applicant — older, smoker, high BMI, multiple flags.]</a:t>
            </a:r>
          </a:p>
          <a:p/>
          <a:p>
            <a:r>
              <a:t>Now a higher-risk applicant. The system selects REFER — escalating to the HITL queue. Switch to the HITL tab to show the running referral rate and cumulative review cost.</a:t>
            </a:r>
          </a:p>
          <a:p/>
          <a:p>
            <a:r>
              <a:t>[This is the FastAPI prototype deployed on Render — not a mockup.]</a:t>
            </a:r>
          </a:p>
          <a:p/>
          <a:p>
            <a:r>
              <a:t>This is not a simulation. This is the same FastAPI stack described in the thesis, deployed on Render, running in real time.</a:t>
            </a:r>
          </a:p>
          <a:p/>
          <a:p>
            <a:r>
              <a:t>Let me now bring together the key findings.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this back to Sophea — and to the four key findings.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this project proves four things.</a:t>
            </a:r>
          </a:p>
          <a:p/>
          <a:p>
            <a:r>
              <a:t>[Point to Finding 1.]</a:t>
            </a:r>
          </a:p>
          <a:p/>
          <a:p>
            <a:r>
              <a:t>Finding 1 — EXP-005: Online adaptation beats static rules. Plus 25.2 percent, p less than 0.001, d equals 2.98. LinUCB earns plus $18,248 over Static XGB across 20 seeds.</a:t>
            </a:r>
          </a:p>
          <a:p/>
          <a:p>
            <a:r>
              <a:t>[Point to Finding 2.]</a:t>
            </a:r>
          </a:p>
          <a:p/>
          <a:p>
            <a:r>
              <a:t>Finding 2 — EXP-006: No demographic bias introduced. 85.72 and 90.12 percent parity for region and occupation. PSI GREEN-AMBER throughout. Criterion 6 FAILED-with-interpretation — occupation is an actuarially valid signal, not a bias.</a:t>
            </a:r>
          </a:p>
          <a:p/>
          <a:p>
            <a:r>
              <a:t>[Point to Finding 3.]</a:t>
            </a:r>
          </a:p>
          <a:p/>
          <a:p>
            <a:r>
              <a:t>Finding 3 — EXP-011: The mechanism is online ridge updating, not exploration. Greedy-only ties full LinUCB. The value comes from learning, not from exploration bonuses.</a:t>
            </a:r>
          </a:p>
          <a:p/>
          <a:p>
            <a:r>
              <a:t>[Point to Finding 4.]</a:t>
            </a:r>
          </a:p>
          <a:p/>
          <a:p>
            <a:r>
              <a:t>Finding 4 — EXP-008: HITL adds value at low cost. Plus 6.5 percent at 1.5 percent review rate. Alignment score 60 percent — human oversight is meaningful.</a:t>
            </a:r>
          </a:p>
          <a:p/>
          <a:p>
            <a:r>
              <a:t>In 2023, the static system issued DECLINE. Sophea left without coverage. In 2026, the bandit issues STANDARD premium — the correct actuarial answer. That is the 25.2%. It is not everything — a trivial constant earns more. But it is a principled, fair, auditable step forward for an insurance market that needs one.</a:t>
            </a:r>
          </a:p>
          <a:p/>
          <a:p>
            <a:r>
              <a:t>These findings come with limits I want to name directly.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transparent about the boundaries of this work.</a:t>
            </a:r>
          </a:p>
          <a:p/>
          <a:p>
            <a:r>
              <a:t>[Point to the four limitation cards.]</a:t>
            </a:r>
          </a:p>
          <a:p/>
          <a:p>
            <a:r>
              <a:t>First: synthetic data. 2,000 records cannot capture rare comorbidities, fraud patterns, or the full complexity of real Cambodian claims. The dataset is CDHS-anchored but not real insurance claims.</a:t>
            </a:r>
          </a:p>
          <a:p/>
          <a:p>
            <a:r>
              <a:t>Second: single-period rewards. The reward function is a one-shot proxy for profitability. It does not capture multi-year claims, customer retention, or renewal cycles.</a:t>
            </a:r>
          </a:p>
          <a:p/>
          <a:p>
            <a:r>
              <a:t>Third: stationarity assumption. EXP-009 and EXP-015 partially address this, but DiscountedLinUCB helps only marginally under a shock. Non-stationarity remains a meaningful limit of the current design.</a:t>
            </a:r>
          </a:p>
          <a:p/>
          <a:p>
            <a:r>
              <a:t>Fourth: the constant-policy ceiling. AlwaysRATED beats bandits by roughly 30 percent. Bandits lead every admissible deployable alternative — but the headroom to Oracle remains large. This is honestly reported and defines the next phase of work.</a:t>
            </a:r>
          </a:p>
          <a:p/>
          <a:p>
            <a:r>
              <a:t>Those limits point directly to the next research agenda.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directions for future work.</a:t>
            </a:r>
          </a:p>
          <a:p/>
          <a:p>
            <a:r>
              <a:t>First: non-stationary drift. DiscountedLinUCB plus PSI early-warning pipeline, with threshold-adaptive forgetting factors. The current gamma of 0.999 helped only marginally — better discount schedules need investigation.</a:t>
            </a:r>
          </a:p>
          <a:p/>
          <a:p>
            <a:r>
              <a:t>Second: neural bandit extensions. NeuralUCB and Neural-Linear hybrids would relax the linear reward assumption. Viable once dataset size scales beyond 2,000 records.</a:t>
            </a:r>
          </a:p>
          <a:p/>
          <a:p>
            <a:r>
              <a:t>Third: live A/B deployment. Delayed reward via survival proxy — real claims lag 6 to 24 months. The thesis uses a simulator; a live trial with real Cambodian insurers is the natural next step.</a:t>
            </a:r>
          </a:p>
          <a:p/>
          <a:p>
            <a:r>
              <a:t>Fourth: multi-period customer value. Customer lifetime value, retention, and cross-selling would move the system beyond the single-decision reward framing.</a:t>
            </a:r>
          </a:p>
          <a:p/>
          <a:p>
            <a:r>
              <a:t>Each of these directions builds on the foundation this thesis has established. Finally, let me close with the story we began with.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reads: 2023: DECLINE. 2026: STANDARD.]</a:t>
            </a:r>
          </a:p>
          <a:p/>
          <a:p>
            <a:r>
              <a:t>That is the story of this thesis.</a:t>
            </a:r>
          </a:p>
          <a:p/>
          <a:p>
            <a:r>
              <a:t>In 2023, the system told Sophea 'No.' In 2026, my system tells her 'Yes — at the right price': STANDARD premium, the correct actuarial answer. Cambodia has hundreds of thousands of applicants like her — people whose risk profiles are nuanced, whose context matters, and who deserve a decision system capable of seeing them fully.</a:t>
            </a:r>
          </a:p>
          <a:p/>
          <a:p>
            <a:r>
              <a:t>Thank you, Distinguished Committee, for your time and attention.</a:t>
            </a:r>
          </a:p>
          <a:p/>
          <a:p>
            <a:r>
              <a:t>I am now ready for your questions. If it would be helpful, I have five appendix slides available: A1 covers the complete baseline ladder with all nine policies; A2 reconciles the three reward-lift numbers — plus 25.2, plus 29.8, and plus 6.5 percent; A3 shows all six fairness criteria verdicts; A4 has the full mathematical details for LinUCB, PSI, and the HITL dual update; and A5 has the full sensitivity parameter tables.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AlwaysRATED or the full ranking.]</a:t>
            </a:r>
          </a:p>
          <a:p/>
          <a:p>
            <a:r>
              <a:t>The complete ladder across all nine policies — 20 seeds, CRN harness.</a:t>
            </a:r>
          </a:p>
          <a:p/>
          <a:p>
            <a:r>
              <a:t>Oracle: $126,804 — theoretical ceiling, not deployable. LogisticOracle: $123,977 — fit in-sample on oracle labels, not deployable, diagnostic only.</a:t>
            </a:r>
          </a:p>
          <a:p/>
          <a:p>
            <a:r>
              <a:t>AlwaysRATED: $122,287. This is the trivial constant that applies a blanket 25% loading to every applicant regardless of risk. No Cambodian insurer can commercially or regulatorily apply this uniformly. It would create severe adverse selection, drive healthy applicants out of the pool, and face regulatory challenge. Our pre-registered expectation was that bandits would outperform AlwaysRATED. That expectation was falsified. We report it as the scientifically informative outcome it is.</a:t>
            </a:r>
          </a:p>
          <a:p/>
          <a:p>
            <a:r>
              <a:t>LinTS: $93,723. LinUCB: $91,864. Both proposed admissible policies.</a:t>
            </a:r>
          </a:p>
          <a:p/>
          <a:p>
            <a:r>
              <a:t>Epsilon-Greedy: $76,441. Static XGB (the system that declined Sophea): $72,206. AlwaysSTANDARD: $34,684. Random: $1,980.</a:t>
            </a:r>
          </a:p>
          <a:p/>
          <a:p>
            <a:r>
              <a:t>The headline claim stands: bandits rank first and second among every admissible policy a real insurer could deploy.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why there are multiple reward-lift numbers.]</a:t>
            </a:r>
          </a:p>
          <a:p/>
          <a:p>
            <a:r>
              <a:t>Three different reward-lift numbers appear across the thesis. They answer three different questions and are mutually consistent.</a:t>
            </a:r>
          </a:p>
          <a:p/>
          <a:p>
            <a:r>
              <a:t>Plus 25.2 percent: EXP-005. LinUCB versus Static XGB. Pre-registered primary metric. Paired design, 20 seeds, standardised evaluation. LinUCB mean $90,540 versus Static XGB mean $72,292. This is the headline figure cited throughout the thesis.</a:t>
            </a:r>
          </a:p>
          <a:p/>
          <a:p>
            <a:r>
              <a:t>Plus 29.8 percent: EXP-007. LinTS versus Static XGB. CRN benchmark harness — common random numbers for variance reduction. Different experimental setup from EXP-005, which is why the number is slightly higher. Reported for completeness; the pre-registered comparison is EXP-005.</a:t>
            </a:r>
          </a:p>
          <a:p/>
          <a:p>
            <a:r>
              <a:t>Plus 6.5 percent: EXP-008. HITL reward versus vanilla bandit. HITL $102,100 versus vanilla $95,872 on seed 42. Completely different baseline — this measures the incremental value of human oversight on top of the bandit, not versus Static XGB.</a:t>
            </a:r>
          </a:p>
          <a:p/>
          <a:p>
            <a:r>
              <a:t>When I cite the headline result, I cite 25.2 percent — the conservative pre-registered figure.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fairness methodology or Criterion 6.]</a:t>
            </a:r>
          </a:p>
          <a:p/>
          <a:p>
            <a:r>
              <a:t>The six pre-registered fairness criteria.</a:t>
            </a:r>
          </a:p>
          <a:p/>
          <a:p>
            <a:r>
              <a:t>Criterion 1: Region PSI must be at or below 0.25. Result: PSI equals 0.082 — GREEN. PASSED.</a:t>
            </a:r>
          </a:p>
          <a:p/>
          <a:p>
            <a:r>
              <a:t>Criterion 2: Occupation PSI must be at or below 0.25. Result: PSI equals 0.123 — AMBER, below RED. PASSED.</a:t>
            </a:r>
          </a:p>
          <a:p/>
          <a:p>
            <a:r>
              <a:t>Criterion 3: EEOC four-fifths rule for region — approval rates across all regions must be at least 80 percent of the highest. Result: 85.72 percent. PASSED.</a:t>
            </a:r>
          </a:p>
          <a:p/>
          <a:p>
            <a:r>
              <a:t>Criterion 4: EEOC four-fifths rule for occupation. Result: 90.12 percent. PASSED.</a:t>
            </a:r>
          </a:p>
          <a:p/>
          <a:p>
            <a:r>
              <a:t>Criterion 5: Permutation test for region-to-action independence. p equals 0.132. PASSED.</a:t>
            </a:r>
          </a:p>
          <a:p/>
          <a:p>
            <a:r>
              <a:t>Criterion 6: Permutation test for occupation-to-action independence. p less than 0.001. FAILED-with-interpretation.</a:t>
            </a:r>
          </a:p>
          <a:p/>
          <a:p>
            <a:r>
              <a:t>My interpretation of Criterion 6: occupation predicts the underwriting action because occupation is a genuine actuarial risk signal. Sophea's agricultural occupation is correctly associated with a different risk profile than an office worker's — that is actuarially sound. The association is statistically significant but practically small. No regulatory threshold is breached. I call this FAILED-with-interpretation, and I stand by that verdict.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the LinUCB update rule, PSI formula, or HITL dual-update mechanics.]</a:t>
            </a:r>
          </a:p>
          <a:p/>
          <a:p>
            <a:r>
              <a:t>Three mathematical components — using Sophea's application as the concrete example.</a:t>
            </a:r>
          </a:p>
          <a:p/>
          <a:p>
            <a:r>
              <a:t>LinUCB update rule:</a:t>
            </a:r>
          </a:p>
          <a:p>
            <a:r>
              <a:t>Design matrix update: A receives Sophea's vector x transposed times x. Reward vector update: b receives reward times x. Ridge estimate: theta-hat equals A-inverse times b. UCB score for arm a: theta-hat transposed x, plus alpha times the square root of x-transposed A-inverse x — where x is Sophea's 34-dimensional vector.</a:t>
            </a:r>
          </a:p>
          <a:p/>
          <a:p>
            <a:r>
              <a:t>PSI formula:</a:t>
            </a:r>
          </a:p>
          <a:p>
            <a:r>
              <a:t>PSI equals the sum over each segment of: P-new minus P-old, times the natural log of P-new over P-old. For Sophea's Kampong Cham region: PSI 0.082 — GREEN. For her occupation category: PSI max 0.123 — AMBER.</a:t>
            </a:r>
          </a:p>
          <a:p/>
          <a:p>
            <a:r>
              <a:t>HITL dual-update:</a:t>
            </a:r>
          </a:p>
          <a:p>
            <a:r>
              <a:t>When the human overrides the bandit: update the selected arm on the human label, and apply a penalty to the REFER arm reward to prevent the over-selection spiral. Without the penalty, REFER accumulates reward without cost — the dual update corrects that incentive.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Committee asks about parameter sensitivity or robustness.]</a:t>
            </a:r>
          </a:p>
          <a:p/>
          <a:p>
            <a:r>
              <a:t>The headline results are robust across the full parameter grid.</a:t>
            </a:r>
          </a:p>
          <a:p/>
          <a:p>
            <a:r>
              <a:t>LinUCB exploration parameter alpha: tested from 0.5 to 2.0. Alpha equals 1.0 selected in EXP-012 as the regret-minimising setting.</a:t>
            </a:r>
          </a:p>
          <a:p/>
          <a:p>
            <a:r>
              <a:t>LinTS posterior width v: 0.1. Ridge penalty lambda: 1.0.</a:t>
            </a:r>
          </a:p>
          <a:p/>
          <a:p>
            <a:r>
              <a:t>HITL conservatism kappa: headline result at kappa equals 0.7. Kappa of 0.3 and 0.5 also tested; the ranking of HITL above vanilla bandit is stable across all kappa values.</a:t>
            </a:r>
          </a:p>
          <a:p/>
          <a:p>
            <a:r>
              <a:t>Price elasticity slope: base at 3.5, stressed at 2.5 and 4.5.</a:t>
            </a:r>
          </a:p>
          <a:p/>
          <a:p>
            <a:r>
              <a:t>Adverse-selection factor: 1.35 is the DAC actuarial prior.</a:t>
            </a:r>
          </a:p>
          <a:p/>
          <a:p>
            <a:r>
              <a:t>Across the EXP-011 ablation and EXP-012 sensitivity grid, the ranking of LinUCB and LinTS above all other admissible policies is stable. Sophea receives STANDARD across all parameter combinations tested.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if the Committee asks why there is no train/test split, or challenges whether the bandit's numbers could be overfit.]</a:t>
            </a:r>
          </a:p>
          <a:p/>
          <a:p>
            <a:r>
              <a:t>This is a fair question, because it does not map onto the workflow this Committee is used to seeing from supervised learning.</a:t>
            </a:r>
          </a:p>
          <a:p/>
          <a:p>
            <a:r>
              <a:t>Supervised ML — like the Static XGB incumbent — splits data into train, validation, and test sets, fits once on the training set, freezes the weights, and deploys unchanged. Generalisation is measured as the score on a held-out test set.</a:t>
            </a:r>
          </a:p>
          <a:p/>
          <a:p>
            <a:r>
              <a:t>A contextual bandit does not work that way. There is no split, because it meets applicants one at a time: select an arm, observe the reward, update. Every single round is simultaneously training and testing — the model is always being evaluated on the next applicant it has never seen, and immediately updating from that outcome.</a:t>
            </a:r>
          </a:p>
          <a:p/>
          <a:p>
            <a:r>
              <a:t>So how do we measure generalisation without a holdout set? Three ways. First, performance is reported as cumulative regret against the Oracle, averaged over 20 independent random seeds — the seeds play the role the test set would normally play. Second, all pass criteria and seeds are pre-registered and fixed, so the results are fully reproducible and there is no test-set leakage, because there is no test set to leak. Third, and importantly, the Static XGB incumbent — the thing we are comparing against — IS fit offline and frozen, exactly like standard supervised practice. So the benchmark is fair: a supervised model at its best, versus a bandit learning from scratch, evaluated across 20 seeds.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C.jpg"/>
          <p:cNvPicPr>
            <a:picLocks noChangeAspect="1"/>
          </p:cNvPicPr>
          <p:nvPr/>
        </p:nvPicPr>
        <p:blipFill>
          <a:blip r:embed="rId2"/>
          <a:stretch>
            <a:fillRect/>
          </a:stretch>
        </p:blipFill>
        <p:spPr>
          <a:xfrm>
            <a:off x="548640" y="274320"/>
            <a:ext cx="914400" cy="901541"/>
          </a:xfrm>
          <a:prstGeom prst="rect">
            <a:avLst/>
          </a:prstGeom>
        </p:spPr>
      </p:pic>
      <p:pic>
        <p:nvPicPr>
          <p:cNvPr id="4" name="Picture 3" descr="AMS.png"/>
          <p:cNvPicPr>
            <a:picLocks noChangeAspect="1"/>
          </p:cNvPicPr>
          <p:nvPr/>
        </p:nvPicPr>
        <p:blipFill>
          <a:blip r:embed="rId3"/>
          <a:stretch>
            <a:fillRect/>
          </a:stretch>
        </p:blipFill>
        <p:spPr>
          <a:xfrm>
            <a:off x="1600200" y="365760"/>
            <a:ext cx="1325880" cy="1256418"/>
          </a:xfrm>
          <a:prstGeom prst="rect">
            <a:avLst/>
          </a:prstGeom>
        </p:spPr>
      </p:pic>
      <p:pic>
        <p:nvPicPr>
          <p:cNvPr id="5" name="Picture 4" descr="DAC.jpg"/>
          <p:cNvPicPr>
            <a:picLocks noChangeAspect="1"/>
          </p:cNvPicPr>
          <p:nvPr/>
        </p:nvPicPr>
        <p:blipFill>
          <a:blip r:embed="rId4"/>
          <a:stretch>
            <a:fillRect/>
          </a:stretch>
        </p:blipFill>
        <p:spPr>
          <a:xfrm>
            <a:off x="10332720" y="320040"/>
            <a:ext cx="1325880" cy="745808"/>
          </a:xfrm>
          <a:prstGeom prst="rect">
            <a:avLst/>
          </a:prstGeom>
        </p:spPr>
      </p:pic>
      <p:sp>
        <p:nvSpPr>
          <p:cNvPr id="6" name="TextBox 5"/>
          <p:cNvSpPr txBox="1"/>
          <p:nvPr/>
        </p:nvSpPr>
        <p:spPr>
          <a:xfrm>
            <a:off x="3108960" y="384048"/>
            <a:ext cx="6583680" cy="457200"/>
          </a:xfrm>
          <a:prstGeom prst="rect">
            <a:avLst/>
          </a:prstGeom>
          <a:noFill/>
        </p:spPr>
        <p:txBody>
          <a:bodyPr wrap="square">
            <a:spAutoFit/>
          </a:bodyPr>
          <a:lstStyle/>
          <a:p>
            <a:pPr algn="ctr">
              <a:spcBef>
                <a:spcPts val="0"/>
              </a:spcBef>
              <a:spcAft>
                <a:spcPts val="0"/>
              </a:spcAft>
            </a:pPr>
            <a:r>
              <a:rPr sz="2200" b="1" i="0">
                <a:solidFill>
                  <a:srgbClr val="262626"/>
                </a:solidFill>
                <a:latin typeface="Segoe UI"/>
              </a:rPr>
              <a:t>Institute of Technology of Cambodia</a:t>
            </a:r>
          </a:p>
        </p:txBody>
      </p:sp>
      <p:sp>
        <p:nvSpPr>
          <p:cNvPr id="7" name="TextBox 6"/>
          <p:cNvSpPr txBox="1"/>
          <p:nvPr/>
        </p:nvSpPr>
        <p:spPr>
          <a:xfrm>
            <a:off x="3108960" y="841248"/>
            <a:ext cx="6583680" cy="365760"/>
          </a:xfrm>
          <a:prstGeom prst="rect">
            <a:avLst/>
          </a:prstGeom>
          <a:noFill/>
        </p:spPr>
        <p:txBody>
          <a:bodyPr wrap="square">
            <a:spAutoFit/>
          </a:bodyPr>
          <a:lstStyle/>
          <a:p>
            <a:pPr algn="ctr">
              <a:spcBef>
                <a:spcPts val="0"/>
              </a:spcBef>
              <a:spcAft>
                <a:spcPts val="0"/>
              </a:spcAft>
            </a:pPr>
            <a:r>
              <a:rPr sz="1500" b="0" i="0">
                <a:solidFill>
                  <a:srgbClr val="505050"/>
                </a:solidFill>
                <a:latin typeface="Calibri"/>
              </a:rPr>
              <a:t>Department of Applied Mathematics and Statistics</a:t>
            </a:r>
          </a:p>
        </p:txBody>
      </p:sp>
      <p:sp>
        <p:nvSpPr>
          <p:cNvPr id="8" name="Rectangle 7"/>
          <p:cNvSpPr/>
          <p:nvPr/>
        </p:nvSpPr>
        <p:spPr>
          <a:xfrm>
            <a:off x="5413248" y="1874519"/>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148840"/>
            <a:ext cx="10515600" cy="1554480"/>
          </a:xfrm>
          <a:prstGeom prst="rect">
            <a:avLst/>
          </a:prstGeom>
          <a:noFill/>
        </p:spPr>
        <p:txBody>
          <a:bodyPr wrap="square" anchor="ctr">
            <a:spAutoFit/>
          </a:bodyPr>
          <a:lstStyle/>
          <a:p>
            <a:pPr algn="ctr">
              <a:spcBef>
                <a:spcPts val="0"/>
              </a:spcBef>
              <a:spcAft>
                <a:spcPts val="0"/>
              </a:spcAft>
            </a:pPr>
            <a:r>
              <a:rPr sz="2700" b="1" i="0">
                <a:solidFill>
                  <a:srgbClr val="262626"/>
                </a:solidFill>
                <a:latin typeface="Segoe UI"/>
              </a:rPr>
              <a:t>ADAPTIVE HEALTH INSURANCE UNDERWRITING VIA CONTEXTUAL BANDITS: A REINFORCEMENT LEARNING APPROACH FOR CAMBODIA</a:t>
            </a:r>
          </a:p>
        </p:txBody>
      </p:sp>
      <p:sp>
        <p:nvSpPr>
          <p:cNvPr id="10" name="Rectangle 9"/>
          <p:cNvSpPr/>
          <p:nvPr/>
        </p:nvSpPr>
        <p:spPr>
          <a:xfrm>
            <a:off x="5413248" y="3886200"/>
            <a:ext cx="1371600" cy="41148"/>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0" y="4224528"/>
            <a:ext cx="12191695" cy="310896"/>
          </a:xfrm>
          <a:prstGeom prst="rect">
            <a:avLst/>
          </a:prstGeom>
          <a:noFill/>
        </p:spPr>
        <p:txBody>
          <a:bodyPr wrap="square">
            <a:spAutoFit/>
          </a:bodyPr>
          <a:lstStyle/>
          <a:p>
            <a:pPr algn="ctr">
              <a:spcBef>
                <a:spcPts val="0"/>
              </a:spcBef>
              <a:spcAft>
                <a:spcPts val="0"/>
              </a:spcAft>
            </a:pPr>
            <a:r>
              <a:rPr sz="1600" b="0" i="0">
                <a:solidFill>
                  <a:srgbClr val="505050"/>
                </a:solidFill>
                <a:latin typeface="Calibri"/>
              </a:rPr>
              <a:t>Thesis Defense — Presented by</a:t>
            </a:r>
          </a:p>
        </p:txBody>
      </p:sp>
      <p:sp>
        <p:nvSpPr>
          <p:cNvPr id="12" name="TextBox 11"/>
          <p:cNvSpPr txBox="1"/>
          <p:nvPr/>
        </p:nvSpPr>
        <p:spPr>
          <a:xfrm>
            <a:off x="0" y="4535424"/>
            <a:ext cx="12191695" cy="457200"/>
          </a:xfrm>
          <a:prstGeom prst="rect">
            <a:avLst/>
          </a:prstGeom>
          <a:noFill/>
        </p:spPr>
        <p:txBody>
          <a:bodyPr wrap="square">
            <a:spAutoFit/>
          </a:bodyPr>
          <a:lstStyle/>
          <a:p>
            <a:pPr algn="ctr">
              <a:spcBef>
                <a:spcPts val="0"/>
              </a:spcBef>
              <a:spcAft>
                <a:spcPts val="0"/>
              </a:spcAft>
            </a:pPr>
            <a:r>
              <a:rPr sz="2700" b="1" i="0">
                <a:solidFill>
                  <a:srgbClr val="1B5697"/>
                </a:solidFill>
                <a:latin typeface="Segoe UI"/>
              </a:rPr>
              <a:t>LUN CHANPOLY</a:t>
            </a:r>
          </a:p>
        </p:txBody>
      </p:sp>
      <p:sp>
        <p:nvSpPr>
          <p:cNvPr id="13" name="TextBox 12"/>
          <p:cNvSpPr txBox="1"/>
          <p:nvPr/>
        </p:nvSpPr>
        <p:spPr>
          <a:xfrm>
            <a:off x="13716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Supervisor   :  Dr. HAS Sothea</a:t>
            </a:r>
          </a:p>
        </p:txBody>
      </p:sp>
      <p:sp>
        <p:nvSpPr>
          <p:cNvPr id="14" name="TextBox 13"/>
          <p:cNvSpPr txBox="1"/>
          <p:nvPr/>
        </p:nvSpPr>
        <p:spPr>
          <a:xfrm>
            <a:off x="6858000" y="5193792"/>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Organization  :  DAC (Decent Actuarial Consultants)</a:t>
            </a:r>
          </a:p>
        </p:txBody>
      </p:sp>
      <p:sp>
        <p:nvSpPr>
          <p:cNvPr id="15" name="TextBox 14"/>
          <p:cNvSpPr txBox="1"/>
          <p:nvPr/>
        </p:nvSpPr>
        <p:spPr>
          <a:xfrm>
            <a:off x="13716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Duration       :  Mar 2026 – Jun 2026</a:t>
            </a:r>
          </a:p>
        </p:txBody>
      </p:sp>
      <p:sp>
        <p:nvSpPr>
          <p:cNvPr id="16" name="TextBox 15"/>
          <p:cNvSpPr txBox="1"/>
          <p:nvPr/>
        </p:nvSpPr>
        <p:spPr>
          <a:xfrm>
            <a:off x="6858000" y="5522976"/>
            <a:ext cx="5120640" cy="310896"/>
          </a:xfrm>
          <a:prstGeom prst="rect">
            <a:avLst/>
          </a:prstGeom>
          <a:noFill/>
        </p:spPr>
        <p:txBody>
          <a:bodyPr wrap="square">
            <a:spAutoFit/>
          </a:bodyPr>
          <a:lstStyle/>
          <a:p>
            <a:pPr algn="l">
              <a:spcBef>
                <a:spcPts val="0"/>
              </a:spcBef>
              <a:spcAft>
                <a:spcPts val="0"/>
              </a:spcAft>
            </a:pPr>
            <a:r>
              <a:rPr sz="1600" b="0" i="0">
                <a:solidFill>
                  <a:srgbClr val="262626"/>
                </a:solidFill>
                <a:latin typeface="Calibri"/>
              </a:rPr>
              <a:t>DAC Advisor  :  Mr. ON Radet</a:t>
            </a:r>
          </a:p>
        </p:txBody>
      </p:sp>
      <p:sp>
        <p:nvSpPr>
          <p:cNvPr id="17" name="TextBox 16"/>
          <p:cNvSpPr txBox="1"/>
          <p:nvPr/>
        </p:nvSpPr>
        <p:spPr>
          <a:xfrm>
            <a:off x="0" y="6035040"/>
            <a:ext cx="12191695" cy="347472"/>
          </a:xfrm>
          <a:prstGeom prst="rect">
            <a:avLst/>
          </a:prstGeom>
          <a:noFill/>
        </p:spPr>
        <p:txBody>
          <a:bodyPr wrap="square">
            <a:spAutoFit/>
          </a:bodyPr>
          <a:lstStyle/>
          <a:p>
            <a:pPr algn="ctr">
              <a:spcBef>
                <a:spcPts val="0"/>
              </a:spcBef>
              <a:spcAft>
                <a:spcPts val="0"/>
              </a:spcAft>
            </a:pPr>
            <a:r>
              <a:rPr sz="1500" b="1" i="0">
                <a:solidFill>
                  <a:srgbClr val="505050"/>
                </a:solidFill>
                <a:latin typeface="Calibri"/>
              </a:rPr>
              <a:t>July 2026</a:t>
            </a:r>
          </a:p>
        </p:txBody>
      </p:sp>
      <p:sp>
        <p:nvSpPr>
          <p:cNvPr id="18" name="Rectangle 1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0" name="Rectangle 1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Title</a:t>
            </a:r>
          </a:p>
        </p:txBody>
      </p:sp>
      <p:sp>
        <p:nvSpPr>
          <p:cNvPr id="22" name="Rectangle 2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TABLE OF CONTENTS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7200" y="1200000"/>
            <a:ext cx="460000" cy="700000"/>
          </a:xfrm>
          <a:prstGeom prst="rect">
            <a:avLst/>
          </a:prstGeom>
          <a:noFill/>
        </p:spPr>
        <p:txBody>
          <a:bodyPr wrap="none" anchor="ctr">
            <a:spAutoFit/>
          </a:bodyPr>
          <a:lstStyle/>
          <a:p>
            <a:pPr algn="ctr">
              <a:spcBef>
                <a:spcPts val="0"/>
              </a:spcBef>
              <a:spcAft>
                <a:spcPts val="0"/>
              </a:spcAft>
            </a:pPr>
            <a:r>
              <a:rPr sz="1800" b="1" i="0">
                <a:solidFill>
                  <a:srgbClr val="FFFFFF"/>
                </a:solidFill>
                <a:latin typeface="Calibri"/>
              </a:rPr>
              <a:t>I</a:t>
            </a:r>
          </a:p>
        </p:txBody>
      </p:sp>
      <p:sp>
        <p:nvSpPr>
          <p:cNvPr id="7" name="TextBox 6"/>
          <p:cNvSpPr txBox="1"/>
          <p:nvPr/>
        </p:nvSpPr>
        <p:spPr>
          <a:xfrm>
            <a:off x="1077200" y="1400000"/>
            <a:ext cx="1055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Introduction &amp; Problem Background</a:t>
            </a:r>
          </a:p>
        </p:txBody>
      </p:sp>
      <p:sp>
        <p:nvSpPr>
          <p:cNvPr id="8" name="Rectangle 7"/>
          <p:cNvSpPr/>
          <p:nvPr/>
        </p:nvSpPr>
        <p:spPr>
          <a:xfrm>
            <a:off x="457200" y="2030000"/>
            <a:ext cx="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7200" y="2030000"/>
            <a:ext cx="460000" cy="700000"/>
          </a:xfrm>
          <a:prstGeom prst="rect">
            <a:avLst/>
          </a:prstGeom>
          <a:noFill/>
        </p:spPr>
        <p:txBody>
          <a:bodyPr wrap="none" anchor="ctr">
            <a:spAutoFit/>
          </a:bodyPr>
          <a:lstStyle/>
          <a:p>
            <a:pPr algn="ctr">
              <a:spcBef>
                <a:spcPts val="0"/>
              </a:spcBef>
              <a:spcAft>
                <a:spcPts val="0"/>
              </a:spcAft>
            </a:pPr>
            <a:r>
              <a:rPr sz="1800" b="1" i="0">
                <a:solidFill>
                  <a:srgbClr val="FFFFFF"/>
                </a:solidFill>
                <a:latin typeface="Calibri"/>
              </a:rPr>
              <a:t>II</a:t>
            </a:r>
          </a:p>
        </p:txBody>
      </p:sp>
      <p:sp>
        <p:nvSpPr>
          <p:cNvPr id="10" name="TextBox 9"/>
          <p:cNvSpPr txBox="1"/>
          <p:nvPr/>
        </p:nvSpPr>
        <p:spPr>
          <a:xfrm>
            <a:off x="1077200" y="2230000"/>
            <a:ext cx="1055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Literature Review</a:t>
            </a:r>
          </a:p>
        </p:txBody>
      </p:sp>
      <p:sp>
        <p:nvSpPr>
          <p:cNvPr id="11" name="Rectangle 10"/>
          <p:cNvSpPr/>
          <p:nvPr/>
        </p:nvSpPr>
        <p:spPr>
          <a:xfrm>
            <a:off x="457200" y="2860000"/>
            <a:ext cx="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200" y="2860000"/>
            <a:ext cx="460000" cy="700000"/>
          </a:xfrm>
          <a:prstGeom prst="rect">
            <a:avLst/>
          </a:prstGeom>
          <a:noFill/>
        </p:spPr>
        <p:txBody>
          <a:bodyPr wrap="none" anchor="ctr">
            <a:spAutoFit/>
          </a:bodyPr>
          <a:lstStyle/>
          <a:p>
            <a:pPr algn="ctr">
              <a:spcBef>
                <a:spcPts val="0"/>
              </a:spcBef>
              <a:spcAft>
                <a:spcPts val="0"/>
              </a:spcAft>
            </a:pPr>
            <a:r>
              <a:rPr sz="1800" b="1" i="0">
                <a:solidFill>
                  <a:srgbClr val="FFFFFF"/>
                </a:solidFill>
                <a:latin typeface="Calibri"/>
              </a:rPr>
              <a:t>III</a:t>
            </a:r>
          </a:p>
        </p:txBody>
      </p:sp>
      <p:sp>
        <p:nvSpPr>
          <p:cNvPr id="13" name="TextBox 12"/>
          <p:cNvSpPr txBox="1"/>
          <p:nvPr/>
        </p:nvSpPr>
        <p:spPr>
          <a:xfrm>
            <a:off x="1077200" y="3060000"/>
            <a:ext cx="1055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Methodology &amp; Model Design</a:t>
            </a:r>
          </a:p>
        </p:txBody>
      </p:sp>
      <p:sp>
        <p:nvSpPr>
          <p:cNvPr id="14" name="Rectangle 13"/>
          <p:cNvSpPr/>
          <p:nvPr/>
        </p:nvSpPr>
        <p:spPr>
          <a:xfrm>
            <a:off x="457200" y="3690000"/>
            <a:ext cx="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200" y="3690000"/>
            <a:ext cx="460000" cy="700000"/>
          </a:xfrm>
          <a:prstGeom prst="rect">
            <a:avLst/>
          </a:prstGeom>
          <a:noFill/>
        </p:spPr>
        <p:txBody>
          <a:bodyPr wrap="none" anchor="ctr">
            <a:spAutoFit/>
          </a:bodyPr>
          <a:lstStyle/>
          <a:p>
            <a:pPr algn="ctr">
              <a:spcBef>
                <a:spcPts val="0"/>
              </a:spcBef>
              <a:spcAft>
                <a:spcPts val="0"/>
              </a:spcAft>
            </a:pPr>
            <a:r>
              <a:rPr sz="1800" b="1" i="0">
                <a:solidFill>
                  <a:srgbClr val="FFFFFF"/>
                </a:solidFill>
                <a:latin typeface="Calibri"/>
              </a:rPr>
              <a:t>IV</a:t>
            </a:r>
          </a:p>
        </p:txBody>
      </p:sp>
      <p:sp>
        <p:nvSpPr>
          <p:cNvPr id="16" name="TextBox 15"/>
          <p:cNvSpPr txBox="1"/>
          <p:nvPr/>
        </p:nvSpPr>
        <p:spPr>
          <a:xfrm>
            <a:off x="1077200" y="3890000"/>
            <a:ext cx="1055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Results &amp; Evaluation</a:t>
            </a:r>
          </a:p>
        </p:txBody>
      </p:sp>
      <p:sp>
        <p:nvSpPr>
          <p:cNvPr id="17" name="Rectangle 16"/>
          <p:cNvSpPr/>
          <p:nvPr/>
        </p:nvSpPr>
        <p:spPr>
          <a:xfrm>
            <a:off x="457200" y="4520000"/>
            <a:ext cx="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200" y="4520000"/>
            <a:ext cx="460000" cy="700000"/>
          </a:xfrm>
          <a:prstGeom prst="rect">
            <a:avLst/>
          </a:prstGeom>
          <a:noFill/>
        </p:spPr>
        <p:txBody>
          <a:bodyPr wrap="none" anchor="ctr">
            <a:spAutoFit/>
          </a:bodyPr>
          <a:lstStyle/>
          <a:p>
            <a:pPr algn="ctr">
              <a:spcBef>
                <a:spcPts val="0"/>
              </a:spcBef>
              <a:spcAft>
                <a:spcPts val="0"/>
              </a:spcAft>
            </a:pPr>
            <a:r>
              <a:rPr sz="1800" b="1" i="0">
                <a:solidFill>
                  <a:srgbClr val="FFFFFF"/>
                </a:solidFill>
                <a:latin typeface="Calibri"/>
              </a:rPr>
              <a:t>V</a:t>
            </a:r>
          </a:p>
        </p:txBody>
      </p:sp>
      <p:sp>
        <p:nvSpPr>
          <p:cNvPr id="19" name="TextBox 18"/>
          <p:cNvSpPr txBox="1"/>
          <p:nvPr/>
        </p:nvSpPr>
        <p:spPr>
          <a:xfrm>
            <a:off x="1077200" y="4720000"/>
            <a:ext cx="10557295" cy="350000"/>
          </a:xfrm>
          <a:prstGeom prst="rect">
            <a:avLst/>
          </a:prstGeom>
          <a:noFill/>
        </p:spPr>
        <p:txBody>
          <a:bodyPr wrap="square">
            <a:spAutoFit/>
          </a:bodyPr>
          <a:lstStyle/>
          <a:p>
            <a:pPr algn="l">
              <a:spcBef>
                <a:spcPts val="0"/>
              </a:spcBef>
              <a:spcAft>
                <a:spcPts val="0"/>
              </a:spcAft>
            </a:pPr>
            <a:r>
              <a:rPr sz="1600" b="0" i="0">
                <a:solidFill>
                  <a:srgbClr val="1B5697"/>
                </a:solidFill>
                <a:latin typeface="Calibri"/>
              </a:rPr>
              <a:t>Conclusion &amp; Future Work</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Contents</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MEET SOPHEA</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200000" cy="525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5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00" y="1240000"/>
            <a:ext cx="5000000" cy="480000"/>
          </a:xfrm>
          <a:prstGeom prst="rect">
            <a:avLst/>
          </a:prstGeom>
          <a:noFill/>
        </p:spPr>
        <p:txBody>
          <a:bodyPr wrap="square">
            <a:spAutoFit/>
          </a:bodyPr>
          <a:lstStyle/>
          <a:p>
            <a:pPr algn="l">
              <a:spcBef>
                <a:spcPts val="0"/>
              </a:spcBef>
              <a:spcAft>
                <a:spcPts val="0"/>
              </a:spcAft>
            </a:pPr>
            <a:r>
              <a:rPr sz="2600" b="1" i="0">
                <a:solidFill>
                  <a:srgbClr val="1B5697"/>
                </a:solidFill>
                <a:latin typeface="Calibri"/>
              </a:rPr>
              <a:t>SOPHEA</a:t>
            </a:r>
          </a:p>
        </p:txBody>
      </p:sp>
      <p:sp>
        <p:nvSpPr>
          <p:cNvPr id="8" name="TextBox 7"/>
          <p:cNvSpPr txBox="1"/>
          <p:nvPr/>
        </p:nvSpPr>
        <p:spPr>
          <a:xfrm>
            <a:off x="617200" y="1740000"/>
            <a:ext cx="5000000" cy="340000"/>
          </a:xfrm>
          <a:prstGeom prst="rect">
            <a:avLst/>
          </a:prstGeom>
          <a:noFill/>
        </p:spPr>
        <p:txBody>
          <a:bodyPr wrap="square">
            <a:spAutoFit/>
          </a:bodyPr>
          <a:lstStyle/>
          <a:p>
            <a:pPr algn="l">
              <a:spcBef>
                <a:spcPts val="0"/>
              </a:spcBef>
              <a:spcAft>
                <a:spcPts val="0"/>
              </a:spcAft>
            </a:pPr>
            <a:r>
              <a:rPr sz="1400" b="0" i="0">
                <a:solidFill>
                  <a:srgbClr val="404040"/>
                </a:solidFill>
                <a:latin typeface="Calibri"/>
              </a:rPr>
              <a:t>Age 42  ·  Kampong Cham Province  ·  Rice Farmer</a:t>
            </a:r>
          </a:p>
        </p:txBody>
      </p:sp>
      <p:sp>
        <p:nvSpPr>
          <p:cNvPr id="9" name="Rectangle 8"/>
          <p:cNvSpPr/>
          <p:nvPr/>
        </p:nvSpPr>
        <p:spPr>
          <a:xfrm>
            <a:off x="617200" y="2180000"/>
            <a:ext cx="495000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00" y="2280000"/>
            <a:ext cx="5000000" cy="3957376"/>
          </a:xfrm>
          <a:prstGeom prst="rect">
            <a:avLst/>
          </a:prstGeom>
          <a:noFill/>
        </p:spPr>
        <p:txBody>
          <a:bodyPr wrap="square">
            <a:spAutoFit/>
          </a:bodyPr>
          <a:lstStyle/>
          <a:p>
            <a:pPr>
              <a:spcBef>
                <a:spcPts val="1000"/>
              </a:spcBef>
            </a:pPr>
            <a:r>
              <a:rPr sz="1400" b="1">
                <a:solidFill>
                  <a:srgbClr val="1B5697"/>
                </a:solidFill>
              </a:rPr>
              <a:t>BMI:  </a:t>
            </a:r>
            <a:r>
              <a:rPr sz="1400">
                <a:solidFill>
                  <a:srgbClr val="505050"/>
                </a:solidFill>
              </a:rPr>
              <a:t>24.1  (Normal range)</a:t>
            </a:r>
          </a:p>
          <a:p>
            <a:pPr>
              <a:spcBef>
                <a:spcPts val="1000"/>
              </a:spcBef>
            </a:pPr>
            <a:r>
              <a:rPr sz="1400" b="1">
                <a:solidFill>
                  <a:srgbClr val="1B5697"/>
                </a:solidFill>
              </a:rPr>
              <a:t>Smoker:  </a:t>
            </a:r>
            <a:r>
              <a:rPr sz="1400">
                <a:solidFill>
                  <a:srgbClr val="505050"/>
                </a:solidFill>
              </a:rPr>
              <a:t>No</a:t>
            </a:r>
          </a:p>
          <a:p>
            <a:pPr>
              <a:spcBef>
                <a:spcPts val="1000"/>
              </a:spcBef>
            </a:pPr>
            <a:r>
              <a:rPr sz="1400" b="1">
                <a:solidFill>
                  <a:srgbClr val="1B5697"/>
                </a:solidFill>
              </a:rPr>
              <a:t>Physical Activity:  </a:t>
            </a:r>
            <a:r>
              <a:rPr sz="1400">
                <a:solidFill>
                  <a:srgbClr val="505050"/>
                </a:solidFill>
              </a:rPr>
              <a:t>High  (field farming)</a:t>
            </a:r>
          </a:p>
          <a:p>
            <a:pPr>
              <a:spcBef>
                <a:spcPts val="1000"/>
              </a:spcBef>
            </a:pPr>
            <a:r>
              <a:rPr sz="1400" b="1">
                <a:solidFill>
                  <a:srgbClr val="1B5697"/>
                </a:solidFill>
              </a:rPr>
              <a:t>Clinical Flag:  </a:t>
            </a:r>
            <a:r>
              <a:rPr sz="1400">
                <a:solidFill>
                  <a:srgbClr val="505050"/>
                </a:solidFill>
              </a:rPr>
              <a:t>Hypertension  (managed)</a:t>
            </a:r>
          </a:p>
          <a:p>
            <a:pPr>
              <a:spcBef>
                <a:spcPts val="1000"/>
              </a:spcBef>
            </a:pPr>
            <a:r>
              <a:rPr sz="1400" b="1">
                <a:solidFill>
                  <a:srgbClr val="1B5697"/>
                </a:solidFill>
              </a:rPr>
              <a:t>Wealth Index:  </a:t>
            </a:r>
            <a:r>
              <a:rPr sz="1400">
                <a:solidFill>
                  <a:srgbClr val="505050"/>
                </a:solidFill>
              </a:rPr>
              <a:t>Low</a:t>
            </a:r>
          </a:p>
          <a:p>
            <a:pPr>
              <a:spcBef>
                <a:spcPts val="1000"/>
              </a:spcBef>
            </a:pPr>
            <a:r>
              <a:rPr sz="1400" b="1">
                <a:solidFill>
                  <a:srgbClr val="1B5697"/>
                </a:solidFill>
              </a:rPr>
              <a:t>Education:  </a:t>
            </a:r>
            <a:r>
              <a:rPr sz="1400">
                <a:solidFill>
                  <a:srgbClr val="505050"/>
                </a:solidFill>
              </a:rPr>
              <a:t>Primary</a:t>
            </a:r>
          </a:p>
        </p:txBody>
      </p:sp>
      <p:sp>
        <p:nvSpPr>
          <p:cNvPr id="11" name="TextBox 10"/>
          <p:cNvSpPr txBox="1"/>
          <p:nvPr/>
        </p:nvSpPr>
        <p:spPr>
          <a:xfrm>
            <a:off x="5937200" y="1180000"/>
            <a:ext cx="6054495" cy="1350000"/>
          </a:xfrm>
          <a:prstGeom prst="rect">
            <a:avLst/>
          </a:prstGeom>
          <a:noFill/>
        </p:spPr>
        <p:txBody>
          <a:bodyPr wrap="square">
            <a:spAutoFit/>
          </a:bodyPr>
          <a:lstStyle/>
          <a:p>
            <a:pPr algn="l">
              <a:spcBef>
                <a:spcPts val="0"/>
              </a:spcBef>
              <a:spcAft>
                <a:spcPts val="0"/>
              </a:spcAft>
            </a:pPr>
            <a:r>
              <a:rPr sz="1500" b="0" i="1">
                <a:solidFill>
                  <a:srgbClr val="505050"/>
                </a:solidFill>
                <a:latin typeface="Calibri"/>
              </a:rPr>
              <a:t>In 2023, Sophea walked into a private insurer in Phnom Penh and applied for voluntary health insurance.
The static underwriting system checked two fields.</a:t>
            </a:r>
          </a:p>
        </p:txBody>
      </p:sp>
      <p:sp>
        <p:nvSpPr>
          <p:cNvPr id="12" name="Rectangle 11"/>
          <p:cNvSpPr/>
          <p:nvPr/>
        </p:nvSpPr>
        <p:spPr>
          <a:xfrm>
            <a:off x="5937200" y="265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37200" y="265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67200" y="278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OCCUPATION:  Agriculture</a:t>
            </a:r>
          </a:p>
        </p:txBody>
      </p:sp>
      <p:sp>
        <p:nvSpPr>
          <p:cNvPr id="15" name="Rectangle 14"/>
          <p:cNvSpPr/>
          <p:nvPr/>
        </p:nvSpPr>
        <p:spPr>
          <a:xfrm>
            <a:off x="5937200" y="3320000"/>
            <a:ext cx="6054495" cy="55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37200" y="3320000"/>
            <a:ext cx="73152" cy="55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67200" y="3450000"/>
            <a:ext cx="5894495" cy="39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CONDITION:  Hypertension</a:t>
            </a:r>
          </a:p>
        </p:txBody>
      </p:sp>
      <p:sp>
        <p:nvSpPr>
          <p:cNvPr id="18" name="TextBox 17"/>
          <p:cNvSpPr txBox="1"/>
          <p:nvPr/>
        </p:nvSpPr>
        <p:spPr>
          <a:xfrm>
            <a:off x="5937200" y="3950000"/>
            <a:ext cx="6054495" cy="34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Both thresholds crossed. System decision:</a:t>
            </a:r>
          </a:p>
        </p:txBody>
      </p:sp>
      <p:sp>
        <p:nvSpPr>
          <p:cNvPr id="19" name="Rectangle 18"/>
          <p:cNvSpPr/>
          <p:nvPr/>
        </p:nvSpPr>
        <p:spPr>
          <a:xfrm>
            <a:off x="5937200" y="4350000"/>
            <a:ext cx="6054495" cy="82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37200" y="4350000"/>
            <a:ext cx="109728" cy="82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07200" y="4510000"/>
            <a:ext cx="5854495" cy="500000"/>
          </a:xfrm>
          <a:prstGeom prst="rect">
            <a:avLst/>
          </a:prstGeom>
          <a:noFill/>
        </p:spPr>
        <p:txBody>
          <a:bodyPr wrap="square">
            <a:spAutoFit/>
          </a:bodyPr>
          <a:lstStyle/>
          <a:p>
            <a:pPr algn="l">
              <a:spcBef>
                <a:spcPts val="0"/>
              </a:spcBef>
              <a:spcAft>
                <a:spcPts val="0"/>
              </a:spcAft>
            </a:pPr>
            <a:r>
              <a:rPr sz="3600" b="1" i="0">
                <a:solidFill>
                  <a:srgbClr val="D93B3B"/>
                </a:solidFill>
                <a:latin typeface="Calibri"/>
              </a:rPr>
              <a:t>DECLINE</a:t>
            </a:r>
          </a:p>
        </p:txBody>
      </p:sp>
      <p:sp>
        <p:nvSpPr>
          <p:cNvPr id="22" name="TextBox 21"/>
          <p:cNvSpPr txBox="1"/>
          <p:nvPr/>
        </p:nvSpPr>
        <p:spPr>
          <a:xfrm>
            <a:off x="5937200" y="5330000"/>
            <a:ext cx="6054495" cy="50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Sophea leaves without coverage.</a:t>
            </a:r>
          </a:p>
          <a:p>
            <a:pPr algn="l">
              <a:spcBef>
                <a:spcPts val="800"/>
              </a:spcBef>
            </a:pPr>
            <a:r>
              <a:rPr sz="1500" b="1" i="0">
                <a:solidFill>
                  <a:srgbClr val="1B5697"/>
                </a:solidFill>
                <a:latin typeface="Calibri"/>
              </a:rPr>
              <a:t>Was that the right answer?</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ABOUT DECENT ACTUARIAL CONSULTANTS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3900000" cy="5157376"/>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51573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C.jpg"/>
          <p:cNvPicPr>
            <a:picLocks noChangeAspect="1"/>
          </p:cNvPicPr>
          <p:nvPr/>
        </p:nvPicPr>
        <p:blipFill>
          <a:blip r:embed="rId2"/>
          <a:stretch>
            <a:fillRect/>
          </a:stretch>
        </p:blipFill>
        <p:spPr>
          <a:xfrm>
            <a:off x="807200" y="1480000"/>
            <a:ext cx="3200000" cy="1800000"/>
          </a:xfrm>
          <a:prstGeom prst="rect">
            <a:avLst/>
          </a:prstGeom>
        </p:spPr>
      </p:pic>
      <p:sp>
        <p:nvSpPr>
          <p:cNvPr id="8" name="TextBox 7"/>
          <p:cNvSpPr txBox="1"/>
          <p:nvPr/>
        </p:nvSpPr>
        <p:spPr>
          <a:xfrm>
            <a:off x="637200" y="3530000"/>
            <a:ext cx="3540000" cy="2727376"/>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Decent Actuarial Consultants (DAC) is a Taipei-headquartered actuarial consultancy serving insurers across Taiwan, Vietnam, Cambodia, and the wider Southeast Asian region. This thesis was completed during a 3-month internship (Mar–Jun 2026) at DAC's Phnom Penh office, applying DAC's actuarial expertise to Cambodia's underserved health-insurance underwriting problem.</a:t>
            </a:r>
          </a:p>
        </p:txBody>
      </p:sp>
      <p:sp>
        <p:nvSpPr>
          <p:cNvPr id="9" name="Rectangle 8"/>
          <p:cNvSpPr/>
          <p:nvPr/>
        </p:nvSpPr>
        <p:spPr>
          <a:xfrm>
            <a:off x="4637200" y="120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37200" y="120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200" y="132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Appointed Actuary Services — Life &amp; General Insurance, Southeast Asia</a:t>
            </a:r>
          </a:p>
        </p:txBody>
      </p:sp>
      <p:sp>
        <p:nvSpPr>
          <p:cNvPr id="12" name="Rectangle 11"/>
          <p:cNvSpPr/>
          <p:nvPr/>
        </p:nvSpPr>
        <p:spPr>
          <a:xfrm>
            <a:off x="4637200" y="2074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7200" y="2074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87200" y="2194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IFRS 17 Implementation</a:t>
            </a:r>
          </a:p>
        </p:txBody>
      </p:sp>
      <p:sp>
        <p:nvSpPr>
          <p:cNvPr id="15" name="Rectangle 14"/>
          <p:cNvSpPr/>
          <p:nvPr/>
        </p:nvSpPr>
        <p:spPr>
          <a:xfrm>
            <a:off x="4637200" y="2948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37200" y="2948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7200" y="3068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Product Development — Life &amp; General Insurance</a:t>
            </a:r>
          </a:p>
        </p:txBody>
      </p:sp>
      <p:sp>
        <p:nvSpPr>
          <p:cNvPr id="18" name="Rectangle 17"/>
          <p:cNvSpPr/>
          <p:nvPr/>
        </p:nvSpPr>
        <p:spPr>
          <a:xfrm>
            <a:off x="4637200" y="3822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37200" y="3822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87200" y="3942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Asset–Liability Management &amp; Enterprise Risk Management (ALM/ERM)</a:t>
            </a:r>
          </a:p>
        </p:txBody>
      </p:sp>
      <p:sp>
        <p:nvSpPr>
          <p:cNvPr id="21" name="Rectangle 20"/>
          <p:cNvSpPr/>
          <p:nvPr/>
        </p:nvSpPr>
        <p:spPr>
          <a:xfrm>
            <a:off x="4637200" y="4696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7200" y="4696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87200" y="4816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Mergers &amp; Acquisitions Advisory</a:t>
            </a:r>
          </a:p>
        </p:txBody>
      </p:sp>
      <p:sp>
        <p:nvSpPr>
          <p:cNvPr id="24" name="Rectangle 23"/>
          <p:cNvSpPr/>
          <p:nvPr/>
        </p:nvSpPr>
        <p:spPr>
          <a:xfrm>
            <a:off x="4637200" y="5570000"/>
            <a:ext cx="7097295" cy="784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37200" y="5570000"/>
            <a:ext cx="91440" cy="784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200" y="5690000"/>
            <a:ext cx="6917295" cy="564000"/>
          </a:xfrm>
          <a:prstGeom prst="rect">
            <a:avLst/>
          </a:prstGeom>
          <a:noFill/>
        </p:spPr>
        <p:txBody>
          <a:bodyPr wrap="square">
            <a:spAutoFit/>
          </a:bodyPr>
          <a:lstStyle/>
          <a:p>
            <a:pPr algn="l">
              <a:spcBef>
                <a:spcPts val="0"/>
              </a:spcBef>
              <a:spcAft>
                <a:spcPts val="0"/>
              </a:spcAft>
            </a:pPr>
            <a:r>
              <a:rPr sz="1500" b="0" i="0">
                <a:solidFill>
                  <a:srgbClr val="505050"/>
                </a:solidFill>
                <a:latin typeface="Calibri"/>
              </a:rPr>
              <a:t>Education &amp; Cooperation — University partnerships, government-academia-industry</a:t>
            </a:r>
          </a:p>
        </p:txBody>
      </p:sp>
      <p:sp>
        <p:nvSpPr>
          <p:cNvPr id="27" name="Rectangle 2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9" name="Rectangle 2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1" name="Rectangle 3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CAMBODIA HEALTH INSURANCE MARKET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3800000" cy="1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200" y="1300000"/>
            <a:ext cx="3600000" cy="900000"/>
          </a:xfrm>
          <a:prstGeom prst="rect">
            <a:avLst/>
          </a:prstGeom>
          <a:noFill/>
        </p:spPr>
        <p:txBody>
          <a:bodyPr wrap="square">
            <a:spAutoFit/>
          </a:bodyPr>
          <a:lstStyle/>
          <a:p>
            <a:pPr algn="ctr">
              <a:spcBef>
                <a:spcPts val="0"/>
              </a:spcBef>
              <a:spcAft>
                <a:spcPts val="0"/>
              </a:spcAft>
            </a:pPr>
            <a:r>
              <a:rPr sz="5200" b="1" i="0">
                <a:solidFill>
                  <a:srgbClr val="FFFFFF"/>
                </a:solidFill>
                <a:latin typeface="Calibri"/>
              </a:rPr>
              <a:t>&lt; 2 %</a:t>
            </a:r>
          </a:p>
        </p:txBody>
      </p:sp>
      <p:sp>
        <p:nvSpPr>
          <p:cNvPr id="7" name="TextBox 6"/>
          <p:cNvSpPr txBox="1"/>
          <p:nvPr/>
        </p:nvSpPr>
        <p:spPr>
          <a:xfrm>
            <a:off x="557200" y="2200000"/>
            <a:ext cx="3600000" cy="400000"/>
          </a:xfrm>
          <a:prstGeom prst="rect">
            <a:avLst/>
          </a:prstGeom>
          <a:noFill/>
        </p:spPr>
        <p:txBody>
          <a:bodyPr wrap="square">
            <a:spAutoFit/>
          </a:bodyPr>
          <a:lstStyle/>
          <a:p>
            <a:pPr algn="ctr">
              <a:spcBef>
                <a:spcPts val="0"/>
              </a:spcBef>
              <a:spcAft>
                <a:spcPts val="0"/>
              </a:spcAft>
            </a:pPr>
            <a:r>
              <a:rPr sz="1200" b="0" i="0">
                <a:solidFill>
                  <a:srgbClr val="BDCEE4"/>
                </a:solidFill>
                <a:latin typeface="Calibri"/>
              </a:rPr>
              <a:t>HEALTH-INSURANCE PENETRATION (2023 EST.)</a:t>
            </a:r>
          </a:p>
        </p:txBody>
      </p:sp>
      <p:sp>
        <p:nvSpPr>
          <p:cNvPr id="8" name="Rectangle 7"/>
          <p:cNvSpPr/>
          <p:nvPr/>
        </p:nvSpPr>
        <p:spPr>
          <a:xfrm>
            <a:off x="457200" y="32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200" y="3240000"/>
            <a:ext cx="4800000"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NSSF covers formal-sector workers only (~16% of population)</a:t>
            </a:r>
          </a:p>
        </p:txBody>
      </p:sp>
      <p:sp>
        <p:nvSpPr>
          <p:cNvPr id="10" name="Rectangle 9"/>
          <p:cNvSpPr/>
          <p:nvPr/>
        </p:nvSpPr>
        <p:spPr>
          <a:xfrm>
            <a:off x="457200" y="378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200" y="3820000"/>
            <a:ext cx="4800000"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Private underwriting is manual and rule-based</a:t>
            </a:r>
          </a:p>
        </p:txBody>
      </p:sp>
      <p:sp>
        <p:nvSpPr>
          <p:cNvPr id="12" name="Rectangle 11"/>
          <p:cNvSpPr/>
          <p:nvPr/>
        </p:nvSpPr>
        <p:spPr>
          <a:xfrm>
            <a:off x="457200" y="436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200" y="4400000"/>
            <a:ext cx="4800000"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Agent networks consume 15–30% of premium revenue</a:t>
            </a:r>
          </a:p>
        </p:txBody>
      </p:sp>
      <p:sp>
        <p:nvSpPr>
          <p:cNvPr id="14" name="Rectangle 13"/>
          <p:cNvSpPr/>
          <p:nvPr/>
        </p:nvSpPr>
        <p:spPr>
          <a:xfrm>
            <a:off x="457200" y="494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7200" y="4980000"/>
            <a:ext cx="4800000"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No demographic-parity monitoring in practice</a:t>
            </a:r>
          </a:p>
        </p:txBody>
      </p:sp>
      <p:sp>
        <p:nvSpPr>
          <p:cNvPr id="16" name="Rectangle 15"/>
          <p:cNvSpPr/>
          <p:nvPr/>
        </p:nvSpPr>
        <p:spPr>
          <a:xfrm>
            <a:off x="6600000" y="1200000"/>
            <a:ext cx="5200000" cy="3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00000" y="1200000"/>
            <a:ext cx="91440" cy="38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0000" y="1300000"/>
            <a:ext cx="4900000" cy="400000"/>
          </a:xfrm>
          <a:prstGeom prst="rect">
            <a:avLst/>
          </a:prstGeom>
          <a:noFill/>
        </p:spPr>
        <p:txBody>
          <a:bodyPr wrap="square">
            <a:spAutoFit/>
          </a:bodyPr>
          <a:lstStyle/>
          <a:p>
            <a:pPr algn="l">
              <a:spcBef>
                <a:spcPts val="0"/>
              </a:spcBef>
              <a:spcAft>
                <a:spcPts val="0"/>
              </a:spcAft>
            </a:pPr>
            <a:r>
              <a:rPr sz="1300" b="1" i="0">
                <a:solidFill>
                  <a:srgbClr val="1F6FC4"/>
                </a:solidFill>
                <a:latin typeface="Calibri"/>
              </a:rPr>
              <a:t>ALIGNMENT WITH CAMBODIA'S SDGs</a:t>
            </a:r>
          </a:p>
        </p:txBody>
      </p:sp>
      <p:sp>
        <p:nvSpPr>
          <p:cNvPr id="19" name="Rectangle 18"/>
          <p:cNvSpPr/>
          <p:nvPr/>
        </p:nvSpPr>
        <p:spPr>
          <a:xfrm>
            <a:off x="6780000" y="18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0000" y="2000000"/>
            <a:ext cx="880000" cy="350000"/>
          </a:xfrm>
          <a:prstGeom prst="rect">
            <a:avLst/>
          </a:prstGeom>
          <a:noFill/>
        </p:spPr>
        <p:txBody>
          <a:bodyPr wrap="square">
            <a:spAutoFit/>
          </a:bodyPr>
          <a:lstStyle/>
          <a:p>
            <a:pPr algn="ctr">
              <a:spcBef>
                <a:spcPts val="0"/>
              </a:spcBef>
              <a:spcAft>
                <a:spcPts val="0"/>
              </a:spcAft>
            </a:pPr>
            <a:r>
              <a:rPr sz="1600" b="1" i="0">
                <a:solidFill>
                  <a:srgbClr val="FFFFFF"/>
                </a:solidFill>
                <a:latin typeface="Calibri"/>
              </a:rPr>
              <a:t>SDG 3</a:t>
            </a:r>
          </a:p>
        </p:txBody>
      </p:sp>
      <p:sp>
        <p:nvSpPr>
          <p:cNvPr id="21" name="TextBox 20"/>
          <p:cNvSpPr txBox="1"/>
          <p:nvPr/>
        </p:nvSpPr>
        <p:spPr>
          <a:xfrm>
            <a:off x="7780000" y="1800000"/>
            <a:ext cx="2900000" cy="36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Good Health &amp; Well-being</a:t>
            </a:r>
          </a:p>
        </p:txBody>
      </p:sp>
      <p:sp>
        <p:nvSpPr>
          <p:cNvPr id="22" name="TextBox 21"/>
          <p:cNvSpPr txBox="1"/>
          <p:nvPr/>
        </p:nvSpPr>
        <p:spPr>
          <a:xfrm>
            <a:off x="7780000" y="2180000"/>
            <a:ext cx="2900000" cy="3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Widen voluntary health-insurance access beyond NSSF formal sector</a:t>
            </a:r>
          </a:p>
        </p:txBody>
      </p:sp>
      <p:sp>
        <p:nvSpPr>
          <p:cNvPr id="23" name="Rectangle 22"/>
          <p:cNvSpPr/>
          <p:nvPr/>
        </p:nvSpPr>
        <p:spPr>
          <a:xfrm>
            <a:off x="6780000" y="29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0000" y="3100000"/>
            <a:ext cx="880000" cy="350000"/>
          </a:xfrm>
          <a:prstGeom prst="rect">
            <a:avLst/>
          </a:prstGeom>
          <a:noFill/>
        </p:spPr>
        <p:txBody>
          <a:bodyPr wrap="square">
            <a:spAutoFit/>
          </a:bodyPr>
          <a:lstStyle/>
          <a:p>
            <a:pPr algn="ctr">
              <a:spcBef>
                <a:spcPts val="0"/>
              </a:spcBef>
              <a:spcAft>
                <a:spcPts val="0"/>
              </a:spcAft>
            </a:pPr>
            <a:r>
              <a:rPr sz="1600" b="1" i="0">
                <a:solidFill>
                  <a:srgbClr val="FFFFFF"/>
                </a:solidFill>
                <a:latin typeface="Calibri"/>
              </a:rPr>
              <a:t>SDG 1</a:t>
            </a:r>
          </a:p>
        </p:txBody>
      </p:sp>
      <p:sp>
        <p:nvSpPr>
          <p:cNvPr id="25" name="TextBox 24"/>
          <p:cNvSpPr txBox="1"/>
          <p:nvPr/>
        </p:nvSpPr>
        <p:spPr>
          <a:xfrm>
            <a:off x="7780000" y="2900000"/>
            <a:ext cx="2900000" cy="36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No Poverty</a:t>
            </a:r>
          </a:p>
        </p:txBody>
      </p:sp>
      <p:sp>
        <p:nvSpPr>
          <p:cNvPr id="26" name="TextBox 25"/>
          <p:cNvSpPr txBox="1"/>
          <p:nvPr/>
        </p:nvSpPr>
        <p:spPr>
          <a:xfrm>
            <a:off x="7780000" y="3280000"/>
            <a:ext cx="2900000" cy="3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Shield households from catastrophic out-of-pocket health costs</a:t>
            </a:r>
          </a:p>
        </p:txBody>
      </p:sp>
      <p:sp>
        <p:nvSpPr>
          <p:cNvPr id="27" name="Rectangle 26"/>
          <p:cNvSpPr/>
          <p:nvPr/>
        </p:nvSpPr>
        <p:spPr>
          <a:xfrm>
            <a:off x="6780000" y="4000000"/>
            <a:ext cx="9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0000" y="4200000"/>
            <a:ext cx="880000" cy="350000"/>
          </a:xfrm>
          <a:prstGeom prst="rect">
            <a:avLst/>
          </a:prstGeom>
          <a:noFill/>
        </p:spPr>
        <p:txBody>
          <a:bodyPr wrap="square">
            <a:spAutoFit/>
          </a:bodyPr>
          <a:lstStyle/>
          <a:p>
            <a:pPr algn="ctr">
              <a:spcBef>
                <a:spcPts val="0"/>
              </a:spcBef>
              <a:spcAft>
                <a:spcPts val="0"/>
              </a:spcAft>
            </a:pPr>
            <a:r>
              <a:rPr sz="1600" b="1" i="0">
                <a:solidFill>
                  <a:srgbClr val="FFFFFF"/>
                </a:solidFill>
                <a:latin typeface="Calibri"/>
              </a:rPr>
              <a:t>SDG 10</a:t>
            </a:r>
          </a:p>
        </p:txBody>
      </p:sp>
      <p:sp>
        <p:nvSpPr>
          <p:cNvPr id="29" name="TextBox 28"/>
          <p:cNvSpPr txBox="1"/>
          <p:nvPr/>
        </p:nvSpPr>
        <p:spPr>
          <a:xfrm>
            <a:off x="7780000" y="4000000"/>
            <a:ext cx="2900000" cy="36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Reduced Inequalities</a:t>
            </a:r>
          </a:p>
        </p:txBody>
      </p:sp>
      <p:sp>
        <p:nvSpPr>
          <p:cNvPr id="30" name="TextBox 29"/>
          <p:cNvSpPr txBox="1"/>
          <p:nvPr/>
        </p:nvSpPr>
        <p:spPr>
          <a:xfrm>
            <a:off x="7780000" y="4380000"/>
            <a:ext cx="2900000" cy="3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PSI fairness guardrail keeps underwriting demographically fair</a:t>
            </a:r>
          </a:p>
        </p:txBody>
      </p:sp>
      <p:sp>
        <p:nvSpPr>
          <p:cNvPr id="31" name="TextBox 30"/>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400" b="1" i="0">
                <a:solidFill>
                  <a:srgbClr val="1B5697"/>
                </a:solidFill>
                <a:latin typeface="Calibri"/>
              </a:rPr>
              <a:t>Sophea represents the 98% the current system was not built for.</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3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PROBLEM STATEMENT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20000"/>
            <a:ext cx="5358647"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Static Thresholds</a:t>
            </a:r>
          </a:p>
        </p:txBody>
      </p:sp>
      <p:sp>
        <p:nvSpPr>
          <p:cNvPr id="8" name="TextBox 7"/>
          <p:cNvSpPr txBox="1"/>
          <p:nvPr/>
        </p:nvSpPr>
        <p:spPr>
          <a:xfrm>
            <a:off x="607200" y="1740000"/>
            <a:ext cx="5358647" cy="1460000"/>
          </a:xfrm>
          <a:prstGeom prst="rect">
            <a:avLst/>
          </a:prstGeom>
          <a:noFill/>
        </p:spPr>
        <p:txBody>
          <a:bodyPr wrap="square">
            <a:spAutoFit/>
          </a:bodyPr>
          <a:lstStyle/>
          <a:p>
            <a:pPr algn="l">
              <a:spcBef>
                <a:spcPts val="0"/>
              </a:spcBef>
              <a:spcAft>
                <a:spcPts val="0"/>
              </a:spcAft>
            </a:pPr>
            <a:r>
              <a:rPr sz="1400" b="0" i="0">
                <a:solidFill>
                  <a:srgbClr val="505050"/>
                </a:solidFill>
                <a:latin typeface="Calibri"/>
              </a:rPr>
              <a:t>Fixed cutoffs ignore applicant context — Sophea's BMI, activity, and non-smoking status are invisible to the rule engine</a:t>
            </a:r>
          </a:p>
        </p:txBody>
      </p:sp>
      <p:sp>
        <p:nvSpPr>
          <p:cNvPr id="9" name="Rectangle 8"/>
          <p:cNvSpPr/>
          <p:nvPr/>
        </p:nvSpPr>
        <p:spPr>
          <a:xfrm>
            <a:off x="6195847" y="120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5847"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847" y="1320000"/>
            <a:ext cx="5358647"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No Online Adaptation</a:t>
            </a:r>
          </a:p>
        </p:txBody>
      </p:sp>
      <p:sp>
        <p:nvSpPr>
          <p:cNvPr id="12" name="TextBox 11"/>
          <p:cNvSpPr txBox="1"/>
          <p:nvPr/>
        </p:nvSpPr>
        <p:spPr>
          <a:xfrm>
            <a:off x="6345847" y="1740000"/>
            <a:ext cx="5358647" cy="1460000"/>
          </a:xfrm>
          <a:prstGeom prst="rect">
            <a:avLst/>
          </a:prstGeom>
          <a:noFill/>
        </p:spPr>
        <p:txBody>
          <a:bodyPr wrap="square">
            <a:spAutoFit/>
          </a:bodyPr>
          <a:lstStyle/>
          <a:p>
            <a:pPr algn="l">
              <a:spcBef>
                <a:spcPts val="0"/>
              </a:spcBef>
              <a:spcAft>
                <a:spcPts val="0"/>
              </a:spcAft>
            </a:pPr>
            <a:r>
              <a:rPr sz="1400" b="0" i="0">
                <a:solidFill>
                  <a:srgbClr val="505050"/>
                </a:solidFill>
                <a:latin typeface="Calibri"/>
              </a:rPr>
              <a:t>Claims feedback never reaches the model — static weights do not update from observed outcomes</a:t>
            </a:r>
          </a:p>
        </p:txBody>
      </p:sp>
      <p:sp>
        <p:nvSpPr>
          <p:cNvPr id="13" name="Rectangle 12"/>
          <p:cNvSpPr/>
          <p:nvPr/>
        </p:nvSpPr>
        <p:spPr>
          <a:xfrm>
            <a:off x="457200" y="345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5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70000"/>
            <a:ext cx="5358647"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Demographic Blindspot</a:t>
            </a:r>
          </a:p>
        </p:txBody>
      </p:sp>
      <p:sp>
        <p:nvSpPr>
          <p:cNvPr id="16" name="TextBox 15"/>
          <p:cNvSpPr txBox="1"/>
          <p:nvPr/>
        </p:nvSpPr>
        <p:spPr>
          <a:xfrm>
            <a:off x="607200" y="3990000"/>
            <a:ext cx="5358647" cy="1460000"/>
          </a:xfrm>
          <a:prstGeom prst="rect">
            <a:avLst/>
          </a:prstGeom>
          <a:noFill/>
        </p:spPr>
        <p:txBody>
          <a:bodyPr wrap="square">
            <a:spAutoFit/>
          </a:bodyPr>
          <a:lstStyle/>
          <a:p>
            <a:pPr algn="l">
              <a:spcBef>
                <a:spcPts val="0"/>
              </a:spcBef>
              <a:spcAft>
                <a:spcPts val="0"/>
              </a:spcAft>
            </a:pPr>
            <a:r>
              <a:rPr sz="1400" b="0" i="0">
                <a:solidFill>
                  <a:srgbClr val="505050"/>
                </a:solidFill>
                <a:latin typeface="Calibri"/>
              </a:rPr>
              <a:t>No parity metric is tracked — systematic patterns against rural or occupational groups emerge invisibly</a:t>
            </a:r>
          </a:p>
        </p:txBody>
      </p:sp>
      <p:sp>
        <p:nvSpPr>
          <p:cNvPr id="17" name="Rectangle 16"/>
          <p:cNvSpPr/>
          <p:nvPr/>
        </p:nvSpPr>
        <p:spPr>
          <a:xfrm>
            <a:off x="6195847" y="3450000"/>
            <a:ext cx="553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5847" y="345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847" y="3570000"/>
            <a:ext cx="5358647" cy="380000"/>
          </a:xfrm>
          <a:prstGeom prst="rect">
            <a:avLst/>
          </a:prstGeom>
          <a:noFill/>
        </p:spPr>
        <p:txBody>
          <a:bodyPr wrap="square">
            <a:spAutoFit/>
          </a:bodyPr>
          <a:lstStyle/>
          <a:p>
            <a:pPr algn="l">
              <a:spcBef>
                <a:spcPts val="0"/>
              </a:spcBef>
              <a:spcAft>
                <a:spcPts val="0"/>
              </a:spcAft>
            </a:pPr>
            <a:r>
              <a:rPr sz="1600" b="1" i="0">
                <a:solidFill>
                  <a:srgbClr val="1B5697"/>
                </a:solidFill>
                <a:latin typeface="Segoe UI"/>
              </a:rPr>
              <a:t>No Intelligent Triage</a:t>
            </a:r>
          </a:p>
        </p:txBody>
      </p:sp>
      <p:sp>
        <p:nvSpPr>
          <p:cNvPr id="20" name="TextBox 19"/>
          <p:cNvSpPr txBox="1"/>
          <p:nvPr/>
        </p:nvSpPr>
        <p:spPr>
          <a:xfrm>
            <a:off x="6345847" y="3990000"/>
            <a:ext cx="5358647" cy="1460000"/>
          </a:xfrm>
          <a:prstGeom prst="rect">
            <a:avLst/>
          </a:prstGeom>
          <a:noFill/>
        </p:spPr>
        <p:txBody>
          <a:bodyPr wrap="square">
            <a:spAutoFit/>
          </a:bodyPr>
          <a:lstStyle/>
          <a:p>
            <a:pPr algn="l">
              <a:spcBef>
                <a:spcPts val="0"/>
              </a:spcBef>
              <a:spcAft>
                <a:spcPts val="0"/>
              </a:spcAft>
            </a:pPr>
            <a:r>
              <a:rPr sz="1400" b="0" i="0">
                <a:solidFill>
                  <a:srgbClr val="505050"/>
                </a:solidFill>
                <a:latin typeface="Calibri"/>
              </a:rPr>
              <a:t>Human experts review routine cases instead of the borderline ones — like Sophea's — that need expert judgment</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4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RESEARCH QUESTIONS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97200" y="1550000"/>
            <a:ext cx="420000" cy="9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RQ1</a:t>
            </a:r>
          </a:p>
        </p:txBody>
      </p:sp>
      <p:sp>
        <p:nvSpPr>
          <p:cNvPr id="7" name="TextBox 6"/>
          <p:cNvSpPr txBox="1"/>
          <p:nvPr/>
        </p:nvSpPr>
        <p:spPr>
          <a:xfrm>
            <a:off x="1097200" y="1550000"/>
            <a:ext cx="10537295" cy="900000"/>
          </a:xfrm>
          <a:prstGeom prst="rect">
            <a:avLst/>
          </a:prstGeom>
          <a:noFill/>
        </p:spPr>
        <p:txBody>
          <a:bodyPr wrap="square" anchor="ctr">
            <a:spAutoFit/>
          </a:bodyPr>
          <a:lstStyle/>
          <a:p>
            <a:pPr algn="l">
              <a:spcBef>
                <a:spcPts val="0"/>
              </a:spcBef>
              <a:spcAft>
                <a:spcPts val="0"/>
              </a:spcAft>
            </a:pPr>
            <a:r>
              <a:rPr sz="1600" b="0" i="0">
                <a:solidFill>
                  <a:srgbClr val="262626"/>
                </a:solidFill>
                <a:latin typeface="Calibri"/>
              </a:rPr>
              <a:t>Do contextual bandits achieve higher cumulative reward and lower regret than the Static XGBoost baseline over 5,000 rounds?</a:t>
            </a:r>
          </a:p>
        </p:txBody>
      </p:sp>
      <p:sp>
        <p:nvSpPr>
          <p:cNvPr id="8" name="Rectangle 7"/>
          <p:cNvSpPr/>
          <p:nvPr/>
        </p:nvSpPr>
        <p:spPr>
          <a:xfrm>
            <a:off x="457200" y="270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7200" y="2700000"/>
            <a:ext cx="420000" cy="9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RQ2</a:t>
            </a:r>
          </a:p>
        </p:txBody>
      </p:sp>
      <p:sp>
        <p:nvSpPr>
          <p:cNvPr id="10" name="TextBox 9"/>
          <p:cNvSpPr txBox="1"/>
          <p:nvPr/>
        </p:nvSpPr>
        <p:spPr>
          <a:xfrm>
            <a:off x="1097200" y="2700000"/>
            <a:ext cx="10537295" cy="900000"/>
          </a:xfrm>
          <a:prstGeom prst="rect">
            <a:avLst/>
          </a:prstGeom>
          <a:noFill/>
        </p:spPr>
        <p:txBody>
          <a:bodyPr wrap="square" anchor="ctr">
            <a:spAutoFit/>
          </a:bodyPr>
          <a:lstStyle/>
          <a:p>
            <a:pPr algn="l">
              <a:spcBef>
                <a:spcPts val="0"/>
              </a:spcBef>
              <a:spcAft>
                <a:spcPts val="0"/>
              </a:spcAft>
            </a:pPr>
            <a:r>
              <a:rPr sz="1600" b="0" i="0">
                <a:solidFill>
                  <a:srgbClr val="262626"/>
                </a:solidFill>
                <a:latin typeface="Calibri"/>
              </a:rPr>
              <a:t>Does the bandit framework maintain demographic fairness (regional and occupational approval-rate parity, PSI) without explicit fairness constraints?</a:t>
            </a:r>
          </a:p>
        </p:txBody>
      </p:sp>
      <p:sp>
        <p:nvSpPr>
          <p:cNvPr id="11" name="Rectangle 10"/>
          <p:cNvSpPr/>
          <p:nvPr/>
        </p:nvSpPr>
        <p:spPr>
          <a:xfrm>
            <a:off x="457200" y="385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7200" y="3850000"/>
            <a:ext cx="420000" cy="9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RQ3</a:t>
            </a:r>
          </a:p>
        </p:txBody>
      </p:sp>
      <p:sp>
        <p:nvSpPr>
          <p:cNvPr id="13" name="TextBox 12"/>
          <p:cNvSpPr txBox="1"/>
          <p:nvPr/>
        </p:nvSpPr>
        <p:spPr>
          <a:xfrm>
            <a:off x="1097200" y="3850000"/>
            <a:ext cx="10537295" cy="900000"/>
          </a:xfrm>
          <a:prstGeom prst="rect">
            <a:avLst/>
          </a:prstGeom>
          <a:noFill/>
        </p:spPr>
        <p:txBody>
          <a:bodyPr wrap="square" anchor="ctr">
            <a:spAutoFit/>
          </a:bodyPr>
          <a:lstStyle/>
          <a:p>
            <a:pPr algn="l">
              <a:spcBef>
                <a:spcPts val="0"/>
              </a:spcBef>
              <a:spcAft>
                <a:spcPts val="0"/>
              </a:spcAft>
            </a:pPr>
            <a:r>
              <a:rPr sz="1600" b="0" i="0">
                <a:solidFill>
                  <a:srgbClr val="262626"/>
                </a:solidFill>
                <a:latin typeface="Calibri"/>
              </a:rPr>
              <a:t>What is the relative performance ranking of LinTS, LinUCB, Epsilon-Greedy, and Static XGB?</a:t>
            </a:r>
          </a:p>
        </p:txBody>
      </p:sp>
      <p:sp>
        <p:nvSpPr>
          <p:cNvPr id="14" name="Rectangle 13"/>
          <p:cNvSpPr/>
          <p:nvPr/>
        </p:nvSpPr>
        <p:spPr>
          <a:xfrm>
            <a:off x="457200" y="5000000"/>
            <a:ext cx="500000" cy="9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7200" y="5000000"/>
            <a:ext cx="420000" cy="9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RQ4</a:t>
            </a:r>
          </a:p>
        </p:txBody>
      </p:sp>
      <p:sp>
        <p:nvSpPr>
          <p:cNvPr id="16" name="TextBox 15"/>
          <p:cNvSpPr txBox="1"/>
          <p:nvPr/>
        </p:nvSpPr>
        <p:spPr>
          <a:xfrm>
            <a:off x="1097200" y="5000000"/>
            <a:ext cx="10537295" cy="900000"/>
          </a:xfrm>
          <a:prstGeom prst="rect">
            <a:avLst/>
          </a:prstGeom>
          <a:noFill/>
        </p:spPr>
        <p:txBody>
          <a:bodyPr wrap="square" anchor="ctr">
            <a:spAutoFit/>
          </a:bodyPr>
          <a:lstStyle/>
          <a:p>
            <a:pPr algn="l">
              <a:spcBef>
                <a:spcPts val="0"/>
              </a:spcBef>
              <a:spcAft>
                <a:spcPts val="0"/>
              </a:spcAft>
            </a:pPr>
            <a:r>
              <a:rPr sz="1600" b="0" i="0">
                <a:solidFill>
                  <a:srgbClr val="262626"/>
                </a:solidFill>
                <a:latin typeface="Calibri"/>
              </a:rPr>
              <a:t>Is the framework technically feasible for deployment on low-resource mobile infrastructure (&lt;200 ms latency)?</a:t>
            </a:r>
          </a:p>
        </p:txBody>
      </p:sp>
      <p:sp>
        <p:nvSpPr>
          <p:cNvPr id="17" name="Rectangle 1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9" name="Rectangle 1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21" name="Rectangle 2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5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PROJECT OBJECTIVES &amp; DELIVERABLES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5488647" cy="350000"/>
          </a:xfrm>
          <a:prstGeom prst="rect">
            <a:avLst/>
          </a:prstGeom>
          <a:noFill/>
        </p:spPr>
        <p:txBody>
          <a:bodyPr wrap="square">
            <a:spAutoFit/>
          </a:bodyPr>
          <a:lstStyle/>
          <a:p>
            <a:pPr algn="l">
              <a:spcBef>
                <a:spcPts val="0"/>
              </a:spcBef>
              <a:spcAft>
                <a:spcPts val="0"/>
              </a:spcAft>
            </a:pPr>
            <a:r>
              <a:rPr sz="1400" b="1" i="0">
                <a:solidFill>
                  <a:srgbClr val="1F6FC4"/>
                </a:solidFill>
                <a:latin typeface="Calibri"/>
              </a:rPr>
              <a:t>4 DELIVERABLES</a:t>
            </a:r>
          </a:p>
        </p:txBody>
      </p:sp>
      <p:sp>
        <p:nvSpPr>
          <p:cNvPr id="6" name="Rectangle 5"/>
          <p:cNvSpPr/>
          <p:nvPr/>
        </p:nvSpPr>
        <p:spPr>
          <a:xfrm>
            <a:off x="457200" y="1600000"/>
            <a:ext cx="43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200" y="1600000"/>
            <a:ext cx="390000" cy="8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D1</a:t>
            </a:r>
          </a:p>
        </p:txBody>
      </p:sp>
      <p:sp>
        <p:nvSpPr>
          <p:cNvPr id="8" name="TextBox 7"/>
          <p:cNvSpPr txBox="1"/>
          <p:nvPr/>
        </p:nvSpPr>
        <p:spPr>
          <a:xfrm>
            <a:off x="967200" y="1600000"/>
            <a:ext cx="4908647" cy="800000"/>
          </a:xfrm>
          <a:prstGeom prst="rect">
            <a:avLst/>
          </a:prstGeom>
          <a:noFill/>
        </p:spPr>
        <p:txBody>
          <a:bodyPr wrap="square" anchor="ctr">
            <a:spAutoFit/>
          </a:bodyPr>
          <a:lstStyle/>
          <a:p>
            <a:pPr algn="l">
              <a:spcBef>
                <a:spcPts val="0"/>
              </a:spcBef>
              <a:spcAft>
                <a:spcPts val="0"/>
              </a:spcAft>
            </a:pPr>
            <a:r>
              <a:rPr sz="1400" b="1" i="0">
                <a:solidFill>
                  <a:srgbClr val="1B5697"/>
                </a:solidFill>
                <a:latin typeface="Calibri"/>
              </a:rPr>
              <a:t>Synthetic Cambodia Health Insurance Dataset</a:t>
            </a:r>
          </a:p>
          <a:p>
            <a:pPr algn="l">
              <a:spcBef>
                <a:spcPts val="400"/>
              </a:spcBef>
            </a:pPr>
            <a:r>
              <a:rPr sz="1300" b="0" i="0">
                <a:solidFill>
                  <a:srgbClr val="505050"/>
                </a:solidFill>
                <a:latin typeface="Calibri"/>
              </a:rPr>
              <a:t>2,000 applicants · CDHS/STEPS/ILO/WHO anchored</a:t>
            </a:r>
          </a:p>
        </p:txBody>
      </p:sp>
      <p:sp>
        <p:nvSpPr>
          <p:cNvPr id="9" name="Rectangle 8"/>
          <p:cNvSpPr/>
          <p:nvPr/>
        </p:nvSpPr>
        <p:spPr>
          <a:xfrm>
            <a:off x="457200" y="2816666"/>
            <a:ext cx="43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200" y="2816666"/>
            <a:ext cx="390000" cy="8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D2</a:t>
            </a:r>
          </a:p>
        </p:txBody>
      </p:sp>
      <p:sp>
        <p:nvSpPr>
          <p:cNvPr id="11" name="TextBox 10"/>
          <p:cNvSpPr txBox="1"/>
          <p:nvPr/>
        </p:nvSpPr>
        <p:spPr>
          <a:xfrm>
            <a:off x="967200" y="2816666"/>
            <a:ext cx="4908647" cy="800000"/>
          </a:xfrm>
          <a:prstGeom prst="rect">
            <a:avLst/>
          </a:prstGeom>
          <a:noFill/>
        </p:spPr>
        <p:txBody>
          <a:bodyPr wrap="square" anchor="ctr">
            <a:spAutoFit/>
          </a:bodyPr>
          <a:lstStyle/>
          <a:p>
            <a:pPr algn="l">
              <a:spcBef>
                <a:spcPts val="0"/>
              </a:spcBef>
              <a:spcAft>
                <a:spcPts val="0"/>
              </a:spcAft>
            </a:pPr>
            <a:r>
              <a:rPr sz="1400" b="1" i="0">
                <a:solidFill>
                  <a:srgbClr val="1B5697"/>
                </a:solidFill>
                <a:latin typeface="Calibri"/>
              </a:rPr>
              <a:t>Contextual Bandit Underwriting Engine</a:t>
            </a:r>
          </a:p>
          <a:p>
            <a:pPr algn="l">
              <a:spcBef>
                <a:spcPts val="400"/>
              </a:spcBef>
            </a:pPr>
            <a:r>
              <a:rPr sz="1300" b="0" i="0">
                <a:solidFill>
                  <a:srgbClr val="505050"/>
                </a:solidFill>
                <a:latin typeface="Calibri"/>
              </a:rPr>
              <a:t>LinUCB · LinTS · Epsilon-Greedy · &lt;200 ms latency</a:t>
            </a:r>
          </a:p>
        </p:txBody>
      </p:sp>
      <p:sp>
        <p:nvSpPr>
          <p:cNvPr id="12" name="Rectangle 11"/>
          <p:cNvSpPr/>
          <p:nvPr/>
        </p:nvSpPr>
        <p:spPr>
          <a:xfrm>
            <a:off x="457200" y="4033332"/>
            <a:ext cx="43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200" y="4033332"/>
            <a:ext cx="390000" cy="8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D3</a:t>
            </a:r>
          </a:p>
        </p:txBody>
      </p:sp>
      <p:sp>
        <p:nvSpPr>
          <p:cNvPr id="14" name="TextBox 13"/>
          <p:cNvSpPr txBox="1"/>
          <p:nvPr/>
        </p:nvSpPr>
        <p:spPr>
          <a:xfrm>
            <a:off x="967200" y="4033332"/>
            <a:ext cx="4908647" cy="800000"/>
          </a:xfrm>
          <a:prstGeom prst="rect">
            <a:avLst/>
          </a:prstGeom>
          <a:noFill/>
        </p:spPr>
        <p:txBody>
          <a:bodyPr wrap="square" anchor="ctr">
            <a:spAutoFit/>
          </a:bodyPr>
          <a:lstStyle/>
          <a:p>
            <a:pPr algn="l">
              <a:spcBef>
                <a:spcPts val="0"/>
              </a:spcBef>
              <a:spcAft>
                <a:spcPts val="0"/>
              </a:spcAft>
            </a:pPr>
            <a:r>
              <a:rPr sz="1400" b="1" i="0">
                <a:solidFill>
                  <a:srgbClr val="1B5697"/>
                </a:solidFill>
                <a:latin typeface="Calibri"/>
              </a:rPr>
              <a:t>Actuarial Reward Simulator</a:t>
            </a:r>
          </a:p>
          <a:p>
            <a:pPr algn="l">
              <a:spcBef>
                <a:spcPts val="400"/>
              </a:spcBef>
            </a:pPr>
            <a:r>
              <a:rPr sz="1300" b="0" i="0">
                <a:solidFill>
                  <a:srgbClr val="505050"/>
                </a:solidFill>
                <a:latin typeface="Calibri"/>
              </a:rPr>
              <a:t>Profit-based · adverse selection · elasticity model</a:t>
            </a:r>
          </a:p>
        </p:txBody>
      </p:sp>
      <p:sp>
        <p:nvSpPr>
          <p:cNvPr id="15" name="Rectangle 14"/>
          <p:cNvSpPr/>
          <p:nvPr/>
        </p:nvSpPr>
        <p:spPr>
          <a:xfrm>
            <a:off x="457200" y="5249998"/>
            <a:ext cx="430000" cy="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7200" y="5249998"/>
            <a:ext cx="390000" cy="80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D4</a:t>
            </a:r>
          </a:p>
        </p:txBody>
      </p:sp>
      <p:sp>
        <p:nvSpPr>
          <p:cNvPr id="17" name="TextBox 16"/>
          <p:cNvSpPr txBox="1"/>
          <p:nvPr/>
        </p:nvSpPr>
        <p:spPr>
          <a:xfrm>
            <a:off x="967200" y="5249998"/>
            <a:ext cx="4908647" cy="800000"/>
          </a:xfrm>
          <a:prstGeom prst="rect">
            <a:avLst/>
          </a:prstGeom>
          <a:noFill/>
        </p:spPr>
        <p:txBody>
          <a:bodyPr wrap="square" anchor="ctr">
            <a:spAutoFit/>
          </a:bodyPr>
          <a:lstStyle/>
          <a:p>
            <a:pPr algn="l">
              <a:spcBef>
                <a:spcPts val="0"/>
              </a:spcBef>
              <a:spcAft>
                <a:spcPts val="0"/>
              </a:spcAft>
            </a:pPr>
            <a:r>
              <a:rPr sz="1400" b="1" i="0">
                <a:solidFill>
                  <a:srgbClr val="1B5697"/>
                </a:solidFill>
                <a:latin typeface="Calibri"/>
              </a:rPr>
              <a:t>PSI Fairness Monitoring Framework</a:t>
            </a:r>
          </a:p>
          <a:p>
            <a:pPr algn="l">
              <a:spcBef>
                <a:spcPts val="400"/>
              </a:spcBef>
            </a:pPr>
            <a:r>
              <a:rPr sz="1300" b="0" i="0">
                <a:solidFill>
                  <a:srgbClr val="505050"/>
                </a:solidFill>
                <a:latin typeface="Calibri"/>
              </a:rPr>
              <a:t>GREEN/AMBER/RED alerts · region + occupation</a:t>
            </a:r>
          </a:p>
        </p:txBody>
      </p:sp>
      <p:sp>
        <p:nvSpPr>
          <p:cNvPr id="18" name="TextBox 17"/>
          <p:cNvSpPr txBox="1"/>
          <p:nvPr/>
        </p:nvSpPr>
        <p:spPr>
          <a:xfrm>
            <a:off x="6245847" y="1150000"/>
            <a:ext cx="5488647" cy="350000"/>
          </a:xfrm>
          <a:prstGeom prst="rect">
            <a:avLst/>
          </a:prstGeom>
          <a:noFill/>
        </p:spPr>
        <p:txBody>
          <a:bodyPr wrap="square">
            <a:spAutoFit/>
          </a:bodyPr>
          <a:lstStyle/>
          <a:p>
            <a:pPr algn="l">
              <a:spcBef>
                <a:spcPts val="0"/>
              </a:spcBef>
              <a:spcAft>
                <a:spcPts val="0"/>
              </a:spcAft>
            </a:pPr>
            <a:r>
              <a:rPr sz="1400" b="1" i="0">
                <a:solidFill>
                  <a:srgbClr val="1F6FC4"/>
                </a:solidFill>
                <a:latin typeface="Calibri"/>
              </a:rPr>
              <a:t>5 SECONDARY OBJECTIVES</a:t>
            </a:r>
          </a:p>
        </p:txBody>
      </p:sp>
      <p:sp>
        <p:nvSpPr>
          <p:cNvPr id="19" name="Rectangle 18"/>
          <p:cNvSpPr/>
          <p:nvPr/>
        </p:nvSpPr>
        <p:spPr>
          <a:xfrm>
            <a:off x="6245847" y="1600000"/>
            <a:ext cx="43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5847" y="1600000"/>
            <a:ext cx="390000" cy="75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O1</a:t>
            </a:r>
          </a:p>
        </p:txBody>
      </p:sp>
      <p:sp>
        <p:nvSpPr>
          <p:cNvPr id="21" name="TextBox 20"/>
          <p:cNvSpPr txBox="1"/>
          <p:nvPr/>
        </p:nvSpPr>
        <p:spPr>
          <a:xfrm>
            <a:off x="6755847" y="1600000"/>
            <a:ext cx="4938647" cy="75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2,000-record CDHS-anchored synthetic dataset</a:t>
            </a:r>
          </a:p>
        </p:txBody>
      </p:sp>
      <p:sp>
        <p:nvSpPr>
          <p:cNvPr id="22" name="Rectangle 21"/>
          <p:cNvSpPr/>
          <p:nvPr/>
        </p:nvSpPr>
        <p:spPr>
          <a:xfrm>
            <a:off x="6245847" y="2525000"/>
            <a:ext cx="43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5847" y="2525000"/>
            <a:ext cx="390000" cy="75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O2</a:t>
            </a:r>
          </a:p>
        </p:txBody>
      </p:sp>
      <p:sp>
        <p:nvSpPr>
          <p:cNvPr id="24" name="TextBox 23"/>
          <p:cNvSpPr txBox="1"/>
          <p:nvPr/>
        </p:nvSpPr>
        <p:spPr>
          <a:xfrm>
            <a:off x="6755847" y="2525000"/>
            <a:ext cx="4938647" cy="75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Benchmark LinUCB, LinTS, EpsGreedy vs Static XGB (5,000 rounds)</a:t>
            </a:r>
          </a:p>
        </p:txBody>
      </p:sp>
      <p:sp>
        <p:nvSpPr>
          <p:cNvPr id="25" name="Rectangle 24"/>
          <p:cNvSpPr/>
          <p:nvPr/>
        </p:nvSpPr>
        <p:spPr>
          <a:xfrm>
            <a:off x="6245847" y="3450000"/>
            <a:ext cx="43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5847" y="3450000"/>
            <a:ext cx="390000" cy="75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O3</a:t>
            </a:r>
          </a:p>
        </p:txBody>
      </p:sp>
      <p:sp>
        <p:nvSpPr>
          <p:cNvPr id="27" name="TextBox 26"/>
          <p:cNvSpPr txBox="1"/>
          <p:nvPr/>
        </p:nvSpPr>
        <p:spPr>
          <a:xfrm>
            <a:off x="6755847" y="3450000"/>
            <a:ext cx="4938647" cy="75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PSI fairness guardrails — no demographic drift</a:t>
            </a:r>
          </a:p>
        </p:txBody>
      </p:sp>
      <p:sp>
        <p:nvSpPr>
          <p:cNvPr id="28" name="Rectangle 27"/>
          <p:cNvSpPr/>
          <p:nvPr/>
        </p:nvSpPr>
        <p:spPr>
          <a:xfrm>
            <a:off x="6245847" y="4375000"/>
            <a:ext cx="43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5847" y="4375000"/>
            <a:ext cx="390000" cy="75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O4</a:t>
            </a:r>
          </a:p>
        </p:txBody>
      </p:sp>
      <p:sp>
        <p:nvSpPr>
          <p:cNvPr id="30" name="TextBox 29"/>
          <p:cNvSpPr txBox="1"/>
          <p:nvPr/>
        </p:nvSpPr>
        <p:spPr>
          <a:xfrm>
            <a:off x="6755847" y="4375000"/>
            <a:ext cx="4938647" cy="75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EEOC four-fifths approval-rate parity audit</a:t>
            </a:r>
          </a:p>
        </p:txBody>
      </p:sp>
      <p:sp>
        <p:nvSpPr>
          <p:cNvPr id="31" name="Rectangle 30"/>
          <p:cNvSpPr/>
          <p:nvPr/>
        </p:nvSpPr>
        <p:spPr>
          <a:xfrm>
            <a:off x="6245847" y="5300000"/>
            <a:ext cx="430000" cy="75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5847" y="5300000"/>
            <a:ext cx="390000" cy="750000"/>
          </a:xfrm>
          <a:prstGeom prst="rect">
            <a:avLst/>
          </a:prstGeom>
          <a:noFill/>
        </p:spPr>
        <p:txBody>
          <a:bodyPr wrap="none" anchor="ctr">
            <a:spAutoFit/>
          </a:bodyPr>
          <a:lstStyle/>
          <a:p>
            <a:pPr algn="ctr">
              <a:spcBef>
                <a:spcPts val="0"/>
              </a:spcBef>
              <a:spcAft>
                <a:spcPts val="0"/>
              </a:spcAft>
            </a:pPr>
            <a:r>
              <a:rPr sz="1600" b="1" i="0">
                <a:solidFill>
                  <a:srgbClr val="FFFFFF"/>
                </a:solidFill>
                <a:latin typeface="Calibri"/>
              </a:rPr>
              <a:t>O5</a:t>
            </a:r>
          </a:p>
        </p:txBody>
      </p:sp>
      <p:sp>
        <p:nvSpPr>
          <p:cNvPr id="33" name="TextBox 32"/>
          <p:cNvSpPr txBox="1"/>
          <p:nvPr/>
        </p:nvSpPr>
        <p:spPr>
          <a:xfrm>
            <a:off x="6755847" y="5300000"/>
            <a:ext cx="4938647" cy="750000"/>
          </a:xfrm>
          <a:prstGeom prst="rect">
            <a:avLst/>
          </a:prstGeom>
          <a:noFill/>
        </p:spPr>
        <p:txBody>
          <a:bodyPr wrap="square" anchor="ctr">
            <a:spAutoFit/>
          </a:bodyPr>
          <a:lstStyle/>
          <a:p>
            <a:pPr algn="l">
              <a:spcBef>
                <a:spcPts val="0"/>
              </a:spcBef>
              <a:spcAft>
                <a:spcPts val="0"/>
              </a:spcAft>
            </a:pPr>
            <a:r>
              <a:rPr sz="1400" b="0" i="0">
                <a:solidFill>
                  <a:srgbClr val="262626"/>
                </a:solidFill>
                <a:latin typeface="Calibri"/>
              </a:rPr>
              <a:t>Human-in-the-loop wrapper — reward gain vs review cost</a:t>
            </a:r>
          </a:p>
        </p:txBody>
      </p:sp>
      <p:sp>
        <p:nvSpPr>
          <p:cNvPr id="34" name="Rectangle 3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6" name="Rectangle 3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Introduction &amp; Problem Background</a:t>
            </a:r>
          </a:p>
        </p:txBody>
      </p:sp>
      <p:sp>
        <p:nvSpPr>
          <p:cNvPr id="38" name="Rectangle 3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6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II.</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Literature Review</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Literature Review</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7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LITERATURE REVIEW</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11097295"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Health Insurance in Emerging Markets</a:t>
            </a:r>
          </a:p>
        </p:txBody>
      </p:sp>
      <p:sp>
        <p:nvSpPr>
          <p:cNvPr id="8" name="TextBox 7"/>
          <p:cNvSpPr txBox="1"/>
          <p:nvPr/>
        </p:nvSpPr>
        <p:spPr>
          <a:xfrm>
            <a:off x="607200" y="1690000"/>
            <a:ext cx="11097295" cy="18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CDHS 2021-22, ILO 2023, ADB — Cambodia context and data anchors. &lt;2% penetration; NSSF formal-sector gap; manual static rules.</a:t>
            </a:r>
          </a:p>
        </p:txBody>
      </p:sp>
      <p:sp>
        <p:nvSpPr>
          <p:cNvPr id="9" name="Rectangle 8"/>
          <p:cNvSpPr/>
          <p:nvPr/>
        </p:nvSpPr>
        <p:spPr>
          <a:xfrm>
            <a:off x="457200" y="203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3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7200" y="2150000"/>
            <a:ext cx="11097295"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Linear Contextual Bandits</a:t>
            </a:r>
          </a:p>
        </p:txBody>
      </p:sp>
      <p:sp>
        <p:nvSpPr>
          <p:cNvPr id="12" name="TextBox 11"/>
          <p:cNvSpPr txBox="1"/>
          <p:nvPr/>
        </p:nvSpPr>
        <p:spPr>
          <a:xfrm>
            <a:off x="607200" y="2570000"/>
            <a:ext cx="11097295" cy="18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LinUCB (Li et al. 2010), LinTS (Agrawal &amp; Goyal 2013). Sub-linear regret O(d√T log T). Per-round update O(d²). Chosen for interpretability and emerging-market compute constraints.</a:t>
            </a:r>
          </a:p>
        </p:txBody>
      </p:sp>
      <p:sp>
        <p:nvSpPr>
          <p:cNvPr id="13" name="Rectangle 12"/>
          <p:cNvSpPr/>
          <p:nvPr/>
        </p:nvSpPr>
        <p:spPr>
          <a:xfrm>
            <a:off x="457200" y="291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91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030000"/>
            <a:ext cx="11097295"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Neural Contextual Bandits</a:t>
            </a:r>
          </a:p>
        </p:txBody>
      </p:sp>
      <p:sp>
        <p:nvSpPr>
          <p:cNvPr id="16" name="TextBox 15"/>
          <p:cNvSpPr txBox="1"/>
          <p:nvPr/>
        </p:nvSpPr>
        <p:spPr>
          <a:xfrm>
            <a:off x="607200" y="3450000"/>
            <a:ext cx="11097295" cy="18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NeuralUCB, NeuralTS, EE-Net — relax linear reward assumption. Require large datasets; risk of overfitting on 2,000 records. Natural future-work candidate.</a:t>
            </a:r>
          </a:p>
        </p:txBody>
      </p:sp>
      <p:sp>
        <p:nvSpPr>
          <p:cNvPr id="17" name="Rectangle 16"/>
          <p:cNvSpPr/>
          <p:nvPr/>
        </p:nvSpPr>
        <p:spPr>
          <a:xfrm>
            <a:off x="457200" y="379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79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7200" y="3910000"/>
            <a:ext cx="11097295"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Fairness in Insurance ML</a:t>
            </a:r>
          </a:p>
        </p:txBody>
      </p:sp>
      <p:sp>
        <p:nvSpPr>
          <p:cNvPr id="20" name="TextBox 19"/>
          <p:cNvSpPr txBox="1"/>
          <p:nvPr/>
        </p:nvSpPr>
        <p:spPr>
          <a:xfrm>
            <a:off x="607200" y="4330000"/>
            <a:ext cx="11097295" cy="18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Barocas et al., Ensign et al. — protected-attribute constraints, feedback-loop risk. Rural/occupational groups (Sophea’s category) most at risk.</a:t>
            </a:r>
          </a:p>
        </p:txBody>
      </p:sp>
      <p:sp>
        <p:nvSpPr>
          <p:cNvPr id="21" name="Rectangle 20"/>
          <p:cNvSpPr/>
          <p:nvPr/>
        </p:nvSpPr>
        <p:spPr>
          <a:xfrm>
            <a:off x="457200" y="4670000"/>
            <a:ext cx="11277295" cy="8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670000"/>
            <a:ext cx="91440" cy="8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7200" y="4790000"/>
            <a:ext cx="11097295"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Population Stability Index</a:t>
            </a:r>
          </a:p>
        </p:txBody>
      </p:sp>
      <p:sp>
        <p:nvSpPr>
          <p:cNvPr id="24" name="TextBox 23"/>
          <p:cNvSpPr txBox="1"/>
          <p:nvPr/>
        </p:nvSpPr>
        <p:spPr>
          <a:xfrm>
            <a:off x="607200" y="5210000"/>
            <a:ext cx="11097295" cy="18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PSI = Σ(Aᵢ − Eᵢ) × ln(Aᵢ/Eᵢ). Siddiqi (2006); validated Yurdakul &amp; Naranjo (2020). THREE ZONES: GREEN &lt;0.10 · AMBER 0.10–0.25 · RED &gt;0.25.</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7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ALGORITHM COMPARISON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50000"/>
          <a:ext cx="11277295" cy="51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850000">
                <a:tc>
                  <a:txBody>
                    <a:bodyPr/>
                    <a:lstStyle/>
                    <a:p>
                      <a:r>
                        <a:rPr b="1" sz="1300">
                          <a:solidFill>
                            <a:srgbClr val="FFFFFF"/>
                          </a:solidFill>
                        </a:rPr>
                        <a:t>Algorithm</a:t>
                      </a:r>
                    </a:p>
                  </a:txBody>
                  <a:tcPr>
                    <a:solidFill>
                      <a:srgbClr val="1B5697"/>
                    </a:solidFill>
                  </a:tcPr>
                </a:tc>
                <a:tc>
                  <a:txBody>
                    <a:bodyPr/>
                    <a:lstStyle/>
                    <a:p>
                      <a:r>
                        <a:rPr b="1" sz="1300">
                          <a:solidFill>
                            <a:srgbClr val="FFFFFF"/>
                          </a:solidFill>
                        </a:rPr>
                        <a:t>Exploration</a:t>
                      </a:r>
                    </a:p>
                  </a:txBody>
                  <a:tcPr>
                    <a:solidFill>
                      <a:srgbClr val="1B5697"/>
                    </a:solidFill>
                  </a:tcPr>
                </a:tc>
                <a:tc>
                  <a:txBody>
                    <a:bodyPr/>
                    <a:lstStyle/>
                    <a:p>
                      <a:r>
                        <a:rPr b="1" sz="1300">
                          <a:solidFill>
                            <a:srgbClr val="FFFFFF"/>
                          </a:solidFill>
                        </a:rPr>
                        <a:t>Regret</a:t>
                      </a:r>
                    </a:p>
                  </a:txBody>
                  <a:tcPr>
                    <a:solidFill>
                      <a:srgbClr val="1B5697"/>
                    </a:solidFill>
                  </a:tcPr>
                </a:tc>
                <a:tc>
                  <a:txBody>
                    <a:bodyPr/>
                    <a:lstStyle/>
                    <a:p>
                      <a:r>
                        <a:rPr b="1" sz="1300">
                          <a:solidFill>
                            <a:srgbClr val="FFFFFF"/>
                          </a:solidFill>
                        </a:rPr>
                        <a:t>Per-Round Cost</a:t>
                      </a:r>
                    </a:p>
                  </a:txBody>
                  <a:tcPr>
                    <a:solidFill>
                      <a:srgbClr val="1B5697"/>
                    </a:solidFill>
                  </a:tcPr>
                </a:tc>
                <a:tc>
                  <a:txBody>
                    <a:bodyPr/>
                    <a:lstStyle/>
                    <a:p>
                      <a:r>
                        <a:rPr b="1" sz="1300">
                          <a:solidFill>
                            <a:srgbClr val="FFFFFF"/>
                          </a:solidFill>
                        </a:rPr>
                        <a:t>Data Need</a:t>
                      </a:r>
                    </a:p>
                  </a:txBody>
                  <a:tcPr>
                    <a:solidFill>
                      <a:srgbClr val="1B5697"/>
                    </a:solidFill>
                  </a:tcPr>
                </a:tc>
              </a:tr>
              <a:tr h="850000">
                <a:tc>
                  <a:txBody>
                    <a:bodyPr/>
                    <a:lstStyle/>
                    <a:p>
                      <a:r>
                        <a:rPr sz="1300" b="1">
                          <a:solidFill>
                            <a:srgbClr val="1B5697"/>
                          </a:solidFill>
                        </a:rPr>
                        <a:t>LinUCB</a:t>
                      </a:r>
                    </a:p>
                    <a:p>
                      <a:r>
                        <a:rPr sz="1300" b="1">
                          <a:solidFill>
                            <a:srgbClr val="1B5697"/>
                          </a:solidFill>
                        </a:rPr>
                        <a:t>(Li et al. 2010)</a:t>
                      </a:r>
                    </a:p>
                  </a:txBody>
                  <a:tcPr>
                    <a:solidFill>
                      <a:srgbClr val="D4E6F7"/>
                    </a:solidFill>
                  </a:tcPr>
                </a:tc>
                <a:tc>
                  <a:txBody>
                    <a:bodyPr/>
                    <a:lstStyle/>
                    <a:p>
                      <a:r>
                        <a:rPr sz="1300" b="0">
                          <a:solidFill>
                            <a:srgbClr val="262626"/>
                          </a:solidFill>
                        </a:rPr>
                        <a:t>UCB bonus:</a:t>
                      </a:r>
                    </a:p>
                    <a:p>
                      <a:r>
                        <a:rPr sz="1300" b="0">
                          <a:solidFill>
                            <a:srgbClr val="262626"/>
                          </a:solidFill>
                        </a:rPr>
                        <a:t>α√(xᵀA⁻¹x)</a:t>
                      </a:r>
                    </a:p>
                  </a:txBody>
                  <a:tcPr>
                    <a:solidFill>
                      <a:srgbClr val="F3F6FB"/>
                    </a:solidFill>
                  </a:tcPr>
                </a:tc>
                <a:tc>
                  <a:txBody>
                    <a:bodyPr/>
                    <a:lstStyle/>
                    <a:p>
                      <a:r>
                        <a:rPr sz="1300" b="0">
                          <a:solidFill>
                            <a:srgbClr val="262626"/>
                          </a:solidFill>
                        </a:rPr>
                        <a:t>O(d√T log T)</a:t>
                      </a:r>
                    </a:p>
                  </a:txBody>
                  <a:tcPr>
                    <a:solidFill>
                      <a:srgbClr val="F3F6FB"/>
                    </a:solidFill>
                  </a:tcPr>
                </a:tc>
                <a:tc>
                  <a:txBody>
                    <a:bodyPr/>
                    <a:lstStyle/>
                    <a:p>
                      <a:r>
                        <a:rPr sz="1300" b="0">
                          <a:solidFill>
                            <a:srgbClr val="262626"/>
                          </a:solidFill>
                        </a:rPr>
                        <a:t>O(d²)</a:t>
                      </a:r>
                    </a:p>
                  </a:txBody>
                  <a:tcPr>
                    <a:solidFill>
                      <a:srgbClr val="F3F6FB"/>
                    </a:solidFill>
                  </a:tcPr>
                </a:tc>
                <a:tc>
                  <a:txBody>
                    <a:bodyPr/>
                    <a:lstStyle/>
                    <a:p>
                      <a:r>
                        <a:rPr sz="1300" b="0">
                          <a:solidFill>
                            <a:srgbClr val="262626"/>
                          </a:solidFill>
                        </a:rPr>
                        <a:t>Moderate</a:t>
                      </a:r>
                    </a:p>
                  </a:txBody>
                  <a:tcPr>
                    <a:solidFill>
                      <a:srgbClr val="F3F6FB"/>
                    </a:solidFill>
                  </a:tcPr>
                </a:tc>
              </a:tr>
              <a:tr h="850000">
                <a:tc>
                  <a:txBody>
                    <a:bodyPr/>
                    <a:lstStyle/>
                    <a:p>
                      <a:r>
                        <a:rPr sz="1300" b="1">
                          <a:solidFill>
                            <a:srgbClr val="1B5697"/>
                          </a:solidFill>
                        </a:rPr>
                        <a:t>LinTS</a:t>
                      </a:r>
                    </a:p>
                    <a:p>
                      <a:r>
                        <a:rPr sz="1300" b="1">
                          <a:solidFill>
                            <a:srgbClr val="1B5697"/>
                          </a:solidFill>
                        </a:rPr>
                        <a:t>(Agrawal &amp; Goyal 2013)</a:t>
                      </a:r>
                    </a:p>
                  </a:txBody>
                  <a:tcPr>
                    <a:solidFill>
                      <a:srgbClr val="D4E6F7"/>
                    </a:solidFill>
                  </a:tcPr>
                </a:tc>
                <a:tc>
                  <a:txBody>
                    <a:bodyPr/>
                    <a:lstStyle/>
                    <a:p>
                      <a:r>
                        <a:rPr sz="1300" b="0">
                          <a:solidFill>
                            <a:srgbClr val="262626"/>
                          </a:solidFill>
                        </a:rPr>
                        <a:t>Posterior sampling:</a:t>
                      </a:r>
                    </a:p>
                    <a:p>
                      <a:r>
                        <a:rPr sz="1300" b="0">
                          <a:solidFill>
                            <a:srgbClr val="262626"/>
                          </a:solidFill>
                        </a:rPr>
                        <a:t>θ̃ ~ N(θ̂, v²A⁻¹)</a:t>
                      </a:r>
                    </a:p>
                  </a:txBody>
                  <a:tcPr>
                    <a:solidFill>
                      <a:srgbClr val="FFFFFF"/>
                    </a:solidFill>
                  </a:tcPr>
                </a:tc>
                <a:tc>
                  <a:txBody>
                    <a:bodyPr/>
                    <a:lstStyle/>
                    <a:p>
                      <a:r>
                        <a:rPr sz="1300" b="0">
                          <a:solidFill>
                            <a:srgbClr val="262626"/>
                          </a:solidFill>
                        </a:rPr>
                        <a:t>O(d√T log T)</a:t>
                      </a:r>
                    </a:p>
                  </a:txBody>
                  <a:tcPr>
                    <a:solidFill>
                      <a:srgbClr val="FFFFFF"/>
                    </a:solidFill>
                  </a:tcPr>
                </a:tc>
                <a:tc>
                  <a:txBody>
                    <a:bodyPr/>
                    <a:lstStyle/>
                    <a:p>
                      <a:r>
                        <a:rPr sz="1300" b="0">
                          <a:solidFill>
                            <a:srgbClr val="262626"/>
                          </a:solidFill>
                        </a:rPr>
                        <a:t>O(d²)</a:t>
                      </a:r>
                    </a:p>
                  </a:txBody>
                  <a:tcPr>
                    <a:solidFill>
                      <a:srgbClr val="FFFFFF"/>
                    </a:solidFill>
                  </a:tcPr>
                </a:tc>
                <a:tc>
                  <a:txBody>
                    <a:bodyPr/>
                    <a:lstStyle/>
                    <a:p>
                      <a:r>
                        <a:rPr sz="1300" b="0">
                          <a:solidFill>
                            <a:srgbClr val="262626"/>
                          </a:solidFill>
                        </a:rPr>
                        <a:t>Moderate</a:t>
                      </a:r>
                    </a:p>
                  </a:txBody>
                  <a:tcPr>
                    <a:solidFill>
                      <a:srgbClr val="FFFFFF"/>
                    </a:solidFill>
                  </a:tcPr>
                </a:tc>
              </a:tr>
              <a:tr h="850000">
                <a:tc>
                  <a:txBody>
                    <a:bodyPr/>
                    <a:lstStyle/>
                    <a:p>
                      <a:r>
                        <a:rPr sz="1300" b="1">
                          <a:solidFill>
                            <a:srgbClr val="1B5697"/>
                          </a:solidFill>
                        </a:rPr>
                        <a:t>NeuralUCB</a:t>
                      </a:r>
                    </a:p>
                    <a:p>
                      <a:r>
                        <a:rPr sz="1300" b="1">
                          <a:solidFill>
                            <a:srgbClr val="1B5697"/>
                          </a:solidFill>
                        </a:rPr>
                        <a:t>(Zhou et al. 2020)</a:t>
                      </a:r>
                    </a:p>
                  </a:txBody>
                  <a:tcPr>
                    <a:solidFill>
                      <a:srgbClr val="F3F6FB"/>
                    </a:solidFill>
                  </a:tcPr>
                </a:tc>
                <a:tc>
                  <a:txBody>
                    <a:bodyPr/>
                    <a:lstStyle/>
                    <a:p>
                      <a:r>
                        <a:rPr sz="1300" b="0">
                          <a:solidFill>
                            <a:srgbClr val="262626"/>
                          </a:solidFill>
                        </a:rPr>
                        <a:t>Gradient confidence</a:t>
                      </a:r>
                    </a:p>
                  </a:txBody>
                  <a:tcPr>
                    <a:solidFill>
                      <a:srgbClr val="F3F6FB"/>
                    </a:solidFill>
                  </a:tcPr>
                </a:tc>
                <a:tc>
                  <a:txBody>
                    <a:bodyPr/>
                    <a:lstStyle/>
                    <a:p>
                      <a:r>
                        <a:rPr sz="1300" b="0">
                          <a:solidFill>
                            <a:srgbClr val="262626"/>
                          </a:solidFill>
                        </a:rPr>
                        <a:t>Õ(d̃√T)</a:t>
                      </a:r>
                    </a:p>
                  </a:txBody>
                  <a:tcPr>
                    <a:solidFill>
                      <a:srgbClr val="F3F6FB"/>
                    </a:solidFill>
                  </a:tcPr>
                </a:tc>
                <a:tc>
                  <a:txBody>
                    <a:bodyPr/>
                    <a:lstStyle/>
                    <a:p>
                      <a:r>
                        <a:rPr sz="1300" b="0">
                          <a:solidFill>
                            <a:srgbClr val="262626"/>
                          </a:solidFill>
                        </a:rPr>
                        <a:t>O(‖θ‖·T)</a:t>
                      </a:r>
                    </a:p>
                  </a:txBody>
                  <a:tcPr>
                    <a:solidFill>
                      <a:srgbClr val="F3F6FB"/>
                    </a:solidFill>
                  </a:tcPr>
                </a:tc>
                <a:tc>
                  <a:txBody>
                    <a:bodyPr/>
                    <a:lstStyle/>
                    <a:p>
                      <a:r>
                        <a:rPr sz="1300" b="0">
                          <a:solidFill>
                            <a:srgbClr val="262626"/>
                          </a:solidFill>
                        </a:rPr>
                        <a:t>Large</a:t>
                      </a:r>
                    </a:p>
                  </a:txBody>
                  <a:tcPr>
                    <a:solidFill>
                      <a:srgbClr val="F3F6FB"/>
                    </a:solidFill>
                  </a:tcPr>
                </a:tc>
              </a:tr>
              <a:tr h="850000">
                <a:tc>
                  <a:txBody>
                    <a:bodyPr/>
                    <a:lstStyle/>
                    <a:p>
                      <a:r>
                        <a:rPr sz="1300" b="1">
                          <a:solidFill>
                            <a:srgbClr val="1B5697"/>
                          </a:solidFill>
                        </a:rPr>
                        <a:t>EE-Net</a:t>
                      </a:r>
                    </a:p>
                    <a:p>
                      <a:r>
                        <a:rPr sz="1300" b="1">
                          <a:solidFill>
                            <a:srgbClr val="1B5697"/>
                          </a:solidFill>
                        </a:rPr>
                        <a:t>(Ban et al. 2022)</a:t>
                      </a:r>
                    </a:p>
                  </a:txBody>
                  <a:tcPr>
                    <a:solidFill>
                      <a:srgbClr val="FFFFFF"/>
                    </a:solidFill>
                  </a:tcPr>
                </a:tc>
                <a:tc>
                  <a:txBody>
                    <a:bodyPr/>
                    <a:lstStyle/>
                    <a:p>
                      <a:r>
                        <a:rPr sz="1300" b="0">
                          <a:solidFill>
                            <a:srgbClr val="262626"/>
                          </a:solidFill>
                        </a:rPr>
                        <a:t>Learned exploration</a:t>
                      </a:r>
                    </a:p>
                  </a:txBody>
                  <a:tcPr>
                    <a:solidFill>
                      <a:srgbClr val="FFFFFF"/>
                    </a:solidFill>
                  </a:tcPr>
                </a:tc>
                <a:tc>
                  <a:txBody>
                    <a:bodyPr/>
                    <a:lstStyle/>
                    <a:p>
                      <a:r>
                        <a:rPr sz="1300" b="0">
                          <a:solidFill>
                            <a:srgbClr val="262626"/>
                          </a:solidFill>
                        </a:rPr>
                        <a:t>Empirical only</a:t>
                      </a:r>
                    </a:p>
                  </a:txBody>
                  <a:tcPr>
                    <a:solidFill>
                      <a:srgbClr val="FFFFFF"/>
                    </a:solidFill>
                  </a:tcPr>
                </a:tc>
                <a:tc>
                  <a:txBody>
                    <a:bodyPr/>
                    <a:lstStyle/>
                    <a:p>
                      <a:r>
                        <a:rPr sz="1300" b="0">
                          <a:solidFill>
                            <a:srgbClr val="262626"/>
                          </a:solidFill>
                        </a:rPr>
                        <a:t>O(‖θ‖·T)</a:t>
                      </a:r>
                    </a:p>
                  </a:txBody>
                  <a:tcPr>
                    <a:solidFill>
                      <a:srgbClr val="FFFFFF"/>
                    </a:solidFill>
                  </a:tcPr>
                </a:tc>
                <a:tc>
                  <a:txBody>
                    <a:bodyPr/>
                    <a:lstStyle/>
                    <a:p>
                      <a:r>
                        <a:rPr sz="1300" b="0">
                          <a:solidFill>
                            <a:srgbClr val="262626"/>
                          </a:solidFill>
                        </a:rPr>
                        <a:t>Large</a:t>
                      </a:r>
                    </a:p>
                  </a:txBody>
                  <a:tcPr>
                    <a:solidFill>
                      <a:srgbClr val="FFFFFF"/>
                    </a:solidFill>
                  </a:tcPr>
                </a:tc>
              </a:tr>
              <a:tr h="850000">
                <a:tc>
                  <a:txBody>
                    <a:bodyPr/>
                    <a:lstStyle/>
                    <a:p>
                      <a:r>
                        <a:rPr sz="1300" b="1">
                          <a:solidFill>
                            <a:srgbClr val="1B5697"/>
                          </a:solidFill>
                        </a:rPr>
                        <a:t>Epsilon-Greedy</a:t>
                      </a:r>
                    </a:p>
                  </a:txBody>
                  <a:tcPr>
                    <a:solidFill>
                      <a:srgbClr val="F3F6FB"/>
                    </a:solidFill>
                  </a:tcPr>
                </a:tc>
                <a:tc>
                  <a:txBody>
                    <a:bodyPr/>
                    <a:lstStyle/>
                    <a:p>
                      <a:r>
                        <a:rPr sz="1300" b="0">
                          <a:solidFill>
                            <a:srgbClr val="262626"/>
                          </a:solidFill>
                        </a:rPr>
                        <a:t>ε-random (ε=0.15)</a:t>
                      </a:r>
                    </a:p>
                  </a:txBody>
                  <a:tcPr>
                    <a:solidFill>
                      <a:srgbClr val="F3F6FB"/>
                    </a:solidFill>
                  </a:tcPr>
                </a:tc>
                <a:tc>
                  <a:txBody>
                    <a:bodyPr/>
                    <a:lstStyle/>
                    <a:p>
                      <a:r>
                        <a:rPr sz="1300" b="0">
                          <a:solidFill>
                            <a:srgbClr val="262626"/>
                          </a:solidFill>
                        </a:rPr>
                        <a:t>O(T^(2/3))</a:t>
                      </a:r>
                    </a:p>
                  </a:txBody>
                  <a:tcPr>
                    <a:solidFill>
                      <a:srgbClr val="F3F6FB"/>
                    </a:solidFill>
                  </a:tcPr>
                </a:tc>
                <a:tc>
                  <a:txBody>
                    <a:bodyPr/>
                    <a:lstStyle/>
                    <a:p>
                      <a:r>
                        <a:rPr sz="1300" b="0">
                          <a:solidFill>
                            <a:srgbClr val="262626"/>
                          </a:solidFill>
                        </a:rPr>
                        <a:t>O(d²)</a:t>
                      </a:r>
                    </a:p>
                  </a:txBody>
                  <a:tcPr>
                    <a:solidFill>
                      <a:srgbClr val="F3F6FB"/>
                    </a:solidFill>
                  </a:tcPr>
                </a:tc>
                <a:tc>
                  <a:txBody>
                    <a:bodyPr/>
                    <a:lstStyle/>
                    <a:p>
                      <a:r>
                        <a:rPr sz="1300" b="0">
                          <a:solidFill>
                            <a:srgbClr val="262626"/>
                          </a:solidFill>
                        </a:rPr>
                        <a:t>Low</a:t>
                      </a:r>
                    </a:p>
                  </a:txBody>
                  <a:tcPr>
                    <a:solidFill>
                      <a:srgbClr val="F3F6FB"/>
                    </a:solidFill>
                  </a:tcPr>
                </a:tc>
              </a:tr>
            </a:tbl>
          </a:graphicData>
        </a:graphic>
      </p:graphicFrame>
      <p:sp>
        <p:nvSpPr>
          <p:cNvPr id="6" name="Rectangle 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Rectangle 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Literature Review</a:t>
            </a:r>
          </a:p>
        </p:txBody>
      </p:sp>
      <p:sp>
        <p:nvSpPr>
          <p:cNvPr id="10" name="Rectangle 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8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III.</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Methodology &amp; Model Design</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Methodology &amp; Model Design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9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SYSTEM ARCHITECTURE</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5847" y="1400000"/>
            <a:ext cx="1500000" cy="7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Applicant
Context</a:t>
            </a:r>
          </a:p>
        </p:txBody>
      </p:sp>
      <p:sp>
        <p:nvSpPr>
          <p:cNvPr id="7" name="TextBox 6"/>
          <p:cNvSpPr txBox="1"/>
          <p:nvPr/>
        </p:nvSpPr>
        <p:spPr>
          <a:xfrm>
            <a:off x="25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8" name="Rectangle 7"/>
          <p:cNvSpPr/>
          <p:nvPr/>
        </p:nvSpPr>
        <p:spPr>
          <a:xfrm>
            <a:off x="27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Bandit
Policy</a:t>
            </a:r>
          </a:p>
        </p:txBody>
      </p:sp>
      <p:sp>
        <p:nvSpPr>
          <p:cNvPr id="10" name="TextBox 9"/>
          <p:cNvSpPr txBox="1"/>
          <p:nvPr/>
        </p:nvSpPr>
        <p:spPr>
          <a:xfrm>
            <a:off x="42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1" name="Rectangle 10"/>
          <p:cNvSpPr/>
          <p:nvPr/>
        </p:nvSpPr>
        <p:spPr>
          <a:xfrm>
            <a:off x="44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Underwriting
Action</a:t>
            </a:r>
          </a:p>
        </p:txBody>
      </p:sp>
      <p:sp>
        <p:nvSpPr>
          <p:cNvPr id="13" name="TextBox 12"/>
          <p:cNvSpPr txBox="1"/>
          <p:nvPr/>
        </p:nvSpPr>
        <p:spPr>
          <a:xfrm>
            <a:off x="59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4" name="Rectangle 13"/>
          <p:cNvSpPr/>
          <p:nvPr/>
        </p:nvSpPr>
        <p:spPr>
          <a:xfrm>
            <a:off x="6195847" y="1400000"/>
            <a:ext cx="1500000" cy="7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Actuarial
Reward</a:t>
            </a:r>
          </a:p>
        </p:txBody>
      </p:sp>
      <p:sp>
        <p:nvSpPr>
          <p:cNvPr id="16" name="TextBox 15"/>
          <p:cNvSpPr txBox="1"/>
          <p:nvPr/>
        </p:nvSpPr>
        <p:spPr>
          <a:xfrm>
            <a:off x="76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7" name="Rectangle 16"/>
          <p:cNvSpPr/>
          <p:nvPr/>
        </p:nvSpPr>
        <p:spPr>
          <a:xfrm>
            <a:off x="7895847" y="1400000"/>
            <a:ext cx="1500000" cy="7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PSI + HITL
Guardrail</a:t>
            </a:r>
          </a:p>
        </p:txBody>
      </p:sp>
      <p:sp>
        <p:nvSpPr>
          <p:cNvPr id="19" name="TextBox 18"/>
          <p:cNvSpPr txBox="1"/>
          <p:nvPr/>
        </p:nvSpPr>
        <p:spPr>
          <a:xfrm>
            <a:off x="9395847" y="1600000"/>
            <a:ext cx="200000" cy="5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0" name="Rectangle 19"/>
          <p:cNvSpPr/>
          <p:nvPr/>
        </p:nvSpPr>
        <p:spPr>
          <a:xfrm>
            <a:off x="9595847" y="1400000"/>
            <a:ext cx="1500000" cy="7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5847" y="1500000"/>
            <a:ext cx="1400000" cy="60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Decision</a:t>
            </a:r>
          </a:p>
        </p:txBody>
      </p:sp>
      <p:sp>
        <p:nvSpPr>
          <p:cNvPr id="22" name="Rectangle 21"/>
          <p:cNvSpPr/>
          <p:nvPr/>
        </p:nvSpPr>
        <p:spPr>
          <a:xfrm>
            <a:off x="457200" y="24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7200" y="2440000"/>
            <a:ext cx="11077295"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34-dimensional applicant context vector (standardised features)</a:t>
            </a:r>
          </a:p>
        </p:txBody>
      </p:sp>
      <p:sp>
        <p:nvSpPr>
          <p:cNvPr id="24" name="Rectangle 23"/>
          <p:cNvSpPr/>
          <p:nvPr/>
        </p:nvSpPr>
        <p:spPr>
          <a:xfrm>
            <a:off x="457200" y="30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200" y="3040000"/>
            <a:ext cx="11077295"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Four underwriting arms: STANDARD · RATED · DECLINE · REFER</a:t>
            </a:r>
          </a:p>
        </p:txBody>
      </p:sp>
      <p:sp>
        <p:nvSpPr>
          <p:cNvPr id="26" name="Rectangle 25"/>
          <p:cNvSpPr/>
          <p:nvPr/>
        </p:nvSpPr>
        <p:spPr>
          <a:xfrm>
            <a:off x="457200" y="36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7200" y="3640000"/>
            <a:ext cx="11077295"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Actuarial simulator returns reward: premium revenue − expected claims (+ noise ±8%)</a:t>
            </a:r>
          </a:p>
        </p:txBody>
      </p:sp>
      <p:sp>
        <p:nvSpPr>
          <p:cNvPr id="28" name="Rectangle 27"/>
          <p:cNvSpPr/>
          <p:nvPr/>
        </p:nvSpPr>
        <p:spPr>
          <a:xfrm>
            <a:off x="457200" y="42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200" y="4240000"/>
            <a:ext cx="11077295"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PSI guardrail monitors portfolio drift on 500-round sliding window</a:t>
            </a:r>
          </a:p>
        </p:txBody>
      </p:sp>
      <p:sp>
        <p:nvSpPr>
          <p:cNvPr id="30" name="Rectangle 29"/>
          <p:cNvSpPr/>
          <p:nvPr/>
        </p:nvSpPr>
        <p:spPr>
          <a:xfrm>
            <a:off x="457200" y="4800000"/>
            <a:ext cx="40000" cy="4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7200" y="4840000"/>
            <a:ext cx="11077295" cy="420000"/>
          </a:xfrm>
          <a:prstGeom prst="rect">
            <a:avLst/>
          </a:prstGeom>
          <a:noFill/>
        </p:spPr>
        <p:txBody>
          <a:bodyPr wrap="square">
            <a:spAutoFit/>
          </a:bodyPr>
          <a:lstStyle/>
          <a:p>
            <a:pPr algn="l">
              <a:spcBef>
                <a:spcPts val="0"/>
              </a:spcBef>
              <a:spcAft>
                <a:spcPts val="0"/>
              </a:spcAft>
            </a:pPr>
            <a:r>
              <a:rPr sz="1400" b="0" i="0">
                <a:solidFill>
                  <a:srgbClr val="262626"/>
                </a:solidFill>
                <a:latin typeface="Calibri"/>
              </a:rPr>
              <a:t>HITL wrapper escalates uncertain cases (uncertainty &gt; κ threshold)</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9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APPLICANT CONTEXT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3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Applicant
Context</a:t>
            </a:r>
          </a:p>
        </p:txBody>
      </p:sp>
      <p:sp>
        <p:nvSpPr>
          <p:cNvPr id="9" name="TextBox 8"/>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0" name="Rectangle 9"/>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Bandit
Policy</a:t>
            </a:r>
          </a:p>
        </p:txBody>
      </p:sp>
      <p:sp>
        <p:nvSpPr>
          <p:cNvPr id="12" name="TextBox 11"/>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3" name="Rectangle 12"/>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Underwriting
Action</a:t>
            </a:r>
          </a:p>
        </p:txBody>
      </p:sp>
      <p:sp>
        <p:nvSpPr>
          <p:cNvPr id="15" name="TextBox 14"/>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6" name="Rectangle 15"/>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Actuarial
Reward</a:t>
            </a:r>
          </a:p>
        </p:txBody>
      </p:sp>
      <p:sp>
        <p:nvSpPr>
          <p:cNvPr id="18" name="TextBox 17"/>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9" name="Rectangle 18"/>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each applicant becomes a 34-dimensional context vector.</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10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DATASET &amp; CONTEXT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2,000</a:t>
            </a:r>
          </a:p>
        </p:txBody>
      </p:sp>
      <p:sp>
        <p:nvSpPr>
          <p:cNvPr id="6" name="TextBox 5"/>
          <p:cNvSpPr txBox="1"/>
          <p:nvPr/>
        </p:nvSpPr>
        <p:spPr>
          <a:xfrm>
            <a:off x="457200" y="1680000"/>
            <a:ext cx="2769323" cy="35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SYNTHETIC
APPLICANTS</a:t>
            </a:r>
          </a:p>
        </p:txBody>
      </p:sp>
      <p:sp>
        <p:nvSpPr>
          <p:cNvPr id="7" name="TextBox 6"/>
          <p:cNvSpPr txBox="1"/>
          <p:nvPr/>
        </p:nvSpPr>
        <p:spPr>
          <a:xfrm>
            <a:off x="3276523"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34</a:t>
            </a:r>
          </a:p>
        </p:txBody>
      </p:sp>
      <p:sp>
        <p:nvSpPr>
          <p:cNvPr id="8" name="TextBox 7"/>
          <p:cNvSpPr txBox="1"/>
          <p:nvPr/>
        </p:nvSpPr>
        <p:spPr>
          <a:xfrm>
            <a:off x="3276523" y="1680000"/>
            <a:ext cx="2769323" cy="35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CONTEXT
FEATURES</a:t>
            </a:r>
          </a:p>
        </p:txBody>
      </p:sp>
      <p:sp>
        <p:nvSpPr>
          <p:cNvPr id="9" name="TextBox 8"/>
          <p:cNvSpPr txBox="1"/>
          <p:nvPr/>
        </p:nvSpPr>
        <p:spPr>
          <a:xfrm>
            <a:off x="6095846"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10" name="TextBox 9"/>
          <p:cNvSpPr txBox="1"/>
          <p:nvPr/>
        </p:nvSpPr>
        <p:spPr>
          <a:xfrm>
            <a:off x="6095846" y="1680000"/>
            <a:ext cx="2769323" cy="35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UNDERWRITING
ARMS</a:t>
            </a:r>
          </a:p>
        </p:txBody>
      </p:sp>
      <p:sp>
        <p:nvSpPr>
          <p:cNvPr id="11" name="TextBox 10"/>
          <p:cNvSpPr txBox="1"/>
          <p:nvPr/>
        </p:nvSpPr>
        <p:spPr>
          <a:xfrm>
            <a:off x="8915169" y="1150000"/>
            <a:ext cx="2769323" cy="500000"/>
          </a:xfrm>
          <a:prstGeom prst="rect">
            <a:avLst/>
          </a:prstGeom>
          <a:noFill/>
        </p:spPr>
        <p:txBody>
          <a:bodyPr wrap="square">
            <a:spAutoFit/>
          </a:bodyPr>
          <a:lstStyle/>
          <a:p>
            <a:pPr algn="ctr">
              <a:spcBef>
                <a:spcPts val="0"/>
              </a:spcBef>
              <a:spcAft>
                <a:spcPts val="0"/>
              </a:spcAft>
            </a:pPr>
            <a:r>
              <a:rPr sz="3600" b="1" i="0">
                <a:solidFill>
                  <a:srgbClr val="1B5697"/>
                </a:solidFill>
                <a:latin typeface="Calibri"/>
              </a:rPr>
              <a:t>4</a:t>
            </a:r>
          </a:p>
        </p:txBody>
      </p:sp>
      <p:sp>
        <p:nvSpPr>
          <p:cNvPr id="12" name="TextBox 11"/>
          <p:cNvSpPr txBox="1"/>
          <p:nvPr/>
        </p:nvSpPr>
        <p:spPr>
          <a:xfrm>
            <a:off x="8915169" y="1680000"/>
            <a:ext cx="2769323" cy="350000"/>
          </a:xfrm>
          <a:prstGeom prst="rect">
            <a:avLst/>
          </a:prstGeom>
          <a:noFill/>
        </p:spPr>
        <p:txBody>
          <a:bodyPr wrap="square">
            <a:spAutoFit/>
          </a:bodyPr>
          <a:lstStyle/>
          <a:p>
            <a:pPr algn="ctr">
              <a:spcBef>
                <a:spcPts val="0"/>
              </a:spcBef>
              <a:spcAft>
                <a:spcPts val="0"/>
              </a:spcAft>
            </a:pPr>
            <a:r>
              <a:rPr sz="1200" b="0" i="0">
                <a:solidFill>
                  <a:srgbClr val="505050"/>
                </a:solidFill>
                <a:latin typeface="Calibri"/>
              </a:rPr>
              <a:t>ANCHORS:
CDHS·STEPS·ILO·WHO</a:t>
            </a:r>
          </a:p>
        </p:txBody>
      </p:sp>
      <p:graphicFrame>
        <p:nvGraphicFramePr>
          <p:cNvPr id="13" name="Table 12"/>
          <p:cNvGraphicFramePr>
            <a:graphicFrameLocks noGrp="1"/>
          </p:cNvGraphicFramePr>
          <p:nvPr/>
        </p:nvGraphicFramePr>
        <p:xfrm>
          <a:off x="457200" y="2200000"/>
          <a:ext cx="11277295" cy="4000000"/>
        </p:xfrm>
        <a:graphic>
          <a:graphicData uri="http://schemas.openxmlformats.org/drawingml/2006/table">
            <a:tbl>
              <a:tblPr firstRow="1" bandRow="1">
                <a:tableStyleId>{5C22544A-7EE6-4342-B048-85BDC9FD1C3A}</a:tableStyleId>
              </a:tblPr>
              <a:tblGrid>
                <a:gridCol w="3759098"/>
                <a:gridCol w="3759098"/>
                <a:gridCol w="3759099"/>
              </a:tblGrid>
              <a:tr h="500000">
                <a:tc>
                  <a:txBody>
                    <a:bodyPr/>
                    <a:lstStyle/>
                    <a:p>
                      <a:r>
                        <a:rPr b="1" sz="1300">
                          <a:solidFill>
                            <a:srgbClr val="FFFFFF"/>
                          </a:solidFill>
                        </a:rPr>
                        <a:t>Category</a:t>
                      </a:r>
                    </a:p>
                  </a:txBody>
                  <a:tcPr>
                    <a:solidFill>
                      <a:srgbClr val="1B5697"/>
                    </a:solidFill>
                  </a:tcPr>
                </a:tc>
                <a:tc>
                  <a:txBody>
                    <a:bodyPr/>
                    <a:lstStyle/>
                    <a:p>
                      <a:r>
                        <a:rPr b="1" sz="1300">
                          <a:solidFill>
                            <a:srgbClr val="FFFFFF"/>
                          </a:solidFill>
                        </a:rPr>
                        <a:t>Features</a:t>
                      </a:r>
                    </a:p>
                  </a:txBody>
                  <a:tcPr>
                    <a:solidFill>
                      <a:srgbClr val="1B5697"/>
                    </a:solidFill>
                  </a:tcPr>
                </a:tc>
                <a:tc>
                  <a:txBody>
                    <a:bodyPr/>
                    <a:lstStyle/>
                    <a:p>
                      <a:r>
                        <a:rPr b="1" sz="1300">
                          <a:solidFill>
                            <a:srgbClr val="FFFFFF"/>
                          </a:solidFill>
                        </a:rPr>
                        <a:t>Dims</a:t>
                      </a:r>
                    </a:p>
                  </a:txBody>
                  <a:tcPr>
                    <a:solidFill>
                      <a:srgbClr val="1B5697"/>
                    </a:solidFill>
                  </a:tcPr>
                </a:tc>
              </a:tr>
              <a:tr h="500000">
                <a:tc>
                  <a:txBody>
                    <a:bodyPr/>
                    <a:lstStyle/>
                    <a:p>
                      <a:r>
                        <a:rPr sz="1200" b="1">
                          <a:solidFill>
                            <a:srgbClr val="1B5697"/>
                          </a:solidFill>
                        </a:rPr>
                        <a:t>Demographics &amp; Vitals</a:t>
                      </a:r>
                    </a:p>
                  </a:txBody>
                  <a:tcPr>
                    <a:solidFill>
                      <a:srgbClr val="F3F6FB"/>
                    </a:solidFill>
                  </a:tcPr>
                </a:tc>
                <a:tc>
                  <a:txBody>
                    <a:bodyPr/>
                    <a:lstStyle/>
                    <a:p>
                      <a:r>
                        <a:rPr sz="1200" b="0">
                          <a:solidFill>
                            <a:srgbClr val="262626"/>
                          </a:solidFill>
                        </a:rPr>
                        <a:t>Age, Gender, BMI</a:t>
                      </a:r>
                    </a:p>
                  </a:txBody>
                  <a:tcPr>
                    <a:solidFill>
                      <a:srgbClr val="F3F6FB"/>
                    </a:solidFill>
                  </a:tcPr>
                </a:tc>
                <a:tc>
                  <a:txBody>
                    <a:bodyPr/>
                    <a:lstStyle/>
                    <a:p>
                      <a:r>
                        <a:rPr sz="1200" b="0">
                          <a:solidFill>
                            <a:srgbClr val="262626"/>
                          </a:solidFill>
                        </a:rPr>
                        <a:t>3</a:t>
                      </a:r>
                    </a:p>
                  </a:txBody>
                  <a:tcPr>
                    <a:solidFill>
                      <a:srgbClr val="F3F6FB"/>
                    </a:solidFill>
                  </a:tcPr>
                </a:tc>
              </a:tr>
              <a:tr h="500000">
                <a:tc>
                  <a:txBody>
                    <a:bodyPr/>
                    <a:lstStyle/>
                    <a:p>
                      <a:r>
                        <a:rPr sz="1200" b="1">
                          <a:solidFill>
                            <a:srgbClr val="1B5697"/>
                          </a:solidFill>
                        </a:rPr>
                        <a:t>Lifestyle</a:t>
                      </a:r>
                    </a:p>
                  </a:txBody>
                  <a:tcPr>
                    <a:solidFill>
                      <a:srgbClr val="FFFFFF"/>
                    </a:solidFill>
                  </a:tcPr>
                </a:tc>
                <a:tc>
                  <a:txBody>
                    <a:bodyPr/>
                    <a:lstStyle/>
                    <a:p>
                      <a:r>
                        <a:rPr sz="1200" b="0">
                          <a:solidFill>
                            <a:srgbClr val="262626"/>
                          </a:solidFill>
                        </a:rPr>
                        <a:t>Smoking, Alcohol, Exercise</a:t>
                      </a:r>
                    </a:p>
                  </a:txBody>
                  <a:tcPr>
                    <a:solidFill>
                      <a:srgbClr val="FFFFFF"/>
                    </a:solidFill>
                  </a:tcPr>
                </a:tc>
                <a:tc>
                  <a:txBody>
                    <a:bodyPr/>
                    <a:lstStyle/>
                    <a:p>
                      <a:r>
                        <a:rPr sz="1200" b="0">
                          <a:solidFill>
                            <a:srgbClr val="262626"/>
                          </a:solidFill>
                        </a:rPr>
                        <a:t>3</a:t>
                      </a:r>
                    </a:p>
                  </a:txBody>
                  <a:tcPr>
                    <a:solidFill>
                      <a:srgbClr val="FFFFFF"/>
                    </a:solidFill>
                  </a:tcPr>
                </a:tc>
              </a:tr>
              <a:tr h="500000">
                <a:tc>
                  <a:txBody>
                    <a:bodyPr/>
                    <a:lstStyle/>
                    <a:p>
                      <a:r>
                        <a:rPr sz="1200" b="1">
                          <a:solidFill>
                            <a:srgbClr val="1B5697"/>
                          </a:solidFill>
                        </a:rPr>
                        <a:t>Social Determinants</a:t>
                      </a:r>
                    </a:p>
                  </a:txBody>
                  <a:tcPr>
                    <a:solidFill>
                      <a:srgbClr val="F3F6FB"/>
                    </a:solidFill>
                  </a:tcPr>
                </a:tc>
                <a:tc>
                  <a:txBody>
                    <a:bodyPr/>
                    <a:lstStyle/>
                    <a:p>
                      <a:r>
                        <a:rPr sz="1200" b="0">
                          <a:solidFill>
                            <a:srgbClr val="262626"/>
                          </a:solidFill>
                        </a:rPr>
                        <a:t>Education, Wealth, Self-rated health</a:t>
                      </a:r>
                    </a:p>
                  </a:txBody>
                  <a:tcPr>
                    <a:solidFill>
                      <a:srgbClr val="F3F6FB"/>
                    </a:solidFill>
                  </a:tcPr>
                </a:tc>
                <a:tc>
                  <a:txBody>
                    <a:bodyPr/>
                    <a:lstStyle/>
                    <a:p>
                      <a:r>
                        <a:rPr sz="1200" b="0">
                          <a:solidFill>
                            <a:srgbClr val="262626"/>
                          </a:solidFill>
                        </a:rPr>
                        <a:t>3</a:t>
                      </a:r>
                    </a:p>
                  </a:txBody>
                  <a:tcPr>
                    <a:solidFill>
                      <a:srgbClr val="F3F6FB"/>
                    </a:solidFill>
                  </a:tcPr>
                </a:tc>
              </a:tr>
              <a:tr h="500000">
                <a:tc>
                  <a:txBody>
                    <a:bodyPr/>
                    <a:lstStyle/>
                    <a:p>
                      <a:r>
                        <a:rPr sz="1200" b="1">
                          <a:solidFill>
                            <a:srgbClr val="1B5697"/>
                          </a:solidFill>
                        </a:rPr>
                        <a:t>Economic</a:t>
                      </a:r>
                    </a:p>
                  </a:txBody>
                  <a:tcPr>
                    <a:solidFill>
                      <a:srgbClr val="FFFFFF"/>
                    </a:solidFill>
                  </a:tcPr>
                </a:tc>
                <a:tc>
                  <a:txBody>
                    <a:bodyPr/>
                    <a:lstStyle/>
                    <a:p>
                      <a:r>
                        <a:rPr sz="1200" b="0">
                          <a:solidFill>
                            <a:srgbClr val="262626"/>
                          </a:solidFill>
                        </a:rPr>
                        <a:t>Monthly income, Family history</a:t>
                      </a:r>
                    </a:p>
                  </a:txBody>
                  <a:tcPr>
                    <a:solidFill>
                      <a:srgbClr val="FFFFFF"/>
                    </a:solidFill>
                  </a:tcPr>
                </a:tc>
                <a:tc>
                  <a:txBody>
                    <a:bodyPr/>
                    <a:lstStyle/>
                    <a:p>
                      <a:r>
                        <a:rPr sz="1200" b="0">
                          <a:solidFill>
                            <a:srgbClr val="262626"/>
                          </a:solidFill>
                        </a:rPr>
                        <a:t>2</a:t>
                      </a:r>
                    </a:p>
                  </a:txBody>
                  <a:tcPr>
                    <a:solidFill>
                      <a:srgbClr val="FFFFFF"/>
                    </a:solidFill>
                  </a:tcPr>
                </a:tc>
              </a:tr>
              <a:tr h="500000">
                <a:tc>
                  <a:txBody>
                    <a:bodyPr/>
                    <a:lstStyle/>
                    <a:p>
                      <a:r>
                        <a:rPr sz="1200" b="1">
                          <a:solidFill>
                            <a:srgbClr val="1B5697"/>
                          </a:solidFill>
                        </a:rPr>
                        <a:t>Clinical Flags</a:t>
                      </a:r>
                    </a:p>
                  </a:txBody>
                  <a:tcPr>
                    <a:solidFill>
                      <a:srgbClr val="F3F6FB"/>
                    </a:solidFill>
                  </a:tcPr>
                </a:tc>
                <a:tc>
                  <a:txBody>
                    <a:bodyPr/>
                    <a:lstStyle/>
                    <a:p>
                      <a:r>
                        <a:rPr sz="1200" b="0">
                          <a:solidFill>
                            <a:srgbClr val="262626"/>
                          </a:solidFill>
                        </a:rPr>
                        <a:t>Hypertension, Diabetes, Heart, COPD, Arthritis, TB, Hepatitis B</a:t>
                      </a:r>
                    </a:p>
                  </a:txBody>
                  <a:tcPr>
                    <a:solidFill>
                      <a:srgbClr val="F3F6FB"/>
                    </a:solidFill>
                  </a:tcPr>
                </a:tc>
                <a:tc>
                  <a:txBody>
                    <a:bodyPr/>
                    <a:lstStyle/>
                    <a:p>
                      <a:r>
                        <a:rPr sz="1200" b="0">
                          <a:solidFill>
                            <a:srgbClr val="262626"/>
                          </a:solidFill>
                        </a:rPr>
                        <a:t>7+1</a:t>
                      </a:r>
                    </a:p>
                  </a:txBody>
                  <a:tcPr>
                    <a:solidFill>
                      <a:srgbClr val="F3F6FB"/>
                    </a:solidFill>
                  </a:tcPr>
                </a:tc>
              </a:tr>
              <a:tr h="500000">
                <a:tc>
                  <a:txBody>
                    <a:bodyPr/>
                    <a:lstStyle/>
                    <a:p>
                      <a:r>
                        <a:rPr sz="1200" b="1">
                          <a:solidFill>
                            <a:srgbClr val="1B5697"/>
                          </a:solidFill>
                        </a:rPr>
                        <a:t>Region (one-hot)</a:t>
                      </a:r>
                    </a:p>
                  </a:txBody>
                  <a:tcPr>
                    <a:solidFill>
                      <a:srgbClr val="FFFFFF"/>
                    </a:solidFill>
                  </a:tcPr>
                </a:tc>
                <a:tc>
                  <a:txBody>
                    <a:bodyPr/>
                    <a:lstStyle/>
                    <a:p>
                      <a:r>
                        <a:rPr sz="1200" b="0">
                          <a:solidFill>
                            <a:srgbClr val="262626"/>
                          </a:solidFill>
                        </a:rPr>
                        <a:t>8 macro-regions (CDHS 2021-22)</a:t>
                      </a:r>
                    </a:p>
                  </a:txBody>
                  <a:tcPr>
                    <a:solidFill>
                      <a:srgbClr val="FFFFFF"/>
                    </a:solidFill>
                  </a:tcPr>
                </a:tc>
                <a:tc>
                  <a:txBody>
                    <a:bodyPr/>
                    <a:lstStyle/>
                    <a:p>
                      <a:r>
                        <a:rPr sz="1200" b="0">
                          <a:solidFill>
                            <a:srgbClr val="262626"/>
                          </a:solidFill>
                        </a:rPr>
                        <a:t>8</a:t>
                      </a:r>
                    </a:p>
                  </a:txBody>
                  <a:tcPr>
                    <a:solidFill>
                      <a:srgbClr val="FFFFFF"/>
                    </a:solidFill>
                  </a:tcPr>
                </a:tc>
              </a:tr>
              <a:tr h="500000">
                <a:tc>
                  <a:txBody>
                    <a:bodyPr/>
                    <a:lstStyle/>
                    <a:p>
                      <a:r>
                        <a:rPr sz="1200" b="1">
                          <a:solidFill>
                            <a:srgbClr val="1B5697"/>
                          </a:solidFill>
                        </a:rPr>
                        <a:t>Occupation (one-hot)</a:t>
                      </a:r>
                    </a:p>
                  </a:txBody>
                  <a:tcPr>
                    <a:solidFill>
                      <a:srgbClr val="F3F6FB"/>
                    </a:solidFill>
                  </a:tcPr>
                </a:tc>
                <a:tc>
                  <a:txBody>
                    <a:bodyPr/>
                    <a:lstStyle/>
                    <a:p>
                      <a:r>
                        <a:rPr sz="1200" b="0">
                          <a:solidFill>
                            <a:srgbClr val="262626"/>
                          </a:solidFill>
                        </a:rPr>
                        <a:t>Rice farmer 28%, Garment 20%, Market vendor 15%, Moto 12%…</a:t>
                      </a:r>
                    </a:p>
                  </a:txBody>
                  <a:tcPr>
                    <a:solidFill>
                      <a:srgbClr val="F3F6FB"/>
                    </a:solidFill>
                  </a:tcPr>
                </a:tc>
                <a:tc>
                  <a:txBody>
                    <a:bodyPr/>
                    <a:lstStyle/>
                    <a:p>
                      <a:r>
                        <a:rPr sz="1200" b="0">
                          <a:solidFill>
                            <a:srgbClr val="262626"/>
                          </a:solidFill>
                        </a:rPr>
                        <a:t>7</a:t>
                      </a:r>
                    </a:p>
                  </a:txBody>
                  <a:tcPr>
                    <a:solidFill>
                      <a:srgbClr val="F3F6FB"/>
                    </a:solidFill>
                  </a:tcPr>
                </a:tc>
              </a:tr>
            </a:tbl>
          </a:graphicData>
        </a:graphic>
      </p:graphicFrame>
      <p:sp>
        <p:nvSpPr>
          <p:cNvPr id="14" name="Rectangle 1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6" name="Rectangle 1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8" name="Rectangle 1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10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ACTUARIAL REWARD</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3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Bandit
Policy</a:t>
            </a:r>
          </a:p>
        </p:txBody>
      </p:sp>
      <p:sp>
        <p:nvSpPr>
          <p:cNvPr id="11" name="TextBox 10"/>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2" name="Rectangle 11"/>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Underwriting
Action</a:t>
            </a:r>
          </a:p>
        </p:txBody>
      </p:sp>
      <p:sp>
        <p:nvSpPr>
          <p:cNvPr id="14" name="TextBox 13"/>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5" name="Rectangle 14"/>
          <p:cNvSpPr/>
          <p:nvPr/>
        </p:nvSpPr>
        <p:spPr>
          <a:xfrm>
            <a:off x="61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Actuarial
Reward</a:t>
            </a:r>
          </a:p>
        </p:txBody>
      </p:sp>
      <p:sp>
        <p:nvSpPr>
          <p:cNvPr id="18" name="TextBox 17"/>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9" name="Rectangle 18"/>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each underwriting action is scored into an actuarial reward.</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11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ACTUARIAL REWARD SIMULATOR (TABLE 8)</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Reward = Premium Revenue − Expected Claims  (noise ±8%)  ·  Adverse-selection factor 1.35 when risk multiplier m &gt; 2.0  ·  Elasticity slope 3.5</a:t>
            </a:r>
          </a:p>
        </p:txBody>
      </p:sp>
      <p:graphicFrame>
        <p:nvGraphicFramePr>
          <p:cNvPr id="6" name="Table 5"/>
          <p:cNvGraphicFramePr>
            <a:graphicFrameLocks noGrp="1"/>
          </p:cNvGraphicFramePr>
          <p:nvPr/>
        </p:nvGraphicFramePr>
        <p:xfrm>
          <a:off x="457200" y="1700000"/>
          <a:ext cx="11277295" cy="36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720000">
                <a:tc>
                  <a:txBody>
                    <a:bodyPr/>
                    <a:lstStyle/>
                    <a:p>
                      <a:r>
                        <a:rPr b="1" sz="1300">
                          <a:solidFill>
                            <a:srgbClr val="FFFFFF"/>
                          </a:solidFill>
                        </a:rPr>
                        <a:t>Arm</a:t>
                      </a:r>
                    </a:p>
                  </a:txBody>
                  <a:tcPr>
                    <a:solidFill>
                      <a:srgbClr val="1B5697"/>
                    </a:solidFill>
                  </a:tcPr>
                </a:tc>
                <a:tc>
                  <a:txBody>
                    <a:bodyPr/>
                    <a:lstStyle/>
                    <a:p>
                      <a:r>
                        <a:rPr b="1" sz="1300">
                          <a:solidFill>
                            <a:srgbClr val="FFFFFF"/>
                          </a:solidFill>
                        </a:rPr>
                        <a:t>Base Premium</a:t>
                      </a:r>
                    </a:p>
                  </a:txBody>
                  <a:tcPr>
                    <a:solidFill>
                      <a:srgbClr val="1B5697"/>
                    </a:solidFill>
                  </a:tcPr>
                </a:tc>
                <a:tc>
                  <a:txBody>
                    <a:bodyPr/>
                    <a:lstStyle/>
                    <a:p>
                      <a:r>
                        <a:rPr b="1" sz="1300">
                          <a:solidFill>
                            <a:srgbClr val="FFFFFF"/>
                          </a:solidFill>
                        </a:rPr>
                        <a:t>Expected Claims</a:t>
                      </a:r>
                    </a:p>
                  </a:txBody>
                  <a:tcPr>
                    <a:solidFill>
                      <a:srgbClr val="1B5697"/>
                    </a:solidFill>
                  </a:tcPr>
                </a:tc>
                <a:tc>
                  <a:txBody>
                    <a:bodyPr/>
                    <a:lstStyle/>
                    <a:p>
                      <a:r>
                        <a:rPr b="1" sz="1300">
                          <a:solidFill>
                            <a:srgbClr val="FFFFFF"/>
                          </a:solidFill>
                        </a:rPr>
                        <a:t>Acceptance Prob.</a:t>
                      </a:r>
                    </a:p>
                  </a:txBody>
                  <a:tcPr>
                    <a:solidFill>
                      <a:srgbClr val="1B5697"/>
                    </a:solidFill>
                  </a:tcPr>
                </a:tc>
                <a:tc>
                  <a:txBody>
                    <a:bodyPr/>
                    <a:lstStyle/>
                    <a:p>
                      <a:r>
                        <a:rPr b="1" sz="1300">
                          <a:solidFill>
                            <a:srgbClr val="FFFFFF"/>
                          </a:solidFill>
                        </a:rPr>
                        <a:t>Net Reward Formula</a:t>
                      </a:r>
                    </a:p>
                  </a:txBody>
                  <a:tcPr>
                    <a:solidFill>
                      <a:srgbClr val="1B5697"/>
                    </a:solidFill>
                  </a:tcPr>
                </a:tc>
              </a:tr>
              <a:tr h="720000">
                <a:tc>
                  <a:txBody>
                    <a:bodyPr/>
                    <a:lstStyle/>
                    <a:p>
                      <a:r>
                        <a:rPr sz="1300" b="1">
                          <a:solidFill>
                            <a:srgbClr val="1B5697"/>
                          </a:solidFill>
                        </a:rPr>
                        <a:t>STANDARD</a:t>
                      </a:r>
                    </a:p>
                  </a:txBody>
                  <a:tcPr>
                    <a:solidFill>
                      <a:srgbClr val="D4E6F7"/>
                    </a:solidFill>
                  </a:tcPr>
                </a:tc>
                <a:tc>
                  <a:txBody>
                    <a:bodyPr/>
                    <a:lstStyle/>
                    <a:p>
                      <a:r>
                        <a:rPr sz="1300" b="0">
                          <a:solidFill>
                            <a:srgbClr val="262626"/>
                          </a:solidFill>
                        </a:rPr>
                        <a:t>$200 × m</a:t>
                      </a:r>
                    </a:p>
                  </a:txBody>
                  <a:tcPr>
                    <a:solidFill>
                      <a:srgbClr val="D4E6F7"/>
                    </a:solidFill>
                  </a:tcPr>
                </a:tc>
                <a:tc>
                  <a:txBody>
                    <a:bodyPr/>
                    <a:lstStyle/>
                    <a:p>
                      <a:r>
                        <a:rPr sz="1300" b="0">
                          <a:solidFill>
                            <a:srgbClr val="262626"/>
                          </a:solidFill>
                        </a:rPr>
                        <a:t>$150 × m</a:t>
                      </a:r>
                    </a:p>
                  </a:txBody>
                  <a:tcPr>
                    <a:solidFill>
                      <a:srgbClr val="D4E6F7"/>
                    </a:solidFill>
                  </a:tcPr>
                </a:tc>
                <a:tc>
                  <a:txBody>
                    <a:bodyPr/>
                    <a:lstStyle/>
                    <a:p>
                      <a:r>
                        <a:rPr sz="1300" b="0">
                          <a:solidFill>
                            <a:srgbClr val="262626"/>
                          </a:solidFill>
                        </a:rPr>
                        <a:t>High</a:t>
                      </a:r>
                    </a:p>
                  </a:txBody>
                  <a:tcPr>
                    <a:solidFill>
                      <a:srgbClr val="D4E6F7"/>
                    </a:solidFill>
                  </a:tcPr>
                </a:tc>
                <a:tc>
                  <a:txBody>
                    <a:bodyPr/>
                    <a:lstStyle/>
                    <a:p>
                      <a:r>
                        <a:rPr sz="1300" b="0">
                          <a:solidFill>
                            <a:srgbClr val="262626"/>
                          </a:solidFill>
                        </a:rPr>
                        <a:t>Premium − Claims ± noise</a:t>
                      </a:r>
                    </a:p>
                  </a:txBody>
                  <a:tcPr>
                    <a:solidFill>
                      <a:srgbClr val="D4E6F7"/>
                    </a:solidFill>
                  </a:tcPr>
                </a:tc>
              </a:tr>
              <a:tr h="720000">
                <a:tc>
                  <a:txBody>
                    <a:bodyPr/>
                    <a:lstStyle/>
                    <a:p>
                      <a:r>
                        <a:rPr sz="1300" b="1">
                          <a:solidFill>
                            <a:srgbClr val="1B5697"/>
                          </a:solidFill>
                        </a:rPr>
                        <a:t>RATED</a:t>
                      </a:r>
                    </a:p>
                  </a:txBody>
                  <a:tcPr>
                    <a:solidFill>
                      <a:srgbClr val="FEF3CD"/>
                    </a:solidFill>
                  </a:tcPr>
                </a:tc>
                <a:tc>
                  <a:txBody>
                    <a:bodyPr/>
                    <a:lstStyle/>
                    <a:p>
                      <a:r>
                        <a:rPr sz="1300" b="0">
                          <a:solidFill>
                            <a:srgbClr val="262626"/>
                          </a:solidFill>
                        </a:rPr>
                        <a:t>$200 × m × load</a:t>
                      </a:r>
                    </a:p>
                  </a:txBody>
                  <a:tcPr>
                    <a:solidFill>
                      <a:srgbClr val="FEF3CD"/>
                    </a:solidFill>
                  </a:tcPr>
                </a:tc>
                <a:tc>
                  <a:txBody>
                    <a:bodyPr/>
                    <a:lstStyle/>
                    <a:p>
                      <a:r>
                        <a:rPr sz="1300" b="0">
                          <a:solidFill>
                            <a:srgbClr val="262626"/>
                          </a:solidFill>
                        </a:rPr>
                        <a:t>$150 × m × 1.35 (if m&gt;2)</a:t>
                      </a:r>
                    </a:p>
                  </a:txBody>
                  <a:tcPr>
                    <a:solidFill>
                      <a:srgbClr val="FEF3CD"/>
                    </a:solidFill>
                  </a:tcPr>
                </a:tc>
                <a:tc>
                  <a:txBody>
                    <a:bodyPr/>
                    <a:lstStyle/>
                    <a:p>
                      <a:r>
                        <a:rPr sz="1300" b="0">
                          <a:solidFill>
                            <a:srgbClr val="262626"/>
                          </a:solidFill>
                        </a:rPr>
                        <a:t>Medium (elasticity −3.5 slope)</a:t>
                      </a:r>
                    </a:p>
                  </a:txBody>
                  <a:tcPr>
                    <a:solidFill>
                      <a:srgbClr val="FEF3CD"/>
                    </a:solidFill>
                  </a:tcPr>
                </a:tc>
                <a:tc>
                  <a:txBody>
                    <a:bodyPr/>
                    <a:lstStyle/>
                    <a:p>
                      <a:r>
                        <a:rPr sz="1300" b="0">
                          <a:solidFill>
                            <a:srgbClr val="262626"/>
                          </a:solidFill>
                        </a:rPr>
                        <a:t>Premium − Claims ± noise</a:t>
                      </a:r>
                    </a:p>
                  </a:txBody>
                  <a:tcPr>
                    <a:solidFill>
                      <a:srgbClr val="FEF3CD"/>
                    </a:solidFill>
                  </a:tcPr>
                </a:tc>
              </a:tr>
              <a:tr h="720000">
                <a:tc>
                  <a:txBody>
                    <a:bodyPr/>
                    <a:lstStyle/>
                    <a:p>
                      <a:r>
                        <a:rPr sz="1300" b="1">
                          <a:solidFill>
                            <a:srgbClr val="1B5697"/>
                          </a:solidFill>
                        </a:rPr>
                        <a:t>DECLINE</a:t>
                      </a:r>
                    </a:p>
                  </a:txBody>
                  <a:tcPr>
                    <a:solidFill>
                      <a:srgbClr val="F8E7E7"/>
                    </a:solidFill>
                  </a:tcPr>
                </a:tc>
                <a:tc>
                  <a:txBody>
                    <a:bodyPr/>
                    <a:lstStyle/>
                    <a:p>
                      <a:r>
                        <a:rPr sz="1300" b="0">
                          <a:solidFill>
                            <a:srgbClr val="262626"/>
                          </a:solidFill>
                        </a:rPr>
                        <a:t>$0</a:t>
                      </a:r>
                    </a:p>
                  </a:txBody>
                  <a:tcPr>
                    <a:solidFill>
                      <a:srgbClr val="F8E7E7"/>
                    </a:solidFill>
                  </a:tcPr>
                </a:tc>
                <a:tc>
                  <a:txBody>
                    <a:bodyPr/>
                    <a:lstStyle/>
                    <a:p>
                      <a:r>
                        <a:rPr sz="1300" b="0">
                          <a:solidFill>
                            <a:srgbClr val="262626"/>
                          </a:solidFill>
                        </a:rPr>
                        <a:t>$0</a:t>
                      </a:r>
                    </a:p>
                  </a:txBody>
                  <a:tcPr>
                    <a:solidFill>
                      <a:srgbClr val="F8E7E7"/>
                    </a:solidFill>
                  </a:tcPr>
                </a:tc>
                <a:tc>
                  <a:txBody>
                    <a:bodyPr/>
                    <a:lstStyle/>
                    <a:p>
                      <a:r>
                        <a:rPr sz="1300" b="0">
                          <a:solidFill>
                            <a:srgbClr val="262626"/>
                          </a:solidFill>
                        </a:rPr>
                        <a:t>N/A</a:t>
                      </a:r>
                    </a:p>
                  </a:txBody>
                  <a:tcPr>
                    <a:solidFill>
                      <a:srgbClr val="F8E7E7"/>
                    </a:solidFill>
                  </a:tcPr>
                </a:tc>
                <a:tc>
                  <a:txBody>
                    <a:bodyPr/>
                    <a:lstStyle/>
                    <a:p>
                      <a:r>
                        <a:rPr sz="1300" b="0">
                          <a:solidFill>
                            <a:srgbClr val="262626"/>
                          </a:solidFill>
                        </a:rPr>
                        <a:t>−$10 (opportunity cost)</a:t>
                      </a:r>
                    </a:p>
                  </a:txBody>
                  <a:tcPr>
                    <a:solidFill>
                      <a:srgbClr val="F8E7E7"/>
                    </a:solidFill>
                  </a:tcPr>
                </a:tc>
              </a:tr>
              <a:tr h="720000">
                <a:tc>
                  <a:txBody>
                    <a:bodyPr/>
                    <a:lstStyle/>
                    <a:p>
                      <a:r>
                        <a:rPr sz="1300" b="1">
                          <a:solidFill>
                            <a:srgbClr val="1B5697"/>
                          </a:solidFill>
                        </a:rPr>
                        <a:t>REFER</a:t>
                      </a:r>
                    </a:p>
                  </a:txBody>
                  <a:tcPr>
                    <a:solidFill>
                      <a:srgbClr val="E7F4E8"/>
                    </a:solidFill>
                  </a:tcPr>
                </a:tc>
                <a:tc>
                  <a:txBody>
                    <a:bodyPr/>
                    <a:lstStyle/>
                    <a:p>
                      <a:r>
                        <a:rPr sz="1300" b="0">
                          <a:solidFill>
                            <a:srgbClr val="262626"/>
                          </a:solidFill>
                        </a:rPr>
                        <a:t>Deferred</a:t>
                      </a:r>
                    </a:p>
                  </a:txBody>
                  <a:tcPr>
                    <a:solidFill>
                      <a:srgbClr val="E7F4E8"/>
                    </a:solidFill>
                  </a:tcPr>
                </a:tc>
                <a:tc>
                  <a:txBody>
                    <a:bodyPr/>
                    <a:lstStyle/>
                    <a:p>
                      <a:r>
                        <a:rPr sz="1300" b="0">
                          <a:solidFill>
                            <a:srgbClr val="262626"/>
                          </a:solidFill>
                        </a:rPr>
                        <a:t>Deferred</a:t>
                      </a:r>
                    </a:p>
                  </a:txBody>
                  <a:tcPr>
                    <a:solidFill>
                      <a:srgbClr val="E7F4E8"/>
                    </a:solidFill>
                  </a:tcPr>
                </a:tc>
                <a:tc>
                  <a:txBody>
                    <a:bodyPr/>
                    <a:lstStyle/>
                    <a:p>
                      <a:r>
                        <a:rPr sz="1300" b="0">
                          <a:solidFill>
                            <a:srgbClr val="262626"/>
                          </a:solidFill>
                        </a:rPr>
                        <a:t>Deferred to human</a:t>
                      </a:r>
                    </a:p>
                  </a:txBody>
                  <a:tcPr>
                    <a:solidFill>
                      <a:srgbClr val="E7F4E8"/>
                    </a:solidFill>
                  </a:tcPr>
                </a:tc>
                <a:tc>
                  <a:txBody>
                    <a:bodyPr/>
                    <a:lstStyle/>
                    <a:p>
                      <a:r>
                        <a:rPr sz="1300" b="0">
                          <a:solidFill>
                            <a:srgbClr val="262626"/>
                          </a:solidFill>
                        </a:rPr>
                        <a:t>0.70 × max(r) − $35</a:t>
                      </a:r>
                    </a:p>
                  </a:txBody>
                  <a:tcPr>
                    <a:solidFill>
                      <a:srgbClr val="E7F4E8"/>
                    </a:solidFill>
                  </a:tcPr>
                </a:tc>
              </a:tr>
            </a:tbl>
          </a:graphicData>
        </a:graphic>
      </p:graphicFrame>
      <p:sp>
        <p:nvSpPr>
          <p:cNvPr id="7" name="TextBox 6"/>
          <p:cNvSpPr txBox="1"/>
          <p:nvPr/>
        </p:nvSpPr>
        <p:spPr>
          <a:xfrm>
            <a:off x="457200" y="5450000"/>
            <a:ext cx="11277295" cy="7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Design rationale: DECLINE penalty prevents over-rejection; REFER formula incentivises selective escalation rather than blanket referral.</a:t>
            </a:r>
          </a:p>
        </p:txBody>
      </p:sp>
      <p:sp>
        <p:nvSpPr>
          <p:cNvPr id="8" name="Rectangle 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Rectangle 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2" name="Rectangle 1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11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BANDIT POLICY &amp; ACTION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3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Bandit
Policy</a:t>
            </a:r>
          </a:p>
        </p:txBody>
      </p:sp>
      <p:sp>
        <p:nvSpPr>
          <p:cNvPr id="12" name="TextBox 11"/>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3" name="Rectangle 12"/>
          <p:cNvSpPr/>
          <p:nvPr/>
        </p:nvSpPr>
        <p:spPr>
          <a:xfrm>
            <a:off x="44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Underwriting
Action</a:t>
            </a:r>
          </a:p>
        </p:txBody>
      </p:sp>
      <p:sp>
        <p:nvSpPr>
          <p:cNvPr id="16" name="TextBox 15"/>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7" name="Rectangle 16"/>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Actuarial
Reward</a:t>
            </a:r>
          </a:p>
        </p:txBody>
      </p:sp>
      <p:sp>
        <p:nvSpPr>
          <p:cNvPr id="19" name="TextBox 18"/>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0" name="Rectangle 19"/>
          <p:cNvSpPr/>
          <p:nvPr/>
        </p:nvSpPr>
        <p:spPr>
          <a:xfrm>
            <a:off x="78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PSI + HITL
Guardrail</a:t>
            </a:r>
          </a:p>
        </p:txBody>
      </p:sp>
      <p:sp>
        <p:nvSpPr>
          <p:cNvPr id="22" name="TextBox 21"/>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3" name="Rectangle 22"/>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Decision</a:t>
            </a:r>
          </a:p>
        </p:txBody>
      </p:sp>
      <p:sp>
        <p:nvSpPr>
          <p:cNvPr id="25" name="TextBox 24"/>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how the bandit reads the context and selects an underwriting action.</a:t>
            </a:r>
          </a:p>
        </p:txBody>
      </p:sp>
      <p:sp>
        <p:nvSpPr>
          <p:cNvPr id="26" name="Rectangle 2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8" name="Rectangle 2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0" name="Rectangle 2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12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BANDIT IN ACTION: SOPHEA’S CONTEXT &amp; ARM SCORES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5488647" cy="52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00000"/>
            <a:ext cx="91440" cy="52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2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Sophea’s Context Vector (34 dims, key shown)</a:t>
            </a:r>
          </a:p>
        </p:txBody>
      </p:sp>
      <p:sp>
        <p:nvSpPr>
          <p:cNvPr id="8" name="TextBox 7"/>
          <p:cNvSpPr txBox="1"/>
          <p:nvPr/>
        </p:nvSpPr>
        <p:spPr>
          <a:xfrm>
            <a:off x="627200" y="1620000"/>
            <a:ext cx="5288647" cy="4400000"/>
          </a:xfrm>
          <a:prstGeom prst="rect">
            <a:avLst/>
          </a:prstGeom>
          <a:noFill/>
        </p:spPr>
        <p:txBody>
          <a:bodyPr wrap="square">
            <a:spAutoFit/>
          </a:bodyPr>
          <a:lstStyle/>
          <a:p>
            <a:pPr>
              <a:spcBef>
                <a:spcPts val="800"/>
              </a:spcBef>
            </a:pPr>
            <a:r>
              <a:rPr sz="1300" b="1">
                <a:solidFill>
                  <a:srgbClr val="1B5697"/>
                </a:solidFill>
              </a:rPr>
              <a:t>age_std:  </a:t>
            </a:r>
            <a:r>
              <a:rPr sz="1300">
                <a:solidFill>
                  <a:srgbClr val="262626"/>
                </a:solidFill>
              </a:rPr>
              <a:t>0.3</a:t>
            </a:r>
          </a:p>
          <a:p>
            <a:pPr>
              <a:spcBef>
                <a:spcPts val="800"/>
              </a:spcBef>
            </a:pPr>
            <a:r>
              <a:rPr sz="1300" b="1">
                <a:solidFill>
                  <a:srgbClr val="1B5697"/>
                </a:solidFill>
              </a:rPr>
              <a:t>bmi_std:  </a:t>
            </a:r>
            <a:r>
              <a:rPr sz="1300">
                <a:solidFill>
                  <a:srgbClr val="262626"/>
                </a:solidFill>
              </a:rPr>
              <a:t>−0.1</a:t>
            </a:r>
          </a:p>
          <a:p>
            <a:pPr>
              <a:spcBef>
                <a:spcPts val="800"/>
              </a:spcBef>
            </a:pPr>
            <a:r>
              <a:rPr sz="1300" b="1">
                <a:solidFill>
                  <a:srgbClr val="1B5697"/>
                </a:solidFill>
              </a:rPr>
              <a:t>smoker:  </a:t>
            </a:r>
            <a:r>
              <a:rPr sz="1300">
                <a:solidFill>
                  <a:srgbClr val="262626"/>
                </a:solidFill>
              </a:rPr>
              <a:t>0  (non-smoker)</a:t>
            </a:r>
          </a:p>
          <a:p>
            <a:pPr>
              <a:spcBef>
                <a:spcPts val="800"/>
              </a:spcBef>
            </a:pPr>
            <a:r>
              <a:rPr sz="1300" b="1">
                <a:solidFill>
                  <a:srgbClr val="1B5697"/>
                </a:solidFill>
              </a:rPr>
              <a:t>hypertension:  </a:t>
            </a:r>
            <a:r>
              <a:rPr sz="1300">
                <a:solidFill>
                  <a:srgbClr val="262626"/>
                </a:solidFill>
              </a:rPr>
              <a:t>1  (managed)</a:t>
            </a:r>
          </a:p>
          <a:p>
            <a:pPr>
              <a:spcBef>
                <a:spcPts val="800"/>
              </a:spcBef>
            </a:pPr>
            <a:r>
              <a:rPr sz="1300" b="1">
                <a:solidFill>
                  <a:srgbClr val="1B5697"/>
                </a:solidFill>
              </a:rPr>
              <a:t>kampong_cham:  </a:t>
            </a:r>
            <a:r>
              <a:rPr sz="1300">
                <a:solidFill>
                  <a:srgbClr val="262626"/>
                </a:solidFill>
              </a:rPr>
              <a:t>1  (region one-hot)</a:t>
            </a:r>
          </a:p>
          <a:p>
            <a:pPr>
              <a:spcBef>
                <a:spcPts val="800"/>
              </a:spcBef>
            </a:pPr>
            <a:r>
              <a:rPr sz="1300" b="1">
                <a:solidFill>
                  <a:srgbClr val="1B5697"/>
                </a:solidFill>
              </a:rPr>
              <a:t>agriculture:  </a:t>
            </a:r>
            <a:r>
              <a:rPr sz="1300">
                <a:solidFill>
                  <a:srgbClr val="262626"/>
                </a:solidFill>
              </a:rPr>
              <a:t>1  (occupation one-hot)</a:t>
            </a:r>
          </a:p>
          <a:p>
            <a:pPr>
              <a:spcBef>
                <a:spcPts val="800"/>
              </a:spcBef>
            </a:pPr>
            <a:r>
              <a:rPr sz="1300" b="1">
                <a:solidFill>
                  <a:srgbClr val="1B5697"/>
                </a:solidFill>
              </a:rPr>
              <a:t>wealth_low:  </a:t>
            </a:r>
            <a:r>
              <a:rPr sz="1300">
                <a:solidFill>
                  <a:srgbClr val="262626"/>
                </a:solidFill>
              </a:rPr>
              <a:t>1</a:t>
            </a:r>
          </a:p>
          <a:p>
            <a:pPr>
              <a:spcBef>
                <a:spcPts val="800"/>
              </a:spcBef>
            </a:pPr>
            <a:r>
              <a:rPr sz="1300" b="1">
                <a:solidFill>
                  <a:srgbClr val="1B5697"/>
                </a:solidFill>
              </a:rPr>
              <a:t>education_prim:  </a:t>
            </a:r>
            <a:r>
              <a:rPr sz="1300">
                <a:solidFill>
                  <a:srgbClr val="262626"/>
                </a:solidFill>
              </a:rPr>
              <a:t>1</a:t>
            </a:r>
          </a:p>
          <a:p>
            <a:pPr>
              <a:spcBef>
                <a:spcPts val="800"/>
              </a:spcBef>
            </a:pPr>
            <a:r>
              <a:rPr sz="1300" b="1">
                <a:solidFill>
                  <a:srgbClr val="1B5697"/>
                </a:solidFill>
              </a:rPr>
              <a:t>… 26 more:  </a:t>
            </a:r>
            <a:r>
              <a:rPr sz="1300">
                <a:solidFill>
                  <a:srgbClr val="262626"/>
                </a:solidFill>
              </a:rPr>
              <a:t>—</a:t>
            </a:r>
          </a:p>
        </p:txBody>
      </p:sp>
      <p:sp>
        <p:nvSpPr>
          <p:cNvPr id="9" name="Rectangle 8"/>
          <p:cNvSpPr/>
          <p:nvPr/>
        </p:nvSpPr>
        <p:spPr>
          <a:xfrm>
            <a:off x="6245847" y="1100000"/>
            <a:ext cx="5488648" cy="24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100000"/>
            <a:ext cx="91440" cy="24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220000"/>
            <a:ext cx="5308648"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LinUCB Arm Score Formula</a:t>
            </a:r>
          </a:p>
        </p:txBody>
      </p:sp>
      <p:sp>
        <p:nvSpPr>
          <p:cNvPr id="12" name="TextBox 11"/>
          <p:cNvSpPr txBox="1"/>
          <p:nvPr/>
        </p:nvSpPr>
        <p:spPr>
          <a:xfrm>
            <a:off x="6395847" y="1640000"/>
            <a:ext cx="5308648" cy="17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UCBᵃ(x) = θ̂ᵃᵀ x  +  α × √(xᵀ Aᵃ⁻¹ x)</a:t>
            </a:r>
          </a:p>
          <a:p>
            <a:pPr algn="l">
              <a:spcBef>
                <a:spcPts val="400"/>
              </a:spcBef>
            </a:pPr>
            <a:r>
              <a:rPr sz="1300" b="0" i="0">
                <a:solidFill>
                  <a:srgbClr val="505050"/>
                </a:solidFill>
                <a:latin typeface="Calibri"/>
              </a:rPr>
              <a:t/>
            </a:r>
          </a:p>
          <a:p>
            <a:pPr algn="l">
              <a:spcBef>
                <a:spcPts val="400"/>
              </a:spcBef>
            </a:pPr>
            <a:r>
              <a:rPr sz="1300" b="0" i="0">
                <a:solidFill>
                  <a:srgbClr val="505050"/>
                </a:solidFill>
                <a:latin typeface="Calibri"/>
              </a:rPr>
              <a:t>θ̂ᵃ = posterior mean weights for arm a</a:t>
            </a:r>
          </a:p>
          <a:p>
            <a:pPr algn="l">
              <a:spcBef>
                <a:spcPts val="400"/>
              </a:spcBef>
            </a:pPr>
            <a:r>
              <a:rPr sz="1300" b="0" i="0">
                <a:solidFill>
                  <a:srgbClr val="505050"/>
                </a:solidFill>
                <a:latin typeface="Calibri"/>
              </a:rPr>
              <a:t>α = 1.0 — validated optimal via sensitivity sweep (App. A5)</a:t>
            </a:r>
          </a:p>
          <a:p>
            <a:pPr algn="l">
              <a:spcBef>
                <a:spcPts val="400"/>
              </a:spcBef>
            </a:pPr>
            <a:r>
              <a:rPr sz="1300" b="0" i="0">
                <a:solidFill>
                  <a:srgbClr val="505050"/>
                </a:solidFill>
                <a:latin typeface="Calibri"/>
              </a:rPr>
              <a:t>x = Sophea’s 34-dim context vector</a:t>
            </a:r>
          </a:p>
        </p:txBody>
      </p:sp>
      <p:sp>
        <p:nvSpPr>
          <p:cNvPr id="13" name="TextBox 12"/>
          <p:cNvSpPr txBox="1"/>
          <p:nvPr/>
        </p:nvSpPr>
        <p:spPr>
          <a:xfrm>
            <a:off x="6245847" y="3650000"/>
            <a:ext cx="5488648" cy="36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Arm Scores (LinUCB, Sophea):</a:t>
            </a:r>
          </a:p>
        </p:txBody>
      </p:sp>
      <p:sp>
        <p:nvSpPr>
          <p:cNvPr id="14" name="Rectangle 13"/>
          <p:cNvSpPr/>
          <p:nvPr/>
        </p:nvSpPr>
        <p:spPr>
          <a:xfrm>
            <a:off x="6245847" y="4100000"/>
            <a:ext cx="5488648" cy="4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5847" y="4180000"/>
            <a:ext cx="5248648" cy="340000"/>
          </a:xfrm>
          <a:prstGeom prst="rect">
            <a:avLst/>
          </a:prstGeom>
          <a:noFill/>
        </p:spPr>
        <p:txBody>
          <a:bodyPr wrap="square">
            <a:spAutoFit/>
          </a:bodyPr>
          <a:lstStyle/>
          <a:p>
            <a:pPr algn="l">
              <a:spcBef>
                <a:spcPts val="0"/>
              </a:spcBef>
              <a:spcAft>
                <a:spcPts val="0"/>
              </a:spcAft>
            </a:pPr>
            <a:r>
              <a:rPr sz="1500" b="0" i="0">
                <a:solidFill>
                  <a:srgbClr val="7D4E00"/>
                </a:solidFill>
                <a:latin typeface="Calibri"/>
              </a:rPr>
              <a:t>RATED:  0.31</a:t>
            </a:r>
          </a:p>
        </p:txBody>
      </p:sp>
      <p:sp>
        <p:nvSpPr>
          <p:cNvPr id="16" name="Rectangle 15"/>
          <p:cNvSpPr/>
          <p:nvPr/>
        </p:nvSpPr>
        <p:spPr>
          <a:xfrm>
            <a:off x="6245847" y="4660000"/>
            <a:ext cx="5488648" cy="48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5847" y="4740000"/>
            <a:ext cx="5248648" cy="34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STANDARD:  0.52</a:t>
            </a:r>
          </a:p>
        </p:txBody>
      </p:sp>
      <p:sp>
        <p:nvSpPr>
          <p:cNvPr id="18" name="Rectangle 17"/>
          <p:cNvSpPr/>
          <p:nvPr/>
        </p:nvSpPr>
        <p:spPr>
          <a:xfrm>
            <a:off x="6245847" y="4660000"/>
            <a:ext cx="5488648" cy="480000"/>
          </a:xfrm>
          <a:prstGeom prst="rect">
            <a:avLst/>
          </a:prstGeom>
          <a:noFill/>
          <a:ln>
            <a:solidFill>
              <a:srgbClr val="1B56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847" y="5220000"/>
            <a:ext cx="5488648" cy="48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847" y="5300000"/>
            <a:ext cx="5248648" cy="340000"/>
          </a:xfrm>
          <a:prstGeom prst="rect">
            <a:avLst/>
          </a:prstGeom>
          <a:noFill/>
        </p:spPr>
        <p:txBody>
          <a:bodyPr wrap="square">
            <a:spAutoFit/>
          </a:bodyPr>
          <a:lstStyle/>
          <a:p>
            <a:pPr algn="l">
              <a:spcBef>
                <a:spcPts val="0"/>
              </a:spcBef>
              <a:spcAft>
                <a:spcPts val="0"/>
              </a:spcAft>
            </a:pPr>
            <a:r>
              <a:rPr sz="1500" b="0" i="0">
                <a:solidFill>
                  <a:srgbClr val="D93B3B"/>
                </a:solidFill>
                <a:latin typeface="Calibri"/>
              </a:rPr>
              <a:t>DECLINE:  0.10</a:t>
            </a:r>
          </a:p>
        </p:txBody>
      </p:sp>
      <p:sp>
        <p:nvSpPr>
          <p:cNvPr id="21" name="Rectangle 20"/>
          <p:cNvSpPr/>
          <p:nvPr/>
        </p:nvSpPr>
        <p:spPr>
          <a:xfrm>
            <a:off x="6245847" y="5780000"/>
            <a:ext cx="5488648" cy="4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5847" y="5860000"/>
            <a:ext cx="5248648" cy="340000"/>
          </a:xfrm>
          <a:prstGeom prst="rect">
            <a:avLst/>
          </a:prstGeom>
          <a:noFill/>
        </p:spPr>
        <p:txBody>
          <a:bodyPr wrap="square">
            <a:spAutoFit/>
          </a:bodyPr>
          <a:lstStyle/>
          <a:p>
            <a:pPr algn="l">
              <a:spcBef>
                <a:spcPts val="0"/>
              </a:spcBef>
              <a:spcAft>
                <a:spcPts val="0"/>
              </a:spcAft>
            </a:pPr>
            <a:r>
              <a:rPr sz="1500" b="0" i="0">
                <a:solidFill>
                  <a:srgbClr val="2E8B57"/>
                </a:solidFill>
                <a:latin typeface="Calibri"/>
              </a:rPr>
              <a:t>REFER:  0.28</a:t>
            </a:r>
          </a:p>
        </p:txBody>
      </p:sp>
      <p:sp>
        <p:nvSpPr>
          <p:cNvPr id="23" name="TextBox 22"/>
          <p:cNvSpPr txBox="1"/>
          <p:nvPr/>
        </p:nvSpPr>
        <p:spPr>
          <a:xfrm>
            <a:off x="6245847" y="6350000"/>
            <a:ext cx="5488648"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 argmax = STANDARD  (Sophea gets coverage)</a:t>
            </a:r>
          </a:p>
        </p:txBody>
      </p:sp>
      <p:sp>
        <p:nvSpPr>
          <p:cNvPr id="24" name="Rectangle 23"/>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6" name="Rectangle 25"/>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8" name="Rectangle 27"/>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12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POLICY LADDER: CUMULATIVE REWARD OVER 5,000 ROUNDS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42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30000"/>
            <a:ext cx="11077295"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Sophea’s Round: argmax UCB = STANDARD  →  Policy issues coverage</a:t>
            </a:r>
          </a:p>
        </p:txBody>
      </p:sp>
      <p:graphicFrame>
        <p:nvGraphicFramePr>
          <p:cNvPr id="7" name="Table 6"/>
          <p:cNvGraphicFramePr>
            <a:graphicFrameLocks noGrp="1"/>
          </p:cNvGraphicFramePr>
          <p:nvPr/>
        </p:nvGraphicFramePr>
        <p:xfrm>
          <a:off x="457200" y="1680000"/>
          <a:ext cx="11277295" cy="44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550000">
                <a:tc>
                  <a:txBody>
                    <a:bodyPr/>
                    <a:lstStyle/>
                    <a:p>
                      <a:r>
                        <a:rPr b="1" sz="1300">
                          <a:solidFill>
                            <a:srgbClr val="FFFFFF"/>
                          </a:solidFill>
                        </a:rPr>
                        <a:t>Rank</a:t>
                      </a:r>
                    </a:p>
                  </a:txBody>
                  <a:tcPr>
                    <a:solidFill>
                      <a:srgbClr val="1B5697"/>
                    </a:solidFill>
                  </a:tcPr>
                </a:tc>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 Reward</a:t>
                      </a:r>
                    </a:p>
                  </a:txBody>
                  <a:tcPr>
                    <a:solidFill>
                      <a:srgbClr val="1B5697"/>
                    </a:solidFill>
                  </a:tcPr>
                </a:tc>
                <a:tc>
                  <a:txBody>
                    <a:bodyPr/>
                    <a:lstStyle/>
                    <a:p>
                      <a:r>
                        <a:rPr b="1" sz="1300">
                          <a:solidFill>
                            <a:srgbClr val="FFFFFF"/>
                          </a:solidFill>
                        </a:rPr>
                        <a:t>vs Static XGB</a:t>
                      </a:r>
                    </a:p>
                  </a:txBody>
                  <a:tcPr>
                    <a:solidFill>
                      <a:srgbClr val="1B5697"/>
                    </a:solidFill>
                  </a:tcPr>
                </a:tc>
                <a:tc>
                  <a:txBody>
                    <a:bodyPr/>
                    <a:lstStyle/>
                    <a:p>
                      <a:r>
                        <a:rPr b="1" sz="1300">
                          <a:solidFill>
                            <a:srgbClr val="FFFFFF"/>
                          </a:solidFill>
                        </a:rPr>
                        <a:t>Status</a:t>
                      </a:r>
                    </a:p>
                  </a:txBody>
                  <a:tcPr>
                    <a:solidFill>
                      <a:srgbClr val="1B5697"/>
                    </a:solidFill>
                  </a:tcPr>
                </a:tc>
              </a:tr>
              <a:tr h="550000">
                <a:tc>
                  <a:txBody>
                    <a:bodyPr/>
                    <a:lstStyle/>
                    <a:p>
                      <a:r>
                        <a:rPr sz="1300" b="1">
                          <a:solidFill>
                            <a:srgbClr val="1B5697"/>
                          </a:solidFill>
                        </a:rPr>
                        <a:t>1</a:t>
                      </a:r>
                    </a:p>
                  </a:txBody>
                  <a:tcPr>
                    <a:solidFill>
                      <a:srgbClr val="F3F6FB"/>
                    </a:solidFill>
                  </a:tcPr>
                </a:tc>
                <a:tc>
                  <a:txBody>
                    <a:bodyPr/>
                    <a:lstStyle/>
                    <a:p>
                      <a:r>
                        <a:rPr sz="1300" b="1">
                          <a:solidFill>
                            <a:srgbClr val="1B5697"/>
                          </a:solidFill>
                        </a:rPr>
                        <a:t>Oracle</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+75.6%</a:t>
                      </a:r>
                    </a:p>
                  </a:txBody>
                  <a:tcPr>
                    <a:solidFill>
                      <a:srgbClr val="F3F6FB"/>
                    </a:solidFill>
                  </a:tcPr>
                </a:tc>
                <a:tc>
                  <a:txBody>
                    <a:bodyPr/>
                    <a:lstStyle/>
                    <a:p>
                      <a:r>
                        <a:rPr sz="1300" b="0">
                          <a:solidFill>
                            <a:srgbClr val="262626"/>
                          </a:solidFill>
                        </a:rPr>
                        <a:t>Ceiling (inadmissible)</a:t>
                      </a:r>
                    </a:p>
                  </a:txBody>
                  <a:tcPr>
                    <a:solidFill>
                      <a:srgbClr val="F3F6FB"/>
                    </a:solidFill>
                  </a:tcPr>
                </a:tc>
              </a:tr>
              <a:tr h="550000">
                <a:tc>
                  <a:txBody>
                    <a:bodyPr/>
                    <a:lstStyle/>
                    <a:p>
                      <a:r>
                        <a:rPr sz="1300" b="1">
                          <a:solidFill>
                            <a:srgbClr val="1B5697"/>
                          </a:solidFill>
                        </a:rPr>
                        <a:t>2</a:t>
                      </a:r>
                    </a:p>
                  </a:txBody>
                  <a:tcPr>
                    <a:solidFill>
                      <a:srgbClr val="D4E6F7"/>
                    </a:solidFill>
                  </a:tcPr>
                </a:tc>
                <a:tc>
                  <a:txBody>
                    <a:bodyPr/>
                    <a:lstStyle/>
                    <a:p>
                      <a:r>
                        <a:rPr sz="1300" b="1">
                          <a:solidFill>
                            <a:srgbClr val="1B5697"/>
                          </a:solidFill>
                        </a:rPr>
                        <a:t>LinTS</a:t>
                      </a:r>
                    </a:p>
                  </a:txBody>
                  <a:tcPr>
                    <a:solidFill>
                      <a:srgbClr val="D4E6F7"/>
                    </a:solidFill>
                  </a:tcPr>
                </a:tc>
                <a:tc>
                  <a:txBody>
                    <a:bodyPr/>
                    <a:lstStyle/>
                    <a:p>
                      <a:r>
                        <a:rPr sz="1300" b="0">
                          <a:solidFill>
                            <a:srgbClr val="262626"/>
                          </a:solidFill>
                        </a:rPr>
                        <a:t> 93,723</a:t>
                      </a:r>
                    </a:p>
                  </a:txBody>
                  <a:tcPr>
                    <a:solidFill>
                      <a:srgbClr val="D4E6F7"/>
                    </a:solidFill>
                  </a:tcPr>
                </a:tc>
                <a:tc>
                  <a:txBody>
                    <a:bodyPr/>
                    <a:lstStyle/>
                    <a:p>
                      <a:r>
                        <a:rPr sz="1300" b="0">
                          <a:solidFill>
                            <a:srgbClr val="262626"/>
                          </a:solidFill>
                        </a:rPr>
                        <a:t>+29.8%</a:t>
                      </a:r>
                    </a:p>
                  </a:txBody>
                  <a:tcPr>
                    <a:solidFill>
                      <a:srgbClr val="D4E6F7"/>
                    </a:solidFill>
                  </a:tcPr>
                </a:tc>
                <a:tc>
                  <a:txBody>
                    <a:bodyPr/>
                    <a:lstStyle/>
                    <a:p>
                      <a:r>
                        <a:rPr sz="1300" b="0">
                          <a:solidFill>
                            <a:srgbClr val="262626"/>
                          </a:solidFill>
                        </a:rPr>
                        <a:t>Admissible ✓</a:t>
                      </a:r>
                    </a:p>
                  </a:txBody>
                  <a:tcPr>
                    <a:solidFill>
                      <a:srgbClr val="D4E6F7"/>
                    </a:solidFill>
                  </a:tcPr>
                </a:tc>
              </a:tr>
              <a:tr h="550000">
                <a:tc>
                  <a:txBody>
                    <a:bodyPr/>
                    <a:lstStyle/>
                    <a:p>
                      <a:r>
                        <a:rPr sz="1300" b="1">
                          <a:solidFill>
                            <a:srgbClr val="1B5697"/>
                          </a:solidFill>
                        </a:rPr>
                        <a:t>3</a:t>
                      </a:r>
                    </a:p>
                  </a:txBody>
                  <a:tcPr>
                    <a:solidFill>
                      <a:srgbClr val="D4E6F7"/>
                    </a:solidFill>
                  </a:tcPr>
                </a:tc>
                <a:tc>
                  <a:txBody>
                    <a:bodyPr/>
                    <a:lstStyle/>
                    <a:p>
                      <a:r>
                        <a:rPr sz="1300" b="1">
                          <a:solidFill>
                            <a:srgbClr val="1B5697"/>
                          </a:solidFill>
                        </a:rPr>
                        <a:t>LinUCB</a:t>
                      </a:r>
                    </a:p>
                  </a:txBody>
                  <a:tcPr>
                    <a:solidFill>
                      <a:srgbClr val="D4E6F7"/>
                    </a:solidFill>
                  </a:tcPr>
                </a:tc>
                <a:tc>
                  <a:txBody>
                    <a:bodyPr/>
                    <a:lstStyle/>
                    <a:p>
                      <a:r>
                        <a:rPr sz="1300" b="0">
                          <a:solidFill>
                            <a:srgbClr val="262626"/>
                          </a:solidFill>
                        </a:rPr>
                        <a:t> 91,864</a:t>
                      </a:r>
                    </a:p>
                  </a:txBody>
                  <a:tcPr>
                    <a:solidFill>
                      <a:srgbClr val="D4E6F7"/>
                    </a:solidFill>
                  </a:tcPr>
                </a:tc>
                <a:tc>
                  <a:txBody>
                    <a:bodyPr/>
                    <a:lstStyle/>
                    <a:p>
                      <a:r>
                        <a:rPr sz="1300" b="0">
                          <a:solidFill>
                            <a:srgbClr val="262626"/>
                          </a:solidFill>
                        </a:rPr>
                        <a:t>+27.2%</a:t>
                      </a:r>
                    </a:p>
                  </a:txBody>
                  <a:tcPr>
                    <a:solidFill>
                      <a:srgbClr val="D4E6F7"/>
                    </a:solidFill>
                  </a:tcPr>
                </a:tc>
                <a:tc>
                  <a:txBody>
                    <a:bodyPr/>
                    <a:lstStyle/>
                    <a:p>
                      <a:r>
                        <a:rPr sz="1300" b="0">
                          <a:solidFill>
                            <a:srgbClr val="262626"/>
                          </a:solidFill>
                        </a:rPr>
                        <a:t>Admissible ✓</a:t>
                      </a:r>
                    </a:p>
                  </a:txBody>
                  <a:tcPr>
                    <a:solidFill>
                      <a:srgbClr val="D4E6F7"/>
                    </a:solidFill>
                  </a:tcPr>
                </a:tc>
              </a:tr>
              <a:tr h="550000">
                <a:tc>
                  <a:txBody>
                    <a:bodyPr/>
                    <a:lstStyle/>
                    <a:p>
                      <a:r>
                        <a:rPr sz="1300" b="1">
                          <a:solidFill>
                            <a:srgbClr val="1B5697"/>
                          </a:solidFill>
                        </a:rPr>
                        <a:t>4</a:t>
                      </a:r>
                    </a:p>
                  </a:txBody>
                  <a:tcPr>
                    <a:solidFill>
                      <a:srgbClr val="F3F6FB"/>
                    </a:solidFill>
                  </a:tcPr>
                </a:tc>
                <a:tc>
                  <a:txBody>
                    <a:bodyPr/>
                    <a:lstStyle/>
                    <a:p>
                      <a:r>
                        <a:rPr sz="1300" b="1">
                          <a:solidFill>
                            <a:srgbClr val="1B5697"/>
                          </a:solidFill>
                        </a:rPr>
                        <a:t>Epsilon-Greedy</a:t>
                      </a:r>
                    </a:p>
                  </a:txBody>
                  <a:tcPr>
                    <a:solidFill>
                      <a:srgbClr val="F3F6FB"/>
                    </a:solidFill>
                  </a:tcPr>
                </a:tc>
                <a:tc>
                  <a:txBody>
                    <a:bodyPr/>
                    <a:lstStyle/>
                    <a:p>
                      <a:r>
                        <a:rPr sz="1300" b="0">
                          <a:solidFill>
                            <a:srgbClr val="262626"/>
                          </a:solidFill>
                        </a:rPr>
                        <a:t> 76,441</a:t>
                      </a:r>
                    </a:p>
                  </a:txBody>
                  <a:tcPr>
                    <a:solidFill>
                      <a:srgbClr val="F3F6FB"/>
                    </a:solidFill>
                  </a:tcPr>
                </a:tc>
                <a:tc>
                  <a:txBody>
                    <a:bodyPr/>
                    <a:lstStyle/>
                    <a:p>
                      <a:r>
                        <a:rPr sz="1300" b="0">
                          <a:solidFill>
                            <a:srgbClr val="262626"/>
                          </a:solidFill>
                        </a:rPr>
                        <a:t>+ 5.9%</a:t>
                      </a:r>
                    </a:p>
                  </a:txBody>
                  <a:tcPr>
                    <a:solidFill>
                      <a:srgbClr val="F3F6FB"/>
                    </a:solidFill>
                  </a:tcPr>
                </a:tc>
                <a:tc>
                  <a:txBody>
                    <a:bodyPr/>
                    <a:lstStyle/>
                    <a:p>
                      <a:r>
                        <a:rPr sz="1300" b="0">
                          <a:solidFill>
                            <a:srgbClr val="262626"/>
                          </a:solidFill>
                        </a:rPr>
                        <a:t>Admissible ✓</a:t>
                      </a:r>
                    </a:p>
                  </a:txBody>
                  <a:tcPr>
                    <a:solidFill>
                      <a:srgbClr val="F3F6FB"/>
                    </a:solidFill>
                  </a:tcPr>
                </a:tc>
              </a:tr>
              <a:tr h="550000">
                <a:tc>
                  <a:txBody>
                    <a:bodyPr/>
                    <a:lstStyle/>
                    <a:p>
                      <a:r>
                        <a:rPr sz="1300" b="1">
                          <a:solidFill>
                            <a:srgbClr val="1B5697"/>
                          </a:solidFill>
                        </a:rPr>
                        <a:t>5</a:t>
                      </a:r>
                    </a:p>
                  </a:txBody>
                  <a:tcPr>
                    <a:solidFill>
                      <a:srgbClr val="FEF3CD"/>
                    </a:solidFill>
                  </a:tcPr>
                </a:tc>
                <a:tc>
                  <a:txBody>
                    <a:bodyPr/>
                    <a:lstStyle/>
                    <a:p>
                      <a:r>
                        <a:rPr sz="1300" b="1">
                          <a:solidFill>
                            <a:srgbClr val="1B5697"/>
                          </a:solidFill>
                        </a:rPr>
                        <a:t>Static XGB</a:t>
                      </a:r>
                    </a:p>
                  </a:txBody>
                  <a:tcPr>
                    <a:solidFill>
                      <a:srgbClr val="FEF3CD"/>
                    </a:solidFill>
                  </a:tcPr>
                </a:tc>
                <a:tc>
                  <a:txBody>
                    <a:bodyPr/>
                    <a:lstStyle/>
                    <a:p>
                      <a:r>
                        <a:rPr sz="1300" b="0">
                          <a:solidFill>
                            <a:srgbClr val="262626"/>
                          </a:solidFill>
                        </a:rPr>
                        <a:t> 72,206</a:t>
                      </a:r>
                    </a:p>
                  </a:txBody>
                  <a:tcPr>
                    <a:solidFill>
                      <a:srgbClr val="FEF3CD"/>
                    </a:solidFill>
                  </a:tcPr>
                </a:tc>
                <a:tc>
                  <a:txBody>
                    <a:bodyPr/>
                    <a:lstStyle/>
                    <a:p>
                      <a:r>
                        <a:rPr sz="1300" b="0">
                          <a:solidFill>
                            <a:srgbClr val="262626"/>
                          </a:solidFill>
                        </a:rPr>
                        <a:t>baseline</a:t>
                      </a:r>
                    </a:p>
                  </a:txBody>
                  <a:tcPr>
                    <a:solidFill>
                      <a:srgbClr val="FEF3CD"/>
                    </a:solidFill>
                  </a:tcPr>
                </a:tc>
                <a:tc>
                  <a:txBody>
                    <a:bodyPr/>
                    <a:lstStyle/>
                    <a:p>
                      <a:r>
                        <a:rPr sz="1300" b="0">
                          <a:solidFill>
                            <a:srgbClr val="262626"/>
                          </a:solidFill>
                        </a:rPr>
                        <a:t>Baseline</a:t>
                      </a:r>
                    </a:p>
                  </a:txBody>
                  <a:tcPr>
                    <a:solidFill>
                      <a:srgbClr val="FEF3CD"/>
                    </a:solidFill>
                  </a:tcPr>
                </a:tc>
              </a:tr>
              <a:tr h="550000">
                <a:tc>
                  <a:txBody>
                    <a:bodyPr/>
                    <a:lstStyle/>
                    <a:p>
                      <a:r>
                        <a:rPr sz="1300" b="1">
                          <a:solidFill>
                            <a:srgbClr val="1B5697"/>
                          </a:solidFill>
                        </a:rPr>
                        <a:t>6</a:t>
                      </a:r>
                    </a:p>
                  </a:txBody>
                  <a:tcPr>
                    <a:solidFill>
                      <a:srgbClr val="FFFFFF"/>
                    </a:solidFill>
                  </a:tcPr>
                </a:tc>
                <a:tc>
                  <a:txBody>
                    <a:bodyPr/>
                    <a:lstStyle/>
                    <a:p>
                      <a:r>
                        <a:rPr sz="1300" b="1">
                          <a:solidFill>
                            <a:srgbClr val="1B5697"/>
                          </a:solidFill>
                        </a:rPr>
                        <a:t>AlwaysSTANDARD</a:t>
                      </a:r>
                    </a:p>
                  </a:txBody>
                  <a:tcPr>
                    <a:solidFill>
                      <a:srgbClr val="FFFFFF"/>
                    </a:solidFill>
                  </a:tcPr>
                </a:tc>
                <a:tc>
                  <a:txBody>
                    <a:bodyPr/>
                    <a:lstStyle/>
                    <a:p>
                      <a:r>
                        <a:rPr sz="1300" b="0">
                          <a:solidFill>
                            <a:srgbClr val="262626"/>
                          </a:solidFill>
                        </a:rPr>
                        <a:t> 34,684</a:t>
                      </a:r>
                    </a:p>
                  </a:txBody>
                  <a:tcPr>
                    <a:solidFill>
                      <a:srgbClr val="FFFFFF"/>
                    </a:solidFill>
                  </a:tcPr>
                </a:tc>
                <a:tc>
                  <a:txBody>
                    <a:bodyPr/>
                    <a:lstStyle/>
                    <a:p>
                      <a:r>
                        <a:rPr sz="1300" b="0">
                          <a:solidFill>
                            <a:srgbClr val="262626"/>
                          </a:solidFill>
                        </a:rPr>
                        <a:t>−52.0%</a:t>
                      </a:r>
                    </a:p>
                  </a:txBody>
                  <a:tcPr>
                    <a:solidFill>
                      <a:srgbClr val="FFFFFF"/>
                    </a:solidFill>
                  </a:tcPr>
                </a:tc>
                <a:tc>
                  <a:txBody>
                    <a:bodyPr/>
                    <a:lstStyle/>
                    <a:p>
                      <a:r>
                        <a:rPr sz="1300" b="0">
                          <a:solidFill>
                            <a:srgbClr val="262626"/>
                          </a:solidFill>
                        </a:rPr>
                        <a:t>Trivial ✗</a:t>
                      </a:r>
                    </a:p>
                  </a:txBody>
                  <a:tcPr>
                    <a:solidFill>
                      <a:srgbClr val="FFFFFF"/>
                    </a:solidFill>
                  </a:tcPr>
                </a:tc>
              </a:tr>
              <a:tr h="550000">
                <a:tc>
                  <a:txBody>
                    <a:bodyPr/>
                    <a:lstStyle/>
                    <a:p>
                      <a:r>
                        <a:rPr sz="1300" b="1">
                          <a:solidFill>
                            <a:srgbClr val="1B5697"/>
                          </a:solidFill>
                        </a:rPr>
                        <a:t>7</a:t>
                      </a:r>
                    </a:p>
                  </a:txBody>
                  <a:tcPr>
                    <a:solidFill>
                      <a:srgbClr val="FFFFFF"/>
                    </a:solidFill>
                  </a:tcPr>
                </a:tc>
                <a:tc>
                  <a:txBody>
                    <a:bodyPr/>
                    <a:lstStyle/>
                    <a:p>
                      <a:r>
                        <a:rPr sz="1300" b="1">
                          <a:solidFill>
                            <a:srgbClr val="1B5697"/>
                          </a:solidFill>
                        </a:rPr>
                        <a:t>Random</a:t>
                      </a:r>
                    </a:p>
                  </a:txBody>
                  <a:tcPr>
                    <a:solidFill>
                      <a:srgbClr val="FFFFFF"/>
                    </a:solidFill>
                  </a:tcPr>
                </a:tc>
                <a:tc>
                  <a:txBody>
                    <a:bodyPr/>
                    <a:lstStyle/>
                    <a:p>
                      <a:r>
                        <a:rPr sz="1300" b="0">
                          <a:solidFill>
                            <a:srgbClr val="262626"/>
                          </a:solidFill>
                        </a:rPr>
                        <a:t>  1,980</a:t>
                      </a:r>
                    </a:p>
                  </a:txBody>
                  <a:tcPr>
                    <a:solidFill>
                      <a:srgbClr val="FFFFFF"/>
                    </a:solidFill>
                  </a:tcPr>
                </a:tc>
                <a:tc>
                  <a:txBody>
                    <a:bodyPr/>
                    <a:lstStyle/>
                    <a:p>
                      <a:r>
                        <a:rPr sz="1300" b="0">
                          <a:solidFill>
                            <a:srgbClr val="262626"/>
                          </a:solidFill>
                        </a:rPr>
                        <a:t>−97.3%</a:t>
                      </a:r>
                    </a:p>
                  </a:txBody>
                  <a:tcPr>
                    <a:solidFill>
                      <a:srgbClr val="FFFFFF"/>
                    </a:solidFill>
                  </a:tcPr>
                </a:tc>
                <a:tc>
                  <a:txBody>
                    <a:bodyPr/>
                    <a:lstStyle/>
                    <a:p>
                      <a:r>
                        <a:rPr sz="1300" b="0">
                          <a:solidFill>
                            <a:srgbClr val="262626"/>
                          </a:solidFill>
                        </a:rPr>
                        <a:t>Trivial ✗</a:t>
                      </a:r>
                    </a:p>
                  </a:txBody>
                  <a:tcPr>
                    <a:solidFill>
                      <a:srgbClr val="FFFFFF"/>
                    </a:solidFill>
                  </a:tcPr>
                </a:tc>
              </a:tr>
            </a:tbl>
          </a:graphicData>
        </a:graphic>
      </p:graphicFrame>
      <p:sp>
        <p:nvSpPr>
          <p:cNvPr id="8" name="TextBox 7"/>
          <p:cNvSpPr txBox="1"/>
          <p:nvPr/>
        </p:nvSpPr>
        <p:spPr>
          <a:xfrm>
            <a:off x="457200" y="6200000"/>
            <a:ext cx="11277295" cy="4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Note: AlwaysRATED = 122,287 (between Oracle and LinTS) — inadmissible: denies all low-risk applicants coverage; discriminatory by design.</a:t>
            </a:r>
          </a:p>
        </p:txBody>
      </p:sp>
      <p:sp>
        <p:nvSpPr>
          <p:cNvPr id="9" name="Rectangle 8"/>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1" name="Rectangle 10"/>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3" name="Rectangle 12"/>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13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ZOOM-IN: FAIRNESS GUARDRAIL &amp; HITL</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00000"/>
            <a:ext cx="11277295" cy="320000"/>
          </a:xfrm>
          <a:prstGeom prst="rect">
            <a:avLst/>
          </a:prstGeom>
          <a:noFill/>
        </p:spPr>
        <p:txBody>
          <a:bodyPr wrap="square">
            <a:spAutoFit/>
          </a:bodyPr>
          <a:lstStyle/>
          <a:p>
            <a:pPr algn="ctr">
              <a:spcBef>
                <a:spcPts val="0"/>
              </a:spcBef>
              <a:spcAft>
                <a:spcPts val="0"/>
              </a:spcAft>
            </a:pPr>
            <a:r>
              <a:rPr sz="1300" b="1" i="0">
                <a:solidFill>
                  <a:srgbClr val="2E8B57"/>
                </a:solidFill>
                <a:latin typeface="Calibri"/>
              </a:rPr>
              <a:t>▸ YOU ARE HERE</a:t>
            </a:r>
          </a:p>
        </p:txBody>
      </p:sp>
      <p:sp>
        <p:nvSpPr>
          <p:cNvPr id="6" name="Rectangle 5"/>
          <p:cNvSpPr/>
          <p:nvPr/>
        </p:nvSpPr>
        <p:spPr>
          <a:xfrm>
            <a:off x="10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Applicant
Context</a:t>
            </a:r>
          </a:p>
        </p:txBody>
      </p:sp>
      <p:sp>
        <p:nvSpPr>
          <p:cNvPr id="8" name="TextBox 7"/>
          <p:cNvSpPr txBox="1"/>
          <p:nvPr/>
        </p:nvSpPr>
        <p:spPr>
          <a:xfrm>
            <a:off x="25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9" name="Rectangle 8"/>
          <p:cNvSpPr/>
          <p:nvPr/>
        </p:nvSpPr>
        <p:spPr>
          <a:xfrm>
            <a:off x="27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Bandit
Policy</a:t>
            </a:r>
          </a:p>
        </p:txBody>
      </p:sp>
      <p:sp>
        <p:nvSpPr>
          <p:cNvPr id="11" name="TextBox 10"/>
          <p:cNvSpPr txBox="1"/>
          <p:nvPr/>
        </p:nvSpPr>
        <p:spPr>
          <a:xfrm>
            <a:off x="42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2" name="Rectangle 11"/>
          <p:cNvSpPr/>
          <p:nvPr/>
        </p:nvSpPr>
        <p:spPr>
          <a:xfrm>
            <a:off x="44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Underwriting
Action</a:t>
            </a:r>
          </a:p>
        </p:txBody>
      </p:sp>
      <p:sp>
        <p:nvSpPr>
          <p:cNvPr id="14" name="TextBox 13"/>
          <p:cNvSpPr txBox="1"/>
          <p:nvPr/>
        </p:nvSpPr>
        <p:spPr>
          <a:xfrm>
            <a:off x="59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5" name="Rectangle 14"/>
          <p:cNvSpPr/>
          <p:nvPr/>
        </p:nvSpPr>
        <p:spPr>
          <a:xfrm>
            <a:off x="61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Actuarial
Reward</a:t>
            </a:r>
          </a:p>
        </p:txBody>
      </p:sp>
      <p:sp>
        <p:nvSpPr>
          <p:cNvPr id="17" name="TextBox 16"/>
          <p:cNvSpPr txBox="1"/>
          <p:nvPr/>
        </p:nvSpPr>
        <p:spPr>
          <a:xfrm>
            <a:off x="76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18" name="Rectangle 17"/>
          <p:cNvSpPr/>
          <p:nvPr/>
        </p:nvSpPr>
        <p:spPr>
          <a:xfrm>
            <a:off x="7895847" y="2550000"/>
            <a:ext cx="1500000" cy="76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850847" y="2505000"/>
            <a:ext cx="1590000" cy="850000"/>
          </a:xfrm>
          <a:prstGeom prst="rect">
            <a:avLst/>
          </a:prstGeom>
          <a:noFill/>
          <a:ln w="4445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5847" y="2660000"/>
            <a:ext cx="1400000" cy="610000"/>
          </a:xfrm>
          <a:prstGeom prst="rect">
            <a:avLst/>
          </a:prstGeom>
          <a:noFill/>
        </p:spPr>
        <p:txBody>
          <a:bodyPr wrap="square">
            <a:spAutoFit/>
          </a:bodyPr>
          <a:lstStyle/>
          <a:p>
            <a:pPr algn="ctr">
              <a:spcBef>
                <a:spcPts val="0"/>
              </a:spcBef>
              <a:spcAft>
                <a:spcPts val="0"/>
              </a:spcAft>
            </a:pPr>
            <a:r>
              <a:rPr sz="1400" b="1" i="0">
                <a:solidFill>
                  <a:srgbClr val="FFFFFF"/>
                </a:solidFill>
                <a:latin typeface="Calibri"/>
              </a:rPr>
              <a:t>PSI + HITL
Guardrail</a:t>
            </a:r>
          </a:p>
        </p:txBody>
      </p:sp>
      <p:sp>
        <p:nvSpPr>
          <p:cNvPr id="21" name="TextBox 20"/>
          <p:cNvSpPr txBox="1"/>
          <p:nvPr/>
        </p:nvSpPr>
        <p:spPr>
          <a:xfrm>
            <a:off x="9395847" y="2780000"/>
            <a:ext cx="200000" cy="400000"/>
          </a:xfrm>
          <a:prstGeom prst="rect">
            <a:avLst/>
          </a:prstGeom>
          <a:noFill/>
        </p:spPr>
        <p:txBody>
          <a:bodyPr wrap="square">
            <a:spAutoFit/>
          </a:bodyPr>
          <a:lstStyle/>
          <a:p>
            <a:pPr algn="ctr">
              <a:spcBef>
                <a:spcPts val="0"/>
              </a:spcBef>
              <a:spcAft>
                <a:spcPts val="0"/>
              </a:spcAft>
            </a:pPr>
            <a:r>
              <a:rPr sz="1800" b="1" i="0">
                <a:solidFill>
                  <a:srgbClr val="1B5697"/>
                </a:solidFill>
                <a:latin typeface="Calibri"/>
              </a:rPr>
              <a:t>→</a:t>
            </a:r>
          </a:p>
        </p:txBody>
      </p:sp>
      <p:sp>
        <p:nvSpPr>
          <p:cNvPr id="22" name="Rectangle 21"/>
          <p:cNvSpPr/>
          <p:nvPr/>
        </p:nvSpPr>
        <p:spPr>
          <a:xfrm>
            <a:off x="9595847" y="2550000"/>
            <a:ext cx="1500000" cy="76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5847" y="2660000"/>
            <a:ext cx="1400000" cy="610000"/>
          </a:xfrm>
          <a:prstGeom prst="rect">
            <a:avLst/>
          </a:prstGeom>
          <a:noFill/>
        </p:spPr>
        <p:txBody>
          <a:bodyPr wrap="square">
            <a:spAutoFit/>
          </a:bodyPr>
          <a:lstStyle/>
          <a:p>
            <a:pPr algn="ctr">
              <a:spcBef>
                <a:spcPts val="0"/>
              </a:spcBef>
              <a:spcAft>
                <a:spcPts val="0"/>
              </a:spcAft>
            </a:pPr>
            <a:r>
              <a:rPr sz="1400" b="1" i="0">
                <a:solidFill>
                  <a:srgbClr val="505050"/>
                </a:solidFill>
                <a:latin typeface="Calibri"/>
              </a:rPr>
              <a:t>Decision</a:t>
            </a:r>
          </a:p>
        </p:txBody>
      </p:sp>
      <p:sp>
        <p:nvSpPr>
          <p:cNvPr id="24" name="TextBox 23"/>
          <p:cNvSpPr txBox="1"/>
          <p:nvPr/>
        </p:nvSpPr>
        <p:spPr>
          <a:xfrm>
            <a:off x="1457200" y="3850000"/>
            <a:ext cx="9277295" cy="700000"/>
          </a:xfrm>
          <a:prstGeom prst="rect">
            <a:avLst/>
          </a:prstGeom>
          <a:noFill/>
        </p:spPr>
        <p:txBody>
          <a:bodyPr wrap="square">
            <a:spAutoFit/>
          </a:bodyPr>
          <a:lstStyle/>
          <a:p>
            <a:pPr algn="ctr">
              <a:spcBef>
                <a:spcPts val="0"/>
              </a:spcBef>
              <a:spcAft>
                <a:spcPts val="0"/>
              </a:spcAft>
            </a:pPr>
            <a:r>
              <a:rPr sz="1600" b="0" i="1">
                <a:solidFill>
                  <a:srgbClr val="1B5697"/>
                </a:solidFill>
                <a:latin typeface="Calibri"/>
              </a:rPr>
              <a:t>Now examining the PSI fairness guardrail and the human-in-the-loop review wrapper.</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14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PSI FAIRNESS GUARDRAIL</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00000"/>
            <a:ext cx="11277295" cy="42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PSI = Σ (Aᵢ − Eᵢ) × ln(Aᵢ / Eᵢ)   ·   Applied per 500-round sliding window   ·   Monitored on: region (8 groups) + occupation (7 groups) separately</a:t>
            </a:r>
          </a:p>
        </p:txBody>
      </p:sp>
      <p:sp>
        <p:nvSpPr>
          <p:cNvPr id="6" name="Rectangle 5"/>
          <p:cNvSpPr/>
          <p:nvPr/>
        </p:nvSpPr>
        <p:spPr>
          <a:xfrm>
            <a:off x="457200" y="1580000"/>
            <a:ext cx="11277295"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750000"/>
            <a:ext cx="3692431" cy="30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750000"/>
            <a:ext cx="3692431" cy="6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GREEN</a:t>
            </a:r>
          </a:p>
        </p:txBody>
      </p:sp>
      <p:sp>
        <p:nvSpPr>
          <p:cNvPr id="10" name="TextBox 9"/>
          <p:cNvSpPr txBox="1"/>
          <p:nvPr/>
        </p:nvSpPr>
        <p:spPr>
          <a:xfrm>
            <a:off x="537200" y="2500000"/>
            <a:ext cx="3532431" cy="400000"/>
          </a:xfrm>
          <a:prstGeom prst="rect">
            <a:avLst/>
          </a:prstGeom>
          <a:noFill/>
        </p:spPr>
        <p:txBody>
          <a:bodyPr wrap="square">
            <a:spAutoFit/>
          </a:bodyPr>
          <a:lstStyle/>
          <a:p>
            <a:pPr algn="ctr">
              <a:spcBef>
                <a:spcPts val="0"/>
              </a:spcBef>
              <a:spcAft>
                <a:spcPts val="0"/>
              </a:spcAft>
            </a:pPr>
            <a:r>
              <a:rPr sz="1600" b="1" i="0">
                <a:solidFill>
                  <a:srgbClr val="2E8B57"/>
                </a:solidFill>
                <a:latin typeface="Calibri"/>
              </a:rPr>
              <a:t>PSI &lt; 0.10</a:t>
            </a:r>
          </a:p>
        </p:txBody>
      </p:sp>
      <p:sp>
        <p:nvSpPr>
          <p:cNvPr id="11" name="TextBox 10"/>
          <p:cNvSpPr txBox="1"/>
          <p:nvPr/>
        </p:nvSpPr>
        <p:spPr>
          <a:xfrm>
            <a:off x="537200" y="3000000"/>
            <a:ext cx="3532431" cy="16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No significant shift — policy is stable</a:t>
            </a:r>
          </a:p>
        </p:txBody>
      </p:sp>
      <p:sp>
        <p:nvSpPr>
          <p:cNvPr id="12" name="Rectangle 11"/>
          <p:cNvSpPr/>
          <p:nvPr/>
        </p:nvSpPr>
        <p:spPr>
          <a:xfrm>
            <a:off x="4249631" y="1750000"/>
            <a:ext cx="3692431" cy="30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49631" y="1750000"/>
            <a:ext cx="3692431" cy="6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9631"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AMBER</a:t>
            </a:r>
          </a:p>
        </p:txBody>
      </p:sp>
      <p:sp>
        <p:nvSpPr>
          <p:cNvPr id="15" name="TextBox 14"/>
          <p:cNvSpPr txBox="1"/>
          <p:nvPr/>
        </p:nvSpPr>
        <p:spPr>
          <a:xfrm>
            <a:off x="4329631" y="2500000"/>
            <a:ext cx="3532431" cy="400000"/>
          </a:xfrm>
          <a:prstGeom prst="rect">
            <a:avLst/>
          </a:prstGeom>
          <a:noFill/>
        </p:spPr>
        <p:txBody>
          <a:bodyPr wrap="square">
            <a:spAutoFit/>
          </a:bodyPr>
          <a:lstStyle/>
          <a:p>
            <a:pPr algn="ctr">
              <a:spcBef>
                <a:spcPts val="0"/>
              </a:spcBef>
              <a:spcAft>
                <a:spcPts val="0"/>
              </a:spcAft>
            </a:pPr>
            <a:r>
              <a:rPr sz="1600" b="1" i="0">
                <a:solidFill>
                  <a:srgbClr val="E6A62E"/>
                </a:solidFill>
                <a:latin typeface="Calibri"/>
              </a:rPr>
              <a:t>0.10 ≤ PSI ≤ 0.25</a:t>
            </a:r>
          </a:p>
        </p:txBody>
      </p:sp>
      <p:sp>
        <p:nvSpPr>
          <p:cNvPr id="16" name="TextBox 15"/>
          <p:cNvSpPr txBox="1"/>
          <p:nvPr/>
        </p:nvSpPr>
        <p:spPr>
          <a:xfrm>
            <a:off x="4329631" y="3000000"/>
            <a:ext cx="3532431" cy="16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Moderate shift — monitor closely; flag for review</a:t>
            </a:r>
          </a:p>
        </p:txBody>
      </p:sp>
      <p:sp>
        <p:nvSpPr>
          <p:cNvPr id="17" name="Rectangle 16"/>
          <p:cNvSpPr/>
          <p:nvPr/>
        </p:nvSpPr>
        <p:spPr>
          <a:xfrm>
            <a:off x="8042062" y="1750000"/>
            <a:ext cx="3692431" cy="3000000"/>
          </a:xfrm>
          <a:prstGeom prst="rect">
            <a:avLst/>
          </a:prstGeom>
          <a:solidFill>
            <a:srgbClr val="F8E7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2062" y="1750000"/>
            <a:ext cx="3692431" cy="600000"/>
          </a:xfrm>
          <a:prstGeom prst="rect">
            <a:avLst/>
          </a:prstGeom>
          <a:solidFill>
            <a:srgbClr val="D93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2062" y="1870000"/>
            <a:ext cx="3532431" cy="400000"/>
          </a:xfrm>
          <a:prstGeom prst="rect">
            <a:avLst/>
          </a:prstGeom>
          <a:noFill/>
        </p:spPr>
        <p:txBody>
          <a:bodyPr wrap="square">
            <a:spAutoFit/>
          </a:bodyPr>
          <a:lstStyle/>
          <a:p>
            <a:pPr algn="ctr">
              <a:spcBef>
                <a:spcPts val="0"/>
              </a:spcBef>
              <a:spcAft>
                <a:spcPts val="0"/>
              </a:spcAft>
            </a:pPr>
            <a:r>
              <a:rPr sz="2200" b="1" i="0">
                <a:solidFill>
                  <a:srgbClr val="FFFFFF"/>
                </a:solidFill>
                <a:latin typeface="Calibri"/>
              </a:rPr>
              <a:t>RED</a:t>
            </a:r>
          </a:p>
        </p:txBody>
      </p:sp>
      <p:sp>
        <p:nvSpPr>
          <p:cNvPr id="20" name="TextBox 19"/>
          <p:cNvSpPr txBox="1"/>
          <p:nvPr/>
        </p:nvSpPr>
        <p:spPr>
          <a:xfrm>
            <a:off x="8122062" y="2500000"/>
            <a:ext cx="3532431" cy="400000"/>
          </a:xfrm>
          <a:prstGeom prst="rect">
            <a:avLst/>
          </a:prstGeom>
          <a:noFill/>
        </p:spPr>
        <p:txBody>
          <a:bodyPr wrap="square">
            <a:spAutoFit/>
          </a:bodyPr>
          <a:lstStyle/>
          <a:p>
            <a:pPr algn="ctr">
              <a:spcBef>
                <a:spcPts val="0"/>
              </a:spcBef>
              <a:spcAft>
                <a:spcPts val="0"/>
              </a:spcAft>
            </a:pPr>
            <a:r>
              <a:rPr sz="1600" b="1" i="0">
                <a:solidFill>
                  <a:srgbClr val="D93B3B"/>
                </a:solidFill>
                <a:latin typeface="Calibri"/>
              </a:rPr>
              <a:t>PSI &gt; 0.25</a:t>
            </a:r>
          </a:p>
        </p:txBody>
      </p:sp>
      <p:sp>
        <p:nvSpPr>
          <p:cNvPr id="21" name="TextBox 20"/>
          <p:cNvSpPr txBox="1"/>
          <p:nvPr/>
        </p:nvSpPr>
        <p:spPr>
          <a:xfrm>
            <a:off x="8122062" y="3000000"/>
            <a:ext cx="3532431" cy="16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Major shift — halt or recalibrate bandit; escalate to compliance</a:t>
            </a:r>
          </a:p>
        </p:txBody>
      </p:sp>
      <p:sp>
        <p:nvSpPr>
          <p:cNvPr id="22" name="TextBox 21"/>
          <p:cNvSpPr txBox="1"/>
          <p:nvPr/>
        </p:nvSpPr>
        <p:spPr>
          <a:xfrm>
            <a:off x="457200" y="4900000"/>
            <a:ext cx="11277295" cy="7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Source: Siddiqi (2006) · Validated: Yurdakul &amp; Naranjo (2020)
EXP-006 result: LinUCB GREEN on all 8 regions + 7 occupations across 20 seeds (mean PSI 0.042 region / 0.037 occupation); criterion 6 FAILED-with-interpretation (EpsGreedy AMBER on 1 seed).</a:t>
            </a:r>
          </a:p>
        </p:txBody>
      </p:sp>
      <p:sp>
        <p:nvSpPr>
          <p:cNvPr id="23" name="Rectangle 2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5" name="Rectangle 2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27" name="Rectangle 2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14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HUMAN-IN-THE-LOOP (HITL) WRAPPER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538647" cy="1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7200" y="1230000"/>
            <a:ext cx="5358647" cy="380000"/>
          </a:xfrm>
          <a:prstGeom prst="rect">
            <a:avLst/>
          </a:prstGeom>
          <a:noFill/>
        </p:spPr>
        <p:txBody>
          <a:bodyPr wrap="square">
            <a:spAutoFit/>
          </a:bodyPr>
          <a:lstStyle/>
          <a:p>
            <a:pPr algn="l">
              <a:spcBef>
                <a:spcPts val="0"/>
              </a:spcBef>
              <a:spcAft>
                <a:spcPts val="0"/>
              </a:spcAft>
            </a:pPr>
            <a:r>
              <a:rPr sz="1400" b="1" i="0">
                <a:solidFill>
                  <a:srgbClr val="FFFFFF"/>
                </a:solidFill>
                <a:latin typeface="Calibri"/>
              </a:rPr>
              <a:t>1. Bandit selects arm</a:t>
            </a:r>
          </a:p>
        </p:txBody>
      </p:sp>
      <p:sp>
        <p:nvSpPr>
          <p:cNvPr id="7" name="TextBox 6"/>
          <p:cNvSpPr txBox="1"/>
          <p:nvPr/>
        </p:nvSpPr>
        <p:spPr>
          <a:xfrm>
            <a:off x="587200" y="1650000"/>
            <a:ext cx="5358647" cy="500000"/>
          </a:xfrm>
          <a:prstGeom prst="rect">
            <a:avLst/>
          </a:prstGeom>
          <a:noFill/>
        </p:spPr>
        <p:txBody>
          <a:bodyPr wrap="square">
            <a:spAutoFit/>
          </a:bodyPr>
          <a:lstStyle/>
          <a:p>
            <a:pPr algn="l">
              <a:spcBef>
                <a:spcPts val="0"/>
              </a:spcBef>
              <a:spcAft>
                <a:spcPts val="0"/>
              </a:spcAft>
            </a:pPr>
            <a:r>
              <a:rPr sz="1300" b="0" i="1">
                <a:solidFill>
                  <a:srgbClr val="FFFFFF"/>
                </a:solidFill>
                <a:latin typeface="Calibri"/>
              </a:rPr>
              <a:t>UCB / TS score computed for each arm</a:t>
            </a:r>
          </a:p>
        </p:txBody>
      </p:sp>
      <p:sp>
        <p:nvSpPr>
          <p:cNvPr id="8" name="TextBox 7"/>
          <p:cNvSpPr txBox="1"/>
          <p:nvPr/>
        </p:nvSpPr>
        <p:spPr>
          <a:xfrm>
            <a:off x="3126523" y="2260000"/>
            <a:ext cx="300000" cy="1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a:t>
            </a:r>
          </a:p>
        </p:txBody>
      </p:sp>
      <p:sp>
        <p:nvSpPr>
          <p:cNvPr id="9" name="Rectangle 8"/>
          <p:cNvSpPr/>
          <p:nvPr/>
        </p:nvSpPr>
        <p:spPr>
          <a:xfrm>
            <a:off x="457200" y="2330000"/>
            <a:ext cx="5538647" cy="110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7200" y="2410000"/>
            <a:ext cx="5358647" cy="380000"/>
          </a:xfrm>
          <a:prstGeom prst="rect">
            <a:avLst/>
          </a:prstGeom>
          <a:noFill/>
        </p:spPr>
        <p:txBody>
          <a:bodyPr wrap="square">
            <a:spAutoFit/>
          </a:bodyPr>
          <a:lstStyle/>
          <a:p>
            <a:pPr algn="l">
              <a:spcBef>
                <a:spcPts val="0"/>
              </a:spcBef>
              <a:spcAft>
                <a:spcPts val="0"/>
              </a:spcAft>
            </a:pPr>
            <a:r>
              <a:rPr sz="1400" b="1" i="0">
                <a:solidFill>
                  <a:srgbClr val="FFFFFF"/>
                </a:solidFill>
                <a:latin typeface="Calibri"/>
              </a:rPr>
              <a:t>2. Uncertainty check</a:t>
            </a:r>
          </a:p>
        </p:txBody>
      </p:sp>
      <p:sp>
        <p:nvSpPr>
          <p:cNvPr id="11" name="TextBox 10"/>
          <p:cNvSpPr txBox="1"/>
          <p:nvPr/>
        </p:nvSpPr>
        <p:spPr>
          <a:xfrm>
            <a:off x="587200" y="2830000"/>
            <a:ext cx="5358647" cy="500000"/>
          </a:xfrm>
          <a:prstGeom prst="rect">
            <a:avLst/>
          </a:prstGeom>
          <a:noFill/>
        </p:spPr>
        <p:txBody>
          <a:bodyPr wrap="square">
            <a:spAutoFit/>
          </a:bodyPr>
          <a:lstStyle/>
          <a:p>
            <a:pPr algn="l">
              <a:spcBef>
                <a:spcPts val="0"/>
              </a:spcBef>
              <a:spcAft>
                <a:spcPts val="0"/>
              </a:spcAft>
            </a:pPr>
            <a:r>
              <a:rPr sz="1300" b="0" i="1">
                <a:solidFill>
                  <a:srgbClr val="FFFFFF"/>
                </a:solidFill>
                <a:latin typeface="Calibri"/>
              </a:rPr>
              <a:t>If max score − 2nd score &lt; κ (0.7) → REFER</a:t>
            </a:r>
          </a:p>
        </p:txBody>
      </p:sp>
      <p:sp>
        <p:nvSpPr>
          <p:cNvPr id="12" name="TextBox 11"/>
          <p:cNvSpPr txBox="1"/>
          <p:nvPr/>
        </p:nvSpPr>
        <p:spPr>
          <a:xfrm>
            <a:off x="3126523" y="3440000"/>
            <a:ext cx="300000" cy="1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a:t>
            </a:r>
          </a:p>
        </p:txBody>
      </p:sp>
      <p:sp>
        <p:nvSpPr>
          <p:cNvPr id="13" name="Rectangle 12"/>
          <p:cNvSpPr/>
          <p:nvPr/>
        </p:nvSpPr>
        <p:spPr>
          <a:xfrm>
            <a:off x="457200" y="3510000"/>
            <a:ext cx="5538647" cy="1100000"/>
          </a:xfrm>
          <a:prstGeom prst="rect">
            <a:avLst/>
          </a:prstGeom>
          <a:solidFill>
            <a:srgbClr val="C0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7200" y="3590000"/>
            <a:ext cx="5358647" cy="380000"/>
          </a:xfrm>
          <a:prstGeom prst="rect">
            <a:avLst/>
          </a:prstGeom>
          <a:noFill/>
        </p:spPr>
        <p:txBody>
          <a:bodyPr wrap="square">
            <a:spAutoFit/>
          </a:bodyPr>
          <a:lstStyle/>
          <a:p>
            <a:pPr algn="l">
              <a:spcBef>
                <a:spcPts val="0"/>
              </a:spcBef>
              <a:spcAft>
                <a:spcPts val="0"/>
              </a:spcAft>
            </a:pPr>
            <a:r>
              <a:rPr sz="1400" b="1" i="0">
                <a:solidFill>
                  <a:srgbClr val="FFFFFF"/>
                </a:solidFill>
                <a:latin typeface="Calibri"/>
              </a:rPr>
              <a:t>3. Human actuary reviews</a:t>
            </a:r>
          </a:p>
        </p:txBody>
      </p:sp>
      <p:sp>
        <p:nvSpPr>
          <p:cNvPr id="15" name="TextBox 14"/>
          <p:cNvSpPr txBox="1"/>
          <p:nvPr/>
        </p:nvSpPr>
        <p:spPr>
          <a:xfrm>
            <a:off x="587200" y="4010000"/>
            <a:ext cx="5358647" cy="500000"/>
          </a:xfrm>
          <a:prstGeom prst="rect">
            <a:avLst/>
          </a:prstGeom>
          <a:noFill/>
        </p:spPr>
        <p:txBody>
          <a:bodyPr wrap="square">
            <a:spAutoFit/>
          </a:bodyPr>
          <a:lstStyle/>
          <a:p>
            <a:pPr algn="l">
              <a:spcBef>
                <a:spcPts val="0"/>
              </a:spcBef>
              <a:spcAft>
                <a:spcPts val="0"/>
              </a:spcAft>
            </a:pPr>
            <a:r>
              <a:rPr sz="1300" b="0" i="1">
                <a:solidFill>
                  <a:srgbClr val="FFFFFF"/>
                </a:solidFill>
                <a:latin typeface="Calibri"/>
              </a:rPr>
              <a:t>Expert sees full context; overrides if needed</a:t>
            </a:r>
          </a:p>
        </p:txBody>
      </p:sp>
      <p:sp>
        <p:nvSpPr>
          <p:cNvPr id="16" name="TextBox 15"/>
          <p:cNvSpPr txBox="1"/>
          <p:nvPr/>
        </p:nvSpPr>
        <p:spPr>
          <a:xfrm>
            <a:off x="3126523" y="4620000"/>
            <a:ext cx="300000" cy="120000"/>
          </a:xfrm>
          <a:prstGeom prst="rect">
            <a:avLst/>
          </a:prstGeom>
          <a:noFill/>
        </p:spPr>
        <p:txBody>
          <a:bodyPr wrap="square">
            <a:spAutoFit/>
          </a:bodyPr>
          <a:lstStyle/>
          <a:p>
            <a:pPr algn="ctr">
              <a:spcBef>
                <a:spcPts val="0"/>
              </a:spcBef>
              <a:spcAft>
                <a:spcPts val="0"/>
              </a:spcAft>
            </a:pPr>
            <a:r>
              <a:rPr sz="1600" b="1" i="0">
                <a:solidFill>
                  <a:srgbClr val="1B5697"/>
                </a:solidFill>
                <a:latin typeface="Calibri"/>
              </a:rPr>
              <a:t>↓</a:t>
            </a:r>
          </a:p>
        </p:txBody>
      </p:sp>
      <p:sp>
        <p:nvSpPr>
          <p:cNvPr id="17" name="Rectangle 16"/>
          <p:cNvSpPr/>
          <p:nvPr/>
        </p:nvSpPr>
        <p:spPr>
          <a:xfrm>
            <a:off x="457200" y="4690000"/>
            <a:ext cx="5538647" cy="11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200" y="4770000"/>
            <a:ext cx="5358647" cy="380000"/>
          </a:xfrm>
          <a:prstGeom prst="rect">
            <a:avLst/>
          </a:prstGeom>
          <a:noFill/>
        </p:spPr>
        <p:txBody>
          <a:bodyPr wrap="square">
            <a:spAutoFit/>
          </a:bodyPr>
          <a:lstStyle/>
          <a:p>
            <a:pPr algn="l">
              <a:spcBef>
                <a:spcPts val="0"/>
              </a:spcBef>
              <a:spcAft>
                <a:spcPts val="0"/>
              </a:spcAft>
            </a:pPr>
            <a:r>
              <a:rPr sz="1400" b="1" i="0">
                <a:solidFill>
                  <a:srgbClr val="FFFFFF"/>
                </a:solidFill>
                <a:latin typeface="Calibri"/>
              </a:rPr>
              <a:t>4. Dual update</a:t>
            </a:r>
          </a:p>
        </p:txBody>
      </p:sp>
      <p:sp>
        <p:nvSpPr>
          <p:cNvPr id="19" name="TextBox 18"/>
          <p:cNvSpPr txBox="1"/>
          <p:nvPr/>
        </p:nvSpPr>
        <p:spPr>
          <a:xfrm>
            <a:off x="587200" y="5190000"/>
            <a:ext cx="5358647" cy="500000"/>
          </a:xfrm>
          <a:prstGeom prst="rect">
            <a:avLst/>
          </a:prstGeom>
          <a:noFill/>
        </p:spPr>
        <p:txBody>
          <a:bodyPr wrap="square">
            <a:spAutoFit/>
          </a:bodyPr>
          <a:lstStyle/>
          <a:p>
            <a:pPr algn="l">
              <a:spcBef>
                <a:spcPts val="0"/>
              </a:spcBef>
              <a:spcAft>
                <a:spcPts val="0"/>
              </a:spcAft>
            </a:pPr>
            <a:r>
              <a:rPr sz="1300" b="0" i="1">
                <a:solidFill>
                  <a:srgbClr val="FFFFFF"/>
                </a:solidFill>
                <a:latin typeface="Calibri"/>
              </a:rPr>
              <a:t>Update selected arm reward + REFER arm penalty
Without dual update: REFER over-selects (gotcha)</a:t>
            </a:r>
          </a:p>
        </p:txBody>
      </p:sp>
      <p:sp>
        <p:nvSpPr>
          <p:cNvPr id="20" name="Rectangle 19"/>
          <p:cNvSpPr/>
          <p:nvPr/>
        </p:nvSpPr>
        <p:spPr>
          <a:xfrm>
            <a:off x="6245847" y="1150000"/>
            <a:ext cx="5488648" cy="1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150000"/>
            <a:ext cx="91440" cy="1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1270000"/>
            <a:ext cx="5308648"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Key Parameters</a:t>
            </a:r>
          </a:p>
        </p:txBody>
      </p:sp>
      <p:sp>
        <p:nvSpPr>
          <p:cNvPr id="23" name="TextBox 22"/>
          <p:cNvSpPr txBox="1"/>
          <p:nvPr/>
        </p:nvSpPr>
        <p:spPr>
          <a:xfrm>
            <a:off x="6395847" y="1690000"/>
            <a:ext cx="5308648" cy="9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κ = 0.7   (uncertainty threshold for headline result)</a:t>
            </a:r>
          </a:p>
          <a:p>
            <a:pPr algn="l">
              <a:spcBef>
                <a:spcPts val="400"/>
              </a:spcBef>
            </a:pPr>
            <a:r>
              <a:rPr sz="1300" b="0" i="0">
                <a:solidFill>
                  <a:srgbClr val="505050"/>
                </a:solidFill>
                <a:latin typeface="Calibri"/>
              </a:rPr>
              <a:t>Review rate: 1.5% of rounds</a:t>
            </a:r>
          </a:p>
          <a:p>
            <a:pPr algn="l">
              <a:spcBef>
                <a:spcPts val="400"/>
              </a:spcBef>
            </a:pPr>
            <a:r>
              <a:rPr sz="1300" b="0" i="0">
                <a:solidFill>
                  <a:srgbClr val="505050"/>
                </a:solidFill>
                <a:latin typeface="Calibri"/>
              </a:rPr>
              <a:t>Reward gain: +6.5% vs vanilla bandit (p=0.017, d=0.87)</a:t>
            </a:r>
          </a:p>
        </p:txBody>
      </p:sp>
      <p:sp>
        <p:nvSpPr>
          <p:cNvPr id="24" name="Rectangle 23"/>
          <p:cNvSpPr/>
          <p:nvPr/>
        </p:nvSpPr>
        <p:spPr>
          <a:xfrm>
            <a:off x="6245847" y="2950000"/>
            <a:ext cx="5488648" cy="14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847" y="2950000"/>
            <a:ext cx="91440" cy="14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5847" y="3070000"/>
            <a:ext cx="5308648"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Implementation Gotcha</a:t>
            </a:r>
          </a:p>
        </p:txBody>
      </p:sp>
      <p:sp>
        <p:nvSpPr>
          <p:cNvPr id="27" name="TextBox 26"/>
          <p:cNvSpPr txBox="1"/>
          <p:nvPr/>
        </p:nvSpPr>
        <p:spPr>
          <a:xfrm>
            <a:off x="6395847" y="3490000"/>
            <a:ext cx="5308648" cy="7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Without dual update (action + REFER penalty), the REFER arm </a:t>
            </a:r>
          </a:p>
          <a:p>
            <a:pPr algn="l">
              <a:spcBef>
                <a:spcPts val="400"/>
              </a:spcBef>
            </a:pPr>
            <a:r>
              <a:rPr sz="1300" b="0" i="0">
                <a:solidFill>
                  <a:srgbClr val="505050"/>
                </a:solidFill>
                <a:latin typeface="Calibri"/>
              </a:rPr>
              <a:t>accumulates reward without cost → over-selection spiral.</a:t>
            </a:r>
          </a:p>
          <a:p>
            <a:pPr algn="l">
              <a:spcBef>
                <a:spcPts val="400"/>
              </a:spcBef>
            </a:pPr>
            <a:r>
              <a:rPr sz="1300" b="0" i="0">
                <a:solidFill>
                  <a:srgbClr val="505050"/>
                </a:solidFill>
                <a:latin typeface="Calibri"/>
              </a:rPr>
              <a:t>Dual update corrects this incentive.</a:t>
            </a:r>
          </a:p>
        </p:txBody>
      </p:sp>
      <p:sp>
        <p:nvSpPr>
          <p:cNvPr id="28" name="Rectangle 27"/>
          <p:cNvSpPr/>
          <p:nvPr/>
        </p:nvSpPr>
        <p:spPr>
          <a:xfrm>
            <a:off x="6245847" y="4550000"/>
            <a:ext cx="5488648" cy="16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847" y="4550000"/>
            <a:ext cx="91440" cy="16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95847" y="4670000"/>
            <a:ext cx="5308648"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EXP-008 Result</a:t>
            </a:r>
          </a:p>
        </p:txBody>
      </p:sp>
      <p:sp>
        <p:nvSpPr>
          <p:cNvPr id="31" name="TextBox 30"/>
          <p:cNvSpPr txBox="1"/>
          <p:nvPr/>
        </p:nvSpPr>
        <p:spPr>
          <a:xfrm>
            <a:off x="6395847" y="5090000"/>
            <a:ext cx="5308648" cy="96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HITL+LinUCB:  +6.5% vs vanilla bandit</a:t>
            </a:r>
          </a:p>
          <a:p>
            <a:pPr algn="l">
              <a:spcBef>
                <a:spcPts val="400"/>
              </a:spcBef>
            </a:pPr>
            <a:r>
              <a:rPr sz="1300" b="0" i="0">
                <a:solidFill>
                  <a:srgbClr val="505050"/>
                </a:solidFill>
                <a:latin typeface="Calibri"/>
              </a:rPr>
              <a:t>κ sweep: 0.3 – 0.9 tested; κ=0.7 optimal</a:t>
            </a:r>
          </a:p>
          <a:p>
            <a:pPr algn="l">
              <a:spcBef>
                <a:spcPts val="400"/>
              </a:spcBef>
            </a:pPr>
            <a:r>
              <a:rPr sz="1300" b="0" i="0">
                <a:solidFill>
                  <a:srgbClr val="505050"/>
                </a:solidFill>
                <a:latin typeface="Calibri"/>
              </a:rPr>
              <a:t>p=0.017, Cohen’s d=0.87</a:t>
            </a:r>
          </a:p>
        </p:txBody>
      </p:sp>
      <p:sp>
        <p:nvSpPr>
          <p:cNvPr id="32" name="Rectangle 3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4" name="Rectangle 3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36" name="Rectangle 3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15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EXPERIMENTAL DESIGN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00000"/>
            <a:ext cx="11277295" cy="6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7200" y="1140000"/>
            <a:ext cx="11077295" cy="62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Stats Protocol: 20 seeds · Bootstrap 95% CI · Paired Wilcoxon · Bonferroni correction · Cohen’s d</a:t>
            </a:r>
          </a:p>
          <a:p>
            <a:pPr algn="l">
              <a:spcBef>
                <a:spcPts val="400"/>
              </a:spcBef>
            </a:pPr>
            <a:r>
              <a:rPr sz="1300" b="0" i="1">
                <a:solidFill>
                  <a:srgbClr val="505050"/>
                </a:solidFill>
                <a:latin typeface="Calibri"/>
              </a:rPr>
              <a:t>Online-learning paradigm — no train/test split: the policy acts, observes reward, and updates each round; evaluated by cumulative regret over 20 independent seeds (see App. A6).</a:t>
            </a:r>
          </a:p>
        </p:txBody>
      </p:sp>
      <p:graphicFrame>
        <p:nvGraphicFramePr>
          <p:cNvPr id="7" name="Table 6"/>
          <p:cNvGraphicFramePr>
            <a:graphicFrameLocks noGrp="1"/>
          </p:cNvGraphicFramePr>
          <p:nvPr/>
        </p:nvGraphicFramePr>
        <p:xfrm>
          <a:off x="457200" y="1920000"/>
          <a:ext cx="11277295" cy="440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440000">
                <a:tc>
                  <a:txBody>
                    <a:bodyPr/>
                    <a:lstStyle/>
                    <a:p>
                      <a:r>
                        <a:rPr b="1" sz="1300">
                          <a:solidFill>
                            <a:srgbClr val="FFFFFF"/>
                          </a:solidFill>
                        </a:rPr>
                        <a:t>Exp</a:t>
                      </a:r>
                    </a:p>
                  </a:txBody>
                  <a:tcPr>
                    <a:solidFill>
                      <a:srgbClr val="1B5697"/>
                    </a:solidFill>
                  </a:tcPr>
                </a:tc>
                <a:tc>
                  <a:txBody>
                    <a:bodyPr/>
                    <a:lstStyle/>
                    <a:p>
                      <a:r>
                        <a:rPr b="1" sz="1300">
                          <a:solidFill>
                            <a:srgbClr val="FFFFFF"/>
                          </a:solidFill>
                        </a:rPr>
                        <a:t>Name</a:t>
                      </a:r>
                    </a:p>
                  </a:txBody>
                  <a:tcPr>
                    <a:solidFill>
                      <a:srgbClr val="1B5697"/>
                    </a:solidFill>
                  </a:tcPr>
                </a:tc>
                <a:tc>
                  <a:txBody>
                    <a:bodyPr/>
                    <a:lstStyle/>
                    <a:p>
                      <a:r>
                        <a:rPr b="1" sz="1300">
                          <a:solidFill>
                            <a:srgbClr val="FFFFFF"/>
                          </a:solidFill>
                        </a:rPr>
                        <a:t>Seeds</a:t>
                      </a:r>
                    </a:p>
                  </a:txBody>
                  <a:tcPr>
                    <a:solidFill>
                      <a:srgbClr val="1B5697"/>
                    </a:solidFill>
                  </a:tcPr>
                </a:tc>
                <a:tc>
                  <a:txBody>
                    <a:bodyPr/>
                    <a:lstStyle/>
                    <a:p>
                      <a:r>
                        <a:rPr b="1" sz="1300">
                          <a:solidFill>
                            <a:srgbClr val="FFFFFF"/>
                          </a:solidFill>
                        </a:rPr>
                        <a:t>Rounds</a:t>
                      </a:r>
                    </a:p>
                  </a:txBody>
                  <a:tcPr>
                    <a:solidFill>
                      <a:srgbClr val="1B5697"/>
                    </a:solidFill>
                  </a:tcPr>
                </a:tc>
                <a:tc>
                  <a:txBody>
                    <a:bodyPr/>
                    <a:lstStyle/>
                    <a:p>
                      <a:r>
                        <a:rPr b="1" sz="1300">
                          <a:solidFill>
                            <a:srgbClr val="FFFFFF"/>
                          </a:solidFill>
                        </a:rPr>
                        <a:t>Focus</a:t>
                      </a:r>
                    </a:p>
                  </a:txBody>
                  <a:tcPr>
                    <a:solidFill>
                      <a:srgbClr val="1B5697"/>
                    </a:solidFill>
                  </a:tcPr>
                </a:tc>
              </a:tr>
              <a:tr h="440000">
                <a:tc>
                  <a:txBody>
                    <a:bodyPr/>
                    <a:lstStyle/>
                    <a:p>
                      <a:r>
                        <a:rPr sz="1300" b="1">
                          <a:solidFill>
                            <a:srgbClr val="1B5697"/>
                          </a:solidFill>
                        </a:rPr>
                        <a:t>EXP-005</a:t>
                      </a:r>
                    </a:p>
                  </a:txBody>
                  <a:tcPr>
                    <a:solidFill>
                      <a:srgbClr val="F3F6FB"/>
                    </a:solidFill>
                  </a:tcPr>
                </a:tc>
                <a:tc>
                  <a:txBody>
                    <a:bodyPr/>
                    <a:lstStyle/>
                    <a:p>
                      <a:r>
                        <a:rPr sz="1300" b="0">
                          <a:solidFill>
                            <a:srgbClr val="262626"/>
                          </a:solidFill>
                        </a:rPr>
                        <a:t>Convergence</a:t>
                      </a:r>
                    </a:p>
                  </a:txBody>
                  <a:tcPr>
                    <a:solidFill>
                      <a:srgbClr val="F3F6FB"/>
                    </a:solidFill>
                  </a:tcPr>
                </a:tc>
                <a:tc>
                  <a:txBody>
                    <a:bodyPr/>
                    <a:lstStyle/>
                    <a:p>
                      <a:r>
                        <a:rPr sz="1300" b="0">
                          <a:solidFill>
                            <a:srgbClr val="262626"/>
                          </a:solidFill>
                        </a:rPr>
                        <a:t>20</a:t>
                      </a:r>
                    </a:p>
                  </a:txBody>
                  <a:tcPr>
                    <a:solidFill>
                      <a:srgbClr val="F3F6FB"/>
                    </a:solidFill>
                  </a:tcPr>
                </a:tc>
                <a:tc>
                  <a:txBody>
                    <a:bodyPr/>
                    <a:lstStyle/>
                    <a:p>
                      <a:r>
                        <a:rPr sz="1300" b="0">
                          <a:solidFill>
                            <a:srgbClr val="262626"/>
                          </a:solidFill>
                        </a:rPr>
                        <a:t>5,000</a:t>
                      </a:r>
                    </a:p>
                  </a:txBody>
                  <a:tcPr>
                    <a:solidFill>
                      <a:srgbClr val="F3F6FB"/>
                    </a:solidFill>
                  </a:tcPr>
                </a:tc>
                <a:tc>
                  <a:txBody>
                    <a:bodyPr/>
                    <a:lstStyle/>
                    <a:p>
                      <a:r>
                        <a:rPr sz="1300" b="0">
                          <a:solidFill>
                            <a:srgbClr val="262626"/>
                          </a:solidFill>
                        </a:rPr>
                        <a:t>LinUCB vs Static XGB</a:t>
                      </a:r>
                    </a:p>
                  </a:txBody>
                  <a:tcPr>
                    <a:solidFill>
                      <a:srgbClr val="F3F6FB"/>
                    </a:solidFill>
                  </a:tcPr>
                </a:tc>
              </a:tr>
              <a:tr h="440000">
                <a:tc>
                  <a:txBody>
                    <a:bodyPr/>
                    <a:lstStyle/>
                    <a:p>
                      <a:r>
                        <a:rPr sz="1300" b="1">
                          <a:solidFill>
                            <a:srgbClr val="1B5697"/>
                          </a:solidFill>
                        </a:rPr>
                        <a:t>EXP-006</a:t>
                      </a:r>
                    </a:p>
                  </a:txBody>
                  <a:tcPr>
                    <a:solidFill>
                      <a:srgbClr val="FFFFFF"/>
                    </a:solidFill>
                  </a:tcPr>
                </a:tc>
                <a:tc>
                  <a:txBody>
                    <a:bodyPr/>
                    <a:lstStyle/>
                    <a:p>
                      <a:r>
                        <a:rPr sz="1300" b="0">
                          <a:solidFill>
                            <a:srgbClr val="262626"/>
                          </a:solidFill>
                        </a:rPr>
                        <a:t>Fairness Audit</a:t>
                      </a:r>
                    </a:p>
                  </a:txBody>
                  <a:tcPr>
                    <a:solidFill>
                      <a:srgbClr val="FFFFFF"/>
                    </a:solidFill>
                  </a:tcPr>
                </a:tc>
                <a:tc>
                  <a:txBody>
                    <a:bodyPr/>
                    <a:lstStyle/>
                    <a:p>
                      <a:r>
                        <a:rPr sz="1300" b="0">
                          <a:solidFill>
                            <a:srgbClr val="262626"/>
                          </a:solidFill>
                        </a:rPr>
                        <a:t>20</a:t>
                      </a:r>
                    </a:p>
                  </a:txBody>
                  <a:tcPr>
                    <a:solidFill>
                      <a:srgbClr val="FFFFFF"/>
                    </a:solidFill>
                  </a:tcPr>
                </a:tc>
                <a:tc>
                  <a:txBody>
                    <a:bodyPr/>
                    <a:lstStyle/>
                    <a:p>
                      <a:r>
                        <a:rPr sz="1300" b="0">
                          <a:solidFill>
                            <a:srgbClr val="262626"/>
                          </a:solidFill>
                        </a:rPr>
                        <a:t>5,000</a:t>
                      </a:r>
                    </a:p>
                  </a:txBody>
                  <a:tcPr>
                    <a:solidFill>
                      <a:srgbClr val="FFFFFF"/>
                    </a:solidFill>
                  </a:tcPr>
                </a:tc>
                <a:tc>
                  <a:txBody>
                    <a:bodyPr/>
                    <a:lstStyle/>
                    <a:p>
                      <a:r>
                        <a:rPr sz="1300" b="0">
                          <a:solidFill>
                            <a:srgbClr val="262626"/>
                          </a:solidFill>
                        </a:rPr>
                        <a:t>PSI + EEOC 4/5 rule</a:t>
                      </a:r>
                    </a:p>
                  </a:txBody>
                  <a:tcPr>
                    <a:solidFill>
                      <a:srgbClr val="FFFFFF"/>
                    </a:solidFill>
                  </a:tcPr>
                </a:tc>
              </a:tr>
              <a:tr h="440000">
                <a:tc>
                  <a:txBody>
                    <a:bodyPr/>
                    <a:lstStyle/>
                    <a:p>
                      <a:r>
                        <a:rPr sz="1300" b="1">
                          <a:solidFill>
                            <a:srgbClr val="1B5697"/>
                          </a:solidFill>
                        </a:rPr>
                        <a:t>EXP-007</a:t>
                      </a:r>
                    </a:p>
                  </a:txBody>
                  <a:tcPr>
                    <a:solidFill>
                      <a:srgbClr val="F3F6FB"/>
                    </a:solidFill>
                  </a:tcPr>
                </a:tc>
                <a:tc>
                  <a:txBody>
                    <a:bodyPr/>
                    <a:lstStyle/>
                    <a:p>
                      <a:r>
                        <a:rPr sz="1300" b="0">
                          <a:solidFill>
                            <a:srgbClr val="262626"/>
                          </a:solidFill>
                        </a:rPr>
                        <a:t>Benchmark</a:t>
                      </a:r>
                    </a:p>
                  </a:txBody>
                  <a:tcPr>
                    <a:solidFill>
                      <a:srgbClr val="F3F6FB"/>
                    </a:solidFill>
                  </a:tcPr>
                </a:tc>
                <a:tc>
                  <a:txBody>
                    <a:bodyPr/>
                    <a:lstStyle/>
                    <a:p>
                      <a:r>
                        <a:rPr sz="1300" b="0">
                          <a:solidFill>
                            <a:srgbClr val="262626"/>
                          </a:solidFill>
                        </a:rPr>
                        <a:t>20</a:t>
                      </a:r>
                    </a:p>
                  </a:txBody>
                  <a:tcPr>
                    <a:solidFill>
                      <a:srgbClr val="F3F6FB"/>
                    </a:solidFill>
                  </a:tcPr>
                </a:tc>
                <a:tc>
                  <a:txBody>
                    <a:bodyPr/>
                    <a:lstStyle/>
                    <a:p>
                      <a:r>
                        <a:rPr sz="1300" b="0">
                          <a:solidFill>
                            <a:srgbClr val="262626"/>
                          </a:solidFill>
                        </a:rPr>
                        <a:t>5,000</a:t>
                      </a:r>
                    </a:p>
                  </a:txBody>
                  <a:tcPr>
                    <a:solidFill>
                      <a:srgbClr val="F3F6FB"/>
                    </a:solidFill>
                  </a:tcPr>
                </a:tc>
                <a:tc>
                  <a:txBody>
                    <a:bodyPr/>
                    <a:lstStyle/>
                    <a:p>
                      <a:r>
                        <a:rPr sz="1300" b="0">
                          <a:solidFill>
                            <a:srgbClr val="262626"/>
                          </a:solidFill>
                        </a:rPr>
                        <a:t>Full ladder CRN</a:t>
                      </a:r>
                    </a:p>
                  </a:txBody>
                  <a:tcPr>
                    <a:solidFill>
                      <a:srgbClr val="F3F6FB"/>
                    </a:solidFill>
                  </a:tcPr>
                </a:tc>
              </a:tr>
              <a:tr h="440000">
                <a:tc>
                  <a:txBody>
                    <a:bodyPr/>
                    <a:lstStyle/>
                    <a:p>
                      <a:r>
                        <a:rPr sz="1300" b="1">
                          <a:solidFill>
                            <a:srgbClr val="1B5697"/>
                          </a:solidFill>
                        </a:rPr>
                        <a:t>EXP-008</a:t>
                      </a:r>
                    </a:p>
                  </a:txBody>
                  <a:tcPr>
                    <a:solidFill>
                      <a:srgbClr val="FFFFFF"/>
                    </a:solidFill>
                  </a:tcPr>
                </a:tc>
                <a:tc>
                  <a:txBody>
                    <a:bodyPr/>
                    <a:lstStyle/>
                    <a:p>
                      <a:r>
                        <a:rPr sz="1300" b="0">
                          <a:solidFill>
                            <a:srgbClr val="262626"/>
                          </a:solidFill>
                        </a:rPr>
                        <a:t>HITL</a:t>
                      </a:r>
                    </a:p>
                  </a:txBody>
                  <a:tcPr>
                    <a:solidFill>
                      <a:srgbClr val="FFFFFF"/>
                    </a:solidFill>
                  </a:tcPr>
                </a:tc>
                <a:tc>
                  <a:txBody>
                    <a:bodyPr/>
                    <a:lstStyle/>
                    <a:p>
                      <a:r>
                        <a:rPr sz="1300" b="0">
                          <a:solidFill>
                            <a:srgbClr val="262626"/>
                          </a:solidFill>
                        </a:rPr>
                        <a:t>seed=42</a:t>
                      </a:r>
                    </a:p>
                  </a:txBody>
                  <a:tcPr>
                    <a:solidFill>
                      <a:srgbClr val="FFFFFF"/>
                    </a:solidFill>
                  </a:tcPr>
                </a:tc>
                <a:tc>
                  <a:txBody>
                    <a:bodyPr/>
                    <a:lstStyle/>
                    <a:p>
                      <a:r>
                        <a:rPr sz="1300" b="0">
                          <a:solidFill>
                            <a:srgbClr val="262626"/>
                          </a:solidFill>
                        </a:rPr>
                        <a:t>5,000</a:t>
                      </a:r>
                    </a:p>
                  </a:txBody>
                  <a:tcPr>
                    <a:solidFill>
                      <a:srgbClr val="FFFFFF"/>
                    </a:solidFill>
                  </a:tcPr>
                </a:tc>
                <a:tc>
                  <a:txBody>
                    <a:bodyPr/>
                    <a:lstStyle/>
                    <a:p>
                      <a:r>
                        <a:rPr sz="1300" b="0">
                          <a:solidFill>
                            <a:srgbClr val="262626"/>
                          </a:solidFill>
                        </a:rPr>
                        <a:t>Human-in-the-loop</a:t>
                      </a:r>
                    </a:p>
                  </a:txBody>
                  <a:tcPr>
                    <a:solidFill>
                      <a:srgbClr val="FFFFFF"/>
                    </a:solidFill>
                  </a:tcPr>
                </a:tc>
              </a:tr>
              <a:tr h="440000">
                <a:tc>
                  <a:txBody>
                    <a:bodyPr/>
                    <a:lstStyle/>
                    <a:p>
                      <a:r>
                        <a:rPr sz="1300" b="1">
                          <a:solidFill>
                            <a:srgbClr val="1B5697"/>
                          </a:solidFill>
                        </a:rPr>
                        <a:t>EXP-009</a:t>
                      </a:r>
                    </a:p>
                  </a:txBody>
                  <a:tcPr>
                    <a:solidFill>
                      <a:srgbClr val="F3F6FB"/>
                    </a:solidFill>
                  </a:tcPr>
                </a:tc>
                <a:tc>
                  <a:txBody>
                    <a:bodyPr/>
                    <a:lstStyle/>
                    <a:p>
                      <a:r>
                        <a:rPr sz="1300" b="0">
                          <a:solidFill>
                            <a:srgbClr val="262626"/>
                          </a:solidFill>
                        </a:rPr>
                        <a:t>Drift Adaptation</a:t>
                      </a:r>
                    </a:p>
                  </a:txBody>
                  <a:tcPr>
                    <a:solidFill>
                      <a:srgbClr val="F3F6FB"/>
                    </a:solidFill>
                  </a:tcPr>
                </a:tc>
                <a:tc>
                  <a:txBody>
                    <a:bodyPr/>
                    <a:lstStyle/>
                    <a:p>
                      <a:r>
                        <a:rPr sz="1300" b="0">
                          <a:solidFill>
                            <a:srgbClr val="262626"/>
                          </a:solidFill>
                        </a:rPr>
                        <a:t>20</a:t>
                      </a:r>
                    </a:p>
                  </a:txBody>
                  <a:tcPr>
                    <a:solidFill>
                      <a:srgbClr val="F3F6FB"/>
                    </a:solidFill>
                  </a:tcPr>
                </a:tc>
                <a:tc>
                  <a:txBody>
                    <a:bodyPr/>
                    <a:lstStyle/>
                    <a:p>
                      <a:r>
                        <a:rPr sz="1300" b="0">
                          <a:solidFill>
                            <a:srgbClr val="262626"/>
                          </a:solidFill>
                        </a:rPr>
                        <a:t>5,000</a:t>
                      </a:r>
                    </a:p>
                  </a:txBody>
                  <a:tcPr>
                    <a:solidFill>
                      <a:srgbClr val="F3F6FB"/>
                    </a:solidFill>
                  </a:tcPr>
                </a:tc>
                <a:tc>
                  <a:txBody>
                    <a:bodyPr/>
                    <a:lstStyle/>
                    <a:p>
                      <a:r>
                        <a:rPr sz="1300" b="0">
                          <a:solidFill>
                            <a:srgbClr val="262626"/>
                          </a:solidFill>
                        </a:rPr>
                        <a:t>Shock at t=1,500</a:t>
                      </a:r>
                    </a:p>
                  </a:txBody>
                  <a:tcPr>
                    <a:solidFill>
                      <a:srgbClr val="F3F6FB"/>
                    </a:solidFill>
                  </a:tcPr>
                </a:tc>
              </a:tr>
              <a:tr h="440000">
                <a:tc>
                  <a:txBody>
                    <a:bodyPr/>
                    <a:lstStyle/>
                    <a:p>
                      <a:r>
                        <a:rPr sz="1300" b="1">
                          <a:solidFill>
                            <a:srgbClr val="1B5697"/>
                          </a:solidFill>
                        </a:rPr>
                        <a:t>EXP-010</a:t>
                      </a:r>
                    </a:p>
                  </a:txBody>
                  <a:tcPr>
                    <a:solidFill>
                      <a:srgbClr val="FFFFFF"/>
                    </a:solidFill>
                  </a:tcPr>
                </a:tc>
                <a:tc>
                  <a:txBody>
                    <a:bodyPr/>
                    <a:lstStyle/>
                    <a:p>
                      <a:r>
                        <a:rPr sz="1300" b="0">
                          <a:solidFill>
                            <a:srgbClr val="262626"/>
                          </a:solidFill>
                        </a:rPr>
                        <a:t>Cold Start</a:t>
                      </a:r>
                    </a:p>
                  </a:txBody>
                  <a:tcPr>
                    <a:solidFill>
                      <a:srgbClr val="FFFFFF"/>
                    </a:solidFill>
                  </a:tcPr>
                </a:tc>
                <a:tc>
                  <a:txBody>
                    <a:bodyPr/>
                    <a:lstStyle/>
                    <a:p>
                      <a:r>
                        <a:rPr sz="1300" b="0">
                          <a:solidFill>
                            <a:srgbClr val="262626"/>
                          </a:solidFill>
                        </a:rPr>
                        <a:t>10</a:t>
                      </a:r>
                    </a:p>
                  </a:txBody>
                  <a:tcPr>
                    <a:solidFill>
                      <a:srgbClr val="FFFFFF"/>
                    </a:solidFill>
                  </a:tcPr>
                </a:tc>
                <a:tc>
                  <a:txBody>
                    <a:bodyPr/>
                    <a:lstStyle/>
                    <a:p>
                      <a:r>
                        <a:rPr sz="1300" b="0">
                          <a:solidFill>
                            <a:srgbClr val="262626"/>
                          </a:solidFill>
                        </a:rPr>
                        <a:t>200–2,000</a:t>
                      </a:r>
                    </a:p>
                  </a:txBody>
                  <a:tcPr>
                    <a:solidFill>
                      <a:srgbClr val="FFFFFF"/>
                    </a:solidFill>
                  </a:tcPr>
                </a:tc>
                <a:tc>
                  <a:txBody>
                    <a:bodyPr/>
                    <a:lstStyle/>
                    <a:p>
                      <a:r>
                        <a:rPr sz="1300" b="0">
                          <a:solidFill>
                            <a:srgbClr val="262626"/>
                          </a:solidFill>
                        </a:rPr>
                        <a:t>Crossover horizon</a:t>
                      </a:r>
                    </a:p>
                  </a:txBody>
                  <a:tcPr>
                    <a:solidFill>
                      <a:srgbClr val="FFFFFF"/>
                    </a:solidFill>
                  </a:tcPr>
                </a:tc>
              </a:tr>
              <a:tr h="440000">
                <a:tc>
                  <a:txBody>
                    <a:bodyPr/>
                    <a:lstStyle/>
                    <a:p>
                      <a:r>
                        <a:rPr sz="1300" b="1">
                          <a:solidFill>
                            <a:srgbClr val="1B5697"/>
                          </a:solidFill>
                        </a:rPr>
                        <a:t>EXP-011</a:t>
                      </a:r>
                    </a:p>
                  </a:txBody>
                  <a:tcPr>
                    <a:solidFill>
                      <a:srgbClr val="F3F6FB"/>
                    </a:solidFill>
                  </a:tcPr>
                </a:tc>
                <a:tc>
                  <a:txBody>
                    <a:bodyPr/>
                    <a:lstStyle/>
                    <a:p>
                      <a:r>
                        <a:rPr sz="1300" b="0">
                          <a:solidFill>
                            <a:srgbClr val="262626"/>
                          </a:solidFill>
                        </a:rPr>
                        <a:t>Ablation</a:t>
                      </a:r>
                    </a:p>
                  </a:txBody>
                  <a:tcPr>
                    <a:solidFill>
                      <a:srgbClr val="F3F6FB"/>
                    </a:solidFill>
                  </a:tcPr>
                </a:tc>
                <a:tc>
                  <a:txBody>
                    <a:bodyPr/>
                    <a:lstStyle/>
                    <a:p>
                      <a:r>
                        <a:rPr sz="1300" b="0">
                          <a:solidFill>
                            <a:srgbClr val="262626"/>
                          </a:solidFill>
                        </a:rPr>
                        <a:t>20</a:t>
                      </a:r>
                    </a:p>
                  </a:txBody>
                  <a:tcPr>
                    <a:solidFill>
                      <a:srgbClr val="F3F6FB"/>
                    </a:solidFill>
                  </a:tcPr>
                </a:tc>
                <a:tc>
                  <a:txBody>
                    <a:bodyPr/>
                    <a:lstStyle/>
                    <a:p>
                      <a:r>
                        <a:rPr sz="1300" b="0">
                          <a:solidFill>
                            <a:srgbClr val="262626"/>
                          </a:solidFill>
                        </a:rPr>
                        <a:t>5,000</a:t>
                      </a:r>
                    </a:p>
                  </a:txBody>
                  <a:tcPr>
                    <a:solidFill>
                      <a:srgbClr val="F3F6FB"/>
                    </a:solidFill>
                  </a:tcPr>
                </a:tc>
                <a:tc>
                  <a:txBody>
                    <a:bodyPr/>
                    <a:lstStyle/>
                    <a:p>
                      <a:r>
                        <a:rPr sz="1300" b="0">
                          <a:solidFill>
                            <a:srgbClr val="262626"/>
                          </a:solidFill>
                        </a:rPr>
                        <a:t>Exploration vs updating</a:t>
                      </a:r>
                    </a:p>
                  </a:txBody>
                  <a:tcPr>
                    <a:solidFill>
                      <a:srgbClr val="F3F6FB"/>
                    </a:solidFill>
                  </a:tcPr>
                </a:tc>
              </a:tr>
              <a:tr h="440000">
                <a:tc>
                  <a:txBody>
                    <a:bodyPr/>
                    <a:lstStyle/>
                    <a:p>
                      <a:r>
                        <a:rPr sz="1300" b="1">
                          <a:solidFill>
                            <a:srgbClr val="1B5697"/>
                          </a:solidFill>
                        </a:rPr>
                        <a:t>EXP-013</a:t>
                      </a:r>
                    </a:p>
                  </a:txBody>
                  <a:tcPr>
                    <a:solidFill>
                      <a:srgbClr val="FFFFFF"/>
                    </a:solidFill>
                  </a:tcPr>
                </a:tc>
                <a:tc>
                  <a:txBody>
                    <a:bodyPr/>
                    <a:lstStyle/>
                    <a:p>
                      <a:r>
                        <a:rPr sz="1300" b="0">
                          <a:solidFill>
                            <a:srgbClr val="262626"/>
                          </a:solidFill>
                        </a:rPr>
                        <a:t>Regret Bound</a:t>
                      </a:r>
                    </a:p>
                  </a:txBody>
                  <a:tcPr>
                    <a:solidFill>
                      <a:srgbClr val="FFFFFF"/>
                    </a:solidFill>
                  </a:tcPr>
                </a:tc>
                <a:tc>
                  <a:txBody>
                    <a:bodyPr/>
                    <a:lstStyle/>
                    <a:p>
                      <a:r>
                        <a:rPr sz="1300" b="0">
                          <a:solidFill>
                            <a:srgbClr val="262626"/>
                          </a:solidFill>
                        </a:rPr>
                        <a:t>20</a:t>
                      </a:r>
                    </a:p>
                  </a:txBody>
                  <a:tcPr>
                    <a:solidFill>
                      <a:srgbClr val="FFFFFF"/>
                    </a:solidFill>
                  </a:tcPr>
                </a:tc>
                <a:tc>
                  <a:txBody>
                    <a:bodyPr/>
                    <a:lstStyle/>
                    <a:p>
                      <a:r>
                        <a:rPr sz="1300" b="0">
                          <a:solidFill>
                            <a:srgbClr val="262626"/>
                          </a:solidFill>
                        </a:rPr>
                        <a:t>5,000</a:t>
                      </a:r>
                    </a:p>
                  </a:txBody>
                  <a:tcPr>
                    <a:solidFill>
                      <a:srgbClr val="FFFFFF"/>
                    </a:solidFill>
                  </a:tcPr>
                </a:tc>
                <a:tc>
                  <a:txBody>
                    <a:bodyPr/>
                    <a:lstStyle/>
                    <a:p>
                      <a:r>
                        <a:rPr sz="1300" b="0">
                          <a:solidFill>
                            <a:srgbClr val="262626"/>
                          </a:solidFill>
                        </a:rPr>
                        <a:t>Log-log slope validation</a:t>
                      </a:r>
                    </a:p>
                  </a:txBody>
                  <a:tcPr>
                    <a:solidFill>
                      <a:srgbClr val="FFFFFF"/>
                    </a:solidFill>
                  </a:tcPr>
                </a:tc>
              </a:tr>
              <a:tr h="440000">
                <a:tc>
                  <a:txBody>
                    <a:bodyPr/>
                    <a:lstStyle/>
                    <a:p>
                      <a:r>
                        <a:rPr sz="1300" b="1">
                          <a:solidFill>
                            <a:srgbClr val="1B5697"/>
                          </a:solidFill>
                        </a:rPr>
                        <a:t>EXP-015</a:t>
                      </a:r>
                    </a:p>
                  </a:txBody>
                  <a:tcPr>
                    <a:solidFill>
                      <a:srgbClr val="F3F6FB"/>
                    </a:solidFill>
                  </a:tcPr>
                </a:tc>
                <a:tc>
                  <a:txBody>
                    <a:bodyPr/>
                    <a:lstStyle/>
                    <a:p>
                      <a:r>
                        <a:rPr sz="1300" b="0">
                          <a:solidFill>
                            <a:srgbClr val="262626"/>
                          </a:solidFill>
                        </a:rPr>
                        <a:t>Drift Rescue</a:t>
                      </a:r>
                    </a:p>
                  </a:txBody>
                  <a:tcPr>
                    <a:solidFill>
                      <a:srgbClr val="F3F6FB"/>
                    </a:solidFill>
                  </a:tcPr>
                </a:tc>
                <a:tc>
                  <a:txBody>
                    <a:bodyPr/>
                    <a:lstStyle/>
                    <a:p>
                      <a:r>
                        <a:rPr sz="1300" b="0">
                          <a:solidFill>
                            <a:srgbClr val="262626"/>
                          </a:solidFill>
                        </a:rPr>
                        <a:t>20</a:t>
                      </a:r>
                    </a:p>
                  </a:txBody>
                  <a:tcPr>
                    <a:solidFill>
                      <a:srgbClr val="F3F6FB"/>
                    </a:solidFill>
                  </a:tcPr>
                </a:tc>
                <a:tc>
                  <a:txBody>
                    <a:bodyPr/>
                    <a:lstStyle/>
                    <a:p>
                      <a:r>
                        <a:rPr sz="1300" b="0">
                          <a:solidFill>
                            <a:srgbClr val="262626"/>
                          </a:solidFill>
                        </a:rPr>
                        <a:t>5,000</a:t>
                      </a:r>
                    </a:p>
                  </a:txBody>
                  <a:tcPr>
                    <a:solidFill>
                      <a:srgbClr val="F3F6FB"/>
                    </a:solidFill>
                  </a:tcPr>
                </a:tc>
                <a:tc>
                  <a:txBody>
                    <a:bodyPr/>
                    <a:lstStyle/>
                    <a:p>
                      <a:r>
                        <a:rPr sz="1300" b="0">
                          <a:solidFill>
                            <a:srgbClr val="262626"/>
                          </a:solidFill>
                        </a:rPr>
                        <a:t>Constant vs adaptive under shock</a:t>
                      </a:r>
                    </a:p>
                  </a:txBody>
                  <a:tcPr>
                    <a:solidFill>
                      <a:srgbClr val="F3F6FB"/>
                    </a:solidFill>
                  </a:tcPr>
                </a:tc>
              </a:tr>
            </a:tbl>
          </a:graphicData>
        </a:graphic>
      </p:graphicFrame>
      <p:sp>
        <p:nvSpPr>
          <p:cNvPr id="8" name="Rectangle 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Rectangle 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Methodology &amp; Model Design</a:t>
            </a:r>
          </a:p>
        </p:txBody>
      </p:sp>
      <p:sp>
        <p:nvSpPr>
          <p:cNvPr id="12" name="Rectangle 1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16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IV.</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Results &amp; Evaluation</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Results &amp; Evaluation</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17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THE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5150000"/>
        </p:xfrm>
        <a:graphic>
          <a:graphicData uri="http://schemas.openxmlformats.org/drawingml/2006/table">
            <a:tbl>
              <a:tblPr firstRow="1" bandRow="1">
                <a:tableStyleId>{5C22544A-7EE6-4342-B048-85BDC9FD1C3A}</a:tableStyleId>
              </a:tblPr>
              <a:tblGrid>
                <a:gridCol w="2819323"/>
                <a:gridCol w="2819323"/>
                <a:gridCol w="2819323"/>
                <a:gridCol w="2819326"/>
              </a:tblGrid>
              <a:tr h="515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515000">
                <a:tc>
                  <a:txBody>
                    <a:bodyPr/>
                    <a:lstStyle/>
                    <a:p>
                      <a:r>
                        <a:rPr sz="1200" b="0">
                          <a:solidFill>
                            <a:srgbClr val="262626"/>
                          </a:solidFill>
                        </a:rPr>
                        <a:t>Oracle (upper bound)</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515000">
                <a:tc>
                  <a:txBody>
                    <a:bodyPr/>
                    <a:lstStyle/>
                    <a:p>
                      <a:r>
                        <a:rPr sz="1200" b="0">
                          <a:solidFill>
                            <a:srgbClr val="262626"/>
                          </a:solidFill>
                        </a:rPr>
                        <a:t>LogisticOracle ‡ (full-supervision)</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515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515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515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515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515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515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515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6" name="TextBox 5"/>
          <p:cNvSpPr txBox="1"/>
          <p:nvPr/>
        </p:nvSpPr>
        <p:spPr>
          <a:xfrm>
            <a:off x="457200" y="6200000"/>
            <a:ext cx="11277295" cy="30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 LogisticOracle fit in-sample on oracle labels — not deployable (diagnostic only).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18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EXP-005: CONVERGENCE VALIDATION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LinUCB cumulative reward</a:t>
            </a:r>
          </a:p>
        </p:txBody>
      </p:sp>
      <p:sp>
        <p:nvSpPr>
          <p:cNvPr id="8" name="TextBox 7"/>
          <p:cNvSpPr txBox="1"/>
          <p:nvPr/>
        </p:nvSpPr>
        <p:spPr>
          <a:xfrm>
            <a:off x="607200" y="150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$90,540 ± 5,382</a:t>
            </a:r>
          </a:p>
        </p:txBody>
      </p:sp>
      <p:sp>
        <p:nvSpPr>
          <p:cNvPr id="9" name="TextBox 8"/>
          <p:cNvSpPr txBox="1"/>
          <p:nvPr/>
        </p:nvSpPr>
        <p:spPr>
          <a:xfrm>
            <a:off x="4857200" y="140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[88,287 – 92,886]</a:t>
            </a:r>
          </a:p>
        </p:txBody>
      </p:sp>
      <p:sp>
        <p:nvSpPr>
          <p:cNvPr id="10" name="Rectangle 9"/>
          <p:cNvSpPr/>
          <p:nvPr/>
        </p:nvSpPr>
        <p:spPr>
          <a:xfrm>
            <a:off x="457200" y="193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30000"/>
            <a:ext cx="91440" cy="72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3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Static XGB reward</a:t>
            </a:r>
          </a:p>
        </p:txBody>
      </p:sp>
      <p:sp>
        <p:nvSpPr>
          <p:cNvPr id="13" name="TextBox 12"/>
          <p:cNvSpPr txBox="1"/>
          <p:nvPr/>
        </p:nvSpPr>
        <p:spPr>
          <a:xfrm>
            <a:off x="607200" y="228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$72,292 ± 4,120</a:t>
            </a:r>
          </a:p>
        </p:txBody>
      </p:sp>
      <p:sp>
        <p:nvSpPr>
          <p:cNvPr id="14" name="TextBox 13"/>
          <p:cNvSpPr txBox="1"/>
          <p:nvPr/>
        </p:nvSpPr>
        <p:spPr>
          <a:xfrm>
            <a:off x="4857200" y="218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[70,646 – 74,136]</a:t>
            </a:r>
          </a:p>
        </p:txBody>
      </p:sp>
      <p:sp>
        <p:nvSpPr>
          <p:cNvPr id="15" name="Rectangle 14"/>
          <p:cNvSpPr/>
          <p:nvPr/>
        </p:nvSpPr>
        <p:spPr>
          <a:xfrm>
            <a:off x="457200" y="271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10000"/>
            <a:ext cx="91440" cy="72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1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Improvement</a:t>
            </a:r>
          </a:p>
        </p:txBody>
      </p:sp>
      <p:sp>
        <p:nvSpPr>
          <p:cNvPr id="18" name="TextBox 17"/>
          <p:cNvSpPr txBox="1"/>
          <p:nvPr/>
        </p:nvSpPr>
        <p:spPr>
          <a:xfrm>
            <a:off x="607200" y="306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+$18,248  (+25.2%)</a:t>
            </a:r>
          </a:p>
        </p:txBody>
      </p:sp>
      <p:sp>
        <p:nvSpPr>
          <p:cNvPr id="19" name="TextBox 18"/>
          <p:cNvSpPr txBox="1"/>
          <p:nvPr/>
        </p:nvSpPr>
        <p:spPr>
          <a:xfrm>
            <a:off x="4857200" y="296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p &lt; 0.001, d = 2.98</a:t>
            </a:r>
          </a:p>
        </p:txBody>
      </p:sp>
      <p:sp>
        <p:nvSpPr>
          <p:cNvPr id="20" name="Rectangle 19"/>
          <p:cNvSpPr/>
          <p:nvPr/>
        </p:nvSpPr>
        <p:spPr>
          <a:xfrm>
            <a:off x="457200" y="349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9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59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Oracle ceiling</a:t>
            </a:r>
          </a:p>
        </p:txBody>
      </p:sp>
      <p:sp>
        <p:nvSpPr>
          <p:cNvPr id="23" name="TextBox 22"/>
          <p:cNvSpPr txBox="1"/>
          <p:nvPr/>
        </p:nvSpPr>
        <p:spPr>
          <a:xfrm>
            <a:off x="607200" y="384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$126,804</a:t>
            </a:r>
          </a:p>
        </p:txBody>
      </p:sp>
      <p:sp>
        <p:nvSpPr>
          <p:cNvPr id="24" name="TextBox 23"/>
          <p:cNvSpPr txBox="1"/>
          <p:nvPr/>
        </p:nvSpPr>
        <p:spPr>
          <a:xfrm>
            <a:off x="4857200" y="374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LinUCB recovers 72%</a:t>
            </a:r>
          </a:p>
        </p:txBody>
      </p:sp>
      <p:sp>
        <p:nvSpPr>
          <p:cNvPr id="25" name="Rectangle 24"/>
          <p:cNvSpPr/>
          <p:nvPr/>
        </p:nvSpPr>
        <p:spPr>
          <a:xfrm>
            <a:off x="457200" y="427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27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37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Late regret — LinUCB</a:t>
            </a:r>
          </a:p>
        </p:txBody>
      </p:sp>
      <p:sp>
        <p:nvSpPr>
          <p:cNvPr id="28" name="TextBox 27"/>
          <p:cNvSpPr txBox="1"/>
          <p:nvPr/>
        </p:nvSpPr>
        <p:spPr>
          <a:xfrm>
            <a:off x="607200" y="462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$2.20/round</a:t>
            </a:r>
          </a:p>
        </p:txBody>
      </p:sp>
      <p:sp>
        <p:nvSpPr>
          <p:cNvPr id="29" name="TextBox 28"/>
          <p:cNvSpPr txBox="1"/>
          <p:nvPr/>
        </p:nvSpPr>
        <p:spPr>
          <a:xfrm>
            <a:off x="4857200" y="452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Last 500 rounds</a:t>
            </a:r>
          </a:p>
        </p:txBody>
      </p:sp>
      <p:sp>
        <p:nvSpPr>
          <p:cNvPr id="30" name="Rectangle 29"/>
          <p:cNvSpPr/>
          <p:nvPr/>
        </p:nvSpPr>
        <p:spPr>
          <a:xfrm>
            <a:off x="457200" y="5050000"/>
            <a:ext cx="6766377" cy="72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050000"/>
            <a:ext cx="91440" cy="720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150000"/>
            <a:ext cx="4000000" cy="35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Late regret — Static XGB</a:t>
            </a:r>
          </a:p>
        </p:txBody>
      </p:sp>
      <p:sp>
        <p:nvSpPr>
          <p:cNvPr id="33" name="TextBox 32"/>
          <p:cNvSpPr txBox="1"/>
          <p:nvPr/>
        </p:nvSpPr>
        <p:spPr>
          <a:xfrm>
            <a:off x="607200" y="540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$9.01/round</a:t>
            </a:r>
          </a:p>
        </p:txBody>
      </p:sp>
      <p:sp>
        <p:nvSpPr>
          <p:cNvPr id="34" name="TextBox 33"/>
          <p:cNvSpPr txBox="1"/>
          <p:nvPr/>
        </p:nvSpPr>
        <p:spPr>
          <a:xfrm>
            <a:off x="4857200" y="530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Last 500 rounds</a:t>
            </a:r>
          </a:p>
        </p:txBody>
      </p:sp>
      <p:sp>
        <p:nvSpPr>
          <p:cNvPr id="35" name="TextBox 34"/>
          <p:cNvSpPr txBox="1"/>
          <p:nvPr/>
        </p:nvSpPr>
        <p:spPr>
          <a:xfrm>
            <a:off x="457200" y="5600000"/>
            <a:ext cx="11277295" cy="400000"/>
          </a:xfrm>
          <a:prstGeom prst="rect">
            <a:avLst/>
          </a:prstGeom>
          <a:noFill/>
        </p:spPr>
        <p:txBody>
          <a:bodyPr wrap="square">
            <a:spAutoFit/>
          </a:bodyPr>
          <a:lstStyle/>
          <a:p>
            <a:pPr algn="ctr">
              <a:spcBef>
                <a:spcPts val="0"/>
              </a:spcBef>
              <a:spcAft>
                <a:spcPts val="0"/>
              </a:spcAft>
            </a:pPr>
            <a:r>
              <a:rPr sz="1500" b="1" i="0">
                <a:solidFill>
                  <a:srgbClr val="1B5697"/>
                </a:solidFill>
                <a:latin typeface="Calibri"/>
              </a:rPr>
              <a:t>+25.2% = the gap between 2023 Sophea (DECLINE) and 2026 Sophea (STANDARD).</a:t>
            </a:r>
          </a:p>
        </p:txBody>
      </p:sp>
      <p:sp>
        <p:nvSpPr>
          <p:cNvPr id="36" name="Rectangle 35"/>
          <p:cNvSpPr/>
          <p:nvPr/>
        </p:nvSpPr>
        <p:spPr>
          <a:xfrm>
            <a:off x="7423577" y="1150000"/>
            <a:ext cx="4310918" cy="43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3577" y="1250000"/>
            <a:ext cx="4110918" cy="41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CONVERGENCE INDICATORS</a:t>
            </a:r>
          </a:p>
          <a:p>
            <a:pPr algn="l">
              <a:spcBef>
                <a:spcPts val="600"/>
              </a:spcBef>
            </a:pPr>
            <a:r>
              <a:rPr sz="1300" b="0" i="0">
                <a:solidFill>
                  <a:srgbClr val="505050"/>
                </a:solidFill>
                <a:latin typeface="Calibri"/>
              </a:rPr>
              <a:t>Action entropy: 1.314 → 1.105 nats</a:t>
            </a:r>
          </a:p>
          <a:p>
            <a:pPr algn="l">
              <a:spcBef>
                <a:spcPts val="600"/>
              </a:spcBef>
            </a:pPr>
            <a:r>
              <a:rPr sz="1300" b="0" i="0">
                <a:solidFill>
                  <a:srgbClr val="505050"/>
                </a:solidFill>
                <a:latin typeface="Calibri"/>
              </a:rPr>
              <a:t>(exploration → exploitation)</a:t>
            </a:r>
          </a:p>
          <a:p>
            <a:pPr algn="l">
              <a:spcBef>
                <a:spcPts val="600"/>
              </a:spcBef>
            </a:pPr>
            <a:r>
              <a:rPr sz="1300" b="0" i="0">
                <a:solidFill>
                  <a:srgbClr val="505050"/>
                </a:solidFill>
                <a:latin typeface="Calibri"/>
              </a:rPr>
              <a:t/>
            </a:r>
          </a:p>
          <a:p>
            <a:pPr algn="l">
              <a:spcBef>
                <a:spcPts val="600"/>
              </a:spcBef>
            </a:pPr>
            <a:r>
              <a:rPr sz="1300" b="0" i="0">
                <a:solidFill>
                  <a:srgbClr val="505050"/>
                </a:solidFill>
                <a:latin typeface="Calibri"/>
              </a:rPr>
              <a:t>Oracle-agreement (last 500 rounds): 37.8%</a:t>
            </a:r>
          </a:p>
          <a:p>
            <a:pPr algn="l">
              <a:spcBef>
                <a:spcPts val="600"/>
              </a:spcBef>
            </a:pPr>
            <a:r>
              <a:rPr sz="1300" b="0" i="0">
                <a:solidFill>
                  <a:srgbClr val="505050"/>
                </a:solidFill>
                <a:latin typeface="Calibri"/>
              </a:rPr>
              <a:t>(learns different but profitable policy)</a:t>
            </a:r>
          </a:p>
          <a:p>
            <a:pPr algn="l">
              <a:spcBef>
                <a:spcPts val="600"/>
              </a:spcBef>
            </a:pPr>
            <a:r>
              <a:rPr sz="1300" b="0" i="0">
                <a:solidFill>
                  <a:srgbClr val="505050"/>
                </a:solidFill>
                <a:latin typeface="Calibri"/>
              </a:rPr>
              <a:t/>
            </a:r>
          </a:p>
          <a:p>
            <a:pPr algn="l">
              <a:spcBef>
                <a:spcPts val="600"/>
              </a:spcBef>
            </a:pPr>
            <a:r>
              <a:rPr sz="1300" b="0" i="0">
                <a:solidFill>
                  <a:srgbClr val="505050"/>
                </a:solidFill>
                <a:latin typeface="Calibri"/>
              </a:rPr>
              <a:t>Regret curve follows O(√T)</a:t>
            </a:r>
          </a:p>
          <a:p>
            <a:pPr algn="l">
              <a:spcBef>
                <a:spcPts val="600"/>
              </a:spcBef>
            </a:pPr>
            <a:r>
              <a:rPr sz="1300" b="0" i="0">
                <a:solidFill>
                  <a:srgbClr val="505050"/>
                </a:solidFill>
                <a:latin typeface="Calibri"/>
              </a:rPr>
              <a:t>Log-log slope: 0.572 (theory: 0.5)</a:t>
            </a:r>
          </a:p>
          <a:p>
            <a:pPr algn="l">
              <a:spcBef>
                <a:spcPts val="600"/>
              </a:spcBef>
            </a:pPr>
            <a:r>
              <a:rPr sz="1300" b="0" i="0">
                <a:solidFill>
                  <a:srgbClr val="505050"/>
                </a:solidFill>
                <a:latin typeface="Calibri"/>
              </a:rPr>
              <a:t>R² = 0.9915</a:t>
            </a:r>
          </a:p>
          <a:p>
            <a:pPr algn="l">
              <a:spcBef>
                <a:spcPts val="600"/>
              </a:spcBef>
            </a:pPr>
            <a:r>
              <a:rPr sz="1300" b="0" i="0">
                <a:solidFill>
                  <a:srgbClr val="505050"/>
                </a:solidFill>
                <a:latin typeface="Calibri"/>
              </a:rPr>
              <a:t/>
            </a:r>
          </a:p>
          <a:p>
            <a:pPr algn="l">
              <a:spcBef>
                <a:spcPts val="600"/>
              </a:spcBef>
            </a:pPr>
            <a:r>
              <a:rPr sz="1300" b="1" i="0">
                <a:solidFill>
                  <a:srgbClr val="2E8B57"/>
                </a:solidFill>
                <a:latin typeface="Calibri"/>
              </a:rPr>
              <a:t>All 5 EXP-005 criteria: PASSED</a:t>
            </a:r>
          </a:p>
        </p:txBody>
      </p:sp>
      <p:sp>
        <p:nvSpPr>
          <p:cNvPr id="38" name="Rectangle 37"/>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40" name="Rectangle 39"/>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2" name="Rectangle 41"/>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19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EXP-006: FAIRNESS AUDIT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Region PSI max</a:t>
            </a:r>
          </a:p>
        </p:txBody>
      </p:sp>
      <p:sp>
        <p:nvSpPr>
          <p:cNvPr id="8" name="TextBox 7"/>
          <p:cNvSpPr txBox="1"/>
          <p:nvPr/>
        </p:nvSpPr>
        <p:spPr>
          <a:xfrm>
            <a:off x="607200" y="151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0.082</a:t>
            </a:r>
          </a:p>
        </p:txBody>
      </p:sp>
      <p:sp>
        <p:nvSpPr>
          <p:cNvPr id="9" name="TextBox 8"/>
          <p:cNvSpPr txBox="1"/>
          <p:nvPr/>
        </p:nvSpPr>
        <p:spPr>
          <a:xfrm>
            <a:off x="607200" y="1730000"/>
            <a:ext cx="5288647" cy="200000"/>
          </a:xfrm>
          <a:prstGeom prst="rect">
            <a:avLst/>
          </a:prstGeom>
          <a:noFill/>
        </p:spPr>
        <p:txBody>
          <a:bodyPr wrap="square">
            <a:spAutoFit/>
          </a:bodyPr>
          <a:lstStyle/>
          <a:p>
            <a:pPr algn="l">
              <a:spcBef>
                <a:spcPts val="0"/>
              </a:spcBef>
              <a:spcAft>
                <a:spcPts val="0"/>
              </a:spcAft>
            </a:pPr>
            <a:r>
              <a:rPr sz="1200" b="1" i="0">
                <a:solidFill>
                  <a:srgbClr val="2E8B57"/>
                </a:solidFill>
                <a:latin typeface="Calibri"/>
              </a:rPr>
              <a:t>GREEN</a:t>
            </a:r>
          </a:p>
        </p:txBody>
      </p:sp>
      <p:sp>
        <p:nvSpPr>
          <p:cNvPr id="10" name="Rectangle 9"/>
          <p:cNvSpPr/>
          <p:nvPr/>
        </p:nvSpPr>
        <p:spPr>
          <a:xfrm>
            <a:off x="6245847" y="115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150000"/>
            <a:ext cx="91440" cy="7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5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Occupation PSI max</a:t>
            </a:r>
          </a:p>
        </p:txBody>
      </p:sp>
      <p:sp>
        <p:nvSpPr>
          <p:cNvPr id="13" name="TextBox 12"/>
          <p:cNvSpPr txBox="1"/>
          <p:nvPr/>
        </p:nvSpPr>
        <p:spPr>
          <a:xfrm>
            <a:off x="6395847" y="151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0.123</a:t>
            </a:r>
          </a:p>
        </p:txBody>
      </p:sp>
      <p:sp>
        <p:nvSpPr>
          <p:cNvPr id="14" name="TextBox 13"/>
          <p:cNvSpPr txBox="1"/>
          <p:nvPr/>
        </p:nvSpPr>
        <p:spPr>
          <a:xfrm>
            <a:off x="6395847" y="1730000"/>
            <a:ext cx="5288647" cy="200000"/>
          </a:xfrm>
          <a:prstGeom prst="rect">
            <a:avLst/>
          </a:prstGeom>
          <a:noFill/>
        </p:spPr>
        <p:txBody>
          <a:bodyPr wrap="square">
            <a:spAutoFit/>
          </a:bodyPr>
          <a:lstStyle/>
          <a:p>
            <a:pPr algn="l">
              <a:spcBef>
                <a:spcPts val="0"/>
              </a:spcBef>
              <a:spcAft>
                <a:spcPts val="0"/>
              </a:spcAft>
            </a:pPr>
            <a:r>
              <a:rPr sz="1200" b="1" i="0">
                <a:solidFill>
                  <a:srgbClr val="E6A62E"/>
                </a:solidFill>
                <a:latin typeface="Calibri"/>
              </a:rPr>
              <a:t>AMBER</a:t>
            </a:r>
          </a:p>
        </p:txBody>
      </p:sp>
      <p:sp>
        <p:nvSpPr>
          <p:cNvPr id="15" name="Rectangle 14"/>
          <p:cNvSpPr/>
          <p:nvPr/>
        </p:nvSpPr>
        <p:spPr>
          <a:xfrm>
            <a:off x="457200"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199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09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Region parity</a:t>
            </a:r>
          </a:p>
        </p:txBody>
      </p:sp>
      <p:sp>
        <p:nvSpPr>
          <p:cNvPr id="18" name="TextBox 17"/>
          <p:cNvSpPr txBox="1"/>
          <p:nvPr/>
        </p:nvSpPr>
        <p:spPr>
          <a:xfrm>
            <a:off x="607200" y="235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85.72%</a:t>
            </a:r>
          </a:p>
        </p:txBody>
      </p:sp>
      <p:sp>
        <p:nvSpPr>
          <p:cNvPr id="19" name="TextBox 18"/>
          <p:cNvSpPr txBox="1"/>
          <p:nvPr/>
        </p:nvSpPr>
        <p:spPr>
          <a:xfrm>
            <a:off x="607200" y="2570000"/>
            <a:ext cx="5288647" cy="200000"/>
          </a:xfrm>
          <a:prstGeom prst="rect">
            <a:avLst/>
          </a:prstGeom>
          <a:noFill/>
        </p:spPr>
        <p:txBody>
          <a:bodyPr wrap="square">
            <a:spAutoFit/>
          </a:bodyPr>
          <a:lstStyle/>
          <a:p>
            <a:pPr algn="l">
              <a:spcBef>
                <a:spcPts val="0"/>
              </a:spcBef>
              <a:spcAft>
                <a:spcPts val="0"/>
              </a:spcAft>
            </a:pPr>
            <a:r>
              <a:rPr sz="1200" b="1" i="0">
                <a:solidFill>
                  <a:srgbClr val="2E8B57"/>
                </a:solidFill>
                <a:latin typeface="Calibri"/>
              </a:rPr>
              <a:t>PASS</a:t>
            </a:r>
          </a:p>
        </p:txBody>
      </p:sp>
      <p:sp>
        <p:nvSpPr>
          <p:cNvPr id="20" name="Rectangle 19"/>
          <p:cNvSpPr/>
          <p:nvPr/>
        </p:nvSpPr>
        <p:spPr>
          <a:xfrm>
            <a:off x="6245847" y="199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199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09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Occupation parity</a:t>
            </a:r>
          </a:p>
        </p:txBody>
      </p:sp>
      <p:sp>
        <p:nvSpPr>
          <p:cNvPr id="23" name="TextBox 22"/>
          <p:cNvSpPr txBox="1"/>
          <p:nvPr/>
        </p:nvSpPr>
        <p:spPr>
          <a:xfrm>
            <a:off x="6395847" y="235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90.12%</a:t>
            </a:r>
          </a:p>
        </p:txBody>
      </p:sp>
      <p:sp>
        <p:nvSpPr>
          <p:cNvPr id="24" name="TextBox 23"/>
          <p:cNvSpPr txBox="1"/>
          <p:nvPr/>
        </p:nvSpPr>
        <p:spPr>
          <a:xfrm>
            <a:off x="6395847" y="2570000"/>
            <a:ext cx="5288647" cy="200000"/>
          </a:xfrm>
          <a:prstGeom prst="rect">
            <a:avLst/>
          </a:prstGeom>
          <a:noFill/>
        </p:spPr>
        <p:txBody>
          <a:bodyPr wrap="square">
            <a:spAutoFit/>
          </a:bodyPr>
          <a:lstStyle/>
          <a:p>
            <a:pPr algn="l">
              <a:spcBef>
                <a:spcPts val="0"/>
              </a:spcBef>
              <a:spcAft>
                <a:spcPts val="0"/>
              </a:spcAft>
            </a:pPr>
            <a:r>
              <a:rPr sz="1200" b="1" i="0">
                <a:solidFill>
                  <a:srgbClr val="2E8B57"/>
                </a:solidFill>
                <a:latin typeface="Calibri"/>
              </a:rPr>
              <a:t>PASS</a:t>
            </a:r>
          </a:p>
        </p:txBody>
      </p:sp>
      <p:sp>
        <p:nvSpPr>
          <p:cNvPr id="25" name="Rectangle 24"/>
          <p:cNvSpPr/>
          <p:nvPr/>
        </p:nvSpPr>
        <p:spPr>
          <a:xfrm>
            <a:off x="457200" y="2830000"/>
            <a:ext cx="5488647" cy="76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2830000"/>
            <a:ext cx="91440" cy="76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293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Region permutation</a:t>
            </a:r>
          </a:p>
        </p:txBody>
      </p:sp>
      <p:sp>
        <p:nvSpPr>
          <p:cNvPr id="28" name="TextBox 27"/>
          <p:cNvSpPr txBox="1"/>
          <p:nvPr/>
        </p:nvSpPr>
        <p:spPr>
          <a:xfrm>
            <a:off x="607200" y="319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p = 0.132</a:t>
            </a:r>
          </a:p>
        </p:txBody>
      </p:sp>
      <p:sp>
        <p:nvSpPr>
          <p:cNvPr id="29" name="TextBox 28"/>
          <p:cNvSpPr txBox="1"/>
          <p:nvPr/>
        </p:nvSpPr>
        <p:spPr>
          <a:xfrm>
            <a:off x="607200" y="3410000"/>
            <a:ext cx="5288647" cy="200000"/>
          </a:xfrm>
          <a:prstGeom prst="rect">
            <a:avLst/>
          </a:prstGeom>
          <a:noFill/>
        </p:spPr>
        <p:txBody>
          <a:bodyPr wrap="square">
            <a:spAutoFit/>
          </a:bodyPr>
          <a:lstStyle/>
          <a:p>
            <a:pPr algn="l">
              <a:spcBef>
                <a:spcPts val="0"/>
              </a:spcBef>
              <a:spcAft>
                <a:spcPts val="0"/>
              </a:spcAft>
            </a:pPr>
            <a:r>
              <a:rPr sz="1200" b="1" i="0">
                <a:solidFill>
                  <a:srgbClr val="2E8B57"/>
                </a:solidFill>
                <a:latin typeface="Calibri"/>
              </a:rPr>
              <a:t>PASS</a:t>
            </a:r>
          </a:p>
        </p:txBody>
      </p:sp>
      <p:sp>
        <p:nvSpPr>
          <p:cNvPr id="30" name="Rectangle 29"/>
          <p:cNvSpPr/>
          <p:nvPr/>
        </p:nvSpPr>
        <p:spPr>
          <a:xfrm>
            <a:off x="6245847" y="2830000"/>
            <a:ext cx="5488647" cy="76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2830000"/>
            <a:ext cx="91440" cy="76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2930000"/>
            <a:ext cx="5288647"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Occupation permutation</a:t>
            </a:r>
          </a:p>
        </p:txBody>
      </p:sp>
      <p:sp>
        <p:nvSpPr>
          <p:cNvPr id="33" name="TextBox 32"/>
          <p:cNvSpPr txBox="1"/>
          <p:nvPr/>
        </p:nvSpPr>
        <p:spPr>
          <a:xfrm>
            <a:off x="6395847" y="3190000"/>
            <a:ext cx="5288647" cy="28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p &lt; 0.001</a:t>
            </a:r>
          </a:p>
        </p:txBody>
      </p:sp>
      <p:sp>
        <p:nvSpPr>
          <p:cNvPr id="34" name="TextBox 33"/>
          <p:cNvSpPr txBox="1"/>
          <p:nvPr/>
        </p:nvSpPr>
        <p:spPr>
          <a:xfrm>
            <a:off x="6395847" y="3410000"/>
            <a:ext cx="5288647" cy="200000"/>
          </a:xfrm>
          <a:prstGeom prst="rect">
            <a:avLst/>
          </a:prstGeom>
          <a:noFill/>
        </p:spPr>
        <p:txBody>
          <a:bodyPr wrap="square">
            <a:spAutoFit/>
          </a:bodyPr>
          <a:lstStyle/>
          <a:p>
            <a:pPr algn="l">
              <a:spcBef>
                <a:spcPts val="0"/>
              </a:spcBef>
              <a:spcAft>
                <a:spcPts val="0"/>
              </a:spcAft>
            </a:pPr>
            <a:r>
              <a:rPr sz="1200" b="1" i="0">
                <a:solidFill>
                  <a:srgbClr val="E6A62E"/>
                </a:solidFill>
                <a:latin typeface="Calibri"/>
              </a:rPr>
              <a:t>FAILED-with-interpretation</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PSI is a MONITOR not an ENFORCER — constrained-action layer is future work.</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20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EXP-007: BENCHMARK COMPARISON (CRN)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766377" cy="3800000"/>
        </p:xfrm>
        <a:graphic>
          <a:graphicData uri="http://schemas.openxmlformats.org/drawingml/2006/table">
            <a:tbl>
              <a:tblPr firstRow="1" bandRow="1">
                <a:tableStyleId>{5C22544A-7EE6-4342-B048-85BDC9FD1C3A}</a:tableStyleId>
              </a:tblPr>
              <a:tblGrid>
                <a:gridCol w="3383188"/>
                <a:gridCol w="3383189"/>
              </a:tblGrid>
              <a:tr h="633333">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 Reward (mean, 20 seeds)</a:t>
                      </a:r>
                    </a:p>
                  </a:txBody>
                  <a:tcPr>
                    <a:solidFill>
                      <a:srgbClr val="1B5697"/>
                    </a:solidFill>
                  </a:tcPr>
                </a:tc>
              </a:tr>
              <a:tr h="633333">
                <a:tc>
                  <a:txBody>
                    <a:bodyPr/>
                    <a:lstStyle/>
                    <a:p>
                      <a:r>
                        <a:rPr sz="1300" b="1">
                          <a:solidFill>
                            <a:srgbClr val="1B5697"/>
                          </a:solidFill>
                        </a:rPr>
                        <a:t>AlwaysRATED</a:t>
                      </a:r>
                    </a:p>
                  </a:txBody>
                  <a:tcPr>
                    <a:solidFill>
                      <a:srgbClr val="FEF3CD"/>
                    </a:solidFill>
                  </a:tcPr>
                </a:tc>
                <a:tc>
                  <a:txBody>
                    <a:bodyPr/>
                    <a:lstStyle/>
                    <a:p>
                      <a:r>
                        <a:rPr sz="1300" b="0">
                          <a:solidFill>
                            <a:srgbClr val="1B5697"/>
                          </a:solidFill>
                        </a:rPr>
                        <a:t>$122,287</a:t>
                      </a:r>
                    </a:p>
                  </a:txBody>
                  <a:tcPr>
                    <a:solidFill>
                      <a:srgbClr val="FEF3CD"/>
                    </a:solidFill>
                  </a:tcPr>
                </a:tc>
              </a:tr>
              <a:tr h="633333">
                <a:tc>
                  <a:txBody>
                    <a:bodyPr/>
                    <a:lstStyle/>
                    <a:p>
                      <a:r>
                        <a:rPr sz="1300" b="1">
                          <a:solidFill>
                            <a:srgbClr val="1B5697"/>
                          </a:solidFill>
                        </a:rPr>
                        <a:t>LinTS</a:t>
                      </a:r>
                    </a:p>
                  </a:txBody>
                  <a:tcPr>
                    <a:solidFill>
                      <a:srgbClr val="E7F4E8"/>
                    </a:solidFill>
                  </a:tcPr>
                </a:tc>
                <a:tc>
                  <a:txBody>
                    <a:bodyPr/>
                    <a:lstStyle/>
                    <a:p>
                      <a:r>
                        <a:rPr sz="1300" b="0">
                          <a:solidFill>
                            <a:srgbClr val="1B5697"/>
                          </a:solidFill>
                        </a:rPr>
                        <a:t>$93,723</a:t>
                      </a:r>
                    </a:p>
                  </a:txBody>
                  <a:tcPr>
                    <a:solidFill>
                      <a:srgbClr val="E7F4E8"/>
                    </a:solidFill>
                  </a:tcPr>
                </a:tc>
              </a:tr>
              <a:tr h="633333">
                <a:tc>
                  <a:txBody>
                    <a:bodyPr/>
                    <a:lstStyle/>
                    <a:p>
                      <a:r>
                        <a:rPr sz="1300" b="1">
                          <a:solidFill>
                            <a:srgbClr val="1B5697"/>
                          </a:solidFill>
                        </a:rPr>
                        <a:t>LinUCB</a:t>
                      </a:r>
                    </a:p>
                  </a:txBody>
                  <a:tcPr>
                    <a:solidFill>
                      <a:srgbClr val="E7F4E8"/>
                    </a:solidFill>
                  </a:tcPr>
                </a:tc>
                <a:tc>
                  <a:txBody>
                    <a:bodyPr/>
                    <a:lstStyle/>
                    <a:p>
                      <a:r>
                        <a:rPr sz="1300" b="0">
                          <a:solidFill>
                            <a:srgbClr val="1B5697"/>
                          </a:solidFill>
                        </a:rPr>
                        <a:t>$91,864</a:t>
                      </a:r>
                    </a:p>
                  </a:txBody>
                  <a:tcPr>
                    <a:solidFill>
                      <a:srgbClr val="E7F4E8"/>
                    </a:solidFill>
                  </a:tcPr>
                </a:tc>
              </a:tr>
              <a:tr h="633333">
                <a:tc>
                  <a:txBody>
                    <a:bodyPr/>
                    <a:lstStyle/>
                    <a:p>
                      <a:r>
                        <a:rPr sz="1300" b="1">
                          <a:solidFill>
                            <a:srgbClr val="1B5697"/>
                          </a:solidFill>
                        </a:rPr>
                        <a:t>Epsilon-Greedy</a:t>
                      </a:r>
                    </a:p>
                  </a:txBody>
                  <a:tcPr>
                    <a:solidFill>
                      <a:srgbClr val="F3F6FB"/>
                    </a:solidFill>
                  </a:tcPr>
                </a:tc>
                <a:tc>
                  <a:txBody>
                    <a:bodyPr/>
                    <a:lstStyle/>
                    <a:p>
                      <a:r>
                        <a:rPr sz="1300" b="0">
                          <a:solidFill>
                            <a:srgbClr val="1B5697"/>
                          </a:solidFill>
                        </a:rPr>
                        <a:t>$76,441</a:t>
                      </a:r>
                    </a:p>
                  </a:txBody>
                  <a:tcPr>
                    <a:solidFill>
                      <a:srgbClr val="F3F6FB"/>
                    </a:solidFill>
                  </a:tcPr>
                </a:tc>
              </a:tr>
              <a:tr h="633335">
                <a:tc>
                  <a:txBody>
                    <a:bodyPr/>
                    <a:lstStyle/>
                    <a:p>
                      <a:r>
                        <a:rPr sz="1300" b="1">
                          <a:solidFill>
                            <a:srgbClr val="1B5697"/>
                          </a:solidFill>
                        </a:rPr>
                        <a:t>Static XGB</a:t>
                      </a:r>
                    </a:p>
                  </a:txBody>
                  <a:tcPr>
                    <a:solidFill>
                      <a:srgbClr val="F3F6FB"/>
                    </a:solidFill>
                  </a:tcPr>
                </a:tc>
                <a:tc>
                  <a:txBody>
                    <a:bodyPr/>
                    <a:lstStyle/>
                    <a:p>
                      <a:r>
                        <a:rPr sz="1300" b="0">
                          <a:solidFill>
                            <a:srgbClr val="1B5697"/>
                          </a:solidFill>
                        </a:rPr>
                        <a:t>$72,206</a:t>
                      </a:r>
                    </a:p>
                  </a:txBody>
                  <a:tcPr>
                    <a:solidFill>
                      <a:srgbClr val="F3F6FB"/>
                    </a:solidFill>
                  </a:tcPr>
                </a:tc>
              </a:tr>
            </a:tbl>
          </a:graphicData>
        </a:graphic>
      </p:graphicFrame>
      <p:sp>
        <p:nvSpPr>
          <p:cNvPr id="6" name="Rectangle 5"/>
          <p:cNvSpPr/>
          <p:nvPr/>
        </p:nvSpPr>
        <p:spPr>
          <a:xfrm>
            <a:off x="7423577" y="1200000"/>
            <a:ext cx="4310918" cy="120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23577" y="1200000"/>
            <a:ext cx="91440" cy="12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73577" y="1280000"/>
            <a:ext cx="4110918"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LinTS vs LinUCB</a:t>
            </a:r>
          </a:p>
        </p:txBody>
      </p:sp>
      <p:sp>
        <p:nvSpPr>
          <p:cNvPr id="9" name="TextBox 8"/>
          <p:cNvSpPr txBox="1"/>
          <p:nvPr/>
        </p:nvSpPr>
        <p:spPr>
          <a:xfrm>
            <a:off x="7573577" y="1580000"/>
            <a:ext cx="4110918" cy="28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p = 0.87, d = 0.26</a:t>
            </a:r>
          </a:p>
        </p:txBody>
      </p:sp>
      <p:sp>
        <p:nvSpPr>
          <p:cNvPr id="10" name="TextBox 9"/>
          <p:cNvSpPr txBox="1"/>
          <p:nvPr/>
        </p:nvSpPr>
        <p:spPr>
          <a:xfrm>
            <a:off x="7573577" y="1900000"/>
            <a:ext cx="4110918" cy="280000"/>
          </a:xfrm>
          <a:prstGeom prst="rect">
            <a:avLst/>
          </a:prstGeom>
          <a:noFill/>
        </p:spPr>
        <p:txBody>
          <a:bodyPr wrap="square">
            <a:spAutoFit/>
          </a:bodyPr>
          <a:lstStyle/>
          <a:p>
            <a:pPr algn="l">
              <a:spcBef>
                <a:spcPts val="0"/>
              </a:spcBef>
              <a:spcAft>
                <a:spcPts val="0"/>
              </a:spcAft>
            </a:pPr>
            <a:r>
              <a:rPr sz="1300" b="1" i="0">
                <a:solidFill>
                  <a:srgbClr val="E6A62E"/>
                </a:solidFill>
                <a:latin typeface="Calibri"/>
              </a:rPr>
              <a:t>TIED</a:t>
            </a:r>
          </a:p>
        </p:txBody>
      </p:sp>
      <p:sp>
        <p:nvSpPr>
          <p:cNvPr id="11" name="Rectangle 10"/>
          <p:cNvSpPr/>
          <p:nvPr/>
        </p:nvSpPr>
        <p:spPr>
          <a:xfrm>
            <a:off x="7423577" y="25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23577" y="2500000"/>
            <a:ext cx="91440" cy="12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73577" y="2580000"/>
            <a:ext cx="4110918"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LinUCB vs Static XGB</a:t>
            </a:r>
          </a:p>
        </p:txBody>
      </p:sp>
      <p:sp>
        <p:nvSpPr>
          <p:cNvPr id="14" name="TextBox 13"/>
          <p:cNvSpPr txBox="1"/>
          <p:nvPr/>
        </p:nvSpPr>
        <p:spPr>
          <a:xfrm>
            <a:off x="7573577" y="2880000"/>
            <a:ext cx="4110918" cy="28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−19,774 regret  p &lt; 0.001  d = −3.41</a:t>
            </a:r>
          </a:p>
        </p:txBody>
      </p:sp>
      <p:sp>
        <p:nvSpPr>
          <p:cNvPr id="15" name="TextBox 14"/>
          <p:cNvSpPr txBox="1"/>
          <p:nvPr/>
        </p:nvSpPr>
        <p:spPr>
          <a:xfrm>
            <a:off x="7573577" y="3200000"/>
            <a:ext cx="4110918" cy="280000"/>
          </a:xfrm>
          <a:prstGeom prst="rect">
            <a:avLst/>
          </a:prstGeom>
          <a:noFill/>
        </p:spPr>
        <p:txBody>
          <a:bodyPr wrap="square">
            <a:spAutoFit/>
          </a:bodyPr>
          <a:lstStyle/>
          <a:p>
            <a:pPr algn="l">
              <a:spcBef>
                <a:spcPts val="0"/>
              </a:spcBef>
              <a:spcAft>
                <a:spcPts val="0"/>
              </a:spcAft>
            </a:pPr>
            <a:r>
              <a:rPr sz="1300" b="1" i="0">
                <a:solidFill>
                  <a:srgbClr val="2E8B57"/>
                </a:solidFill>
                <a:latin typeface="Calibri"/>
              </a:rPr>
              <a:t>WIN</a:t>
            </a:r>
          </a:p>
        </p:txBody>
      </p:sp>
      <p:sp>
        <p:nvSpPr>
          <p:cNvPr id="16" name="Rectangle 15"/>
          <p:cNvSpPr/>
          <p:nvPr/>
        </p:nvSpPr>
        <p:spPr>
          <a:xfrm>
            <a:off x="7423577" y="3800000"/>
            <a:ext cx="4310918" cy="12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23577" y="3800000"/>
            <a:ext cx="91440" cy="12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3577" y="3880000"/>
            <a:ext cx="4110918" cy="2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LinTS vs Static XGB</a:t>
            </a:r>
          </a:p>
        </p:txBody>
      </p:sp>
      <p:sp>
        <p:nvSpPr>
          <p:cNvPr id="19" name="TextBox 18"/>
          <p:cNvSpPr txBox="1"/>
          <p:nvPr/>
        </p:nvSpPr>
        <p:spPr>
          <a:xfrm>
            <a:off x="7573577" y="4180000"/>
            <a:ext cx="4110918" cy="280000"/>
          </a:xfrm>
          <a:prstGeom prst="rect">
            <a:avLst/>
          </a:prstGeom>
          <a:noFill/>
        </p:spPr>
        <p:txBody>
          <a:bodyPr wrap="square">
            <a:spAutoFit/>
          </a:bodyPr>
          <a:lstStyle/>
          <a:p>
            <a:pPr algn="l">
              <a:spcBef>
                <a:spcPts val="0"/>
              </a:spcBef>
              <a:spcAft>
                <a:spcPts val="0"/>
              </a:spcAft>
            </a:pPr>
            <a:r>
              <a:rPr sz="1200" b="0" i="0">
                <a:solidFill>
                  <a:srgbClr val="505050"/>
                </a:solidFill>
                <a:latin typeface="Calibri"/>
              </a:rPr>
              <a:t>−21,400 regret  p &lt; 0.001  d = −3.89</a:t>
            </a:r>
          </a:p>
        </p:txBody>
      </p:sp>
      <p:sp>
        <p:nvSpPr>
          <p:cNvPr id="20" name="TextBox 19"/>
          <p:cNvSpPr txBox="1"/>
          <p:nvPr/>
        </p:nvSpPr>
        <p:spPr>
          <a:xfrm>
            <a:off x="7573577" y="4500000"/>
            <a:ext cx="4110918" cy="280000"/>
          </a:xfrm>
          <a:prstGeom prst="rect">
            <a:avLst/>
          </a:prstGeom>
          <a:noFill/>
        </p:spPr>
        <p:txBody>
          <a:bodyPr wrap="square">
            <a:spAutoFit/>
          </a:bodyPr>
          <a:lstStyle/>
          <a:p>
            <a:pPr algn="l">
              <a:spcBef>
                <a:spcPts val="0"/>
              </a:spcBef>
              <a:spcAft>
                <a:spcPts val="0"/>
              </a:spcAft>
            </a:pPr>
            <a:r>
              <a:rPr sz="1300" b="1" i="0">
                <a:solidFill>
                  <a:srgbClr val="2E8B57"/>
                </a:solidFill>
                <a:latin typeface="Calibri"/>
              </a:rPr>
              <a:t>WIN</a:t>
            </a:r>
          </a:p>
        </p:txBody>
      </p:sp>
      <p:sp>
        <p:nvSpPr>
          <p:cNvPr id="21" name="TextBox 20"/>
          <p:cNvSpPr txBox="1"/>
          <p:nvPr/>
        </p:nvSpPr>
        <p:spPr>
          <a:xfrm>
            <a:off x="457200" y="5200000"/>
            <a:ext cx="11277295" cy="6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Two coexisting findings:</a:t>
            </a:r>
          </a:p>
          <a:p>
            <a:pPr algn="l">
              <a:spcBef>
                <a:spcPts val="600"/>
              </a:spcBef>
            </a:pPr>
            <a:r>
              <a:rPr sz="1300" b="0" i="0">
                <a:solidFill>
                  <a:srgbClr val="262626"/>
                </a:solidFill>
                <a:latin typeface="Calibri"/>
              </a:rPr>
              <a:t>(1) Adaptive bandits decisively beat the frozen Static XGB rule  (p &lt; 0.001)</a:t>
            </a:r>
          </a:p>
          <a:p>
            <a:pPr algn="l">
              <a:spcBef>
                <a:spcPts val="400"/>
              </a:spcBef>
            </a:pPr>
            <a:r>
              <a:rPr sz="1300" b="0" i="0">
                <a:solidFill>
                  <a:srgbClr val="7D4E00"/>
                </a:solidFill>
                <a:latin typeface="Calibri"/>
              </a:rPr>
              <a:t>(2) Trivial constant AlwaysRATED still beats all bandits — honestly reported</a:t>
            </a:r>
          </a:p>
        </p:txBody>
      </p:sp>
      <p:sp>
        <p:nvSpPr>
          <p:cNvPr id="22" name="Rectangle 21"/>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4" name="Rectangle 23"/>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26" name="Rectangle 25"/>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21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EXP-008: HUMAN-IN-THE-LOOP</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1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1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HITL reward (c = 0.7)</a:t>
            </a:r>
          </a:p>
        </p:txBody>
      </p:sp>
      <p:sp>
        <p:nvSpPr>
          <p:cNvPr id="8" name="TextBox 7"/>
          <p:cNvSpPr txBox="1"/>
          <p:nvPr/>
        </p:nvSpPr>
        <p:spPr>
          <a:xfrm>
            <a:off x="607200" y="15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$102,100</a:t>
            </a:r>
          </a:p>
        </p:txBody>
      </p:sp>
      <p:sp>
        <p:nvSpPr>
          <p:cNvPr id="9" name="TextBox 8"/>
          <p:cNvSpPr txBox="1"/>
          <p:nvPr/>
        </p:nvSpPr>
        <p:spPr>
          <a:xfrm>
            <a:off x="4857200" y="14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vs vanilla $95,872</a:t>
            </a:r>
          </a:p>
        </p:txBody>
      </p:sp>
      <p:sp>
        <p:nvSpPr>
          <p:cNvPr id="10" name="Rectangle 9"/>
          <p:cNvSpPr/>
          <p:nvPr/>
        </p:nvSpPr>
        <p:spPr>
          <a:xfrm>
            <a:off x="457200" y="1950000"/>
            <a:ext cx="6766377" cy="75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50000"/>
            <a:ext cx="91440" cy="75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0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Improvement</a:t>
            </a:r>
          </a:p>
        </p:txBody>
      </p:sp>
      <p:sp>
        <p:nvSpPr>
          <p:cNvPr id="13" name="TextBox 12"/>
          <p:cNvSpPr txBox="1"/>
          <p:nvPr/>
        </p:nvSpPr>
        <p:spPr>
          <a:xfrm>
            <a:off x="607200" y="23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+$6,228  (+6.5%)</a:t>
            </a:r>
          </a:p>
        </p:txBody>
      </p:sp>
      <p:sp>
        <p:nvSpPr>
          <p:cNvPr id="14" name="TextBox 13"/>
          <p:cNvSpPr txBox="1"/>
          <p:nvPr/>
        </p:nvSpPr>
        <p:spPr>
          <a:xfrm>
            <a:off x="4857200" y="22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vs vanilla bandit</a:t>
            </a:r>
          </a:p>
        </p:txBody>
      </p:sp>
      <p:sp>
        <p:nvSpPr>
          <p:cNvPr id="15" name="Rectangle 14"/>
          <p:cNvSpPr/>
          <p:nvPr/>
        </p:nvSpPr>
        <p:spPr>
          <a:xfrm>
            <a:off x="457200" y="27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8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Review cost</a:t>
            </a:r>
          </a:p>
        </p:txBody>
      </p:sp>
      <p:sp>
        <p:nvSpPr>
          <p:cNvPr id="18" name="TextBox 17"/>
          <p:cNvSpPr txBox="1"/>
          <p:nvPr/>
        </p:nvSpPr>
        <p:spPr>
          <a:xfrm>
            <a:off x="607200" y="31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$2,625</a:t>
            </a:r>
          </a:p>
        </p:txBody>
      </p:sp>
      <p:sp>
        <p:nvSpPr>
          <p:cNvPr id="19" name="TextBox 18"/>
          <p:cNvSpPr txBox="1"/>
          <p:nvPr/>
        </p:nvSpPr>
        <p:spPr>
          <a:xfrm>
            <a:off x="4857200" y="30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2.6% of reward</a:t>
            </a:r>
          </a:p>
        </p:txBody>
      </p:sp>
      <p:sp>
        <p:nvSpPr>
          <p:cNvPr id="20" name="Rectangle 19"/>
          <p:cNvSpPr/>
          <p:nvPr/>
        </p:nvSpPr>
        <p:spPr>
          <a:xfrm>
            <a:off x="457200" y="35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7200" y="36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Human overrides</a:t>
            </a:r>
          </a:p>
        </p:txBody>
      </p:sp>
      <p:sp>
        <p:nvSpPr>
          <p:cNvPr id="23" name="TextBox 22"/>
          <p:cNvSpPr txBox="1"/>
          <p:nvPr/>
        </p:nvSpPr>
        <p:spPr>
          <a:xfrm>
            <a:off x="607200" y="39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75 of 5,000</a:t>
            </a:r>
          </a:p>
        </p:txBody>
      </p:sp>
      <p:sp>
        <p:nvSpPr>
          <p:cNvPr id="24" name="TextBox 23"/>
          <p:cNvSpPr txBox="1"/>
          <p:nvPr/>
        </p:nvSpPr>
        <p:spPr>
          <a:xfrm>
            <a:off x="4857200" y="38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1.5% review rate</a:t>
            </a:r>
          </a:p>
        </p:txBody>
      </p:sp>
      <p:sp>
        <p:nvSpPr>
          <p:cNvPr id="25" name="Rectangle 24"/>
          <p:cNvSpPr/>
          <p:nvPr/>
        </p:nvSpPr>
        <p:spPr>
          <a:xfrm>
            <a:off x="457200" y="43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3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44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Alignment score</a:t>
            </a:r>
          </a:p>
        </p:txBody>
      </p:sp>
      <p:sp>
        <p:nvSpPr>
          <p:cNvPr id="28" name="TextBox 27"/>
          <p:cNvSpPr txBox="1"/>
          <p:nvPr/>
        </p:nvSpPr>
        <p:spPr>
          <a:xfrm>
            <a:off x="607200" y="47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60.0%</a:t>
            </a:r>
          </a:p>
        </p:txBody>
      </p:sp>
      <p:sp>
        <p:nvSpPr>
          <p:cNvPr id="29" name="TextBox 28"/>
          <p:cNvSpPr txBox="1"/>
          <p:nvPr/>
        </p:nvSpPr>
        <p:spPr>
          <a:xfrm>
            <a:off x="4857200" y="46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human–model agreement</a:t>
            </a:r>
          </a:p>
        </p:txBody>
      </p:sp>
      <p:sp>
        <p:nvSpPr>
          <p:cNvPr id="30" name="Rectangle 29"/>
          <p:cNvSpPr/>
          <p:nvPr/>
        </p:nvSpPr>
        <p:spPr>
          <a:xfrm>
            <a:off x="457200" y="5150000"/>
            <a:ext cx="6766377" cy="75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150000"/>
            <a:ext cx="91440" cy="75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7200" y="5250000"/>
            <a:ext cx="4000000" cy="3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Queue depth</a:t>
            </a:r>
          </a:p>
        </p:txBody>
      </p:sp>
      <p:sp>
        <p:nvSpPr>
          <p:cNvPr id="33" name="TextBox 32"/>
          <p:cNvSpPr txBox="1"/>
          <p:nvPr/>
        </p:nvSpPr>
        <p:spPr>
          <a:xfrm>
            <a:off x="607200" y="5530000"/>
            <a:ext cx="4000000" cy="330000"/>
          </a:xfrm>
          <a:prstGeom prst="rect">
            <a:avLst/>
          </a:prstGeom>
          <a:noFill/>
        </p:spPr>
        <p:txBody>
          <a:bodyPr wrap="square">
            <a:spAutoFit/>
          </a:bodyPr>
          <a:lstStyle/>
          <a:p>
            <a:pPr algn="l">
              <a:spcBef>
                <a:spcPts val="0"/>
              </a:spcBef>
              <a:spcAft>
                <a:spcPts val="0"/>
              </a:spcAft>
            </a:pPr>
            <a:r>
              <a:rPr sz="1600" b="1" i="0">
                <a:solidFill>
                  <a:srgbClr val="1B5697"/>
                </a:solidFill>
                <a:latin typeface="Calibri"/>
              </a:rPr>
              <a:t>0 throughout</a:t>
            </a:r>
          </a:p>
        </p:txBody>
      </p:sp>
      <p:sp>
        <p:nvSpPr>
          <p:cNvPr id="34" name="TextBox 33"/>
          <p:cNvSpPr txBox="1"/>
          <p:nvPr/>
        </p:nvSpPr>
        <p:spPr>
          <a:xfrm>
            <a:off x="4857200" y="5430000"/>
            <a:ext cx="2500000" cy="30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no backlog</a:t>
            </a:r>
          </a:p>
        </p:txBody>
      </p:sp>
      <p:sp>
        <p:nvSpPr>
          <p:cNvPr id="35" name="TextBox 34"/>
          <p:cNvSpPr txBox="1"/>
          <p:nvPr/>
        </p:nvSpPr>
        <p:spPr>
          <a:xfrm>
            <a:off x="457200" y="5900000"/>
            <a:ext cx="11277295" cy="350000"/>
          </a:xfrm>
          <a:prstGeom prst="rect">
            <a:avLst/>
          </a:prstGeom>
          <a:noFill/>
        </p:spPr>
        <p:txBody>
          <a:bodyPr wrap="square">
            <a:spAutoFit/>
          </a:bodyPr>
          <a:lstStyle/>
          <a:p>
            <a:pPr algn="ctr">
              <a:spcBef>
                <a:spcPts val="0"/>
              </a:spcBef>
              <a:spcAft>
                <a:spcPts val="0"/>
              </a:spcAft>
            </a:pPr>
            <a:r>
              <a:rPr sz="1300" b="0" i="1">
                <a:solidFill>
                  <a:srgbClr val="505050"/>
                </a:solidFill>
                <a:latin typeface="Calibri"/>
              </a:rPr>
              <a:t>Scope: +6.5% is vs vanilla bandit (NOT vs AlwaysRATED). HITL adds genuine value at low review cost.</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22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WHAT DRIVES THE VALUE? (EXP-011 + EXP-015)</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EXP-011: ABLATION</a:t>
            </a:r>
          </a:p>
        </p:txBody>
      </p:sp>
      <p:sp>
        <p:nvSpPr>
          <p:cNvPr id="8" name="TextBox 7"/>
          <p:cNvSpPr txBox="1"/>
          <p:nvPr/>
        </p:nvSpPr>
        <p:spPr>
          <a:xfrm>
            <a:off x="607200" y="1720000"/>
            <a:ext cx="5288647" cy="390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Full LinUCB vs Greedy-only (α = 0):</a:t>
            </a:r>
          </a:p>
          <a:p>
            <a:pPr algn="l">
              <a:spcBef>
                <a:spcPts val="800"/>
              </a:spcBef>
            </a:pPr>
            <a:r>
              <a:rPr sz="1500" b="1" i="0">
                <a:solidFill>
                  <a:srgbClr val="1B5697"/>
                </a:solidFill>
                <a:latin typeface="Calibri"/>
              </a:rPr>
              <a:t>p = 0.580, d = 0.13</a:t>
            </a:r>
          </a:p>
          <a:p>
            <a:pPr algn="l">
              <a:spcBef>
                <a:spcPts val="600"/>
              </a:spcBef>
            </a:pPr>
            <a:r>
              <a:rPr sz="1300" b="0" i="0">
                <a:solidFill>
                  <a:srgbClr val="505050"/>
                </a:solidFill>
                <a:latin typeface="Calibri"/>
              </a:rPr>
              <a:t>Exploration is NOT load-bearing.</a:t>
            </a:r>
          </a:p>
          <a:p>
            <a:pPr algn="l">
              <a:spcBef>
                <a:spcPts val="0"/>
              </a:spcBef>
            </a:pPr>
            <a:r>
              <a:rPr sz="1100" b="0" i="0">
                <a:solidFill>
                  <a:srgbClr val="262626"/>
                </a:solidFill>
                <a:latin typeface="Calibri"/>
              </a:rPr>
              <a:t/>
            </a:r>
          </a:p>
          <a:p>
            <a:pPr algn="l">
              <a:spcBef>
                <a:spcPts val="400"/>
              </a:spcBef>
            </a:pPr>
            <a:r>
              <a:rPr sz="1300" b="1" i="0">
                <a:solidFill>
                  <a:srgbClr val="262626"/>
                </a:solidFill>
                <a:latin typeface="Calibri"/>
              </a:rPr>
              <a:t>Greedy-only vs Static XGB:</a:t>
            </a:r>
          </a:p>
          <a:p>
            <a:pPr algn="l">
              <a:spcBef>
                <a:spcPts val="800"/>
              </a:spcBef>
            </a:pPr>
            <a:r>
              <a:rPr sz="1500" b="1" i="0">
                <a:solidFill>
                  <a:srgbClr val="2E8B57"/>
                </a:solidFill>
                <a:latin typeface="Calibri"/>
              </a:rPr>
              <a:t>+$18,969  p &lt; 0.001  d = 3.01</a:t>
            </a:r>
          </a:p>
          <a:p>
            <a:pPr algn="l">
              <a:spcBef>
                <a:spcPts val="600"/>
              </a:spcBef>
            </a:pPr>
            <a:r>
              <a:rPr sz="1300" b="0" i="0">
                <a:solidFill>
                  <a:srgbClr val="262626"/>
                </a:solidFill>
                <a:latin typeface="Calibri"/>
              </a:rPr>
              <a:t>Online ridge updating IS the mechanism.</a:t>
            </a:r>
          </a:p>
        </p:txBody>
      </p:sp>
      <p:sp>
        <p:nvSpPr>
          <p:cNvPr id="9" name="Rectangle 8"/>
          <p:cNvSpPr/>
          <p:nvPr/>
        </p:nvSpPr>
        <p:spPr>
          <a:xfrm>
            <a:off x="6245847" y="1200000"/>
            <a:ext cx="5488647" cy="4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6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EXP-015: DRIFT RESCUE?</a:t>
            </a:r>
          </a:p>
        </p:txBody>
      </p:sp>
      <p:sp>
        <p:nvSpPr>
          <p:cNvPr id="12" name="TextBox 11"/>
          <p:cNvSpPr txBox="1"/>
          <p:nvPr/>
        </p:nvSpPr>
        <p:spPr>
          <a:xfrm>
            <a:off x="6395847" y="1720000"/>
            <a:ext cx="5288647" cy="3900000"/>
          </a:xfrm>
          <a:prstGeom prst="rect">
            <a:avLst/>
          </a:prstGeom>
          <a:noFill/>
        </p:spPr>
        <p:txBody>
          <a:bodyPr wrap="square">
            <a:spAutoFit/>
          </a:bodyPr>
          <a:lstStyle/>
          <a:p>
            <a:pPr algn="l">
              <a:spcBef>
                <a:spcPts val="0"/>
              </a:spcBef>
              <a:spcAft>
                <a:spcPts val="0"/>
              </a:spcAft>
            </a:pPr>
            <a:r>
              <a:rPr sz="1300" b="1" i="0">
                <a:solidFill>
                  <a:srgbClr val="262626"/>
                </a:solidFill>
                <a:latin typeface="Calibri"/>
              </a:rPr>
              <a:t>Under realistic drift shock:</a:t>
            </a:r>
          </a:p>
          <a:p>
            <a:pPr algn="l">
              <a:spcBef>
                <a:spcPts val="1000"/>
              </a:spcBef>
            </a:pPr>
            <a:r>
              <a:rPr sz="1300" b="0" i="0">
                <a:solidFill>
                  <a:srgbClr val="505050"/>
                </a:solidFill>
                <a:latin typeface="Calibri"/>
              </a:rPr>
              <a:t>AlwaysRATED:</a:t>
            </a:r>
          </a:p>
          <a:p>
            <a:pPr algn="l">
              <a:spcBef>
                <a:spcPts val="200"/>
              </a:spcBef>
            </a:pPr>
            <a:r>
              <a:rPr sz="1400" b="1" i="0">
                <a:solidFill>
                  <a:srgbClr val="1B5697"/>
                </a:solidFill>
                <a:latin typeface="Calibri"/>
              </a:rPr>
              <a:t>$99,321</a:t>
            </a:r>
          </a:p>
          <a:p>
            <a:pPr algn="l">
              <a:spcBef>
                <a:spcPts val="1000"/>
              </a:spcBef>
            </a:pPr>
            <a:r>
              <a:rPr sz="1300" b="0" i="0">
                <a:solidFill>
                  <a:srgbClr val="505050"/>
                </a:solidFill>
                <a:latin typeface="Calibri"/>
              </a:rPr>
              <a:t>LinTS:</a:t>
            </a:r>
          </a:p>
          <a:p>
            <a:pPr algn="l">
              <a:spcBef>
                <a:spcPts val="200"/>
              </a:spcBef>
            </a:pPr>
            <a:r>
              <a:rPr sz="1400" b="1" i="0">
                <a:solidFill>
                  <a:srgbClr val="1B5697"/>
                </a:solidFill>
                <a:latin typeface="Calibri"/>
              </a:rPr>
              <a:t>$71,429  (−39.0%)</a:t>
            </a:r>
          </a:p>
          <a:p>
            <a:pPr algn="l">
              <a:spcBef>
                <a:spcPts val="1000"/>
              </a:spcBef>
            </a:pPr>
            <a:r>
              <a:rPr sz="1300" b="0" i="0">
                <a:solidFill>
                  <a:srgbClr val="505050"/>
                </a:solidFill>
                <a:latin typeface="Calibri"/>
              </a:rPr>
              <a:t>LinUCB:</a:t>
            </a:r>
          </a:p>
          <a:p>
            <a:pPr algn="l">
              <a:spcBef>
                <a:spcPts val="200"/>
              </a:spcBef>
            </a:pPr>
            <a:r>
              <a:rPr sz="1400" b="1" i="0">
                <a:solidFill>
                  <a:srgbClr val="1B5697"/>
                </a:solidFill>
                <a:latin typeface="Calibri"/>
              </a:rPr>
              <a:t>$71,373  (−39.2%)</a:t>
            </a:r>
          </a:p>
          <a:p>
            <a:pPr algn="l">
              <a:spcBef>
                <a:spcPts val="1000"/>
              </a:spcBef>
            </a:pPr>
            <a:r>
              <a:rPr sz="1300" b="0" i="0">
                <a:solidFill>
                  <a:srgbClr val="505050"/>
                </a:solidFill>
                <a:latin typeface="Calibri"/>
              </a:rPr>
              <a:t>DiscountedLinUCB γ=0.999:</a:t>
            </a:r>
          </a:p>
          <a:p>
            <a:pPr algn="l">
              <a:spcBef>
                <a:spcPts val="200"/>
              </a:spcBef>
            </a:pPr>
            <a:r>
              <a:rPr sz="1400" b="1" i="0">
                <a:solidFill>
                  <a:srgbClr val="1B5697"/>
                </a:solidFill>
                <a:latin typeface="Calibri"/>
              </a:rPr>
              <a:t>$70,995  (no help)</a:t>
            </a:r>
          </a:p>
          <a:p>
            <a:pPr algn="l">
              <a:spcBef>
                <a:spcPts val="1200"/>
              </a:spcBef>
            </a:pPr>
            <a:r>
              <a:rPr sz="1300" b="1" i="0">
                <a:solidFill>
                  <a:srgbClr val="7D4E00"/>
                </a:solidFill>
                <a:latin typeface="Calibri"/>
              </a:rPr>
              <a:t>Non-stationarity does NOT rescue the bandit.</a:t>
            </a:r>
          </a:p>
        </p:txBody>
      </p:sp>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23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COLD START &amp; REGRET BOUND (EXP-010 + EXP-013)</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200000"/>
          <a:ext cx="6202512" cy="3200000"/>
        </p:xfrm>
        <a:graphic>
          <a:graphicData uri="http://schemas.openxmlformats.org/drawingml/2006/table">
            <a:tbl>
              <a:tblPr firstRow="1" bandRow="1">
                <a:tableStyleId>{5C22544A-7EE6-4342-B048-85BDC9FD1C3A}</a:tableStyleId>
              </a:tblPr>
              <a:tblGrid>
                <a:gridCol w="2067504"/>
                <a:gridCol w="2067504"/>
                <a:gridCol w="2067504"/>
              </a:tblGrid>
              <a:tr h="640000">
                <a:tc>
                  <a:txBody>
                    <a:bodyPr/>
                    <a:lstStyle/>
                    <a:p>
                      <a:r>
                        <a:rPr b="1" sz="1300">
                          <a:solidFill>
                            <a:srgbClr val="FFFFFF"/>
                          </a:solidFill>
                        </a:rPr>
                        <a:t>Horizon T</a:t>
                      </a:r>
                    </a:p>
                  </a:txBody>
                  <a:tcPr>
                    <a:solidFill>
                      <a:srgbClr val="1B5697"/>
                    </a:solidFill>
                  </a:tcPr>
                </a:tc>
                <a:tc>
                  <a:txBody>
                    <a:bodyPr/>
                    <a:lstStyle/>
                    <a:p>
                      <a:r>
                        <a:rPr b="1" sz="1300">
                          <a:solidFill>
                            <a:srgbClr val="FFFFFF"/>
                          </a:solidFill>
                        </a:rPr>
                        <a:t>Relative Performance</a:t>
                      </a:r>
                    </a:p>
                  </a:txBody>
                  <a:tcPr>
                    <a:solidFill>
                      <a:srgbClr val="1B5697"/>
                    </a:solidFill>
                  </a:tcPr>
                </a:tc>
                <a:tc>
                  <a:txBody>
                    <a:bodyPr/>
                    <a:lstStyle/>
                    <a:p>
                      <a:r>
                        <a:rPr b="1" sz="1300">
                          <a:solidFill>
                            <a:srgbClr val="FFFFFF"/>
                          </a:solidFill>
                        </a:rPr>
                        <a:t>Interpretation</a:t>
                      </a:r>
                    </a:p>
                  </a:txBody>
                  <a:tcPr>
                    <a:solidFill>
                      <a:srgbClr val="1B5697"/>
                    </a:solidFill>
                  </a:tcPr>
                </a:tc>
              </a:tr>
              <a:tr h="640000">
                <a:tc>
                  <a:txBody>
                    <a:bodyPr/>
                    <a:lstStyle/>
                    <a:p>
                      <a:r>
                        <a:rPr sz="1300">
                          <a:solidFill>
                            <a:srgbClr val="262626"/>
                          </a:solidFill>
                        </a:rPr>
                        <a:t>T = 200</a:t>
                      </a:r>
                    </a:p>
                  </a:txBody>
                  <a:tcPr>
                    <a:solidFill>
                      <a:srgbClr val="FEF3CD"/>
                    </a:solidFill>
                  </a:tcPr>
                </a:tc>
                <a:tc>
                  <a:txBody>
                    <a:bodyPr/>
                    <a:lstStyle/>
                    <a:p>
                      <a:r>
                        <a:rPr sz="1300">
                          <a:solidFill>
                            <a:srgbClr val="262626"/>
                          </a:solidFill>
                        </a:rPr>
                        <a:t>FreshXGB 2.1× bandits</a:t>
                      </a:r>
                    </a:p>
                  </a:txBody>
                  <a:tcPr>
                    <a:solidFill>
                      <a:srgbClr val="FEF3CD"/>
                    </a:solidFill>
                  </a:tcPr>
                </a:tc>
                <a:tc>
                  <a:txBody>
                    <a:bodyPr/>
                    <a:lstStyle/>
                    <a:p>
                      <a:r>
                        <a:rPr sz="1300">
                          <a:solidFill>
                            <a:srgbClr val="262626"/>
                          </a:solidFill>
                        </a:rPr>
                        <a:t>XGB leads</a:t>
                      </a:r>
                    </a:p>
                  </a:txBody>
                  <a:tcPr>
                    <a:solidFill>
                      <a:srgbClr val="FEF3CD"/>
                    </a:solidFill>
                  </a:tcPr>
                </a:tc>
              </a:tr>
              <a:tr h="640000">
                <a:tc>
                  <a:txBody>
                    <a:bodyPr/>
                    <a:lstStyle/>
                    <a:p>
                      <a:r>
                        <a:rPr sz="1300">
                          <a:solidFill>
                            <a:srgbClr val="262626"/>
                          </a:solidFill>
                        </a:rPr>
                        <a:t>T = 500</a:t>
                      </a:r>
                    </a:p>
                  </a:txBody>
                  <a:tcPr>
                    <a:solidFill>
                      <a:srgbClr val="FEF3CD"/>
                    </a:solidFill>
                  </a:tcPr>
                </a:tc>
                <a:tc>
                  <a:txBody>
                    <a:bodyPr/>
                    <a:lstStyle/>
                    <a:p>
                      <a:r>
                        <a:rPr sz="1300">
                          <a:solidFill>
                            <a:srgbClr val="262626"/>
                          </a:solidFill>
                        </a:rPr>
                        <a:t>FreshXGB 1.26× bandits</a:t>
                      </a:r>
                    </a:p>
                  </a:txBody>
                  <a:tcPr>
                    <a:solidFill>
                      <a:srgbClr val="FEF3CD"/>
                    </a:solidFill>
                  </a:tcPr>
                </a:tc>
                <a:tc>
                  <a:txBody>
                    <a:bodyPr/>
                    <a:lstStyle/>
                    <a:p>
                      <a:r>
                        <a:rPr sz="1300">
                          <a:solidFill>
                            <a:srgbClr val="262626"/>
                          </a:solidFill>
                        </a:rPr>
                        <a:t>XGB leads</a:t>
                      </a:r>
                    </a:p>
                  </a:txBody>
                  <a:tcPr>
                    <a:solidFill>
                      <a:srgbClr val="FEF3CD"/>
                    </a:solidFill>
                  </a:tcPr>
                </a:tc>
              </a:tr>
              <a:tr h="640000">
                <a:tc>
                  <a:txBody>
                    <a:bodyPr/>
                    <a:lstStyle/>
                    <a:p>
                      <a:r>
                        <a:rPr sz="1300">
                          <a:solidFill>
                            <a:srgbClr val="262626"/>
                          </a:solidFill>
                        </a:rPr>
                        <a:t>T = 1,000</a:t>
                      </a:r>
                    </a:p>
                  </a:txBody>
                  <a:tcPr>
                    <a:solidFill>
                      <a:srgbClr val="F3F6FB"/>
                    </a:solidFill>
                  </a:tcPr>
                </a:tc>
                <a:tc>
                  <a:txBody>
                    <a:bodyPr/>
                    <a:lstStyle/>
                    <a:p>
                      <a:r>
                        <a:rPr sz="1300">
                          <a:solidFill>
                            <a:srgbClr val="262626"/>
                          </a:solidFill>
                        </a:rPr>
                        <a:t>TIE</a:t>
                      </a:r>
                    </a:p>
                  </a:txBody>
                  <a:tcPr>
                    <a:solidFill>
                      <a:srgbClr val="F3F6FB"/>
                    </a:solidFill>
                  </a:tcPr>
                </a:tc>
                <a:tc>
                  <a:txBody>
                    <a:bodyPr/>
                    <a:lstStyle/>
                    <a:p>
                      <a:r>
                        <a:rPr sz="1300">
                          <a:solidFill>
                            <a:srgbClr val="262626"/>
                          </a:solidFill>
                        </a:rPr>
                        <a:t>Crossover zone</a:t>
                      </a:r>
                    </a:p>
                  </a:txBody>
                  <a:tcPr>
                    <a:solidFill>
                      <a:srgbClr val="F3F6FB"/>
                    </a:solidFill>
                  </a:tcPr>
                </a:tc>
              </a:tr>
              <a:tr h="640000">
                <a:tc>
                  <a:txBody>
                    <a:bodyPr/>
                    <a:lstStyle/>
                    <a:p>
                      <a:r>
                        <a:rPr sz="1300">
                          <a:solidFill>
                            <a:srgbClr val="262626"/>
                          </a:solidFill>
                        </a:rPr>
                        <a:t>T = 2,000</a:t>
                      </a:r>
                    </a:p>
                  </a:txBody>
                  <a:tcPr>
                    <a:solidFill>
                      <a:srgbClr val="E7F4E8"/>
                    </a:solidFill>
                  </a:tcPr>
                </a:tc>
                <a:tc>
                  <a:txBody>
                    <a:bodyPr/>
                    <a:lstStyle/>
                    <a:p>
                      <a:r>
                        <a:rPr sz="1300">
                          <a:solidFill>
                            <a:srgbClr val="262626"/>
                          </a:solidFill>
                        </a:rPr>
                        <a:t>Bandits cross over</a:t>
                      </a:r>
                    </a:p>
                  </a:txBody>
                  <a:tcPr>
                    <a:solidFill>
                      <a:srgbClr val="E7F4E8"/>
                    </a:solidFill>
                  </a:tcPr>
                </a:tc>
                <a:tc>
                  <a:txBody>
                    <a:bodyPr/>
                    <a:lstStyle/>
                    <a:p>
                      <a:r>
                        <a:rPr sz="1300">
                          <a:solidFill>
                            <a:srgbClr val="262626"/>
                          </a:solidFill>
                        </a:rPr>
                        <a:t>Bandits lead</a:t>
                      </a:r>
                    </a:p>
                  </a:txBody>
                  <a:tcPr>
                    <a:solidFill>
                      <a:srgbClr val="E7F4E8"/>
                    </a:solidFill>
                  </a:tcPr>
                </a:tc>
              </a:tr>
            </a:tbl>
          </a:graphicData>
        </a:graphic>
      </p:graphicFrame>
      <p:sp>
        <p:nvSpPr>
          <p:cNvPr id="6" name="TextBox 5"/>
          <p:cNvSpPr txBox="1"/>
          <p:nvPr/>
        </p:nvSpPr>
        <p:spPr>
          <a:xfrm>
            <a:off x="457200" y="4600000"/>
            <a:ext cx="6202512" cy="6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Operational implication: warm-start required for first 1,000–2,000 applications.</a:t>
            </a:r>
          </a:p>
        </p:txBody>
      </p:sp>
      <p:sp>
        <p:nvSpPr>
          <p:cNvPr id="7" name="Rectangle 6"/>
          <p:cNvSpPr/>
          <p:nvPr/>
        </p:nvSpPr>
        <p:spPr>
          <a:xfrm>
            <a:off x="6909712" y="1200000"/>
            <a:ext cx="4824782" cy="36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09712" y="1200000"/>
            <a:ext cx="91440" cy="36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712" y="1300000"/>
            <a:ext cx="4624782"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EXP-013: REGRET BOUND</a:t>
            </a:r>
          </a:p>
        </p:txBody>
      </p:sp>
      <p:sp>
        <p:nvSpPr>
          <p:cNvPr id="10" name="TextBox 9"/>
          <p:cNvSpPr txBox="1"/>
          <p:nvPr/>
        </p:nvSpPr>
        <p:spPr>
          <a:xfrm>
            <a:off x="7059712" y="1720000"/>
            <a:ext cx="4624782" cy="290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Log-log slope: 0.572</a:t>
            </a:r>
          </a:p>
          <a:p>
            <a:pPr algn="l">
              <a:spcBef>
                <a:spcPts val="400"/>
              </a:spcBef>
            </a:pPr>
            <a:r>
              <a:rPr sz="1300" b="0" i="1">
                <a:solidFill>
                  <a:srgbClr val="505050"/>
                </a:solidFill>
                <a:latin typeface="Calibri"/>
              </a:rPr>
              <a:t>(theory: 0.5 — near-optimal)</a:t>
            </a:r>
          </a:p>
          <a:p>
            <a:pPr algn="l">
              <a:spcBef>
                <a:spcPts val="0"/>
              </a:spcBef>
            </a:pPr>
            <a:r>
              <a:rPr sz="1100" b="0" i="0">
                <a:solidFill>
                  <a:srgbClr val="262626"/>
                </a:solidFill>
                <a:latin typeface="Calibri"/>
              </a:rPr>
              <a:t/>
            </a:r>
          </a:p>
          <a:p>
            <a:pPr algn="l">
              <a:spcBef>
                <a:spcPts val="600"/>
              </a:spcBef>
            </a:pPr>
            <a:r>
              <a:rPr sz="1500" b="1" i="0">
                <a:solidFill>
                  <a:srgbClr val="1B5697"/>
                </a:solidFill>
                <a:latin typeface="Calibri"/>
              </a:rPr>
              <a:t>R² = 0.9915</a:t>
            </a:r>
          </a:p>
          <a:p>
            <a:pPr algn="l">
              <a:spcBef>
                <a:spcPts val="400"/>
              </a:spcBef>
            </a:pPr>
            <a:r>
              <a:rPr sz="1300" b="0" i="1">
                <a:solidFill>
                  <a:srgbClr val="505050"/>
                </a:solidFill>
                <a:latin typeface="Calibri"/>
              </a:rPr>
              <a:t>Excellent linear fit on log-log axes</a:t>
            </a:r>
          </a:p>
          <a:p>
            <a:pPr algn="l">
              <a:spcBef>
                <a:spcPts val="0"/>
              </a:spcBef>
            </a:pPr>
            <a:r>
              <a:rPr sz="1100" b="0" i="0">
                <a:solidFill>
                  <a:srgbClr val="262626"/>
                </a:solidFill>
                <a:latin typeface="Calibri"/>
              </a:rPr>
              <a:t/>
            </a:r>
          </a:p>
          <a:p>
            <a:pPr algn="l">
              <a:spcBef>
                <a:spcPts val="600"/>
              </a:spcBef>
            </a:pPr>
            <a:r>
              <a:rPr sz="1300" b="0" i="0">
                <a:solidFill>
                  <a:srgbClr val="262626"/>
                </a:solidFill>
                <a:latin typeface="Calibri"/>
              </a:rPr>
              <a:t>85% of seeds in [0.30, 0.80]</a:t>
            </a:r>
          </a:p>
          <a:p>
            <a:pPr algn="l">
              <a:spcBef>
                <a:spcPts val="400"/>
              </a:spcBef>
            </a:pPr>
            <a:r>
              <a:rPr sz="1300" b="1" i="0">
                <a:solidFill>
                  <a:srgbClr val="2E8B57"/>
                </a:solidFill>
                <a:latin typeface="Calibri"/>
              </a:rPr>
              <a:t>Sublinear regret confirmed</a:t>
            </a:r>
          </a:p>
        </p:txBody>
      </p:sp>
      <p:sp>
        <p:nvSpPr>
          <p:cNvPr id="11" name="Rectangle 1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3" name="Rectangle 1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5" name="Rectangle 1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24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LIVE DEMONSTRATION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00000"/>
            <a:ext cx="11277295" cy="4800000"/>
          </a:xfrm>
          <a:prstGeom prst="rect">
            <a:avLst/>
          </a:prstGeom>
          <a:noFill/>
        </p:spPr>
        <p:txBody>
          <a:bodyPr wrap="square">
            <a:spAutoFit/>
          </a:bodyPr>
          <a:lstStyle/>
          <a:p>
            <a:pPr algn="l">
              <a:spcBef>
                <a:spcPts val="0"/>
              </a:spcBef>
              <a:spcAft>
                <a:spcPts val="0"/>
              </a:spcAft>
            </a:pPr>
            <a:r>
              <a:rPr sz="1400" b="0" i="1">
                <a:solidFill>
                  <a:srgbClr val="505050"/>
                </a:solidFill>
                <a:latin typeface="Calibri"/>
              </a:rPr>
              <a:t>[Open browser at localhost:8000 before this slide]</a:t>
            </a:r>
          </a:p>
          <a:p>
            <a:pPr algn="l">
              <a:spcBef>
                <a:spcPts val="200"/>
              </a:spcBef>
            </a:pPr>
            <a:r>
              <a:rPr sz="1400" b="0" i="0">
                <a:solidFill>
                  <a:srgbClr val="262626"/>
                </a:solidFill>
                <a:latin typeface="Calibri"/>
              </a:rPr>
              <a:t/>
            </a:r>
          </a:p>
          <a:p>
            <a:pPr algn="l">
              <a:spcBef>
                <a:spcPts val="800"/>
              </a:spcBef>
            </a:pPr>
            <a:r>
              <a:rPr sz="1400" b="1" i="0">
                <a:solidFill>
                  <a:srgbClr val="1B5697"/>
                </a:solidFill>
                <a:latin typeface="Calibri"/>
              </a:rPr>
              <a:t>STEP 1: Enter Sophea's profile</a:t>
            </a:r>
          </a:p>
          <a:p>
            <a:pPr algn="l">
              <a:spcBef>
                <a:spcPts val="200"/>
              </a:spcBef>
            </a:pPr>
            <a:r>
              <a:rPr sz="1400" b="0" i="0">
                <a:solidFill>
                  <a:srgbClr val="262626"/>
                </a:solidFill>
                <a:latin typeface="Calibri"/>
              </a:rPr>
              <a:t>  Age 42  ·  Female  ·  BMI 24.1  ·  Smoker: No  ·  Hypertension: Yes</a:t>
            </a:r>
          </a:p>
          <a:p>
            <a:pPr algn="l">
              <a:spcBef>
                <a:spcPts val="200"/>
              </a:spcBef>
            </a:pPr>
            <a:r>
              <a:rPr sz="1400" b="0" i="0">
                <a:solidFill>
                  <a:srgbClr val="262626"/>
                </a:solidFill>
                <a:latin typeface="Calibri"/>
              </a:rPr>
              <a:t>  Region: Kampong Cham  ·  Occupation: Agriculture</a:t>
            </a:r>
          </a:p>
          <a:p>
            <a:pPr algn="l">
              <a:spcBef>
                <a:spcPts val="200"/>
              </a:spcBef>
            </a:pPr>
            <a:r>
              <a:rPr sz="1400" b="0" i="0">
                <a:solidFill>
                  <a:srgbClr val="262626"/>
                </a:solidFill>
                <a:latin typeface="Calibri"/>
              </a:rPr>
              <a:t/>
            </a:r>
          </a:p>
          <a:p>
            <a:pPr algn="l">
              <a:spcBef>
                <a:spcPts val="800"/>
              </a:spcBef>
            </a:pPr>
            <a:r>
              <a:rPr sz="1400" b="1" i="0">
                <a:solidFill>
                  <a:srgbClr val="1B5697"/>
                </a:solidFill>
                <a:latin typeface="Calibri"/>
              </a:rPr>
              <a:t>STEP 2: Submit — show STANDARD decision</a:t>
            </a:r>
          </a:p>
          <a:p>
            <a:pPr algn="l">
              <a:spcBef>
                <a:spcPts val="200"/>
              </a:spcBef>
            </a:pPr>
            <a:r>
              <a:rPr sz="1400" b="0" i="0">
                <a:solidFill>
                  <a:srgbClr val="262626"/>
                </a:solidFill>
                <a:latin typeface="Calibri"/>
              </a:rPr>
              <a:t>  The bandit sees her 34 features and selects STANDARD premium</a:t>
            </a:r>
          </a:p>
          <a:p>
            <a:pPr algn="l">
              <a:spcBef>
                <a:spcPts val="200"/>
              </a:spcBef>
            </a:pPr>
            <a:r>
              <a:rPr sz="1400" b="0" i="0">
                <a:solidFill>
                  <a:srgbClr val="262626"/>
                </a:solidFill>
                <a:latin typeface="Calibri"/>
              </a:rPr>
              <a:t>  The correct actuarial answer — the one she was denied in 2023</a:t>
            </a:r>
          </a:p>
          <a:p>
            <a:pPr algn="l">
              <a:spcBef>
                <a:spcPts val="200"/>
              </a:spcBef>
            </a:pPr>
            <a:r>
              <a:rPr sz="1400" b="0" i="0">
                <a:solidFill>
                  <a:srgbClr val="262626"/>
                </a:solidFill>
                <a:latin typeface="Calibri"/>
              </a:rPr>
              <a:t/>
            </a:r>
          </a:p>
          <a:p>
            <a:pPr algn="l">
              <a:spcBef>
                <a:spcPts val="800"/>
              </a:spcBef>
            </a:pPr>
            <a:r>
              <a:rPr sz="1400" b="1" i="0">
                <a:solidFill>
                  <a:srgbClr val="1B5697"/>
                </a:solidFill>
                <a:latin typeface="Calibri"/>
              </a:rPr>
              <a:t>STEP 3: Submit a high-risk applicant</a:t>
            </a:r>
          </a:p>
          <a:p>
            <a:pPr algn="l">
              <a:spcBef>
                <a:spcPts val="200"/>
              </a:spcBef>
            </a:pPr>
            <a:r>
              <a:rPr sz="1400" b="0" i="0">
                <a:solidFill>
                  <a:srgbClr val="262626"/>
                </a:solidFill>
                <a:latin typeface="Calibri"/>
              </a:rPr>
              <a:t>  Older  ·  Smoker  ·  High BMI  ·  Multiple clinical flags</a:t>
            </a:r>
          </a:p>
          <a:p>
            <a:pPr algn="l">
              <a:spcBef>
                <a:spcPts val="200"/>
              </a:spcBef>
            </a:pPr>
            <a:r>
              <a:rPr sz="1400" b="0" i="0">
                <a:solidFill>
                  <a:srgbClr val="262626"/>
                </a:solidFill>
                <a:latin typeface="Calibri"/>
              </a:rPr>
              <a:t>  Show REFER or RATED decision; explain HITL queue</a:t>
            </a:r>
          </a:p>
          <a:p>
            <a:pPr algn="l">
              <a:spcBef>
                <a:spcPts val="200"/>
              </a:spcBef>
            </a:pPr>
            <a:r>
              <a:rPr sz="1400" b="0" i="0">
                <a:solidFill>
                  <a:srgbClr val="262626"/>
                </a:solidFill>
                <a:latin typeface="Calibri"/>
              </a:rPr>
              <a:t/>
            </a:r>
          </a:p>
          <a:p>
            <a:pPr algn="l">
              <a:spcBef>
                <a:spcPts val="800"/>
              </a:spcBef>
            </a:pPr>
            <a:r>
              <a:rPr sz="1400" b="1" i="0">
                <a:solidFill>
                  <a:srgbClr val="1B5697"/>
                </a:solidFill>
                <a:latin typeface="Calibri"/>
              </a:rPr>
              <a:t>STEP 4: Show HITL tab</a:t>
            </a:r>
          </a:p>
          <a:p>
            <a:pPr algn="l">
              <a:spcBef>
                <a:spcPts val="200"/>
              </a:spcBef>
            </a:pPr>
            <a:r>
              <a:rPr sz="1400" b="0" i="0">
                <a:solidFill>
                  <a:srgbClr val="262626"/>
                </a:solidFill>
                <a:latin typeface="Calibri"/>
              </a:rPr>
              <a:t>  Running referral rate  ·  cumulative review cost  ·  alignment score</a:t>
            </a:r>
          </a:p>
          <a:p>
            <a:pPr algn="l">
              <a:spcBef>
                <a:spcPts val="200"/>
              </a:spcBef>
            </a:pPr>
            <a:r>
              <a:rPr sz="1400" b="0" i="0">
                <a:solidFill>
                  <a:srgbClr val="262626"/>
                </a:solidFill>
                <a:latin typeface="Calibri"/>
              </a:rPr>
              <a:t/>
            </a:r>
          </a:p>
          <a:p>
            <a:pPr algn="l">
              <a:spcBef>
                <a:spcPts val="200"/>
              </a:spcBef>
            </a:pPr>
            <a:r>
              <a:rPr sz="1400" b="0" i="1">
                <a:solidFill>
                  <a:srgbClr val="505050"/>
                </a:solidFill>
                <a:latin typeface="Calibri"/>
              </a:rPr>
              <a:t>[This is the FastAPI prototype deployed on Render — not a mockup]</a:t>
            </a:r>
          </a:p>
        </p:txBody>
      </p:sp>
      <p:sp>
        <p:nvSpPr>
          <p:cNvPr id="6" name="Rectangle 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Rectangle 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Results &amp; Evaluation</a:t>
            </a:r>
          </a:p>
        </p:txBody>
      </p:sp>
      <p:sp>
        <p:nvSpPr>
          <p:cNvPr id="10" name="Rectangle 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25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9000"/>
            <a:ext cx="11277295" cy="700000"/>
          </a:xfrm>
          <a:prstGeom prst="rect">
            <a:avLst/>
          </a:prstGeom>
          <a:noFill/>
        </p:spPr>
        <p:txBody>
          <a:bodyPr wrap="square">
            <a:spAutoFit/>
          </a:bodyPr>
          <a:lstStyle/>
          <a:p>
            <a:pPr algn="l">
              <a:spcBef>
                <a:spcPts val="0"/>
              </a:spcBef>
              <a:spcAft>
                <a:spcPts val="0"/>
              </a:spcAft>
            </a:pPr>
            <a:r>
              <a:rPr sz="4800" b="1" i="0">
                <a:solidFill>
                  <a:srgbClr val="FFFFFF"/>
                </a:solidFill>
                <a:latin typeface="Segoe UI"/>
              </a:rPr>
              <a:t>V.</a:t>
            </a:r>
          </a:p>
        </p:txBody>
      </p:sp>
      <p:sp>
        <p:nvSpPr>
          <p:cNvPr id="4" name="Rectangle 3"/>
          <p:cNvSpPr/>
          <p:nvPr/>
        </p:nvSpPr>
        <p:spPr>
          <a:xfrm>
            <a:off x="457200" y="3489000"/>
            <a:ext cx="292608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589000"/>
            <a:ext cx="11277295" cy="800000"/>
          </a:xfrm>
          <a:prstGeom prst="rect">
            <a:avLst/>
          </a:prstGeom>
          <a:noFill/>
        </p:spPr>
        <p:txBody>
          <a:bodyPr wrap="square">
            <a:spAutoFit/>
          </a:bodyPr>
          <a:lstStyle/>
          <a:p>
            <a:pPr algn="l">
              <a:spcBef>
                <a:spcPts val="0"/>
              </a:spcBef>
              <a:spcAft>
                <a:spcPts val="0"/>
              </a:spcAft>
            </a:pPr>
            <a:r>
              <a:rPr sz="2800" b="1" i="0">
                <a:solidFill>
                  <a:srgbClr val="FFFFFF"/>
                </a:solidFill>
                <a:latin typeface="Segoe UI"/>
              </a:rPr>
              <a:t>Conclusion &amp; Future Work</a:t>
            </a:r>
          </a:p>
        </p:txBody>
      </p:sp>
      <p:sp>
        <p:nvSpPr>
          <p:cNvPr id="6" name="Rectangle 5"/>
          <p:cNvSpPr/>
          <p:nvPr/>
        </p:nvSpPr>
        <p:spPr>
          <a:xfrm>
            <a:off x="0" y="6437376"/>
            <a:ext cx="1219169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8" name="TextBox 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AFC4E4"/>
                </a:solidFill>
                <a:latin typeface="Calibri"/>
              </a:rPr>
              <a:t>Conclusion &amp; Future Work</a:t>
            </a:r>
          </a:p>
        </p:txBody>
      </p:sp>
      <p:sp>
        <p:nvSpPr>
          <p:cNvPr id="9" name="TextBox 8"/>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26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4 KEY FINDINGS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20000"/>
          </a:xfrm>
          <a:prstGeom prst="rect">
            <a:avLst/>
          </a:prstGeom>
          <a:noFill/>
        </p:spPr>
        <p:txBody>
          <a:bodyPr wrap="square">
            <a:spAutoFit/>
          </a:bodyPr>
          <a:lstStyle/>
          <a:p>
            <a:pPr algn="l">
              <a:spcBef>
                <a:spcPts val="0"/>
              </a:spcBef>
              <a:spcAft>
                <a:spcPts val="0"/>
              </a:spcAft>
            </a:pPr>
            <a:r>
              <a:rPr sz="1300" b="1" i="0">
                <a:solidFill>
                  <a:srgbClr val="505050"/>
                </a:solidFill>
                <a:latin typeface="Calibri"/>
              </a:rPr>
              <a:t>FINDING 1 — EXP-005</a:t>
            </a:r>
          </a:p>
        </p:txBody>
      </p:sp>
      <p:sp>
        <p:nvSpPr>
          <p:cNvPr id="8" name="TextBox 7"/>
          <p:cNvSpPr txBox="1"/>
          <p:nvPr/>
        </p:nvSpPr>
        <p:spPr>
          <a:xfrm>
            <a:off x="607200" y="16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Online adaptation beats static rules</a:t>
            </a:r>
          </a:p>
        </p:txBody>
      </p:sp>
      <p:sp>
        <p:nvSpPr>
          <p:cNvPr id="9" name="TextBox 8"/>
          <p:cNvSpPr txBox="1"/>
          <p:nvPr/>
        </p:nvSpPr>
        <p:spPr>
          <a:xfrm>
            <a:off x="607200" y="2020000"/>
            <a:ext cx="5288647" cy="115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+25.2%, p &lt; 0.001, d = 2.98</a:t>
            </a:r>
          </a:p>
          <a:p>
            <a:pPr algn="l">
              <a:spcBef>
                <a:spcPts val="600"/>
              </a:spcBef>
            </a:pPr>
            <a:r>
              <a:rPr sz="1300" b="0" i="0">
                <a:solidFill>
                  <a:srgbClr val="505050"/>
                </a:solidFill>
                <a:latin typeface="Calibri"/>
              </a:rPr>
              <a:t>LinUCB +$18,248 over Static XGB across 20 seeds</a:t>
            </a:r>
          </a:p>
        </p:txBody>
      </p:sp>
      <p:sp>
        <p:nvSpPr>
          <p:cNvPr id="10" name="Rectangle 9"/>
          <p:cNvSpPr/>
          <p:nvPr/>
        </p:nvSpPr>
        <p:spPr>
          <a:xfrm>
            <a:off x="6245847" y="12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300000"/>
            <a:ext cx="5288647" cy="320000"/>
          </a:xfrm>
          <a:prstGeom prst="rect">
            <a:avLst/>
          </a:prstGeom>
          <a:noFill/>
        </p:spPr>
        <p:txBody>
          <a:bodyPr wrap="square">
            <a:spAutoFit/>
          </a:bodyPr>
          <a:lstStyle/>
          <a:p>
            <a:pPr algn="l">
              <a:spcBef>
                <a:spcPts val="0"/>
              </a:spcBef>
              <a:spcAft>
                <a:spcPts val="0"/>
              </a:spcAft>
            </a:pPr>
            <a:r>
              <a:rPr sz="1300" b="1" i="0">
                <a:solidFill>
                  <a:srgbClr val="505050"/>
                </a:solidFill>
                <a:latin typeface="Calibri"/>
              </a:rPr>
              <a:t>FINDING 2 — EXP-006</a:t>
            </a:r>
          </a:p>
        </p:txBody>
      </p:sp>
      <p:sp>
        <p:nvSpPr>
          <p:cNvPr id="13" name="TextBox 12"/>
          <p:cNvSpPr txBox="1"/>
          <p:nvPr/>
        </p:nvSpPr>
        <p:spPr>
          <a:xfrm>
            <a:off x="6395847" y="16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No demographic bias introduced</a:t>
            </a:r>
          </a:p>
        </p:txBody>
      </p:sp>
      <p:sp>
        <p:nvSpPr>
          <p:cNvPr id="14" name="TextBox 13"/>
          <p:cNvSpPr txBox="1"/>
          <p:nvPr/>
        </p:nvSpPr>
        <p:spPr>
          <a:xfrm>
            <a:off x="6395847" y="2020000"/>
            <a:ext cx="5288647" cy="115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85.72% &amp; 90.12% parity (Region &amp; Occupation)</a:t>
            </a:r>
          </a:p>
          <a:p>
            <a:pPr algn="l">
              <a:spcBef>
                <a:spcPts val="600"/>
              </a:spcBef>
            </a:pPr>
            <a:r>
              <a:rPr sz="1300" b="0" i="0">
                <a:solidFill>
                  <a:srgbClr val="505050"/>
                </a:solidFill>
                <a:latin typeface="Calibri"/>
              </a:rPr>
              <a:t>PSI GREEN/AMBER throughout</a:t>
            </a:r>
          </a:p>
        </p:txBody>
      </p:sp>
      <p:sp>
        <p:nvSpPr>
          <p:cNvPr id="15" name="Rectangle 14"/>
          <p:cNvSpPr/>
          <p:nvPr/>
        </p:nvSpPr>
        <p:spPr>
          <a:xfrm>
            <a:off x="457200" y="35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3600000"/>
            <a:ext cx="5288647" cy="320000"/>
          </a:xfrm>
          <a:prstGeom prst="rect">
            <a:avLst/>
          </a:prstGeom>
          <a:noFill/>
        </p:spPr>
        <p:txBody>
          <a:bodyPr wrap="square">
            <a:spAutoFit/>
          </a:bodyPr>
          <a:lstStyle/>
          <a:p>
            <a:pPr algn="l">
              <a:spcBef>
                <a:spcPts val="0"/>
              </a:spcBef>
              <a:spcAft>
                <a:spcPts val="0"/>
              </a:spcAft>
            </a:pPr>
            <a:r>
              <a:rPr sz="1300" b="1" i="0">
                <a:solidFill>
                  <a:srgbClr val="505050"/>
                </a:solidFill>
                <a:latin typeface="Calibri"/>
              </a:rPr>
              <a:t>FINDING 3 — EXP-011</a:t>
            </a:r>
          </a:p>
        </p:txBody>
      </p:sp>
      <p:sp>
        <p:nvSpPr>
          <p:cNvPr id="18" name="TextBox 17"/>
          <p:cNvSpPr txBox="1"/>
          <p:nvPr/>
        </p:nvSpPr>
        <p:spPr>
          <a:xfrm>
            <a:off x="607200" y="39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Mechanism: online ridge updating, not exploration</a:t>
            </a:r>
          </a:p>
        </p:txBody>
      </p:sp>
      <p:sp>
        <p:nvSpPr>
          <p:cNvPr id="19" name="TextBox 18"/>
          <p:cNvSpPr txBox="1"/>
          <p:nvPr/>
        </p:nvSpPr>
        <p:spPr>
          <a:xfrm>
            <a:off x="607200" y="4320000"/>
            <a:ext cx="5288647" cy="115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Greedy-only (α = 0) ties full LinUCB (p = 0.58)</a:t>
            </a:r>
          </a:p>
          <a:p>
            <a:pPr algn="l">
              <a:spcBef>
                <a:spcPts val="600"/>
              </a:spcBef>
            </a:pPr>
            <a:r>
              <a:rPr sz="1300" b="0" i="0">
                <a:solidFill>
                  <a:srgbClr val="505050"/>
                </a:solidFill>
                <a:latin typeface="Calibri"/>
              </a:rPr>
              <a:t>Online learning beats frozen model regardless of exploration</a:t>
            </a:r>
          </a:p>
        </p:txBody>
      </p:sp>
      <p:sp>
        <p:nvSpPr>
          <p:cNvPr id="20" name="Rectangle 19"/>
          <p:cNvSpPr/>
          <p:nvPr/>
        </p:nvSpPr>
        <p:spPr>
          <a:xfrm>
            <a:off x="6245847" y="3500000"/>
            <a:ext cx="5488647" cy="21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3500000"/>
            <a:ext cx="91440" cy="21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3600000"/>
            <a:ext cx="5288647" cy="320000"/>
          </a:xfrm>
          <a:prstGeom prst="rect">
            <a:avLst/>
          </a:prstGeom>
          <a:noFill/>
        </p:spPr>
        <p:txBody>
          <a:bodyPr wrap="square">
            <a:spAutoFit/>
          </a:bodyPr>
          <a:lstStyle/>
          <a:p>
            <a:pPr algn="l">
              <a:spcBef>
                <a:spcPts val="0"/>
              </a:spcBef>
              <a:spcAft>
                <a:spcPts val="0"/>
              </a:spcAft>
            </a:pPr>
            <a:r>
              <a:rPr sz="1300" b="1" i="0">
                <a:solidFill>
                  <a:srgbClr val="505050"/>
                </a:solidFill>
                <a:latin typeface="Calibri"/>
              </a:rPr>
              <a:t>FINDING 4 — EXP-008</a:t>
            </a:r>
          </a:p>
        </p:txBody>
      </p:sp>
      <p:sp>
        <p:nvSpPr>
          <p:cNvPr id="23" name="TextBox 22"/>
          <p:cNvSpPr txBox="1"/>
          <p:nvPr/>
        </p:nvSpPr>
        <p:spPr>
          <a:xfrm>
            <a:off x="6395847" y="392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HITL adds value at low cost</a:t>
            </a:r>
          </a:p>
        </p:txBody>
      </p:sp>
      <p:sp>
        <p:nvSpPr>
          <p:cNvPr id="24" name="TextBox 23"/>
          <p:cNvSpPr txBox="1"/>
          <p:nvPr/>
        </p:nvSpPr>
        <p:spPr>
          <a:xfrm>
            <a:off x="6395847" y="4320000"/>
            <a:ext cx="5288647" cy="115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+6.5% at 1.5% review rate, 2.6% cost</a:t>
            </a:r>
          </a:p>
          <a:p>
            <a:pPr algn="l">
              <a:spcBef>
                <a:spcPts val="600"/>
              </a:spcBef>
            </a:pPr>
            <a:r>
              <a:rPr sz="1300" b="0" i="0">
                <a:solidFill>
                  <a:srgbClr val="505050"/>
                </a:solidFill>
                <a:latin typeface="Calibri"/>
              </a:rPr>
              <a:t>Alignment score 60.0% — human oversight meaningful</a:t>
            </a:r>
          </a:p>
        </p:txBody>
      </p:sp>
      <p:sp>
        <p:nvSpPr>
          <p:cNvPr id="25" name="Rectangle 24"/>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7" name="Rectangle 26"/>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9" name="Rectangle 28"/>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27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LIMITATIONS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Synthetic data</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2,000 records — cannot capture rare comorbidities, fraud</a:t>
            </a:r>
          </a:p>
          <a:p>
            <a:pPr algn="l">
              <a:spcBef>
                <a:spcPts val="500"/>
              </a:spcBef>
            </a:pPr>
            <a:r>
              <a:rPr sz="1300" b="0" i="0">
                <a:solidFill>
                  <a:srgbClr val="505050"/>
                </a:solidFill>
                <a:latin typeface="Calibri"/>
              </a:rPr>
              <a:t>CDHS/STEPS-anchored but not real insurance claims</a:t>
            </a:r>
          </a:p>
        </p:txBody>
      </p:sp>
      <p:sp>
        <p:nvSpPr>
          <p:cNvPr id="9" name="Rectangle 8"/>
          <p:cNvSpPr/>
          <p:nvPr/>
        </p:nvSpPr>
        <p:spPr>
          <a:xfrm>
            <a:off x="6245847"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Single-period rewards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No multi-year claims, retention, or renewal cycle</a:t>
            </a:r>
          </a:p>
          <a:p>
            <a:pPr algn="l">
              <a:spcBef>
                <a:spcPts val="500"/>
              </a:spcBef>
            </a:pPr>
            <a:r>
              <a:rPr sz="1300" b="0" i="0">
                <a:solidFill>
                  <a:srgbClr val="505050"/>
                </a:solidFill>
                <a:latin typeface="Calibri"/>
              </a:rPr>
              <a:t>Reward is a one-shot proxy for profitability</a:t>
            </a:r>
          </a:p>
        </p:txBody>
      </p:sp>
      <p:sp>
        <p:nvSpPr>
          <p:cNvPr id="13" name="Rectangle 12"/>
          <p:cNvSpPr/>
          <p:nvPr/>
        </p:nvSpPr>
        <p:spPr>
          <a:xfrm>
            <a:off x="457200"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Stationarity assumption</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Violated in practice (EXP-009/015 partially address)</a:t>
            </a:r>
          </a:p>
          <a:p>
            <a:pPr algn="l">
              <a:spcBef>
                <a:spcPts val="500"/>
              </a:spcBef>
            </a:pPr>
            <a:r>
              <a:rPr sz="1300" b="0" i="0">
                <a:solidFill>
                  <a:srgbClr val="505050"/>
                </a:solidFill>
                <a:latin typeface="Calibri"/>
              </a:rPr>
              <a:t>DiscountedLinUCB helps only marginally under shock</a:t>
            </a:r>
          </a:p>
        </p:txBody>
      </p:sp>
      <p:sp>
        <p:nvSpPr>
          <p:cNvPr id="17" name="Rectangle 16"/>
          <p:cNvSpPr/>
          <p:nvPr/>
        </p:nvSpPr>
        <p:spPr>
          <a:xfrm>
            <a:off x="6245847"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500" b="1" i="0">
                <a:solidFill>
                  <a:srgbClr val="7D4E00"/>
                </a:solidFill>
                <a:latin typeface="Calibri"/>
              </a:rPr>
              <a:t>Constant-policy ceiling</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AlwaysRATED beats bandits by ~30%</a:t>
            </a:r>
          </a:p>
          <a:p>
            <a:pPr algn="l">
              <a:spcBef>
                <a:spcPts val="500"/>
              </a:spcBef>
            </a:pPr>
            <a:r>
              <a:rPr sz="1300" b="0" i="0">
                <a:solidFill>
                  <a:srgbClr val="505050"/>
                </a:solidFill>
                <a:latin typeface="Calibri"/>
              </a:rPr>
              <a:t>Bandits lead every admissible deployable alternative,</a:t>
            </a:r>
          </a:p>
          <a:p>
            <a:pPr algn="l">
              <a:spcBef>
                <a:spcPts val="500"/>
              </a:spcBef>
            </a:pPr>
            <a:r>
              <a:rPr sz="1300" b="0" i="0">
                <a:solidFill>
                  <a:srgbClr val="505050"/>
                </a:solidFill>
                <a:latin typeface="Calibri"/>
              </a:rPr>
              <a:t>but headroom to Oracle remains large</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28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FUTURE WORK</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Non-stationary drift</a:t>
            </a:r>
          </a:p>
        </p:txBody>
      </p:sp>
      <p:sp>
        <p:nvSpPr>
          <p:cNvPr id="8" name="TextBox 7"/>
          <p:cNvSpPr txBox="1"/>
          <p:nvPr/>
        </p:nvSpPr>
        <p:spPr>
          <a:xfrm>
            <a:off x="607200" y="17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DiscountedLinUCB + PSI early-warning pipeline</a:t>
            </a:r>
          </a:p>
          <a:p>
            <a:pPr algn="l">
              <a:spcBef>
                <a:spcPts val="500"/>
              </a:spcBef>
            </a:pPr>
            <a:r>
              <a:rPr sz="1300" b="0" i="0">
                <a:solidFill>
                  <a:srgbClr val="505050"/>
                </a:solidFill>
                <a:latin typeface="Calibri"/>
              </a:rPr>
              <a:t>Threshold-adaptive forgetting factor</a:t>
            </a:r>
          </a:p>
        </p:txBody>
      </p:sp>
      <p:sp>
        <p:nvSpPr>
          <p:cNvPr id="9" name="Rectangle 8"/>
          <p:cNvSpPr/>
          <p:nvPr/>
        </p:nvSpPr>
        <p:spPr>
          <a:xfrm>
            <a:off x="6245847" y="12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Neural bandit extensions</a:t>
            </a:r>
          </a:p>
        </p:txBody>
      </p:sp>
      <p:sp>
        <p:nvSpPr>
          <p:cNvPr id="12" name="TextBox 11"/>
          <p:cNvSpPr txBox="1"/>
          <p:nvPr/>
        </p:nvSpPr>
        <p:spPr>
          <a:xfrm>
            <a:off x="6395847" y="17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NeuralUCB + Neural-Linear hybrid</a:t>
            </a:r>
          </a:p>
          <a:p>
            <a:pPr algn="l">
              <a:spcBef>
                <a:spcPts val="500"/>
              </a:spcBef>
            </a:pPr>
            <a:r>
              <a:rPr sz="1300" b="0" i="0">
                <a:solidFill>
                  <a:srgbClr val="505050"/>
                </a:solidFill>
                <a:latin typeface="Calibri"/>
              </a:rPr>
              <a:t>Richer feature representations beyond 34 dimensions</a:t>
            </a:r>
          </a:p>
        </p:txBody>
      </p:sp>
      <p:sp>
        <p:nvSpPr>
          <p:cNvPr id="13" name="Rectangle 12"/>
          <p:cNvSpPr/>
          <p:nvPr/>
        </p:nvSpPr>
        <p:spPr>
          <a:xfrm>
            <a:off x="457200"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200" y="350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Live A/B deployment</a:t>
            </a:r>
          </a:p>
        </p:txBody>
      </p:sp>
      <p:sp>
        <p:nvSpPr>
          <p:cNvPr id="16" name="TextBox 15"/>
          <p:cNvSpPr txBox="1"/>
          <p:nvPr/>
        </p:nvSpPr>
        <p:spPr>
          <a:xfrm>
            <a:off x="607200" y="39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Delayed reward via survival proxy (6–24 month claims lag)</a:t>
            </a:r>
          </a:p>
          <a:p>
            <a:pPr algn="l">
              <a:spcBef>
                <a:spcPts val="500"/>
              </a:spcBef>
            </a:pPr>
            <a:r>
              <a:rPr sz="1300" b="0" i="0">
                <a:solidFill>
                  <a:srgbClr val="505050"/>
                </a:solidFill>
                <a:latin typeface="Calibri"/>
              </a:rPr>
              <a:t>Online evaluation with real Cambodian insurers</a:t>
            </a:r>
          </a:p>
        </p:txBody>
      </p:sp>
      <p:sp>
        <p:nvSpPr>
          <p:cNvPr id="17" name="Rectangle 16"/>
          <p:cNvSpPr/>
          <p:nvPr/>
        </p:nvSpPr>
        <p:spPr>
          <a:xfrm>
            <a:off x="6245847" y="3400000"/>
            <a:ext cx="5488647" cy="20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847" y="3400000"/>
            <a:ext cx="91440" cy="20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5847" y="3500000"/>
            <a:ext cx="5288647" cy="38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Multi-period customer value</a:t>
            </a:r>
          </a:p>
        </p:txBody>
      </p:sp>
      <p:sp>
        <p:nvSpPr>
          <p:cNvPr id="20" name="TextBox 19"/>
          <p:cNvSpPr txBox="1"/>
          <p:nvPr/>
        </p:nvSpPr>
        <p:spPr>
          <a:xfrm>
            <a:off x="6395847" y="3900000"/>
            <a:ext cx="5288647" cy="138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CLV, retention, cross-selling</a:t>
            </a:r>
          </a:p>
          <a:p>
            <a:pPr algn="l">
              <a:spcBef>
                <a:spcPts val="500"/>
              </a:spcBef>
            </a:pPr>
            <a:r>
              <a:rPr sz="1300" b="0" i="0">
                <a:solidFill>
                  <a:srgbClr val="505050"/>
                </a:solidFill>
                <a:latin typeface="Calibri"/>
              </a:rPr>
              <a:t>Move beyond single-decision reward framing</a:t>
            </a:r>
          </a:p>
        </p:txBody>
      </p:sp>
      <p:sp>
        <p:nvSpPr>
          <p:cNvPr id="21" name="Rectangle 2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3" name="Rectangle 2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Conclusion &amp; Future Work</a:t>
            </a:r>
          </a:p>
        </p:txBody>
      </p:sp>
      <p:sp>
        <p:nvSpPr>
          <p:cNvPr id="25" name="Rectangle 2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29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00000"/>
            <a:ext cx="11277295" cy="1200000"/>
          </a:xfrm>
          <a:prstGeom prst="rect">
            <a:avLst/>
          </a:prstGeom>
          <a:noFill/>
        </p:spPr>
        <p:txBody>
          <a:bodyPr wrap="square">
            <a:spAutoFit/>
          </a:bodyPr>
          <a:lstStyle/>
          <a:p>
            <a:pPr algn="ctr">
              <a:spcBef>
                <a:spcPts val="0"/>
              </a:spcBef>
              <a:spcAft>
                <a:spcPts val="0"/>
              </a:spcAft>
            </a:pPr>
            <a:r>
              <a:rPr sz="4000" b="1" i="0">
                <a:solidFill>
                  <a:srgbClr val="F4A11D"/>
                </a:solidFill>
                <a:latin typeface="Calibri"/>
              </a:rPr>
              <a:t>2023: DECLINE.</a:t>
            </a:r>
          </a:p>
          <a:p>
            <a:pPr algn="ctr">
              <a:spcBef>
                <a:spcPts val="1800"/>
              </a:spcBef>
            </a:pPr>
            <a:r>
              <a:rPr sz="4000" b="1" i="0">
                <a:solidFill>
                  <a:srgbClr val="FFFFFF"/>
                </a:solidFill>
                <a:latin typeface="Calibri"/>
              </a:rPr>
              <a:t>2026: STANDARD.</a:t>
            </a:r>
          </a:p>
        </p:txBody>
      </p:sp>
      <p:sp>
        <p:nvSpPr>
          <p:cNvPr id="4" name="TextBox 3"/>
          <p:cNvSpPr txBox="1"/>
          <p:nvPr/>
        </p:nvSpPr>
        <p:spPr>
          <a:xfrm>
            <a:off x="457200" y="2500000"/>
            <a:ext cx="11277295" cy="800000"/>
          </a:xfrm>
          <a:prstGeom prst="rect">
            <a:avLst/>
          </a:prstGeom>
          <a:noFill/>
        </p:spPr>
        <p:txBody>
          <a:bodyPr wrap="square">
            <a:spAutoFit/>
          </a:bodyPr>
          <a:lstStyle/>
          <a:p>
            <a:pPr algn="ctr">
              <a:spcBef>
                <a:spcPts val="0"/>
              </a:spcBef>
              <a:spcAft>
                <a:spcPts val="0"/>
              </a:spcAft>
            </a:pPr>
            <a:r>
              <a:rPr sz="1600" b="0" i="1">
                <a:solidFill>
                  <a:srgbClr val="BDCEE4"/>
                </a:solidFill>
                <a:latin typeface="Calibri"/>
              </a:rPr>
              <a:t>Cambodia has hundreds of thousands of applicants like her.</a:t>
            </a:r>
          </a:p>
          <a:p>
            <a:pPr algn="ctr">
              <a:spcBef>
                <a:spcPts val="1800"/>
              </a:spcBef>
            </a:pPr>
            <a:r>
              <a:rPr sz="2000" b="1" i="0">
                <a:solidFill>
                  <a:srgbClr val="FFFFFF"/>
                </a:solidFill>
                <a:latin typeface="Calibri"/>
              </a:rPr>
              <a:t>Thank you.</a:t>
            </a:r>
          </a:p>
        </p:txBody>
      </p:sp>
      <p:sp>
        <p:nvSpPr>
          <p:cNvPr id="5" name="Rectangle 4"/>
          <p:cNvSpPr/>
          <p:nvPr/>
        </p:nvSpPr>
        <p:spPr>
          <a:xfrm>
            <a:off x="457200" y="3600000"/>
            <a:ext cx="11277295" cy="5486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3700000"/>
            <a:ext cx="11277295" cy="800000"/>
          </a:xfrm>
          <a:prstGeom prst="rect">
            <a:avLst/>
          </a:prstGeom>
          <a:noFill/>
        </p:spPr>
        <p:txBody>
          <a:bodyPr wrap="square">
            <a:spAutoFit/>
          </a:bodyPr>
          <a:lstStyle/>
          <a:p>
            <a:pPr algn="ctr">
              <a:spcBef>
                <a:spcPts val="0"/>
              </a:spcBef>
              <a:spcAft>
                <a:spcPts val="0"/>
              </a:spcAft>
            </a:pPr>
            <a:r>
              <a:rPr sz="1300" b="1" i="0">
                <a:solidFill>
                  <a:srgbClr val="BDCEE4"/>
                </a:solidFill>
                <a:latin typeface="Calibri"/>
              </a:rPr>
              <a:t>APPENDIX SLIDES</a:t>
            </a:r>
          </a:p>
        </p:txBody>
      </p:sp>
      <p:sp>
        <p:nvSpPr>
          <p:cNvPr id="7" name="TextBox 6"/>
          <p:cNvSpPr txBox="1"/>
          <p:nvPr/>
        </p:nvSpPr>
        <p:spPr>
          <a:xfrm>
            <a:off x="2457200" y="4600000"/>
            <a:ext cx="7277295" cy="1500000"/>
          </a:xfrm>
          <a:prstGeom prst="rect">
            <a:avLst/>
          </a:prstGeom>
          <a:noFill/>
        </p:spPr>
        <p:txBody>
          <a:bodyPr wrap="square">
            <a:spAutoFit/>
          </a:bodyPr>
          <a:lstStyle/>
          <a:p>
            <a:pPr algn="ctr">
              <a:spcBef>
                <a:spcPts val="0"/>
              </a:spcBef>
              <a:spcAft>
                <a:spcPts val="0"/>
              </a:spcAft>
            </a:pPr>
            <a:r>
              <a:rPr sz="1300" b="0" i="0">
                <a:solidFill>
                  <a:srgbClr val="BDCEE4"/>
                </a:solidFill>
                <a:latin typeface="Calibri"/>
              </a:rPr>
              <a:t>A1: Complete Baseline Ladder</a:t>
            </a:r>
          </a:p>
          <a:p>
            <a:pPr algn="ctr">
              <a:spcBef>
                <a:spcPts val="500"/>
              </a:spcBef>
            </a:pPr>
            <a:r>
              <a:rPr sz="1300" b="0" i="0">
                <a:solidFill>
                  <a:srgbClr val="BDCEE4"/>
                </a:solidFill>
                <a:latin typeface="Calibri"/>
              </a:rPr>
              <a:t>A2: Number Reconciliation (+25.2% / +29.8% / +6.5%)</a:t>
            </a:r>
          </a:p>
          <a:p>
            <a:pPr algn="ctr">
              <a:spcBef>
                <a:spcPts val="500"/>
              </a:spcBef>
            </a:pPr>
            <a:r>
              <a:rPr sz="1300" b="0" i="0">
                <a:solidFill>
                  <a:srgbClr val="BDCEE4"/>
                </a:solidFill>
                <a:latin typeface="Calibri"/>
              </a:rPr>
              <a:t>A3: All 6 Fairness Criteria</a:t>
            </a:r>
          </a:p>
          <a:p>
            <a:pPr algn="ctr">
              <a:spcBef>
                <a:spcPts val="500"/>
              </a:spcBef>
            </a:pPr>
            <a:r>
              <a:rPr sz="1300" b="0" i="0">
                <a:solidFill>
                  <a:srgbClr val="BDCEE4"/>
                </a:solidFill>
                <a:latin typeface="Calibri"/>
              </a:rPr>
              <a:t>A4: Math Details (LinUCB update rule, PSI formula, HITL dual-update)</a:t>
            </a:r>
          </a:p>
          <a:p>
            <a:pPr algn="ctr">
              <a:spcBef>
                <a:spcPts val="500"/>
              </a:spcBef>
            </a:pPr>
            <a:r>
              <a:rPr sz="1300" b="0" i="0">
                <a:solidFill>
                  <a:srgbClr val="BDCEE4"/>
                </a:solidFill>
                <a:latin typeface="Calibri"/>
              </a:rPr>
              <a:t>A5: Full Sensitivity Tables</a:t>
            </a:r>
          </a:p>
          <a:p>
            <a:pPr algn="ctr">
              <a:spcBef>
                <a:spcPts val="500"/>
              </a:spcBef>
            </a:pPr>
            <a:r>
              <a:rPr sz="1300" b="0" i="0">
                <a:solidFill>
                  <a:srgbClr val="BDCEE4"/>
                </a:solidFill>
                <a:latin typeface="Calibri"/>
              </a:rPr>
              <a:t>A6: Why a bandit has no train/test split</a:t>
            </a:r>
          </a:p>
        </p:txBody>
      </p:sp>
      <p:sp>
        <p:nvSpPr>
          <p:cNvPr id="8" name="Rectangle 7"/>
          <p:cNvSpPr/>
          <p:nvPr/>
        </p:nvSpPr>
        <p:spPr>
          <a:xfrm>
            <a:off x="0" y="6437376"/>
            <a:ext cx="12191695" cy="420624"/>
          </a:xfrm>
          <a:prstGeom prst="rect">
            <a:avLst/>
          </a:prstGeom>
          <a:solidFill>
            <a:srgbClr val="162D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BDCEE4"/>
                </a:solidFill>
                <a:latin typeface="Calibri"/>
              </a:rPr>
              <a:t>Q &amp; A</a:t>
            </a:r>
          </a:p>
        </p:txBody>
      </p:sp>
      <p:sp>
        <p:nvSpPr>
          <p:cNvPr id="11" name="TextBox 1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34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A1: COMPLETE BASELINE LADDER</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100000"/>
          <a:ext cx="11277295" cy="4600000"/>
        </p:xfrm>
        <a:graphic>
          <a:graphicData uri="http://schemas.openxmlformats.org/drawingml/2006/table">
            <a:tbl>
              <a:tblPr firstRow="1" bandRow="1">
                <a:tableStyleId>{5C22544A-7EE6-4342-B048-85BDC9FD1C3A}</a:tableStyleId>
              </a:tblPr>
              <a:tblGrid>
                <a:gridCol w="2819323"/>
                <a:gridCol w="2819323"/>
                <a:gridCol w="2819323"/>
                <a:gridCol w="2819326"/>
              </a:tblGrid>
              <a:tr h="460000">
                <a:tc>
                  <a:txBody>
                    <a:bodyPr/>
                    <a:lstStyle/>
                    <a:p>
                      <a:r>
                        <a:rPr b="1" sz="1300">
                          <a:solidFill>
                            <a:srgbClr val="FFFFFF"/>
                          </a:solidFill>
                        </a:rPr>
                        <a:t>Policy</a:t>
                      </a:r>
                    </a:p>
                  </a:txBody>
                  <a:tcPr>
                    <a:solidFill>
                      <a:srgbClr val="1B5697"/>
                    </a:solidFill>
                  </a:tcPr>
                </a:tc>
                <a:tc>
                  <a:txBody>
                    <a:bodyPr/>
                    <a:lstStyle/>
                    <a:p>
                      <a:r>
                        <a:rPr b="1" sz="1300">
                          <a:solidFill>
                            <a:srgbClr val="FFFFFF"/>
                          </a:solidFill>
                        </a:rPr>
                        <a:t>Cumulative Reward (mean)</a:t>
                      </a:r>
                    </a:p>
                  </a:txBody>
                  <a:tcPr>
                    <a:solidFill>
                      <a:srgbClr val="1B5697"/>
                    </a:solidFill>
                  </a:tcPr>
                </a:tc>
                <a:tc>
                  <a:txBody>
                    <a:bodyPr/>
                    <a:lstStyle/>
                    <a:p>
                      <a:r>
                        <a:rPr b="1" sz="1300">
                          <a:solidFill>
                            <a:srgbClr val="FFFFFF"/>
                          </a:solidFill>
                        </a:rPr>
                        <a:t>95% CI</a:t>
                      </a:r>
                    </a:p>
                  </a:txBody>
                  <a:tcPr>
                    <a:solidFill>
                      <a:srgbClr val="1B5697"/>
                    </a:solidFill>
                  </a:tcPr>
                </a:tc>
                <a:tc>
                  <a:txBody>
                    <a:bodyPr/>
                    <a:lstStyle/>
                    <a:p>
                      <a:r>
                        <a:rPr b="1" sz="1300">
                          <a:solidFill>
                            <a:srgbClr val="FFFFFF"/>
                          </a:solidFill>
                        </a:rPr>
                        <a:t>% of Oracle</a:t>
                      </a:r>
                    </a:p>
                  </a:txBody>
                  <a:tcPr>
                    <a:solidFill>
                      <a:srgbClr val="1B5697"/>
                    </a:solidFill>
                  </a:tcPr>
                </a:tc>
              </a:tr>
              <a:tr h="460000">
                <a:tc>
                  <a:txBody>
                    <a:bodyPr/>
                    <a:lstStyle/>
                    <a:p>
                      <a:r>
                        <a:rPr sz="1200" b="0">
                          <a:solidFill>
                            <a:srgbClr val="262626"/>
                          </a:solidFill>
                        </a:rPr>
                        <a:t>Oracle (upper bound)</a:t>
                      </a:r>
                    </a:p>
                  </a:txBody>
                  <a:tcPr>
                    <a:solidFill>
                      <a:srgbClr val="F3F6FB"/>
                    </a:solidFill>
                  </a:tcPr>
                </a:tc>
                <a:tc>
                  <a:txBody>
                    <a:bodyPr/>
                    <a:lstStyle/>
                    <a:p>
                      <a:r>
                        <a:rPr sz="1300" b="0">
                          <a:solidFill>
                            <a:srgbClr val="262626"/>
                          </a:solidFill>
                        </a:rPr>
                        <a:t>$126,804</a:t>
                      </a:r>
                    </a:p>
                  </a:txBody>
                  <a:tcPr>
                    <a:solidFill>
                      <a:srgbClr val="F3F6FB"/>
                    </a:solidFill>
                  </a:tcPr>
                </a:tc>
                <a:tc>
                  <a:txBody>
                    <a:bodyPr/>
                    <a:lstStyle/>
                    <a:p>
                      <a:r>
                        <a:rPr sz="1300" b="0">
                          <a:solidFill>
                            <a:srgbClr val="262626"/>
                          </a:solidFill>
                        </a:rPr>
                        <a:t>[124,187, 128,428]</a:t>
                      </a:r>
                    </a:p>
                  </a:txBody>
                  <a:tcPr>
                    <a:solidFill>
                      <a:srgbClr val="F3F6FB"/>
                    </a:solidFill>
                  </a:tcPr>
                </a:tc>
                <a:tc>
                  <a:txBody>
                    <a:bodyPr/>
                    <a:lstStyle/>
                    <a:p>
                      <a:r>
                        <a:rPr sz="1300" b="0">
                          <a:solidFill>
                            <a:srgbClr val="262626"/>
                          </a:solidFill>
                        </a:rPr>
                        <a:t>100%</a:t>
                      </a:r>
                    </a:p>
                  </a:txBody>
                  <a:tcPr>
                    <a:solidFill>
                      <a:srgbClr val="F3F6FB"/>
                    </a:solidFill>
                  </a:tcPr>
                </a:tc>
              </a:tr>
              <a:tr h="460000">
                <a:tc>
                  <a:txBody>
                    <a:bodyPr/>
                    <a:lstStyle/>
                    <a:p>
                      <a:r>
                        <a:rPr sz="1200" b="0">
                          <a:solidFill>
                            <a:srgbClr val="262626"/>
                          </a:solidFill>
                        </a:rPr>
                        <a:t>LogisticOracle ‡</a:t>
                      </a:r>
                    </a:p>
                  </a:txBody>
                  <a:tcPr>
                    <a:solidFill>
                      <a:srgbClr val="F3F6FB"/>
                    </a:solidFill>
                  </a:tcPr>
                </a:tc>
                <a:tc>
                  <a:txBody>
                    <a:bodyPr/>
                    <a:lstStyle/>
                    <a:p>
                      <a:r>
                        <a:rPr sz="1300" b="0">
                          <a:solidFill>
                            <a:srgbClr val="262626"/>
                          </a:solidFill>
                        </a:rPr>
                        <a:t>$123,977</a:t>
                      </a:r>
                    </a:p>
                  </a:txBody>
                  <a:tcPr>
                    <a:solidFill>
                      <a:srgbClr val="F3F6FB"/>
                    </a:solidFill>
                  </a:tcPr>
                </a:tc>
                <a:tc>
                  <a:txBody>
                    <a:bodyPr/>
                    <a:lstStyle/>
                    <a:p>
                      <a:r>
                        <a:rPr sz="1300" b="0">
                          <a:solidFill>
                            <a:srgbClr val="262626"/>
                          </a:solidFill>
                        </a:rPr>
                        <a:t>[121,794, 126,126]</a:t>
                      </a:r>
                    </a:p>
                  </a:txBody>
                  <a:tcPr>
                    <a:solidFill>
                      <a:srgbClr val="F3F6FB"/>
                    </a:solidFill>
                  </a:tcPr>
                </a:tc>
                <a:tc>
                  <a:txBody>
                    <a:bodyPr/>
                    <a:lstStyle/>
                    <a:p>
                      <a:r>
                        <a:rPr sz="1300" b="0">
                          <a:solidFill>
                            <a:srgbClr val="262626"/>
                          </a:solidFill>
                        </a:rPr>
                        <a:t>98.1%</a:t>
                      </a:r>
                    </a:p>
                  </a:txBody>
                  <a:tcPr>
                    <a:solidFill>
                      <a:srgbClr val="F3F6FB"/>
                    </a:solidFill>
                  </a:tcPr>
                </a:tc>
              </a:tr>
              <a:tr h="460000">
                <a:tc>
                  <a:txBody>
                    <a:bodyPr/>
                    <a:lstStyle/>
                    <a:p>
                      <a:r>
                        <a:rPr sz="1200" b="0">
                          <a:solidFill>
                            <a:srgbClr val="262626"/>
                          </a:solidFill>
                        </a:rPr>
                        <a:t>AlwaysRATED (trivial constant)</a:t>
                      </a:r>
                    </a:p>
                  </a:txBody>
                  <a:tcPr>
                    <a:solidFill>
                      <a:srgbClr val="FEF3CD"/>
                    </a:solidFill>
                  </a:tcPr>
                </a:tc>
                <a:tc>
                  <a:txBody>
                    <a:bodyPr/>
                    <a:lstStyle/>
                    <a:p>
                      <a:r>
                        <a:rPr sz="1300" b="0">
                          <a:solidFill>
                            <a:srgbClr val="262626"/>
                          </a:solidFill>
                        </a:rPr>
                        <a:t>$122,287</a:t>
                      </a:r>
                    </a:p>
                  </a:txBody>
                  <a:tcPr>
                    <a:solidFill>
                      <a:srgbClr val="FEF3CD"/>
                    </a:solidFill>
                  </a:tcPr>
                </a:tc>
                <a:tc>
                  <a:txBody>
                    <a:bodyPr/>
                    <a:lstStyle/>
                    <a:p>
                      <a:r>
                        <a:rPr sz="1300" b="0">
                          <a:solidFill>
                            <a:srgbClr val="262626"/>
                          </a:solidFill>
                        </a:rPr>
                        <a:t>[119,528, 124,996]</a:t>
                      </a:r>
                    </a:p>
                  </a:txBody>
                  <a:tcPr>
                    <a:solidFill>
                      <a:srgbClr val="FEF3CD"/>
                    </a:solidFill>
                  </a:tcPr>
                </a:tc>
                <a:tc>
                  <a:txBody>
                    <a:bodyPr/>
                    <a:lstStyle/>
                    <a:p>
                      <a:r>
                        <a:rPr sz="1300" b="0">
                          <a:solidFill>
                            <a:srgbClr val="262626"/>
                          </a:solidFill>
                        </a:rPr>
                        <a:t>96.8%</a:t>
                      </a:r>
                    </a:p>
                  </a:txBody>
                  <a:tcPr>
                    <a:solidFill>
                      <a:srgbClr val="FEF3CD"/>
                    </a:solidFill>
                  </a:tcPr>
                </a:tc>
              </a:tr>
              <a:tr h="460000">
                <a:tc>
                  <a:txBody>
                    <a:bodyPr/>
                    <a:lstStyle/>
                    <a:p>
                      <a:r>
                        <a:rPr sz="1200" b="1">
                          <a:solidFill>
                            <a:srgbClr val="1B5697"/>
                          </a:solidFill>
                        </a:rPr>
                        <a:t>LinTS  ← proposed</a:t>
                      </a:r>
                    </a:p>
                  </a:txBody>
                  <a:tcPr>
                    <a:solidFill>
                      <a:srgbClr val="E7F4E8"/>
                    </a:solidFill>
                  </a:tcPr>
                </a:tc>
                <a:tc>
                  <a:txBody>
                    <a:bodyPr/>
                    <a:lstStyle/>
                    <a:p>
                      <a:r>
                        <a:rPr sz="1300" b="1">
                          <a:solidFill>
                            <a:srgbClr val="1B5697"/>
                          </a:solidFill>
                        </a:rPr>
                        <a:t>$93,723</a:t>
                      </a:r>
                    </a:p>
                  </a:txBody>
                  <a:tcPr>
                    <a:solidFill>
                      <a:srgbClr val="E7F4E8"/>
                    </a:solidFill>
                  </a:tcPr>
                </a:tc>
                <a:tc>
                  <a:txBody>
                    <a:bodyPr/>
                    <a:lstStyle/>
                    <a:p>
                      <a:r>
                        <a:rPr sz="1300" b="1">
                          <a:solidFill>
                            <a:srgbClr val="1B5697"/>
                          </a:solidFill>
                        </a:rPr>
                        <a:t>[91,105, 96,481]</a:t>
                      </a:r>
                    </a:p>
                  </a:txBody>
                  <a:tcPr>
                    <a:solidFill>
                      <a:srgbClr val="E7F4E8"/>
                    </a:solidFill>
                  </a:tcPr>
                </a:tc>
                <a:tc>
                  <a:txBody>
                    <a:bodyPr/>
                    <a:lstStyle/>
                    <a:p>
                      <a:r>
                        <a:rPr sz="1300" b="1">
                          <a:solidFill>
                            <a:srgbClr val="1B5697"/>
                          </a:solidFill>
                        </a:rPr>
                        <a:t>74.2%</a:t>
                      </a:r>
                    </a:p>
                  </a:txBody>
                  <a:tcPr>
                    <a:solidFill>
                      <a:srgbClr val="E7F4E8"/>
                    </a:solidFill>
                  </a:tcPr>
                </a:tc>
              </a:tr>
              <a:tr h="460000">
                <a:tc>
                  <a:txBody>
                    <a:bodyPr/>
                    <a:lstStyle/>
                    <a:p>
                      <a:r>
                        <a:rPr sz="1200" b="1">
                          <a:solidFill>
                            <a:srgbClr val="1B5697"/>
                          </a:solidFill>
                        </a:rPr>
                        <a:t>LinUCB  ← proposed</a:t>
                      </a:r>
                    </a:p>
                  </a:txBody>
                  <a:tcPr>
                    <a:solidFill>
                      <a:srgbClr val="E7F4E8"/>
                    </a:solidFill>
                  </a:tcPr>
                </a:tc>
                <a:tc>
                  <a:txBody>
                    <a:bodyPr/>
                    <a:lstStyle/>
                    <a:p>
                      <a:r>
                        <a:rPr sz="1300" b="1">
                          <a:solidFill>
                            <a:srgbClr val="1B5697"/>
                          </a:solidFill>
                        </a:rPr>
                        <a:t>$91,864</a:t>
                      </a:r>
                    </a:p>
                  </a:txBody>
                  <a:tcPr>
                    <a:solidFill>
                      <a:srgbClr val="E7F4E8"/>
                    </a:solidFill>
                  </a:tcPr>
                </a:tc>
                <a:tc>
                  <a:txBody>
                    <a:bodyPr/>
                    <a:lstStyle/>
                    <a:p>
                      <a:r>
                        <a:rPr sz="1300" b="1">
                          <a:solidFill>
                            <a:srgbClr val="1B5697"/>
                          </a:solidFill>
                        </a:rPr>
                        <a:t>[89,139, 94,702]</a:t>
                      </a:r>
                    </a:p>
                  </a:txBody>
                  <a:tcPr>
                    <a:solidFill>
                      <a:srgbClr val="E7F4E8"/>
                    </a:solidFill>
                  </a:tcPr>
                </a:tc>
                <a:tc>
                  <a:txBody>
                    <a:bodyPr/>
                    <a:lstStyle/>
                    <a:p>
                      <a:r>
                        <a:rPr sz="1300" b="1">
                          <a:solidFill>
                            <a:srgbClr val="1B5697"/>
                          </a:solidFill>
                        </a:rPr>
                        <a:t>72.7%</a:t>
                      </a:r>
                    </a:p>
                  </a:txBody>
                  <a:tcPr>
                    <a:solidFill>
                      <a:srgbClr val="E7F4E8"/>
                    </a:solidFill>
                  </a:tcPr>
                </a:tc>
              </a:tr>
              <a:tr h="460000">
                <a:tc>
                  <a:txBody>
                    <a:bodyPr/>
                    <a:lstStyle/>
                    <a:p>
                      <a:r>
                        <a:rPr sz="1200" b="0">
                          <a:solidFill>
                            <a:srgbClr val="262626"/>
                          </a:solidFill>
                        </a:rPr>
                        <a:t>Epsilon-Greedy</a:t>
                      </a:r>
                    </a:p>
                  </a:txBody>
                  <a:tcPr>
                    <a:solidFill>
                      <a:srgbClr val="FFFFFF"/>
                    </a:solidFill>
                  </a:tcPr>
                </a:tc>
                <a:tc>
                  <a:txBody>
                    <a:bodyPr/>
                    <a:lstStyle/>
                    <a:p>
                      <a:r>
                        <a:rPr sz="1300" b="0">
                          <a:solidFill>
                            <a:srgbClr val="262626"/>
                          </a:solidFill>
                        </a:rPr>
                        <a:t>$76,441</a:t>
                      </a:r>
                    </a:p>
                  </a:txBody>
                  <a:tcPr>
                    <a:solidFill>
                      <a:srgbClr val="FFFFFF"/>
                    </a:solidFill>
                  </a:tcPr>
                </a:tc>
                <a:tc>
                  <a:txBody>
                    <a:bodyPr/>
                    <a:lstStyle/>
                    <a:p>
                      <a:r>
                        <a:rPr sz="1300" b="0">
                          <a:solidFill>
                            <a:srgbClr val="262626"/>
                          </a:solidFill>
                        </a:rPr>
                        <a:t>[73,767, 79,107]</a:t>
                      </a:r>
                    </a:p>
                  </a:txBody>
                  <a:tcPr>
                    <a:solidFill>
                      <a:srgbClr val="FFFFFF"/>
                    </a:solidFill>
                  </a:tcPr>
                </a:tc>
                <a:tc>
                  <a:txBody>
                    <a:bodyPr/>
                    <a:lstStyle/>
                    <a:p>
                      <a:r>
                        <a:rPr sz="1300" b="0">
                          <a:solidFill>
                            <a:srgbClr val="262626"/>
                          </a:solidFill>
                        </a:rPr>
                        <a:t>60.5%</a:t>
                      </a:r>
                    </a:p>
                  </a:txBody>
                  <a:tcPr>
                    <a:solidFill>
                      <a:srgbClr val="FFFFFF"/>
                    </a:solidFill>
                  </a:tcPr>
                </a:tc>
              </a:tr>
              <a:tr h="460000">
                <a:tc>
                  <a:txBody>
                    <a:bodyPr/>
                    <a:lstStyle/>
                    <a:p>
                      <a:r>
                        <a:rPr sz="1200" b="0">
                          <a:solidFill>
                            <a:srgbClr val="262626"/>
                          </a:solidFill>
                        </a:rPr>
                        <a:t>Static XGB (incumbent)</a:t>
                      </a:r>
                    </a:p>
                  </a:txBody>
                  <a:tcPr>
                    <a:solidFill>
                      <a:srgbClr val="FFFFFF"/>
                    </a:solidFill>
                  </a:tcPr>
                </a:tc>
                <a:tc>
                  <a:txBody>
                    <a:bodyPr/>
                    <a:lstStyle/>
                    <a:p>
                      <a:r>
                        <a:rPr sz="1300" b="0">
                          <a:solidFill>
                            <a:srgbClr val="262626"/>
                          </a:solidFill>
                        </a:rPr>
                        <a:t>$72,206</a:t>
                      </a:r>
                    </a:p>
                  </a:txBody>
                  <a:tcPr>
                    <a:solidFill>
                      <a:srgbClr val="FFFFFF"/>
                    </a:solidFill>
                  </a:tcPr>
                </a:tc>
                <a:tc>
                  <a:txBody>
                    <a:bodyPr/>
                    <a:lstStyle/>
                    <a:p>
                      <a:r>
                        <a:rPr sz="1300" b="0">
                          <a:solidFill>
                            <a:srgbClr val="262626"/>
                          </a:solidFill>
                        </a:rPr>
                        <a:t>[70,125, 74,352]</a:t>
                      </a:r>
                    </a:p>
                  </a:txBody>
                  <a:tcPr>
                    <a:solidFill>
                      <a:srgbClr val="FFFFFF"/>
                    </a:solidFill>
                  </a:tcPr>
                </a:tc>
                <a:tc>
                  <a:txBody>
                    <a:bodyPr/>
                    <a:lstStyle/>
                    <a:p>
                      <a:r>
                        <a:rPr sz="1300" b="0">
                          <a:solidFill>
                            <a:srgbClr val="262626"/>
                          </a:solidFill>
                        </a:rPr>
                        <a:t>57.1%</a:t>
                      </a:r>
                    </a:p>
                  </a:txBody>
                  <a:tcPr>
                    <a:solidFill>
                      <a:srgbClr val="FFFFFF"/>
                    </a:solidFill>
                  </a:tcPr>
                </a:tc>
              </a:tr>
              <a:tr h="460000">
                <a:tc>
                  <a:txBody>
                    <a:bodyPr/>
                    <a:lstStyle/>
                    <a:p>
                      <a:r>
                        <a:rPr sz="1200" b="0">
                          <a:solidFill>
                            <a:srgbClr val="262626"/>
                          </a:solidFill>
                        </a:rPr>
                        <a:t>AlwaysSTANDARD</a:t>
                      </a:r>
                    </a:p>
                  </a:txBody>
                  <a:tcPr>
                    <a:solidFill>
                      <a:srgbClr val="FFFFFF"/>
                    </a:solidFill>
                  </a:tcPr>
                </a:tc>
                <a:tc>
                  <a:txBody>
                    <a:bodyPr/>
                    <a:lstStyle/>
                    <a:p>
                      <a:r>
                        <a:rPr sz="1300" b="0">
                          <a:solidFill>
                            <a:srgbClr val="262626"/>
                          </a:solidFill>
                        </a:rPr>
                        <a:t>$34,684</a:t>
                      </a:r>
                    </a:p>
                  </a:txBody>
                  <a:tcPr>
                    <a:solidFill>
                      <a:srgbClr val="FFFFFF"/>
                    </a:solidFill>
                  </a:tcPr>
                </a:tc>
                <a:tc>
                  <a:txBody>
                    <a:bodyPr/>
                    <a:lstStyle/>
                    <a:p>
                      <a:r>
                        <a:rPr sz="1300" b="0">
                          <a:solidFill>
                            <a:srgbClr val="262626"/>
                          </a:solidFill>
                        </a:rPr>
                        <a:t>[33,694, 35,871]</a:t>
                      </a:r>
                    </a:p>
                  </a:txBody>
                  <a:tcPr>
                    <a:solidFill>
                      <a:srgbClr val="FFFFFF"/>
                    </a:solidFill>
                  </a:tcPr>
                </a:tc>
                <a:tc>
                  <a:txBody>
                    <a:bodyPr/>
                    <a:lstStyle/>
                    <a:p>
                      <a:r>
                        <a:rPr sz="1300" b="0">
                          <a:solidFill>
                            <a:srgbClr val="262626"/>
                          </a:solidFill>
                        </a:rPr>
                        <a:t>27.5%</a:t>
                      </a:r>
                    </a:p>
                  </a:txBody>
                  <a:tcPr>
                    <a:solidFill>
                      <a:srgbClr val="FFFFFF"/>
                    </a:solidFill>
                  </a:tcPr>
                </a:tc>
              </a:tr>
              <a:tr h="460000">
                <a:tc>
                  <a:txBody>
                    <a:bodyPr/>
                    <a:lstStyle/>
                    <a:p>
                      <a:r>
                        <a:rPr sz="1200" b="0">
                          <a:solidFill>
                            <a:srgbClr val="262626"/>
                          </a:solidFill>
                        </a:rPr>
                        <a:t>Random</a:t>
                      </a:r>
                    </a:p>
                  </a:txBody>
                  <a:tcPr>
                    <a:solidFill>
                      <a:srgbClr val="FFFFFF"/>
                    </a:solidFill>
                  </a:tcPr>
                </a:tc>
                <a:tc>
                  <a:txBody>
                    <a:bodyPr/>
                    <a:lstStyle/>
                    <a:p>
                      <a:r>
                        <a:rPr sz="1300" b="0">
                          <a:solidFill>
                            <a:srgbClr val="262626"/>
                          </a:solidFill>
                        </a:rPr>
                        <a:t>$1,980</a:t>
                      </a:r>
                    </a:p>
                  </a:txBody>
                  <a:tcPr>
                    <a:solidFill>
                      <a:srgbClr val="FFFFFF"/>
                    </a:solidFill>
                  </a:tcPr>
                </a:tc>
                <a:tc>
                  <a:txBody>
                    <a:bodyPr/>
                    <a:lstStyle/>
                    <a:p>
                      <a:r>
                        <a:rPr sz="1300" b="0">
                          <a:solidFill>
                            <a:srgbClr val="262626"/>
                          </a:solidFill>
                        </a:rPr>
                        <a:t>[739, 3,209]</a:t>
                      </a:r>
                    </a:p>
                  </a:txBody>
                  <a:tcPr>
                    <a:solidFill>
                      <a:srgbClr val="FFFFFF"/>
                    </a:solidFill>
                  </a:tcPr>
                </a:tc>
                <a:tc>
                  <a:txBody>
                    <a:bodyPr/>
                    <a:lstStyle/>
                    <a:p>
                      <a:r>
                        <a:rPr sz="1300" b="0">
                          <a:solidFill>
                            <a:srgbClr val="262626"/>
                          </a:solidFill>
                        </a:rPr>
                        <a:t>1.6%</a:t>
                      </a:r>
                    </a:p>
                  </a:txBody>
                  <a:tcPr>
                    <a:solidFill>
                      <a:srgbClr val="FFFFFF"/>
                    </a:solidFill>
                  </a:tcPr>
                </a:tc>
              </a:tr>
            </a:tbl>
          </a:graphicData>
        </a:graphic>
      </p:graphicFrame>
      <p:sp>
        <p:nvSpPr>
          <p:cNvPr id="6" name="TextBox 5"/>
          <p:cNvSpPr txBox="1"/>
          <p:nvPr/>
        </p:nvSpPr>
        <p:spPr>
          <a:xfrm>
            <a:off x="457200" y="5780000"/>
            <a:ext cx="11277295" cy="350000"/>
          </a:xfrm>
          <a:prstGeom prst="rect">
            <a:avLst/>
          </a:prstGeom>
          <a:noFill/>
        </p:spPr>
        <p:txBody>
          <a:bodyPr wrap="square">
            <a:spAutoFit/>
          </a:bodyPr>
          <a:lstStyle/>
          <a:p>
            <a:pPr algn="l">
              <a:spcBef>
                <a:spcPts val="0"/>
              </a:spcBef>
              <a:spcAft>
                <a:spcPts val="0"/>
              </a:spcAft>
            </a:pPr>
            <a:r>
              <a:rPr sz="1200" b="0" i="1">
                <a:solidFill>
                  <a:srgbClr val="505050"/>
                </a:solidFill>
                <a:latin typeface="Calibri"/>
              </a:rPr>
              <a:t>‡ LogisticOracle: fit in-sample — not deployable. Oracle: full information upper bound. AlwaysRATED is commercially &amp; regulatorily inadmissible. Bandits lead every admissible alternative.</a:t>
            </a:r>
          </a:p>
        </p:txBody>
      </p:sp>
      <p:sp>
        <p:nvSpPr>
          <p:cNvPr id="7" name="Rectangle 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9" name="Rectangle 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1" name="Rectangle 1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A1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A2: NUMBER RECONCILIATION</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8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+25.2%</a:t>
            </a:r>
          </a:p>
        </p:txBody>
      </p:sp>
      <p:sp>
        <p:nvSpPr>
          <p:cNvPr id="8" name="TextBox 7"/>
          <p:cNvSpPr txBox="1"/>
          <p:nvPr/>
        </p:nvSpPr>
        <p:spPr>
          <a:xfrm>
            <a:off x="2307200" y="128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EXP-005: LinUCB vs Static XGB (primary pre-registered result)</a:t>
            </a:r>
          </a:p>
        </p:txBody>
      </p:sp>
      <p:sp>
        <p:nvSpPr>
          <p:cNvPr id="9" name="TextBox 8"/>
          <p:cNvSpPr txBox="1"/>
          <p:nvPr/>
        </p:nvSpPr>
        <p:spPr>
          <a:xfrm>
            <a:off x="2307200" y="170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LinUCB mean $90,540 vs Static XGB mean $72,292</a:t>
            </a:r>
          </a:p>
          <a:p>
            <a:pPr algn="l">
              <a:spcBef>
                <a:spcPts val="500"/>
              </a:spcBef>
            </a:pPr>
            <a:r>
              <a:rPr sz="1300" b="0" i="0">
                <a:solidFill>
                  <a:srgbClr val="505050"/>
                </a:solidFill>
                <a:latin typeface="Calibri"/>
              </a:rPr>
              <a:t>Paired Wilcoxon p &lt; 0.001, Cohen's d = 2.98, 20 seeds</a:t>
            </a:r>
          </a:p>
          <a:p>
            <a:pPr algn="l">
              <a:spcBef>
                <a:spcPts val="500"/>
              </a:spcBef>
            </a:pPr>
            <a:r>
              <a:rPr sz="1300" b="0" i="0">
                <a:solidFill>
                  <a:srgbClr val="505050"/>
                </a:solidFill>
                <a:latin typeface="Calibri"/>
              </a:rPr>
              <a:t>This is the headline figure cited throughout the thesis</a:t>
            </a:r>
          </a:p>
        </p:txBody>
      </p:sp>
      <p:sp>
        <p:nvSpPr>
          <p:cNvPr id="10" name="Rectangle 9"/>
          <p:cNvSpPr/>
          <p:nvPr/>
        </p:nvSpPr>
        <p:spPr>
          <a:xfrm>
            <a:off x="457200" y="283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83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200" y="291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+29.8%</a:t>
            </a:r>
          </a:p>
        </p:txBody>
      </p:sp>
      <p:sp>
        <p:nvSpPr>
          <p:cNvPr id="13" name="TextBox 12"/>
          <p:cNvSpPr txBox="1"/>
          <p:nvPr/>
        </p:nvSpPr>
        <p:spPr>
          <a:xfrm>
            <a:off x="2307200" y="291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EXP-007: LinTS vs Static XGB (CRN benchmark harness)</a:t>
            </a:r>
          </a:p>
        </p:txBody>
      </p:sp>
      <p:sp>
        <p:nvSpPr>
          <p:cNvPr id="14" name="TextBox 13"/>
          <p:cNvSpPr txBox="1"/>
          <p:nvPr/>
        </p:nvSpPr>
        <p:spPr>
          <a:xfrm>
            <a:off x="2307200" y="333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LinTS mean $93,723 vs Static XGB mean $72,206</a:t>
            </a:r>
          </a:p>
          <a:p>
            <a:pPr algn="l">
              <a:spcBef>
                <a:spcPts val="500"/>
              </a:spcBef>
            </a:pPr>
            <a:r>
              <a:rPr sz="1300" b="0" i="0">
                <a:solidFill>
                  <a:srgbClr val="505050"/>
                </a:solidFill>
                <a:latin typeface="Calibri"/>
              </a:rPr>
              <a:t>Different harness (CRN — common random numbers) — not the pre-registered test</a:t>
            </a:r>
          </a:p>
          <a:p>
            <a:pPr algn="l">
              <a:spcBef>
                <a:spcPts val="500"/>
              </a:spcBef>
            </a:pPr>
            <a:r>
              <a:rPr sz="1300" b="0" i="0">
                <a:solidFill>
                  <a:srgbClr val="505050"/>
                </a:solidFill>
                <a:latin typeface="Calibri"/>
              </a:rPr>
              <a:t>Reported for completeness; primary comparison is EXP-005</a:t>
            </a:r>
          </a:p>
        </p:txBody>
      </p:sp>
      <p:sp>
        <p:nvSpPr>
          <p:cNvPr id="15" name="Rectangle 14"/>
          <p:cNvSpPr/>
          <p:nvPr/>
        </p:nvSpPr>
        <p:spPr>
          <a:xfrm>
            <a:off x="457200" y="4460000"/>
            <a:ext cx="11277295" cy="148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460000"/>
            <a:ext cx="91440" cy="148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4540000"/>
            <a:ext cx="1550000" cy="1380000"/>
          </a:xfrm>
          <a:prstGeom prst="rect">
            <a:avLst/>
          </a:prstGeom>
          <a:noFill/>
        </p:spPr>
        <p:txBody>
          <a:bodyPr wrap="none" anchor="ctr">
            <a:spAutoFit/>
          </a:bodyPr>
          <a:lstStyle/>
          <a:p>
            <a:pPr algn="ctr">
              <a:spcBef>
                <a:spcPts val="0"/>
              </a:spcBef>
              <a:spcAft>
                <a:spcPts val="0"/>
              </a:spcAft>
            </a:pPr>
            <a:r>
              <a:rPr sz="3200" b="1" i="0">
                <a:solidFill>
                  <a:srgbClr val="1B5697"/>
                </a:solidFill>
                <a:latin typeface="Calibri"/>
              </a:rPr>
              <a:t>+6.5%</a:t>
            </a:r>
          </a:p>
        </p:txBody>
      </p:sp>
      <p:sp>
        <p:nvSpPr>
          <p:cNvPr id="18" name="TextBox 17"/>
          <p:cNvSpPr txBox="1"/>
          <p:nvPr/>
        </p:nvSpPr>
        <p:spPr>
          <a:xfrm>
            <a:off x="2307200" y="4540000"/>
            <a:ext cx="9327295" cy="38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EXP-008: HITL reward vs vanilla bandit</a:t>
            </a:r>
          </a:p>
        </p:txBody>
      </p:sp>
      <p:sp>
        <p:nvSpPr>
          <p:cNvPr id="19" name="TextBox 18"/>
          <p:cNvSpPr txBox="1"/>
          <p:nvPr/>
        </p:nvSpPr>
        <p:spPr>
          <a:xfrm>
            <a:off x="2307200" y="4960000"/>
            <a:ext cx="9327295" cy="9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HITL $102,100 vs vanilla $95,872 (same seed=42)</a:t>
            </a:r>
          </a:p>
          <a:p>
            <a:pPr algn="l">
              <a:spcBef>
                <a:spcPts val="500"/>
              </a:spcBef>
            </a:pPr>
            <a:r>
              <a:rPr sz="1300" b="0" i="0">
                <a:solidFill>
                  <a:srgbClr val="505050"/>
                </a:solidFill>
                <a:latin typeface="Calibri"/>
              </a:rPr>
              <a:t>Different baseline (vanilla bandit, NOT Static XGB or AlwaysRATED)</a:t>
            </a:r>
          </a:p>
          <a:p>
            <a:pPr algn="l">
              <a:spcBef>
                <a:spcPts val="500"/>
              </a:spcBef>
            </a:pPr>
            <a:r>
              <a:rPr sz="1300" b="0" i="0">
                <a:solidFill>
                  <a:srgbClr val="505050"/>
                </a:solidFill>
                <a:latin typeface="Calibri"/>
              </a:rPr>
              <a:t>Measures incremental value of human oversight</a:t>
            </a:r>
          </a:p>
        </p:txBody>
      </p:sp>
      <p:sp>
        <p:nvSpPr>
          <p:cNvPr id="20" name="Rectangle 19"/>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22" name="Rectangle 21"/>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4" name="Rectangle 23"/>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A2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A3: ALL 6 FAIRNESS CRITERIA (EXP-006)</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1: PSI Region ≤ 0.25</a:t>
            </a:r>
          </a:p>
        </p:txBody>
      </p:sp>
      <p:sp>
        <p:nvSpPr>
          <p:cNvPr id="8" name="TextBox 7"/>
          <p:cNvSpPr txBox="1"/>
          <p:nvPr/>
        </p:nvSpPr>
        <p:spPr>
          <a:xfrm>
            <a:off x="607200"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0.082</a:t>
            </a:r>
          </a:p>
        </p:txBody>
      </p:sp>
      <p:sp>
        <p:nvSpPr>
          <p:cNvPr id="9" name="TextBox 8"/>
          <p:cNvSpPr txBox="1"/>
          <p:nvPr/>
        </p:nvSpPr>
        <p:spPr>
          <a:xfrm>
            <a:off x="607200"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GREEN</a:t>
            </a:r>
          </a:p>
        </p:txBody>
      </p:sp>
      <p:sp>
        <p:nvSpPr>
          <p:cNvPr id="10" name="Rectangle 9"/>
          <p:cNvSpPr/>
          <p:nvPr/>
        </p:nvSpPr>
        <p:spPr>
          <a:xfrm>
            <a:off x="6245847" y="120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20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27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2: PSI Occupation ≤ 0.25</a:t>
            </a:r>
          </a:p>
        </p:txBody>
      </p:sp>
      <p:sp>
        <p:nvSpPr>
          <p:cNvPr id="13" name="TextBox 12"/>
          <p:cNvSpPr txBox="1"/>
          <p:nvPr/>
        </p:nvSpPr>
        <p:spPr>
          <a:xfrm>
            <a:off x="6395847" y="154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PSI = 0.123</a:t>
            </a:r>
          </a:p>
        </p:txBody>
      </p:sp>
      <p:sp>
        <p:nvSpPr>
          <p:cNvPr id="14" name="TextBox 13"/>
          <p:cNvSpPr txBox="1"/>
          <p:nvPr/>
        </p:nvSpPr>
        <p:spPr>
          <a:xfrm>
            <a:off x="6395847" y="181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AMBER</a:t>
            </a:r>
          </a:p>
        </p:txBody>
      </p:sp>
      <p:sp>
        <p:nvSpPr>
          <p:cNvPr id="15" name="Rectangle 14"/>
          <p:cNvSpPr/>
          <p:nvPr/>
        </p:nvSpPr>
        <p:spPr>
          <a:xfrm>
            <a:off x="457200"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200"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3: EEOC 4/5 rule — Region</a:t>
            </a:r>
          </a:p>
        </p:txBody>
      </p:sp>
      <p:sp>
        <p:nvSpPr>
          <p:cNvPr id="18" name="TextBox 17"/>
          <p:cNvSpPr txBox="1"/>
          <p:nvPr/>
        </p:nvSpPr>
        <p:spPr>
          <a:xfrm>
            <a:off x="607200"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85.72% ≥ 80%</a:t>
            </a:r>
          </a:p>
        </p:txBody>
      </p:sp>
      <p:sp>
        <p:nvSpPr>
          <p:cNvPr id="19" name="TextBox 18"/>
          <p:cNvSpPr txBox="1"/>
          <p:nvPr/>
        </p:nvSpPr>
        <p:spPr>
          <a:xfrm>
            <a:off x="607200"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0" name="Rectangle 19"/>
          <p:cNvSpPr/>
          <p:nvPr/>
        </p:nvSpPr>
        <p:spPr>
          <a:xfrm>
            <a:off x="6245847" y="218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847" y="218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5847" y="225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4: EEOC 4/5 rule — Occupation</a:t>
            </a:r>
          </a:p>
        </p:txBody>
      </p:sp>
      <p:sp>
        <p:nvSpPr>
          <p:cNvPr id="23" name="TextBox 22"/>
          <p:cNvSpPr txBox="1"/>
          <p:nvPr/>
        </p:nvSpPr>
        <p:spPr>
          <a:xfrm>
            <a:off x="6395847" y="252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90.12% ≥ 80%</a:t>
            </a:r>
          </a:p>
        </p:txBody>
      </p:sp>
      <p:sp>
        <p:nvSpPr>
          <p:cNvPr id="24" name="TextBox 23"/>
          <p:cNvSpPr txBox="1"/>
          <p:nvPr/>
        </p:nvSpPr>
        <p:spPr>
          <a:xfrm>
            <a:off x="6395847" y="279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25" name="Rectangle 24"/>
          <p:cNvSpPr/>
          <p:nvPr/>
        </p:nvSpPr>
        <p:spPr>
          <a:xfrm>
            <a:off x="457200" y="3160000"/>
            <a:ext cx="5488647" cy="88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160000"/>
            <a:ext cx="91440" cy="88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7200"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5: Permutation test — Region</a:t>
            </a:r>
          </a:p>
        </p:txBody>
      </p:sp>
      <p:sp>
        <p:nvSpPr>
          <p:cNvPr id="28" name="TextBox 27"/>
          <p:cNvSpPr txBox="1"/>
          <p:nvPr/>
        </p:nvSpPr>
        <p:spPr>
          <a:xfrm>
            <a:off x="607200"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 0.132</a:t>
            </a:r>
          </a:p>
        </p:txBody>
      </p:sp>
      <p:sp>
        <p:nvSpPr>
          <p:cNvPr id="29" name="TextBox 28"/>
          <p:cNvSpPr txBox="1"/>
          <p:nvPr/>
        </p:nvSpPr>
        <p:spPr>
          <a:xfrm>
            <a:off x="607200"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2E8B57"/>
                </a:solidFill>
                <a:latin typeface="Calibri"/>
              </a:rPr>
              <a:t>PASS</a:t>
            </a:r>
          </a:p>
        </p:txBody>
      </p:sp>
      <p:sp>
        <p:nvSpPr>
          <p:cNvPr id="30" name="Rectangle 29"/>
          <p:cNvSpPr/>
          <p:nvPr/>
        </p:nvSpPr>
        <p:spPr>
          <a:xfrm>
            <a:off x="6245847" y="3160000"/>
            <a:ext cx="5488647" cy="880000"/>
          </a:xfrm>
          <a:prstGeom prst="rect">
            <a:avLst/>
          </a:prstGeom>
          <a:solidFill>
            <a:srgbClr val="FE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847" y="3160000"/>
            <a:ext cx="91440" cy="880000"/>
          </a:xfrm>
          <a:prstGeom prst="rect">
            <a:avLst/>
          </a:prstGeom>
          <a:solidFill>
            <a:srgbClr val="E6A6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847" y="3230000"/>
            <a:ext cx="5288647"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Criterion 6: Permutation test — Occupation</a:t>
            </a:r>
          </a:p>
        </p:txBody>
      </p:sp>
      <p:sp>
        <p:nvSpPr>
          <p:cNvPr id="33" name="TextBox 32"/>
          <p:cNvSpPr txBox="1"/>
          <p:nvPr/>
        </p:nvSpPr>
        <p:spPr>
          <a:xfrm>
            <a:off x="6395847" y="3500000"/>
            <a:ext cx="5288647" cy="250000"/>
          </a:xfrm>
          <a:prstGeom prst="rect">
            <a:avLst/>
          </a:prstGeom>
          <a:noFill/>
        </p:spPr>
        <p:txBody>
          <a:bodyPr wrap="square">
            <a:spAutoFit/>
          </a:bodyPr>
          <a:lstStyle/>
          <a:p>
            <a:pPr algn="l">
              <a:spcBef>
                <a:spcPts val="0"/>
              </a:spcBef>
              <a:spcAft>
                <a:spcPts val="0"/>
              </a:spcAft>
            </a:pPr>
            <a:r>
              <a:rPr sz="1500" b="1" i="0">
                <a:solidFill>
                  <a:srgbClr val="1B5697"/>
                </a:solidFill>
                <a:latin typeface="Calibri"/>
              </a:rPr>
              <a:t>p &lt; 0.001</a:t>
            </a:r>
          </a:p>
        </p:txBody>
      </p:sp>
      <p:sp>
        <p:nvSpPr>
          <p:cNvPr id="34" name="TextBox 33"/>
          <p:cNvSpPr txBox="1"/>
          <p:nvPr/>
        </p:nvSpPr>
        <p:spPr>
          <a:xfrm>
            <a:off x="6395847" y="3770000"/>
            <a:ext cx="5288647" cy="220000"/>
          </a:xfrm>
          <a:prstGeom prst="rect">
            <a:avLst/>
          </a:prstGeom>
          <a:noFill/>
        </p:spPr>
        <p:txBody>
          <a:bodyPr wrap="none" anchor="ctr" tIns="0" bIns="0">
            <a:spAutoFit/>
          </a:bodyPr>
          <a:lstStyle/>
          <a:p>
            <a:pPr algn="l">
              <a:spcBef>
                <a:spcPts val="0"/>
              </a:spcBef>
              <a:spcAft>
                <a:spcPts val="0"/>
              </a:spcAft>
            </a:pPr>
            <a:r>
              <a:rPr sz="1200" b="1" i="0">
                <a:solidFill>
                  <a:srgbClr val="E6A62E"/>
                </a:solidFill>
                <a:latin typeface="Calibri"/>
              </a:rPr>
              <a:t>FAILED-with-interpretation</a:t>
            </a:r>
          </a:p>
        </p:txBody>
      </p:sp>
      <p:sp>
        <p:nvSpPr>
          <p:cNvPr id="35" name="TextBox 34"/>
          <p:cNvSpPr txBox="1"/>
          <p:nvPr/>
        </p:nvSpPr>
        <p:spPr>
          <a:xfrm>
            <a:off x="457200" y="4190000"/>
            <a:ext cx="11277295" cy="45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Criterion 6: statistically significant disparity detected under permutation test. PSI = 0.123 (AMBER — monitor only). Criterion 6 is FAILED-with-interpretation, not a hard stop.</a:t>
            </a:r>
          </a:p>
        </p:txBody>
      </p:sp>
      <p:sp>
        <p:nvSpPr>
          <p:cNvPr id="36" name="Rectangle 35"/>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38" name="Rectangle 37"/>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40" name="Rectangle 39"/>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A3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A4: MATHEMATICAL DETAILS</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7200"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LinUCB UPDATE RULE</a:t>
            </a:r>
          </a:p>
        </p:txBody>
      </p:sp>
      <p:sp>
        <p:nvSpPr>
          <p:cNvPr id="8" name="TextBox 7"/>
          <p:cNvSpPr txBox="1"/>
          <p:nvPr/>
        </p:nvSpPr>
        <p:spPr>
          <a:xfrm>
            <a:off x="607200" y="1720000"/>
            <a:ext cx="5288647" cy="4100000"/>
          </a:xfrm>
          <a:prstGeom prst="rect">
            <a:avLst/>
          </a:prstGeom>
          <a:noFill/>
        </p:spPr>
        <p:txBody>
          <a:bodyPr wrap="square">
            <a:spAutoFit/>
          </a:bodyPr>
          <a:lstStyle/>
          <a:p>
            <a:pPr algn="l">
              <a:spcBef>
                <a:spcPts val="0"/>
              </a:spcBef>
              <a:spcAft>
                <a:spcPts val="0"/>
              </a:spcAft>
            </a:pPr>
            <a:r>
              <a:rPr sz="1300" b="0" i="0">
                <a:solidFill>
                  <a:srgbClr val="262626"/>
                </a:solidFill>
                <a:latin typeface="Calibri"/>
              </a:rPr>
              <a:t>Design matrix:  A ← A + xₜ xₜᵀ</a:t>
            </a:r>
          </a:p>
          <a:p>
            <a:pPr algn="l">
              <a:spcBef>
                <a:spcPts val="600"/>
              </a:spcBef>
            </a:pPr>
            <a:r>
              <a:rPr sz="1300" b="0" i="0">
                <a:solidFill>
                  <a:srgbClr val="262626"/>
                </a:solidFill>
                <a:latin typeface="Calibri"/>
              </a:rPr>
              <a:t>Reward vector:  b ← b + rₜ xₜ</a:t>
            </a:r>
          </a:p>
          <a:p>
            <a:pPr algn="l">
              <a:spcBef>
                <a:spcPts val="600"/>
              </a:spcBef>
            </a:pPr>
            <a:r>
              <a:rPr sz="1300" b="0" i="0">
                <a:solidFill>
                  <a:srgbClr val="262626"/>
                </a:solidFill>
                <a:latin typeface="Calibri"/>
              </a:rPr>
              <a:t>Ridge estimate: θ̂ = A⁻¹ b</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UCB score:</a:t>
            </a:r>
          </a:p>
          <a:p>
            <a:pPr algn="l">
              <a:spcBef>
                <a:spcPts val="600"/>
              </a:spcBef>
            </a:pPr>
            <a:r>
              <a:rPr sz="1300" b="0" i="0">
                <a:solidFill>
                  <a:srgbClr val="262626"/>
                </a:solidFill>
                <a:latin typeface="Calibri"/>
              </a:rPr>
              <a:t>  p(x) = θ̂ᵀ x + α √(xᵀ A⁻¹ x)</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PSI formula:</a:t>
            </a:r>
          </a:p>
          <a:p>
            <a:pPr algn="l">
              <a:spcBef>
                <a:spcPts val="600"/>
              </a:spcBef>
            </a:pPr>
            <a:r>
              <a:rPr sz="1300" b="0" i="0">
                <a:solidFill>
                  <a:srgbClr val="262626"/>
                </a:solidFill>
                <a:latin typeface="Calibri"/>
              </a:rPr>
              <a:t>  PSI = Σ (P_new − P_old) × ln(P_new / P_old)</a:t>
            </a:r>
          </a:p>
          <a:p>
            <a:pPr algn="l">
              <a:spcBef>
                <a:spcPts val="600"/>
              </a:spcBef>
            </a:pPr>
            <a:r>
              <a:rPr sz="1300" b="0" i="0">
                <a:solidFill>
                  <a:srgbClr val="262626"/>
                </a:solidFill>
                <a:latin typeface="Calibri"/>
              </a:rPr>
              <a:t/>
            </a:r>
          </a:p>
          <a:p>
            <a:pPr algn="l">
              <a:spcBef>
                <a:spcPts val="600"/>
              </a:spcBef>
            </a:pPr>
            <a:r>
              <a:rPr sz="1300" b="0" i="0">
                <a:solidFill>
                  <a:srgbClr val="262626"/>
                </a:solidFill>
                <a:latin typeface="Calibri"/>
              </a:rPr>
              <a:t>HITL dual-update:</a:t>
            </a:r>
          </a:p>
          <a:p>
            <a:pPr algn="l">
              <a:spcBef>
                <a:spcPts val="600"/>
              </a:spcBef>
            </a:pPr>
            <a:r>
              <a:rPr sz="1300" b="0" i="0">
                <a:solidFill>
                  <a:srgbClr val="262626"/>
                </a:solidFill>
                <a:latin typeface="Calibri"/>
              </a:rPr>
              <a:t>  If human overrides → update on human label</a:t>
            </a:r>
          </a:p>
          <a:p>
            <a:pPr algn="l">
              <a:spcBef>
                <a:spcPts val="600"/>
              </a:spcBef>
            </a:pPr>
            <a:r>
              <a:rPr sz="1300" b="0" i="0">
                <a:solidFill>
                  <a:srgbClr val="262626"/>
                </a:solidFill>
                <a:latin typeface="Calibri"/>
              </a:rPr>
              <a:t>  Else update on bandit label</a:t>
            </a:r>
          </a:p>
        </p:txBody>
      </p:sp>
      <p:sp>
        <p:nvSpPr>
          <p:cNvPr id="9" name="Rectangle 8"/>
          <p:cNvSpPr/>
          <p:nvPr/>
        </p:nvSpPr>
        <p:spPr>
          <a:xfrm>
            <a:off x="6245847" y="1200000"/>
            <a:ext cx="5488647" cy="480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847" y="1200000"/>
            <a:ext cx="91440" cy="480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5847" y="1300000"/>
            <a:ext cx="528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Calibri"/>
              </a:rPr>
              <a:t>KEY HYPERPARAMETERS</a:t>
            </a:r>
          </a:p>
        </p:txBody>
      </p:sp>
      <p:graphicFrame>
        <p:nvGraphicFramePr>
          <p:cNvPr id="12" name="Table 11"/>
          <p:cNvGraphicFramePr>
            <a:graphicFrameLocks noGrp="1"/>
          </p:cNvGraphicFramePr>
          <p:nvPr/>
        </p:nvGraphicFramePr>
        <p:xfrm>
          <a:off x="6395847" y="1750000"/>
          <a:ext cx="5288647" cy="4100000"/>
        </p:xfrm>
        <a:graphic>
          <a:graphicData uri="http://schemas.openxmlformats.org/drawingml/2006/table">
            <a:tbl>
              <a:tblPr firstRow="1" bandRow="1">
                <a:tableStyleId>{5C22544A-7EE6-4342-B048-85BDC9FD1C3A}</a:tableStyleId>
              </a:tblPr>
              <a:tblGrid>
                <a:gridCol w="2644323"/>
                <a:gridCol w="2644324"/>
              </a:tblGrid>
              <a:tr h="410000">
                <a:tc>
                  <a:txBody>
                    <a:bodyPr/>
                    <a:lstStyle/>
                    <a:p>
                      <a:r>
                        <a:rPr b="1" sz="1300">
                          <a:solidFill>
                            <a:srgbClr val="FFFFFF"/>
                          </a:solidFill>
                        </a:rPr>
                        <a:t>Parameter</a:t>
                      </a:r>
                    </a:p>
                  </a:txBody>
                  <a:tcPr>
                    <a:solidFill>
                      <a:srgbClr val="1B5697"/>
                    </a:solidFill>
                  </a:tcPr>
                </a:tc>
                <a:tc>
                  <a:txBody>
                    <a:bodyPr/>
                    <a:lstStyle/>
                    <a:p>
                      <a:r>
                        <a:rPr b="1" sz="1300">
                          <a:solidFill>
                            <a:srgbClr val="FFFFFF"/>
                          </a:solidFill>
                        </a:rPr>
                        <a:t>Value</a:t>
                      </a:r>
                    </a:p>
                  </a:txBody>
                  <a:tcPr>
                    <a:solidFill>
                      <a:srgbClr val="1B5697"/>
                    </a:solidFill>
                  </a:tcPr>
                </a:tc>
              </a:tr>
              <a:tr h="410000">
                <a:tc>
                  <a:txBody>
                    <a:bodyPr/>
                    <a:lstStyle/>
                    <a:p>
                      <a:r>
                        <a:rPr sz="1200">
                          <a:solidFill>
                            <a:srgbClr val="262626"/>
                          </a:solidFill>
                        </a:rPr>
                        <a:t>LinUCB α</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LinTS v²</a:t>
                      </a:r>
                    </a:p>
                  </a:txBody>
                  <a:tcPr>
                    <a:solidFill>
                      <a:srgbClr val="FFFFFF"/>
                    </a:solidFill>
                  </a:tcPr>
                </a:tc>
                <a:tc>
                  <a:txBody>
                    <a:bodyPr/>
                    <a:lstStyle/>
                    <a:p>
                      <a:r>
                        <a:rPr sz="1200">
                          <a:solidFill>
                            <a:srgbClr val="262626"/>
                          </a:solidFill>
                        </a:rPr>
                        <a:t>1.0</a:t>
                      </a:r>
                    </a:p>
                  </a:txBody>
                  <a:tcPr>
                    <a:solidFill>
                      <a:srgbClr val="FFFFFF"/>
                    </a:solidFill>
                  </a:tcPr>
                </a:tc>
              </a:tr>
              <a:tr h="410000">
                <a:tc>
                  <a:txBody>
                    <a:bodyPr/>
                    <a:lstStyle/>
                    <a:p>
                      <a:r>
                        <a:rPr sz="1200">
                          <a:solidFill>
                            <a:srgbClr val="262626"/>
                          </a:solidFill>
                        </a:rPr>
                        <a:t>Ridge λ</a:t>
                      </a:r>
                    </a:p>
                  </a:txBody>
                  <a:tcPr>
                    <a:solidFill>
                      <a:srgbClr val="F3F6FB"/>
                    </a:solidFill>
                  </a:tcPr>
                </a:tc>
                <a:tc>
                  <a:txBody>
                    <a:bodyPr/>
                    <a:lstStyle/>
                    <a:p>
                      <a:r>
                        <a:rPr sz="1200">
                          <a:solidFill>
                            <a:srgbClr val="262626"/>
                          </a:solidFill>
                        </a:rPr>
                        <a:t>1.0</a:t>
                      </a:r>
                    </a:p>
                  </a:txBody>
                  <a:tcPr>
                    <a:solidFill>
                      <a:srgbClr val="F3F6FB"/>
                    </a:solidFill>
                  </a:tcPr>
                </a:tc>
              </a:tr>
              <a:tr h="410000">
                <a:tc>
                  <a:txBody>
                    <a:bodyPr/>
                    <a:lstStyle/>
                    <a:p>
                      <a:r>
                        <a:rPr sz="1200">
                          <a:solidFill>
                            <a:srgbClr val="262626"/>
                          </a:solidFill>
                        </a:rPr>
                        <a:t>Horizon T</a:t>
                      </a:r>
                    </a:p>
                  </a:txBody>
                  <a:tcPr>
                    <a:solidFill>
                      <a:srgbClr val="FFFFFF"/>
                    </a:solidFill>
                  </a:tcPr>
                </a:tc>
                <a:tc>
                  <a:txBody>
                    <a:bodyPr/>
                    <a:lstStyle/>
                    <a:p>
                      <a:r>
                        <a:rPr sz="1200">
                          <a:solidFill>
                            <a:srgbClr val="262626"/>
                          </a:solidFill>
                        </a:rPr>
                        <a:t>5,000</a:t>
                      </a:r>
                    </a:p>
                  </a:txBody>
                  <a:tcPr>
                    <a:solidFill>
                      <a:srgbClr val="FFFFFF"/>
                    </a:solidFill>
                  </a:tcPr>
                </a:tc>
              </a:tr>
              <a:tr h="410000">
                <a:tc>
                  <a:txBody>
                    <a:bodyPr/>
                    <a:lstStyle/>
                    <a:p>
                      <a:r>
                        <a:rPr sz="1200">
                          <a:solidFill>
                            <a:srgbClr val="262626"/>
                          </a:solidFill>
                        </a:rPr>
                        <a:t>Seeds</a:t>
                      </a:r>
                    </a:p>
                  </a:txBody>
                  <a:tcPr>
                    <a:solidFill>
                      <a:srgbClr val="F3F6FB"/>
                    </a:solidFill>
                  </a:tcPr>
                </a:tc>
                <a:tc>
                  <a:txBody>
                    <a:bodyPr/>
                    <a:lstStyle/>
                    <a:p>
                      <a:r>
                        <a:rPr sz="1200">
                          <a:solidFill>
                            <a:srgbClr val="262626"/>
                          </a:solidFill>
                        </a:rPr>
                        <a:t>20</a:t>
                      </a:r>
                    </a:p>
                  </a:txBody>
                  <a:tcPr>
                    <a:solidFill>
                      <a:srgbClr val="F3F6FB"/>
                    </a:solidFill>
                  </a:tcPr>
                </a:tc>
              </a:tr>
              <a:tr h="410000">
                <a:tc>
                  <a:txBody>
                    <a:bodyPr/>
                    <a:lstStyle/>
                    <a:p>
                      <a:r>
                        <a:rPr sz="1200">
                          <a:solidFill>
                            <a:srgbClr val="262626"/>
                          </a:solidFill>
                        </a:rPr>
                        <a:t>HITL threshold c</a:t>
                      </a:r>
                    </a:p>
                  </a:txBody>
                  <a:tcPr>
                    <a:solidFill>
                      <a:srgbClr val="FFFFFF"/>
                    </a:solidFill>
                  </a:tcPr>
                </a:tc>
                <a:tc>
                  <a:txBody>
                    <a:bodyPr/>
                    <a:lstStyle/>
                    <a:p>
                      <a:r>
                        <a:rPr sz="1200">
                          <a:solidFill>
                            <a:srgbClr val="262626"/>
                          </a:solidFill>
                        </a:rPr>
                        <a:t>0.7</a:t>
                      </a:r>
                    </a:p>
                  </a:txBody>
                  <a:tcPr>
                    <a:solidFill>
                      <a:srgbClr val="FFFFFF"/>
                    </a:solidFill>
                  </a:tcPr>
                </a:tc>
              </a:tr>
              <a:tr h="410000">
                <a:tc>
                  <a:txBody>
                    <a:bodyPr/>
                    <a:lstStyle/>
                    <a:p>
                      <a:r>
                        <a:rPr sz="1200">
                          <a:solidFill>
                            <a:srgbClr val="262626"/>
                          </a:solidFill>
                        </a:rPr>
                        <a:t>Discount γ (EXP-015)</a:t>
                      </a:r>
                    </a:p>
                  </a:txBody>
                  <a:tcPr>
                    <a:solidFill>
                      <a:srgbClr val="F3F6FB"/>
                    </a:solidFill>
                  </a:tcPr>
                </a:tc>
                <a:tc>
                  <a:txBody>
                    <a:bodyPr/>
                    <a:lstStyle/>
                    <a:p>
                      <a:r>
                        <a:rPr sz="1200">
                          <a:solidFill>
                            <a:srgbClr val="262626"/>
                          </a:solidFill>
                        </a:rPr>
                        <a:t>0.999</a:t>
                      </a:r>
                    </a:p>
                  </a:txBody>
                  <a:tcPr>
                    <a:solidFill>
                      <a:srgbClr val="F3F6FB"/>
                    </a:solidFill>
                  </a:tcPr>
                </a:tc>
              </a:tr>
              <a:tr h="410000">
                <a:tc>
                  <a:txBody>
                    <a:bodyPr/>
                    <a:lstStyle/>
                    <a:p>
                      <a:r>
                        <a:rPr sz="1200">
                          <a:solidFill>
                            <a:srgbClr val="262626"/>
                          </a:solidFill>
                        </a:rPr>
                        <a:t>PSI AMBER threshold</a:t>
                      </a:r>
                    </a:p>
                  </a:txBody>
                  <a:tcPr>
                    <a:solidFill>
                      <a:srgbClr val="FFFFFF"/>
                    </a:solidFill>
                  </a:tcPr>
                </a:tc>
                <a:tc>
                  <a:txBody>
                    <a:bodyPr/>
                    <a:lstStyle/>
                    <a:p>
                      <a:r>
                        <a:rPr sz="1200">
                          <a:solidFill>
                            <a:srgbClr val="262626"/>
                          </a:solidFill>
                        </a:rPr>
                        <a:t>0.10</a:t>
                      </a:r>
                    </a:p>
                  </a:txBody>
                  <a:tcPr>
                    <a:solidFill>
                      <a:srgbClr val="FFFFFF"/>
                    </a:solidFill>
                  </a:tcPr>
                </a:tc>
              </a:tr>
              <a:tr h="410000">
                <a:tc>
                  <a:txBody>
                    <a:bodyPr/>
                    <a:lstStyle/>
                    <a:p>
                      <a:r>
                        <a:rPr sz="1200">
                          <a:solidFill>
                            <a:srgbClr val="262626"/>
                          </a:solidFill>
                        </a:rPr>
                        <a:t>PSI RED threshold</a:t>
                      </a:r>
                    </a:p>
                  </a:txBody>
                  <a:tcPr>
                    <a:solidFill>
                      <a:srgbClr val="F3F6FB"/>
                    </a:solidFill>
                  </a:tcPr>
                </a:tc>
                <a:tc>
                  <a:txBody>
                    <a:bodyPr/>
                    <a:lstStyle/>
                    <a:p>
                      <a:r>
                        <a:rPr sz="1200">
                          <a:solidFill>
                            <a:srgbClr val="262626"/>
                          </a:solidFill>
                        </a:rPr>
                        <a:t>0.25</a:t>
                      </a:r>
                    </a:p>
                  </a:txBody>
                  <a:tcPr>
                    <a:solidFill>
                      <a:srgbClr val="F3F6FB"/>
                    </a:solidFill>
                  </a:tcPr>
                </a:tc>
              </a:tr>
            </a:tbl>
          </a:graphicData>
        </a:graphic>
      </p:graphicFrame>
      <p:sp>
        <p:nvSpPr>
          <p:cNvPr id="13" name="Rectangle 12"/>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5" name="Rectangle 14"/>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7" name="Rectangle 16"/>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A4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A5: SENSITIVITY ANALYSIS (EXP-012)</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300000"/>
          <a:ext cx="5074782" cy="2700000"/>
        </p:xfrm>
        <a:graphic>
          <a:graphicData uri="http://schemas.openxmlformats.org/drawingml/2006/table">
            <a:tbl>
              <a:tblPr firstRow="1" bandRow="1">
                <a:tableStyleId>{5C22544A-7EE6-4342-B048-85BDC9FD1C3A}</a:tableStyleId>
              </a:tblPr>
              <a:tblGrid>
                <a:gridCol w="1691594"/>
                <a:gridCol w="1691594"/>
                <a:gridCol w="1691594"/>
              </a:tblGrid>
              <a:tr h="450000">
                <a:tc>
                  <a:txBody>
                    <a:bodyPr/>
                    <a:lstStyle/>
                    <a:p>
                      <a:r>
                        <a:rPr b="1" sz="1300">
                          <a:solidFill>
                            <a:srgbClr val="FFFFFF"/>
                          </a:solidFill>
                        </a:rPr>
                        <a:t>α</a:t>
                      </a:r>
                    </a:p>
                  </a:txBody>
                  <a:tcPr>
                    <a:solidFill>
                      <a:srgbClr val="1B5697"/>
                    </a:solidFill>
                  </a:tcPr>
                </a:tc>
                <a:tc>
                  <a:txBody>
                    <a:bodyPr/>
                    <a:lstStyle/>
                    <a:p>
                      <a:r>
                        <a:rPr b="1" sz="1300">
                          <a:solidFill>
                            <a:srgbClr val="FFFFFF"/>
                          </a:solidFill>
                        </a:rPr>
                        <a:t>Cumul. Reward</a:t>
                      </a:r>
                    </a:p>
                  </a:txBody>
                  <a:tcPr>
                    <a:solidFill>
                      <a:srgbClr val="1B5697"/>
                    </a:solidFill>
                  </a:tcPr>
                </a:tc>
                <a:tc>
                  <a:txBody>
                    <a:bodyPr/>
                    <a:lstStyle/>
                    <a:p>
                      <a:r>
                        <a:rPr b="1" sz="1300">
                          <a:solidFill>
                            <a:srgbClr val="FFFFFF"/>
                          </a:solidFill>
                        </a:rPr>
                        <a:t>Result</a:t>
                      </a:r>
                    </a:p>
                  </a:txBody>
                  <a:tcPr>
                    <a:solidFill>
                      <a:srgbClr val="1B5697"/>
                    </a:solidFill>
                  </a:tcPr>
                </a:tc>
              </a:tr>
              <a:tr h="450000">
                <a:tc>
                  <a:txBody>
                    <a:bodyPr/>
                    <a:lstStyle/>
                    <a:p>
                      <a:r>
                        <a:rPr sz="1300">
                          <a:solidFill>
                            <a:srgbClr val="262626"/>
                          </a:solidFill>
                        </a:rPr>
                        <a:t>0.1</a:t>
                      </a:r>
                    </a:p>
                  </a:txBody>
                  <a:tcPr>
                    <a:solidFill>
                      <a:srgbClr val="F3F6FB"/>
                    </a:solidFill>
                  </a:tcPr>
                </a:tc>
                <a:tc>
                  <a:txBody>
                    <a:bodyPr/>
                    <a:lstStyle/>
                    <a:p>
                      <a:r>
                        <a:rPr sz="1300">
                          <a:solidFill>
                            <a:srgbClr val="262626"/>
                          </a:solidFill>
                        </a:rPr>
                        <a:t>$90,645</a:t>
                      </a:r>
                    </a:p>
                  </a:txBody>
                  <a:tcPr>
                    <a:solidFill>
                      <a:srgbClr val="F3F6FB"/>
                    </a:solidFill>
                  </a:tcPr>
                </a:tc>
                <a:tc>
                  <a:txBody>
                    <a:bodyPr/>
                    <a:lstStyle/>
                    <a:p>
                      <a:r>
                        <a:rPr sz="1300">
                          <a:solidFill>
                            <a:srgbClr val="262626"/>
                          </a:solidFill>
                        </a:rPr>
                        <a:t>−0.8%</a:t>
                      </a:r>
                    </a:p>
                  </a:txBody>
                  <a:tcPr>
                    <a:solidFill>
                      <a:srgbClr val="F3F6FB"/>
                    </a:solidFill>
                  </a:tcPr>
                </a:tc>
              </a:tr>
              <a:tr h="450000">
                <a:tc>
                  <a:txBody>
                    <a:bodyPr/>
                    <a:lstStyle/>
                    <a:p>
                      <a:r>
                        <a:rPr sz="1300">
                          <a:solidFill>
                            <a:srgbClr val="262626"/>
                          </a:solidFill>
                        </a:rPr>
                        <a:t>0.5</a:t>
                      </a:r>
                    </a:p>
                  </a:txBody>
                  <a:tcPr>
                    <a:solidFill>
                      <a:srgbClr val="F3F6FB"/>
                    </a:solidFill>
                  </a:tcPr>
                </a:tc>
                <a:tc>
                  <a:txBody>
                    <a:bodyPr/>
                    <a:lstStyle/>
                    <a:p>
                      <a:r>
                        <a:rPr sz="1300">
                          <a:solidFill>
                            <a:srgbClr val="262626"/>
                          </a:solidFill>
                        </a:rPr>
                        <a:t>$88,473</a:t>
                      </a:r>
                    </a:p>
                  </a:txBody>
                  <a:tcPr>
                    <a:solidFill>
                      <a:srgbClr val="F3F6FB"/>
                    </a:solidFill>
                  </a:tcPr>
                </a:tc>
                <a:tc>
                  <a:txBody>
                    <a:bodyPr/>
                    <a:lstStyle/>
                    <a:p>
                      <a:r>
                        <a:rPr sz="1300">
                          <a:solidFill>
                            <a:srgbClr val="262626"/>
                          </a:solidFill>
                        </a:rPr>
                        <a:t>−3.2%</a:t>
                      </a:r>
                    </a:p>
                  </a:txBody>
                  <a:tcPr>
                    <a:solidFill>
                      <a:srgbClr val="F3F6FB"/>
                    </a:solidFill>
                  </a:tcPr>
                </a:tc>
              </a:tr>
              <a:tr h="450000">
                <a:tc>
                  <a:txBody>
                    <a:bodyPr/>
                    <a:lstStyle/>
                    <a:p>
                      <a:r>
                        <a:rPr sz="1300">
                          <a:solidFill>
                            <a:srgbClr val="2E8B57"/>
                          </a:solidFill>
                        </a:rPr>
                        <a:t>1.0 (default)</a:t>
                      </a:r>
                    </a:p>
                  </a:txBody>
                  <a:tcPr>
                    <a:solidFill>
                      <a:srgbClr val="E7F4E8"/>
                    </a:solidFill>
                  </a:tcPr>
                </a:tc>
                <a:tc>
                  <a:txBody>
                    <a:bodyPr/>
                    <a:lstStyle/>
                    <a:p>
                      <a:r>
                        <a:rPr sz="1300">
                          <a:solidFill>
                            <a:srgbClr val="2E8B57"/>
                          </a:solidFill>
                        </a:rPr>
                        <a:t>$91,378</a:t>
                      </a:r>
                    </a:p>
                  </a:txBody>
                  <a:tcPr>
                    <a:solidFill>
                      <a:srgbClr val="E7F4E8"/>
                    </a:solidFill>
                  </a:tcPr>
                </a:tc>
                <a:tc>
                  <a:txBody>
                    <a:bodyPr/>
                    <a:lstStyle/>
                    <a:p>
                      <a:r>
                        <a:rPr sz="1300">
                          <a:solidFill>
                            <a:srgbClr val="2E8B57"/>
                          </a:solidFill>
                        </a:rPr>
                        <a:t>BEST</a:t>
                      </a:r>
                    </a:p>
                  </a:txBody>
                  <a:tcPr>
                    <a:solidFill>
                      <a:srgbClr val="E7F4E8"/>
                    </a:solidFill>
                  </a:tcPr>
                </a:tc>
              </a:tr>
              <a:tr h="450000">
                <a:tc>
                  <a:txBody>
                    <a:bodyPr/>
                    <a:lstStyle/>
                    <a:p>
                      <a:r>
                        <a:rPr sz="1300">
                          <a:solidFill>
                            <a:srgbClr val="262626"/>
                          </a:solidFill>
                        </a:rPr>
                        <a:t>2.0</a:t>
                      </a:r>
                    </a:p>
                  </a:txBody>
                  <a:tcPr>
                    <a:solidFill>
                      <a:srgbClr val="F3F6FB"/>
                    </a:solidFill>
                  </a:tcPr>
                </a:tc>
                <a:tc>
                  <a:txBody>
                    <a:bodyPr/>
                    <a:lstStyle/>
                    <a:p>
                      <a:r>
                        <a:rPr sz="1300">
                          <a:solidFill>
                            <a:srgbClr val="262626"/>
                          </a:solidFill>
                        </a:rPr>
                        <a:t>$89,953</a:t>
                      </a:r>
                    </a:p>
                  </a:txBody>
                  <a:tcPr>
                    <a:solidFill>
                      <a:srgbClr val="F3F6FB"/>
                    </a:solidFill>
                  </a:tcPr>
                </a:tc>
                <a:tc>
                  <a:txBody>
                    <a:bodyPr/>
                    <a:lstStyle/>
                    <a:p>
                      <a:r>
                        <a:rPr sz="1300">
                          <a:solidFill>
                            <a:srgbClr val="262626"/>
                          </a:solidFill>
                        </a:rPr>
                        <a:t>−1.6%</a:t>
                      </a:r>
                    </a:p>
                  </a:txBody>
                  <a:tcPr>
                    <a:solidFill>
                      <a:srgbClr val="F3F6FB"/>
                    </a:solidFill>
                  </a:tcPr>
                </a:tc>
              </a:tr>
              <a:tr h="450000">
                <a:tc>
                  <a:txBody>
                    <a:bodyPr/>
                    <a:lstStyle/>
                    <a:p>
                      <a:r>
                        <a:rPr sz="1300">
                          <a:solidFill>
                            <a:srgbClr val="262626"/>
                          </a:solidFill>
                        </a:rPr>
                        <a:t>5.0</a:t>
                      </a:r>
                    </a:p>
                  </a:txBody>
                  <a:tcPr>
                    <a:solidFill>
                      <a:srgbClr val="F3F6FB"/>
                    </a:solidFill>
                  </a:tcPr>
                </a:tc>
                <a:tc>
                  <a:txBody>
                    <a:bodyPr/>
                    <a:lstStyle/>
                    <a:p>
                      <a:r>
                        <a:rPr sz="1300">
                          <a:solidFill>
                            <a:srgbClr val="262626"/>
                          </a:solidFill>
                        </a:rPr>
                        <a:t>$90,959</a:t>
                      </a:r>
                    </a:p>
                  </a:txBody>
                  <a:tcPr>
                    <a:solidFill>
                      <a:srgbClr val="F3F6FB"/>
                    </a:solidFill>
                  </a:tcPr>
                </a:tc>
                <a:tc>
                  <a:txBody>
                    <a:bodyPr/>
                    <a:lstStyle/>
                    <a:p>
                      <a:r>
                        <a:rPr sz="1300">
                          <a:solidFill>
                            <a:srgbClr val="262626"/>
                          </a:solidFill>
                        </a:rPr>
                        <a:t>−0.5%</a:t>
                      </a:r>
                    </a:p>
                  </a:txBody>
                  <a:tcPr>
                    <a:solidFill>
                      <a:srgbClr val="F3F6FB"/>
                    </a:solidFill>
                  </a:tcPr>
                </a:tc>
              </a:tr>
            </a:tbl>
          </a:graphicData>
        </a:graphic>
      </p:graphicFrame>
      <p:sp>
        <p:nvSpPr>
          <p:cNvPr id="6" name="TextBox 5"/>
          <p:cNvSpPr txBox="1"/>
          <p:nvPr/>
        </p:nvSpPr>
        <p:spPr>
          <a:xfrm>
            <a:off x="457200" y="1150000"/>
            <a:ext cx="507478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α sweep — LinUCB  ·  EXP-012 (10 seeds)</a:t>
            </a:r>
          </a:p>
        </p:txBody>
      </p:sp>
      <p:graphicFrame>
        <p:nvGraphicFramePr>
          <p:cNvPr id="7" name="Table 6"/>
          <p:cNvGraphicFramePr>
            <a:graphicFrameLocks noGrp="1"/>
          </p:cNvGraphicFramePr>
          <p:nvPr/>
        </p:nvGraphicFramePr>
        <p:xfrm>
          <a:off x="5731982" y="1300000"/>
          <a:ext cx="6002512" cy="2700000"/>
        </p:xfrm>
        <a:graphic>
          <a:graphicData uri="http://schemas.openxmlformats.org/drawingml/2006/table">
            <a:tbl>
              <a:tblPr firstRow="1" bandRow="1">
                <a:tableStyleId>{5C22544A-7EE6-4342-B048-85BDC9FD1C3A}</a:tableStyleId>
              </a:tblPr>
              <a:tblGrid>
                <a:gridCol w="2000837"/>
                <a:gridCol w="2000837"/>
                <a:gridCol w="2000838"/>
              </a:tblGrid>
              <a:tr h="450000">
                <a:tc>
                  <a:txBody>
                    <a:bodyPr/>
                    <a:lstStyle/>
                    <a:p>
                      <a:r>
                        <a:rPr b="1" sz="1300">
                          <a:solidFill>
                            <a:srgbClr val="FFFFFF"/>
                          </a:solidFill>
                        </a:rPr>
                        <a:t>Adverse-selection</a:t>
                      </a:r>
                    </a:p>
                  </a:txBody>
                  <a:tcPr>
                    <a:solidFill>
                      <a:srgbClr val="1B5697"/>
                    </a:solidFill>
                  </a:tcPr>
                </a:tc>
                <a:tc>
                  <a:txBody>
                    <a:bodyPr/>
                    <a:lstStyle/>
                    <a:p>
                      <a:r>
                        <a:rPr b="1" sz="1300">
                          <a:solidFill>
                            <a:srgbClr val="FFFFFF"/>
                          </a:solidFill>
                        </a:rPr>
                        <a:t>Cumul. Reward</a:t>
                      </a:r>
                    </a:p>
                  </a:txBody>
                  <a:tcPr>
                    <a:solidFill>
                      <a:srgbClr val="1B5697"/>
                    </a:solidFill>
                  </a:tcPr>
                </a:tc>
                <a:tc>
                  <a:txBody>
                    <a:bodyPr/>
                    <a:lstStyle/>
                    <a:p>
                      <a:r>
                        <a:rPr b="1" sz="1300">
                          <a:solidFill>
                            <a:srgbClr val="FFFFFF"/>
                          </a:solidFill>
                        </a:rPr>
                        <a:t>Δ vs baseline</a:t>
                      </a:r>
                    </a:p>
                  </a:txBody>
                  <a:tcPr>
                    <a:solidFill>
                      <a:srgbClr val="1B5697"/>
                    </a:solidFill>
                  </a:tcPr>
                </a:tc>
              </a:tr>
              <a:tr h="450000">
                <a:tc>
                  <a:txBody>
                    <a:bodyPr/>
                    <a:lstStyle/>
                    <a:p>
                      <a:r>
                        <a:rPr sz="1300">
                          <a:solidFill>
                            <a:srgbClr val="262626"/>
                          </a:solidFill>
                        </a:rPr>
                        <a:t>0%  (none)</a:t>
                      </a:r>
                    </a:p>
                  </a:txBody>
                  <a:tcPr>
                    <a:solidFill>
                      <a:srgbClr val="E7F4E8"/>
                    </a:solidFill>
                  </a:tcPr>
                </a:tc>
                <a:tc>
                  <a:txBody>
                    <a:bodyPr/>
                    <a:lstStyle/>
                    <a:p>
                      <a:r>
                        <a:rPr sz="1300">
                          <a:solidFill>
                            <a:srgbClr val="262626"/>
                          </a:solidFill>
                        </a:rPr>
                        <a:t>$90,540</a:t>
                      </a:r>
                    </a:p>
                  </a:txBody>
                  <a:tcPr>
                    <a:solidFill>
                      <a:srgbClr val="E7F4E8"/>
                    </a:solidFill>
                  </a:tcPr>
                </a:tc>
                <a:tc>
                  <a:txBody>
                    <a:bodyPr/>
                    <a:lstStyle/>
                    <a:p>
                      <a:r>
                        <a:rPr sz="1300">
                          <a:solidFill>
                            <a:srgbClr val="262626"/>
                          </a:solidFill>
                        </a:rPr>
                        <a:t>+0%</a:t>
                      </a:r>
                    </a:p>
                  </a:txBody>
                  <a:tcPr>
                    <a:solidFill>
                      <a:srgbClr val="E7F4E8"/>
                    </a:solidFill>
                  </a:tcPr>
                </a:tc>
              </a:tr>
              <a:tr h="450000">
                <a:tc>
                  <a:txBody>
                    <a:bodyPr/>
                    <a:lstStyle/>
                    <a:p>
                      <a:r>
                        <a:rPr sz="1300">
                          <a:solidFill>
                            <a:srgbClr val="262626"/>
                          </a:solidFill>
                        </a:rPr>
                        <a:t>5%  (low)</a:t>
                      </a:r>
                    </a:p>
                  </a:txBody>
                  <a:tcPr>
                    <a:solidFill>
                      <a:srgbClr val="F3F6FB"/>
                    </a:solidFill>
                  </a:tcPr>
                </a:tc>
                <a:tc>
                  <a:txBody>
                    <a:bodyPr/>
                    <a:lstStyle/>
                    <a:p>
                      <a:r>
                        <a:rPr sz="1300">
                          <a:solidFill>
                            <a:srgbClr val="262626"/>
                          </a:solidFill>
                        </a:rPr>
                        <a:t>$88,612</a:t>
                      </a:r>
                    </a:p>
                  </a:txBody>
                  <a:tcPr>
                    <a:solidFill>
                      <a:srgbClr val="F3F6FB"/>
                    </a:solidFill>
                  </a:tcPr>
                </a:tc>
                <a:tc>
                  <a:txBody>
                    <a:bodyPr/>
                    <a:lstStyle/>
                    <a:p>
                      <a:r>
                        <a:rPr sz="1300">
                          <a:solidFill>
                            <a:srgbClr val="262626"/>
                          </a:solidFill>
                        </a:rPr>
                        <a:t>−2.1%</a:t>
                      </a:r>
                    </a:p>
                  </a:txBody>
                  <a:tcPr>
                    <a:solidFill>
                      <a:srgbClr val="F3F6FB"/>
                    </a:solidFill>
                  </a:tcPr>
                </a:tc>
              </a:tr>
              <a:tr h="450000">
                <a:tc>
                  <a:txBody>
                    <a:bodyPr/>
                    <a:lstStyle/>
                    <a:p>
                      <a:r>
                        <a:rPr sz="1300">
                          <a:solidFill>
                            <a:srgbClr val="262626"/>
                          </a:solidFill>
                        </a:rPr>
                        <a:t>10% (moderate)</a:t>
                      </a:r>
                    </a:p>
                  </a:txBody>
                  <a:tcPr>
                    <a:solidFill>
                      <a:srgbClr val="F3F6FB"/>
                    </a:solidFill>
                  </a:tcPr>
                </a:tc>
                <a:tc>
                  <a:txBody>
                    <a:bodyPr/>
                    <a:lstStyle/>
                    <a:p>
                      <a:r>
                        <a:rPr sz="1300">
                          <a:solidFill>
                            <a:srgbClr val="262626"/>
                          </a:solidFill>
                        </a:rPr>
                        <a:t>$85,933</a:t>
                      </a:r>
                    </a:p>
                  </a:txBody>
                  <a:tcPr>
                    <a:solidFill>
                      <a:srgbClr val="F3F6FB"/>
                    </a:solidFill>
                  </a:tcPr>
                </a:tc>
                <a:tc>
                  <a:txBody>
                    <a:bodyPr/>
                    <a:lstStyle/>
                    <a:p>
                      <a:r>
                        <a:rPr sz="1300">
                          <a:solidFill>
                            <a:srgbClr val="262626"/>
                          </a:solidFill>
                        </a:rPr>
                        <a:t>−5.1%</a:t>
                      </a:r>
                    </a:p>
                  </a:txBody>
                  <a:tcPr>
                    <a:solidFill>
                      <a:srgbClr val="F3F6FB"/>
                    </a:solidFill>
                  </a:tcPr>
                </a:tc>
              </a:tr>
              <a:tr h="450000">
                <a:tc>
                  <a:txBody>
                    <a:bodyPr/>
                    <a:lstStyle/>
                    <a:p>
                      <a:r>
                        <a:rPr sz="1300">
                          <a:solidFill>
                            <a:srgbClr val="262626"/>
                          </a:solidFill>
                        </a:rPr>
                        <a:t>20% (high)</a:t>
                      </a:r>
                    </a:p>
                  </a:txBody>
                  <a:tcPr>
                    <a:solidFill>
                      <a:srgbClr val="F3F6FB"/>
                    </a:solidFill>
                  </a:tcPr>
                </a:tc>
                <a:tc>
                  <a:txBody>
                    <a:bodyPr/>
                    <a:lstStyle/>
                    <a:p>
                      <a:r>
                        <a:rPr sz="1300">
                          <a:solidFill>
                            <a:srgbClr val="262626"/>
                          </a:solidFill>
                        </a:rPr>
                        <a:t>$79,847</a:t>
                      </a:r>
                    </a:p>
                  </a:txBody>
                  <a:tcPr>
                    <a:solidFill>
                      <a:srgbClr val="F3F6FB"/>
                    </a:solidFill>
                  </a:tcPr>
                </a:tc>
                <a:tc>
                  <a:txBody>
                    <a:bodyPr/>
                    <a:lstStyle/>
                    <a:p>
                      <a:r>
                        <a:rPr sz="1300">
                          <a:solidFill>
                            <a:srgbClr val="262626"/>
                          </a:solidFill>
                        </a:rPr>
                        <a:t>−11.8%</a:t>
                      </a:r>
                    </a:p>
                  </a:txBody>
                  <a:tcPr>
                    <a:solidFill>
                      <a:srgbClr val="F3F6FB"/>
                    </a:solidFill>
                  </a:tcPr>
                </a:tc>
              </a:tr>
              <a:tr h="450000">
                <a:tc>
                  <a:txBody>
                    <a:bodyPr/>
                    <a:lstStyle/>
                    <a:p>
                      <a:r>
                        <a:rPr sz="1300">
                          <a:solidFill>
                            <a:srgbClr val="262626"/>
                          </a:solidFill>
                        </a:rPr>
                        <a:t>30% (extreme)</a:t>
                      </a:r>
                    </a:p>
                  </a:txBody>
                  <a:tcPr>
                    <a:solidFill>
                      <a:srgbClr val="F3F6FB"/>
                    </a:solidFill>
                  </a:tcPr>
                </a:tc>
                <a:tc>
                  <a:txBody>
                    <a:bodyPr/>
                    <a:lstStyle/>
                    <a:p>
                      <a:r>
                        <a:rPr sz="1300">
                          <a:solidFill>
                            <a:srgbClr val="262626"/>
                          </a:solidFill>
                        </a:rPr>
                        <a:t>$73,201</a:t>
                      </a:r>
                    </a:p>
                  </a:txBody>
                  <a:tcPr>
                    <a:solidFill>
                      <a:srgbClr val="F3F6FB"/>
                    </a:solidFill>
                  </a:tcPr>
                </a:tc>
                <a:tc>
                  <a:txBody>
                    <a:bodyPr/>
                    <a:lstStyle/>
                    <a:p>
                      <a:r>
                        <a:rPr sz="1300">
                          <a:solidFill>
                            <a:srgbClr val="262626"/>
                          </a:solidFill>
                        </a:rPr>
                        <a:t>−19.2%</a:t>
                      </a:r>
                    </a:p>
                  </a:txBody>
                  <a:tcPr>
                    <a:solidFill>
                      <a:srgbClr val="F3F6FB"/>
                    </a:solidFill>
                  </a:tcPr>
                </a:tc>
              </a:tr>
            </a:tbl>
          </a:graphicData>
        </a:graphic>
      </p:graphicFrame>
      <p:sp>
        <p:nvSpPr>
          <p:cNvPr id="8" name="TextBox 7"/>
          <p:cNvSpPr txBox="1"/>
          <p:nvPr/>
        </p:nvSpPr>
        <p:spPr>
          <a:xfrm>
            <a:off x="5731982" y="1150000"/>
            <a:ext cx="6002512" cy="30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Adverse-selection rate sweep — LinUCB reward impact</a:t>
            </a:r>
          </a:p>
        </p:txBody>
      </p:sp>
      <p:sp>
        <p:nvSpPr>
          <p:cNvPr id="9" name="TextBox 8"/>
          <p:cNvSpPr txBox="1"/>
          <p:nvPr/>
        </p:nvSpPr>
        <p:spPr>
          <a:xfrm>
            <a:off x="457200" y="4050000"/>
            <a:ext cx="11277295" cy="250000"/>
          </a:xfrm>
          <a:prstGeom prst="rect">
            <a:avLst/>
          </a:prstGeom>
          <a:noFill/>
        </p:spPr>
        <p:txBody>
          <a:bodyPr wrap="square">
            <a:spAutoFit/>
          </a:bodyPr>
          <a:lstStyle/>
          <a:p>
            <a:pPr algn="l">
              <a:spcBef>
                <a:spcPts val="0"/>
              </a:spcBef>
              <a:spcAft>
                <a:spcPts val="0"/>
              </a:spcAft>
            </a:pPr>
            <a:r>
              <a:rPr sz="1300" b="1" i="0">
                <a:solidFill>
                  <a:srgbClr val="1B5697"/>
                </a:solidFill>
                <a:latin typeface="Calibri"/>
              </a:rPr>
              <a:t>Elasticity slope sweep — LinUCB vs Static XGB</a:t>
            </a:r>
          </a:p>
        </p:txBody>
      </p:sp>
      <p:graphicFrame>
        <p:nvGraphicFramePr>
          <p:cNvPr id="10" name="Table 9"/>
          <p:cNvGraphicFramePr>
            <a:graphicFrameLocks noGrp="1"/>
          </p:cNvGraphicFramePr>
          <p:nvPr/>
        </p:nvGraphicFramePr>
        <p:xfrm>
          <a:off x="457200" y="4300000"/>
          <a:ext cx="11277295" cy="158000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263333">
                <a:tc>
                  <a:txBody>
                    <a:bodyPr/>
                    <a:lstStyle/>
                    <a:p>
                      <a:r>
                        <a:rPr b="1" sz="1200">
                          <a:solidFill>
                            <a:srgbClr val="FFFFFF"/>
                          </a:solidFill>
                        </a:rPr>
                        <a:t>Elasticity Slope</a:t>
                      </a:r>
                    </a:p>
                  </a:txBody>
                  <a:tcPr>
                    <a:solidFill>
                      <a:srgbClr val="1B5697"/>
                    </a:solidFill>
                  </a:tcPr>
                </a:tc>
                <a:tc>
                  <a:txBody>
                    <a:bodyPr/>
                    <a:lstStyle/>
                    <a:p>
                      <a:r>
                        <a:rPr b="1" sz="1200">
                          <a:solidFill>
                            <a:srgbClr val="FFFFFF"/>
                          </a:solidFill>
                        </a:rPr>
                        <a:t>LinUCB Reward</a:t>
                      </a:r>
                    </a:p>
                  </a:txBody>
                  <a:tcPr>
                    <a:solidFill>
                      <a:srgbClr val="1B5697"/>
                    </a:solidFill>
                  </a:tcPr>
                </a:tc>
                <a:tc>
                  <a:txBody>
                    <a:bodyPr/>
                    <a:lstStyle/>
                    <a:p>
                      <a:r>
                        <a:rPr b="1" sz="1200">
                          <a:solidFill>
                            <a:srgbClr val="FFFFFF"/>
                          </a:solidFill>
                        </a:rPr>
                        <a:t>Static XGB Reward</a:t>
                      </a:r>
                    </a:p>
                  </a:txBody>
                  <a:tcPr>
                    <a:solidFill>
                      <a:srgbClr val="1B5697"/>
                    </a:solidFill>
                  </a:tcPr>
                </a:tc>
                <a:tc>
                  <a:txBody>
                    <a:bodyPr/>
                    <a:lstStyle/>
                    <a:p>
                      <a:r>
                        <a:rPr b="1" sz="1200">
                          <a:solidFill>
                            <a:srgbClr val="FFFFFF"/>
                          </a:solidFill>
                        </a:rPr>
                        <a:t>Difference</a:t>
                      </a:r>
                    </a:p>
                  </a:txBody>
                  <a:tcPr>
                    <a:solidFill>
                      <a:srgbClr val="1B5697"/>
                    </a:solidFill>
                  </a:tcPr>
                </a:tc>
                <a:tc>
                  <a:txBody>
                    <a:bodyPr/>
                    <a:lstStyle/>
                    <a:p>
                      <a:r>
                        <a:rPr b="1" sz="1200">
                          <a:solidFill>
                            <a:srgbClr val="FFFFFF"/>
                          </a:solidFill>
                        </a:rPr>
                        <a:t>% Gain</a:t>
                      </a:r>
                    </a:p>
                  </a:txBody>
                  <a:tcPr>
                    <a:solidFill>
                      <a:srgbClr val="1B5697"/>
                    </a:solidFill>
                  </a:tcPr>
                </a:tc>
              </a:tr>
              <a:tr h="263333">
                <a:tc>
                  <a:txBody>
                    <a:bodyPr/>
                    <a:lstStyle/>
                    <a:p>
                      <a:r>
                        <a:rPr sz="1200" b="0">
                          <a:solidFill>
                            <a:srgbClr val="262626"/>
                          </a:solidFill>
                        </a:rPr>
                        <a:t>1.5</a:t>
                      </a:r>
                    </a:p>
                  </a:txBody>
                  <a:tcPr>
                    <a:solidFill>
                      <a:srgbClr val="F3F6FB"/>
                    </a:solidFill>
                  </a:tcPr>
                </a:tc>
                <a:tc>
                  <a:txBody>
                    <a:bodyPr/>
                    <a:lstStyle/>
                    <a:p>
                      <a:r>
                        <a:rPr sz="1200" b="0">
                          <a:solidFill>
                            <a:srgbClr val="262626"/>
                          </a:solidFill>
                        </a:rPr>
                        <a:t>$61,204</a:t>
                      </a:r>
                    </a:p>
                  </a:txBody>
                  <a:tcPr>
                    <a:solidFill>
                      <a:srgbClr val="F3F6FB"/>
                    </a:solidFill>
                  </a:tcPr>
                </a:tc>
                <a:tc>
                  <a:txBody>
                    <a:bodyPr/>
                    <a:lstStyle/>
                    <a:p>
                      <a:r>
                        <a:rPr sz="1200" b="0">
                          <a:solidFill>
                            <a:srgbClr val="262626"/>
                          </a:solidFill>
                        </a:rPr>
                        <a:t>$49,817</a:t>
                      </a:r>
                    </a:p>
                  </a:txBody>
                  <a:tcPr>
                    <a:solidFill>
                      <a:srgbClr val="F3F6FB"/>
                    </a:solidFill>
                  </a:tcPr>
                </a:tc>
                <a:tc>
                  <a:txBody>
                    <a:bodyPr/>
                    <a:lstStyle/>
                    <a:p>
                      <a:r>
                        <a:rPr sz="1200" b="0">
                          <a:solidFill>
                            <a:srgbClr val="262626"/>
                          </a:solidFill>
                        </a:rPr>
                        <a:t>+$11,387</a:t>
                      </a:r>
                    </a:p>
                  </a:txBody>
                  <a:tcPr>
                    <a:solidFill>
                      <a:srgbClr val="F3F6FB"/>
                    </a:solidFill>
                  </a:tcPr>
                </a:tc>
                <a:tc>
                  <a:txBody>
                    <a:bodyPr/>
                    <a:lstStyle/>
                    <a:p>
                      <a:r>
                        <a:rPr sz="1200" b="0">
                          <a:solidFill>
                            <a:srgbClr val="262626"/>
                          </a:solidFill>
                        </a:rPr>
                        <a:t>+22.8%</a:t>
                      </a:r>
                    </a:p>
                  </a:txBody>
                  <a:tcPr>
                    <a:solidFill>
                      <a:srgbClr val="F3F6FB"/>
                    </a:solidFill>
                  </a:tcPr>
                </a:tc>
              </a:tr>
              <a:tr h="263333">
                <a:tc>
                  <a:txBody>
                    <a:bodyPr/>
                    <a:lstStyle/>
                    <a:p>
                      <a:r>
                        <a:rPr sz="1200" b="0">
                          <a:solidFill>
                            <a:srgbClr val="262626"/>
                          </a:solidFill>
                        </a:rPr>
                        <a:t>2.5</a:t>
                      </a:r>
                    </a:p>
                  </a:txBody>
                  <a:tcPr>
                    <a:solidFill>
                      <a:srgbClr val="F3F6FB"/>
                    </a:solidFill>
                  </a:tcPr>
                </a:tc>
                <a:tc>
                  <a:txBody>
                    <a:bodyPr/>
                    <a:lstStyle/>
                    <a:p>
                      <a:r>
                        <a:rPr sz="1200" b="0">
                          <a:solidFill>
                            <a:srgbClr val="262626"/>
                          </a:solidFill>
                        </a:rPr>
                        <a:t>$75,892</a:t>
                      </a:r>
                    </a:p>
                  </a:txBody>
                  <a:tcPr>
                    <a:solidFill>
                      <a:srgbClr val="F3F6FB"/>
                    </a:solidFill>
                  </a:tcPr>
                </a:tc>
                <a:tc>
                  <a:txBody>
                    <a:bodyPr/>
                    <a:lstStyle/>
                    <a:p>
                      <a:r>
                        <a:rPr sz="1200" b="0">
                          <a:solidFill>
                            <a:srgbClr val="262626"/>
                          </a:solidFill>
                        </a:rPr>
                        <a:t>$60,943</a:t>
                      </a:r>
                    </a:p>
                  </a:txBody>
                  <a:tcPr>
                    <a:solidFill>
                      <a:srgbClr val="F3F6FB"/>
                    </a:solidFill>
                  </a:tcPr>
                </a:tc>
                <a:tc>
                  <a:txBody>
                    <a:bodyPr/>
                    <a:lstStyle/>
                    <a:p>
                      <a:r>
                        <a:rPr sz="1200" b="0">
                          <a:solidFill>
                            <a:srgbClr val="262626"/>
                          </a:solidFill>
                        </a:rPr>
                        <a:t>+$14,949</a:t>
                      </a:r>
                    </a:p>
                  </a:txBody>
                  <a:tcPr>
                    <a:solidFill>
                      <a:srgbClr val="F3F6FB"/>
                    </a:solidFill>
                  </a:tcPr>
                </a:tc>
                <a:tc>
                  <a:txBody>
                    <a:bodyPr/>
                    <a:lstStyle/>
                    <a:p>
                      <a:r>
                        <a:rPr sz="1200" b="0">
                          <a:solidFill>
                            <a:srgbClr val="262626"/>
                          </a:solidFill>
                        </a:rPr>
                        <a:t>+24.5%</a:t>
                      </a:r>
                    </a:p>
                  </a:txBody>
                  <a:tcPr>
                    <a:solidFill>
                      <a:srgbClr val="F3F6FB"/>
                    </a:solidFill>
                  </a:tcPr>
                </a:tc>
              </a:tr>
              <a:tr h="263333">
                <a:tc>
                  <a:txBody>
                    <a:bodyPr/>
                    <a:lstStyle/>
                    <a:p>
                      <a:r>
                        <a:rPr sz="1200" b="1">
                          <a:solidFill>
                            <a:srgbClr val="2E8B57"/>
                          </a:solidFill>
                        </a:rPr>
                        <a:t>3.5 (default)</a:t>
                      </a:r>
                    </a:p>
                  </a:txBody>
                  <a:tcPr>
                    <a:solidFill>
                      <a:srgbClr val="E7F4E8"/>
                    </a:solidFill>
                  </a:tcPr>
                </a:tc>
                <a:tc>
                  <a:txBody>
                    <a:bodyPr/>
                    <a:lstStyle/>
                    <a:p>
                      <a:r>
                        <a:rPr sz="1200" b="1">
                          <a:solidFill>
                            <a:srgbClr val="2E8B57"/>
                          </a:solidFill>
                        </a:rPr>
                        <a:t>$90,540</a:t>
                      </a:r>
                    </a:p>
                  </a:txBody>
                  <a:tcPr>
                    <a:solidFill>
                      <a:srgbClr val="E7F4E8"/>
                    </a:solidFill>
                  </a:tcPr>
                </a:tc>
                <a:tc>
                  <a:txBody>
                    <a:bodyPr/>
                    <a:lstStyle/>
                    <a:p>
                      <a:r>
                        <a:rPr sz="1200" b="1">
                          <a:solidFill>
                            <a:srgbClr val="2E8B57"/>
                          </a:solidFill>
                        </a:rPr>
                        <a:t>$72,292</a:t>
                      </a:r>
                    </a:p>
                  </a:txBody>
                  <a:tcPr>
                    <a:solidFill>
                      <a:srgbClr val="E7F4E8"/>
                    </a:solidFill>
                  </a:tcPr>
                </a:tc>
                <a:tc>
                  <a:txBody>
                    <a:bodyPr/>
                    <a:lstStyle/>
                    <a:p>
                      <a:r>
                        <a:rPr sz="1200" b="1">
                          <a:solidFill>
                            <a:srgbClr val="2E8B57"/>
                          </a:solidFill>
                        </a:rPr>
                        <a:t>+$18,248</a:t>
                      </a:r>
                    </a:p>
                  </a:txBody>
                  <a:tcPr>
                    <a:solidFill>
                      <a:srgbClr val="E7F4E8"/>
                    </a:solidFill>
                  </a:tcPr>
                </a:tc>
                <a:tc>
                  <a:txBody>
                    <a:bodyPr/>
                    <a:lstStyle/>
                    <a:p>
                      <a:r>
                        <a:rPr sz="1200" b="1">
                          <a:solidFill>
                            <a:srgbClr val="2E8B57"/>
                          </a:solidFill>
                        </a:rPr>
                        <a:t>+25.2%</a:t>
                      </a:r>
                    </a:p>
                  </a:txBody>
                  <a:tcPr>
                    <a:solidFill>
                      <a:srgbClr val="E7F4E8"/>
                    </a:solidFill>
                  </a:tcPr>
                </a:tc>
              </a:tr>
              <a:tr h="263333">
                <a:tc>
                  <a:txBody>
                    <a:bodyPr/>
                    <a:lstStyle/>
                    <a:p>
                      <a:r>
                        <a:rPr sz="1200" b="0">
                          <a:solidFill>
                            <a:srgbClr val="262626"/>
                          </a:solidFill>
                        </a:rPr>
                        <a:t>4.5</a:t>
                      </a:r>
                    </a:p>
                  </a:txBody>
                  <a:tcPr>
                    <a:solidFill>
                      <a:srgbClr val="F3F6FB"/>
                    </a:solidFill>
                  </a:tcPr>
                </a:tc>
                <a:tc>
                  <a:txBody>
                    <a:bodyPr/>
                    <a:lstStyle/>
                    <a:p>
                      <a:r>
                        <a:rPr sz="1200" b="0">
                          <a:solidFill>
                            <a:srgbClr val="262626"/>
                          </a:solidFill>
                        </a:rPr>
                        <a:t>$105,183</a:t>
                      </a:r>
                    </a:p>
                  </a:txBody>
                  <a:tcPr>
                    <a:solidFill>
                      <a:srgbClr val="F3F6FB"/>
                    </a:solidFill>
                  </a:tcPr>
                </a:tc>
                <a:tc>
                  <a:txBody>
                    <a:bodyPr/>
                    <a:lstStyle/>
                    <a:p>
                      <a:r>
                        <a:rPr sz="1200" b="0">
                          <a:solidFill>
                            <a:srgbClr val="262626"/>
                          </a:solidFill>
                        </a:rPr>
                        <a:t>$83,641</a:t>
                      </a:r>
                    </a:p>
                  </a:txBody>
                  <a:tcPr>
                    <a:solidFill>
                      <a:srgbClr val="F3F6FB"/>
                    </a:solidFill>
                  </a:tcPr>
                </a:tc>
                <a:tc>
                  <a:txBody>
                    <a:bodyPr/>
                    <a:lstStyle/>
                    <a:p>
                      <a:r>
                        <a:rPr sz="1200" b="0">
                          <a:solidFill>
                            <a:srgbClr val="262626"/>
                          </a:solidFill>
                        </a:rPr>
                        <a:t>+$21,542</a:t>
                      </a:r>
                    </a:p>
                  </a:txBody>
                  <a:tcPr>
                    <a:solidFill>
                      <a:srgbClr val="F3F6FB"/>
                    </a:solidFill>
                  </a:tcPr>
                </a:tc>
                <a:tc>
                  <a:txBody>
                    <a:bodyPr/>
                    <a:lstStyle/>
                    <a:p>
                      <a:r>
                        <a:rPr sz="1200" b="0">
                          <a:solidFill>
                            <a:srgbClr val="262626"/>
                          </a:solidFill>
                        </a:rPr>
                        <a:t>+25.7%</a:t>
                      </a:r>
                    </a:p>
                  </a:txBody>
                  <a:tcPr>
                    <a:solidFill>
                      <a:srgbClr val="F3F6FB"/>
                    </a:solidFill>
                  </a:tcPr>
                </a:tc>
              </a:tr>
              <a:tr h="263335">
                <a:tc>
                  <a:txBody>
                    <a:bodyPr/>
                    <a:lstStyle/>
                    <a:p>
                      <a:r>
                        <a:rPr sz="1200" b="0">
                          <a:solidFill>
                            <a:srgbClr val="262626"/>
                          </a:solidFill>
                        </a:rPr>
                        <a:t>5.5</a:t>
                      </a:r>
                    </a:p>
                  </a:txBody>
                  <a:tcPr>
                    <a:solidFill>
                      <a:srgbClr val="F3F6FB"/>
                    </a:solidFill>
                  </a:tcPr>
                </a:tc>
                <a:tc>
                  <a:txBody>
                    <a:bodyPr/>
                    <a:lstStyle/>
                    <a:p>
                      <a:r>
                        <a:rPr sz="1200" b="0">
                          <a:solidFill>
                            <a:srgbClr val="262626"/>
                          </a:solidFill>
                        </a:rPr>
                        <a:t>$119,827</a:t>
                      </a:r>
                    </a:p>
                  </a:txBody>
                  <a:tcPr>
                    <a:solidFill>
                      <a:srgbClr val="F3F6FB"/>
                    </a:solidFill>
                  </a:tcPr>
                </a:tc>
                <a:tc>
                  <a:txBody>
                    <a:bodyPr/>
                    <a:lstStyle/>
                    <a:p>
                      <a:r>
                        <a:rPr sz="1200" b="0">
                          <a:solidFill>
                            <a:srgbClr val="262626"/>
                          </a:solidFill>
                        </a:rPr>
                        <a:t>$95,012</a:t>
                      </a:r>
                    </a:p>
                  </a:txBody>
                  <a:tcPr>
                    <a:solidFill>
                      <a:srgbClr val="F3F6FB"/>
                    </a:solidFill>
                  </a:tcPr>
                </a:tc>
                <a:tc>
                  <a:txBody>
                    <a:bodyPr/>
                    <a:lstStyle/>
                    <a:p>
                      <a:r>
                        <a:rPr sz="1200" b="0">
                          <a:solidFill>
                            <a:srgbClr val="262626"/>
                          </a:solidFill>
                        </a:rPr>
                        <a:t>+$24,815</a:t>
                      </a:r>
                    </a:p>
                  </a:txBody>
                  <a:tcPr>
                    <a:solidFill>
                      <a:srgbClr val="F3F6FB"/>
                    </a:solidFill>
                  </a:tcPr>
                </a:tc>
                <a:tc>
                  <a:txBody>
                    <a:bodyPr/>
                    <a:lstStyle/>
                    <a:p>
                      <a:r>
                        <a:rPr sz="1200" b="0">
                          <a:solidFill>
                            <a:srgbClr val="262626"/>
                          </a:solidFill>
                        </a:rPr>
                        <a:t>+26.1%</a:t>
                      </a:r>
                    </a:p>
                  </a:txBody>
                  <a:tcPr>
                    <a:solidFill>
                      <a:srgbClr val="F3F6FB"/>
                    </a:solidFill>
                  </a:tcPr>
                </a:tc>
              </a:tr>
            </a:tbl>
          </a:graphicData>
        </a:graphic>
      </p:graphicFrame>
      <p:sp>
        <p:nvSpPr>
          <p:cNvPr id="11" name="Rectangle 10"/>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3" name="Rectangle 12"/>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15" name="Rectangle 14"/>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A5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1277295" cy="566928"/>
          </a:xfrm>
          <a:prstGeom prst="rect">
            <a:avLst/>
          </a:prstGeom>
          <a:noFill/>
        </p:spPr>
        <p:txBody>
          <a:bodyPr wrap="square">
            <a:spAutoFit/>
          </a:bodyPr>
          <a:lstStyle/>
          <a:p>
            <a:pPr algn="ctr">
              <a:spcBef>
                <a:spcPts val="0"/>
              </a:spcBef>
              <a:spcAft>
                <a:spcPts val="0"/>
              </a:spcAft>
            </a:pPr>
            <a:r>
              <a:rPr sz="2600" b="1" i="0">
                <a:solidFill>
                  <a:srgbClr val="1B5697"/>
                </a:solidFill>
                <a:latin typeface="Segoe UI"/>
              </a:rPr>
              <a:t>A6: WHY A BANDIT HAS NO TRAIN/TEST SPLIT</a:t>
            </a:r>
          </a:p>
        </p:txBody>
      </p:sp>
      <p:sp>
        <p:nvSpPr>
          <p:cNvPr id="4" name="Rectangle 3"/>
          <p:cNvSpPr/>
          <p:nvPr/>
        </p:nvSpPr>
        <p:spPr>
          <a:xfrm>
            <a:off x="4900000" y="969696"/>
            <a:ext cx="2391695" cy="36576"/>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10000"/>
            <a:ext cx="11277295" cy="480000"/>
          </a:xfrm>
          <a:prstGeom prst="rect">
            <a:avLst/>
          </a:prstGeom>
          <a:noFill/>
        </p:spPr>
        <p:txBody>
          <a:bodyPr wrap="square">
            <a:spAutoFit/>
          </a:bodyPr>
          <a:lstStyle/>
          <a:p>
            <a:pPr algn="l">
              <a:spcBef>
                <a:spcPts val="0"/>
              </a:spcBef>
              <a:spcAft>
                <a:spcPts val="0"/>
              </a:spcAft>
            </a:pPr>
            <a:r>
              <a:rPr sz="1300" b="0" i="1">
                <a:solidFill>
                  <a:srgbClr val="505050"/>
                </a:solidFill>
                <a:latin typeface="Calibri"/>
              </a:rPr>
              <a:t>A contextual bandit learns online — there is no train/test split. Here is what that means, and how generalisation is measured instead.</a:t>
            </a:r>
          </a:p>
        </p:txBody>
      </p:sp>
      <p:sp>
        <p:nvSpPr>
          <p:cNvPr id="6" name="Rectangle 5"/>
          <p:cNvSpPr/>
          <p:nvPr/>
        </p:nvSpPr>
        <p:spPr>
          <a:xfrm>
            <a:off x="457200" y="1680000"/>
            <a:ext cx="5488647" cy="2640000"/>
          </a:xfrm>
          <a:prstGeom prst="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7200"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Supervised ML  (e.g. Static XGB incumbent)</a:t>
            </a:r>
          </a:p>
        </p:txBody>
      </p:sp>
      <p:sp>
        <p:nvSpPr>
          <p:cNvPr id="9" name="TextBox 8"/>
          <p:cNvSpPr txBox="1"/>
          <p:nvPr/>
        </p:nvSpPr>
        <p:spPr>
          <a:xfrm>
            <a:off x="607200"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Split data: train / validation / test</a:t>
            </a:r>
          </a:p>
          <a:p>
            <a:pPr algn="l">
              <a:spcBef>
                <a:spcPts val="400"/>
              </a:spcBef>
            </a:pPr>
            <a:r>
              <a:rPr sz="1300" b="0" i="0">
                <a:solidFill>
                  <a:srgbClr val="505050"/>
                </a:solidFill>
                <a:latin typeface="Calibri"/>
              </a:rPr>
              <a:t>Fit once on the training set</a:t>
            </a:r>
          </a:p>
          <a:p>
            <a:pPr algn="l">
              <a:spcBef>
                <a:spcPts val="400"/>
              </a:spcBef>
            </a:pPr>
            <a:r>
              <a:rPr sz="1300" b="0" i="0">
                <a:solidFill>
                  <a:srgbClr val="505050"/>
                </a:solidFill>
                <a:latin typeface="Calibri"/>
              </a:rPr>
              <a:t>Freeze the weights; deploy unchanged</a:t>
            </a:r>
          </a:p>
          <a:p>
            <a:pPr algn="l">
              <a:spcBef>
                <a:spcPts val="400"/>
              </a:spcBef>
            </a:pPr>
            <a:r>
              <a:rPr sz="1300" b="0" i="0">
                <a:solidFill>
                  <a:srgbClr val="505050"/>
                </a:solidFill>
                <a:latin typeface="Calibri"/>
              </a:rPr>
              <a:t>Generalisation = score on a held-out test set</a:t>
            </a:r>
          </a:p>
        </p:txBody>
      </p:sp>
      <p:sp>
        <p:nvSpPr>
          <p:cNvPr id="10" name="Rectangle 9"/>
          <p:cNvSpPr/>
          <p:nvPr/>
        </p:nvSpPr>
        <p:spPr>
          <a:xfrm>
            <a:off x="6245847" y="1680000"/>
            <a:ext cx="5488647" cy="2640000"/>
          </a:xfrm>
          <a:prstGeom prst="rect">
            <a:avLst/>
          </a:prstGeom>
          <a:solidFill>
            <a:srgbClr val="D4E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847" y="1680000"/>
            <a:ext cx="91440" cy="2640000"/>
          </a:xfrm>
          <a:prstGeom prst="rect">
            <a:avLst/>
          </a:prstGeom>
          <a:solidFill>
            <a:srgbClr val="1B56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5847" y="1800000"/>
            <a:ext cx="5308647" cy="380000"/>
          </a:xfrm>
          <a:prstGeom prst="rect">
            <a:avLst/>
          </a:prstGeom>
          <a:noFill/>
        </p:spPr>
        <p:txBody>
          <a:bodyPr wrap="square">
            <a:spAutoFit/>
          </a:bodyPr>
          <a:lstStyle/>
          <a:p>
            <a:pPr algn="l">
              <a:spcBef>
                <a:spcPts val="0"/>
              </a:spcBef>
              <a:spcAft>
                <a:spcPts val="0"/>
              </a:spcAft>
            </a:pPr>
            <a:r>
              <a:rPr sz="1400" b="1" i="0">
                <a:solidFill>
                  <a:srgbClr val="1B5697"/>
                </a:solidFill>
                <a:latin typeface="Segoe UI"/>
              </a:rPr>
              <a:t>Contextual bandit  (LinUCB / LinTS)</a:t>
            </a:r>
          </a:p>
        </p:txBody>
      </p:sp>
      <p:sp>
        <p:nvSpPr>
          <p:cNvPr id="13" name="TextBox 12"/>
          <p:cNvSpPr txBox="1"/>
          <p:nvPr/>
        </p:nvSpPr>
        <p:spPr>
          <a:xfrm>
            <a:off x="6395847" y="2220000"/>
            <a:ext cx="5308647" cy="2000000"/>
          </a:xfrm>
          <a:prstGeom prst="rect">
            <a:avLst/>
          </a:prstGeom>
          <a:noFill/>
        </p:spPr>
        <p:txBody>
          <a:bodyPr wrap="square">
            <a:spAutoFit/>
          </a:bodyPr>
          <a:lstStyle/>
          <a:p>
            <a:pPr algn="l">
              <a:spcBef>
                <a:spcPts val="0"/>
              </a:spcBef>
              <a:spcAft>
                <a:spcPts val="0"/>
              </a:spcAft>
            </a:pPr>
            <a:r>
              <a:rPr sz="1300" b="0" i="0">
                <a:solidFill>
                  <a:srgbClr val="505050"/>
                </a:solidFill>
                <a:latin typeface="Calibri"/>
              </a:rPr>
              <a:t>No split — meets applicants one at a time</a:t>
            </a:r>
          </a:p>
          <a:p>
            <a:pPr algn="l">
              <a:spcBef>
                <a:spcPts val="400"/>
              </a:spcBef>
            </a:pPr>
            <a:r>
              <a:rPr sz="1300" b="0" i="0">
                <a:solidFill>
                  <a:srgbClr val="505050"/>
                </a:solidFill>
                <a:latin typeface="Calibri"/>
              </a:rPr>
              <a:t>Each round: select arm → observe reward → update</a:t>
            </a:r>
          </a:p>
          <a:p>
            <a:pPr algn="l">
              <a:spcBef>
                <a:spcPts val="400"/>
              </a:spcBef>
            </a:pPr>
            <a:r>
              <a:rPr sz="1300" b="0" i="0">
                <a:solidFill>
                  <a:srgbClr val="505050"/>
                </a:solidFill>
                <a:latin typeface="Calibri"/>
              </a:rPr>
              <a:t>Every round is BOTH ‘train’ and ‘test’</a:t>
            </a:r>
          </a:p>
          <a:p>
            <a:pPr algn="l">
              <a:spcBef>
                <a:spcPts val="400"/>
              </a:spcBef>
            </a:pPr>
            <a:r>
              <a:rPr sz="1300" b="0" i="0">
                <a:solidFill>
                  <a:srgbClr val="505050"/>
                </a:solidFill>
                <a:latin typeface="Calibri"/>
              </a:rPr>
              <a:t>Ridge prior λ = 1.0 regularises online — no static fit to overfit</a:t>
            </a:r>
          </a:p>
        </p:txBody>
      </p:sp>
      <p:sp>
        <p:nvSpPr>
          <p:cNvPr id="14" name="Rectangle 13"/>
          <p:cNvSpPr/>
          <p:nvPr/>
        </p:nvSpPr>
        <p:spPr>
          <a:xfrm>
            <a:off x="457200" y="4400000"/>
            <a:ext cx="11277295" cy="1700000"/>
          </a:xfrm>
          <a:prstGeom prst="rect">
            <a:avLst/>
          </a:prstGeom>
          <a:solidFill>
            <a:srgbClr val="E7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400000"/>
            <a:ext cx="91440" cy="1700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200" y="4510000"/>
            <a:ext cx="10917295" cy="1570000"/>
          </a:xfrm>
          <a:prstGeom prst="rect">
            <a:avLst/>
          </a:prstGeom>
          <a:noFill/>
        </p:spPr>
        <p:txBody>
          <a:bodyPr wrap="square">
            <a:spAutoFit/>
          </a:bodyPr>
          <a:lstStyle/>
          <a:p>
            <a:pPr algn="l">
              <a:spcBef>
                <a:spcPts val="0"/>
              </a:spcBef>
              <a:spcAft>
                <a:spcPts val="0"/>
              </a:spcAft>
            </a:pPr>
            <a:r>
              <a:rPr sz="1400" b="1" i="0">
                <a:solidFill>
                  <a:srgbClr val="2E8B57"/>
                </a:solidFill>
                <a:latin typeface="Calibri"/>
              </a:rPr>
              <a:t>HOW WE EVALUATE INSTEAD — generalisation without a holdout</a:t>
            </a:r>
          </a:p>
          <a:p>
            <a:pPr algn="l">
              <a:spcBef>
                <a:spcPts val="800"/>
              </a:spcBef>
            </a:pPr>
            <a:r>
              <a:rPr sz="1300" b="0" i="0">
                <a:solidFill>
                  <a:srgbClr val="262626"/>
                </a:solidFill>
                <a:latin typeface="Calibri"/>
              </a:rPr>
              <a:t>• Performance = cumulative regret vs the Oracle, averaged over 20 independent random seeds — the seeds play the role of the held-out test set.</a:t>
            </a:r>
          </a:p>
          <a:p>
            <a:pPr algn="l">
              <a:spcBef>
                <a:spcPts val="500"/>
              </a:spcBef>
            </a:pPr>
            <a:r>
              <a:rPr sz="1300" b="0" i="0">
                <a:solidFill>
                  <a:srgbClr val="262626"/>
                </a:solidFill>
                <a:latin typeface="Calibri"/>
              </a:rPr>
              <a:t>• Pre-registered pass criteria + fixed seeds → fully reproducible; no test-set leakage is possible because there is no test set to leak.</a:t>
            </a:r>
          </a:p>
          <a:p>
            <a:pPr algn="l">
              <a:spcBef>
                <a:spcPts val="500"/>
              </a:spcBef>
            </a:pPr>
            <a:r>
              <a:rPr sz="1300" b="0" i="0">
                <a:solidFill>
                  <a:srgbClr val="262626"/>
                </a:solidFill>
                <a:latin typeface="Calibri"/>
              </a:rPr>
              <a:t>• The Static XGB incumbent IS fit offline and frozen — so the benchmark is fair: a supervised model at its best vs a bandit learning from scratch.</a:t>
            </a:r>
          </a:p>
        </p:txBody>
      </p:sp>
      <p:sp>
        <p:nvSpPr>
          <p:cNvPr id="17" name="Rectangle 16"/>
          <p:cNvSpPr/>
          <p:nvPr/>
        </p:nvSpPr>
        <p:spPr>
          <a:xfrm>
            <a:off x="0" y="6437376"/>
            <a:ext cx="3108960"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 y="6437376"/>
            <a:ext cx="2834640" cy="420624"/>
          </a:xfrm>
          <a:prstGeom prst="rect">
            <a:avLst/>
          </a:prstGeom>
          <a:noFill/>
        </p:spPr>
        <p:txBody>
          <a:bodyPr wrap="square">
            <a:spAutoFit/>
          </a:bodyPr>
          <a:lstStyle/>
          <a:p>
            <a:pPr algn="l">
              <a:spcBef>
                <a:spcPts val="0"/>
              </a:spcBef>
              <a:spcAft>
                <a:spcPts val="0"/>
              </a:spcAft>
            </a:pPr>
            <a:r>
              <a:rPr sz="900" b="1" i="0">
                <a:solidFill>
                  <a:srgbClr val="FFFFFF"/>
                </a:solidFill>
                <a:latin typeface="Calibri"/>
              </a:rPr>
              <a:t>DAC  ·  ITC-AMS</a:t>
            </a:r>
          </a:p>
        </p:txBody>
      </p:sp>
      <p:sp>
        <p:nvSpPr>
          <p:cNvPr id="19" name="Rectangle 18"/>
          <p:cNvSpPr/>
          <p:nvPr/>
        </p:nvSpPr>
        <p:spPr>
          <a:xfrm>
            <a:off x="3108960" y="6437376"/>
            <a:ext cx="6126480" cy="420624"/>
          </a:xfrm>
          <a:prstGeom prst="rect">
            <a:avLst/>
          </a:prstGeom>
          <a:solidFill>
            <a:srgbClr val="AFC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0" y="6437376"/>
            <a:ext cx="5943600" cy="420624"/>
          </a:xfrm>
          <a:prstGeom prst="rect">
            <a:avLst/>
          </a:prstGeom>
          <a:noFill/>
        </p:spPr>
        <p:txBody>
          <a:bodyPr wrap="square">
            <a:spAutoFit/>
          </a:bodyPr>
          <a:lstStyle/>
          <a:p>
            <a:pPr algn="ctr">
              <a:spcBef>
                <a:spcPts val="0"/>
              </a:spcBef>
              <a:spcAft>
                <a:spcPts val="0"/>
              </a:spcAft>
            </a:pPr>
            <a:r>
              <a:rPr sz="900" b="0" i="0">
                <a:solidFill>
                  <a:srgbClr val="1B5697"/>
                </a:solidFill>
                <a:latin typeface="Calibri"/>
              </a:rPr>
              <a:t>Appendix</a:t>
            </a:r>
          </a:p>
        </p:txBody>
      </p:sp>
      <p:sp>
        <p:nvSpPr>
          <p:cNvPr id="21" name="Rectangle 20"/>
          <p:cNvSpPr/>
          <p:nvPr/>
        </p:nvSpPr>
        <p:spPr>
          <a:xfrm>
            <a:off x="9235440" y="6437376"/>
            <a:ext cx="2956255" cy="420624"/>
          </a:xfrm>
          <a:prstGeom prst="rect">
            <a:avLst/>
          </a:prstGeom>
          <a:solidFill>
            <a:srgbClr val="14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437376"/>
            <a:ext cx="2743200" cy="420624"/>
          </a:xfrm>
          <a:prstGeom prst="rect">
            <a:avLst/>
          </a:prstGeom>
          <a:noFill/>
        </p:spPr>
        <p:txBody>
          <a:bodyPr wrap="square">
            <a:spAutoFit/>
          </a:bodyPr>
          <a:lstStyle/>
          <a:p>
            <a:pPr algn="r">
              <a:spcBef>
                <a:spcPts val="0"/>
              </a:spcBef>
              <a:spcAft>
                <a:spcPts val="0"/>
              </a:spcAft>
            </a:pPr>
            <a:r>
              <a:rPr sz="900" b="0" i="0">
                <a:solidFill>
                  <a:srgbClr val="FFFFFF"/>
                </a:solidFill>
                <a:latin typeface="Calibri"/>
              </a:rPr>
              <a:t>July 2026  ·  A6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