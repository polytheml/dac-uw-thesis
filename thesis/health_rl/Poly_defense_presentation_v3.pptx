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</a:rPr>
              <a:t>ADAPTIVE HEALTH INSURANCE UNDERWRITING</a:t>
            </a:r>
          </a:p>
          <a:p>
            <a:pPr algn="ctr">
              <a:spcBef>
                <a:spcPts val="600"/>
              </a:spcBef>
            </a:pPr>
            <a:r>
              <a:rPr sz="2400" b="1" i="0">
                <a:solidFill>
                  <a:srgbClr val="FFFFFF"/>
                </a:solidFill>
              </a:rPr>
              <a:t>VIA CONTEXTUAL BANDITS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1F3A6E"/>
                </a:solidFill>
              </a:rPr>
              <a:t>A Reinforcement Learning Approach for Cambodia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57200" y="2200000"/>
            <a:ext cx="7277295" cy="8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7200" y="2300000"/>
            <a:ext cx="69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A6E"/>
                </a:solidFill>
              </a:rPr>
              <a:t>LUN CHANPOLY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505050"/>
                </a:solidFill>
              </a:rPr>
              <a:t>ITC-AMS  ·  July 2026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505050"/>
                </a:solidFill>
              </a:rPr>
              <a:t>Supervisor: Dr. HAS Sothea  ·  DAC Advisor: Mr. ON Radet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0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05050"/>
                </a:solidFill>
              </a:rPr>
              <a:t>Decent Actuarial Consultants Co.,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–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0000"/>
            <a:ext cx="4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200" y="1400000"/>
            <a:ext cx="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7200" y="1400000"/>
            <a:ext cx="1067729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0000"/>
            <a:ext cx="4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2230000"/>
            <a:ext cx="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200" y="2230000"/>
            <a:ext cx="1067729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3A6E"/>
                </a:solidFill>
              </a:rPr>
              <a:t>Literature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60000"/>
            <a:ext cx="4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200" y="3060000"/>
            <a:ext cx="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200" y="3060000"/>
            <a:ext cx="1067729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3A6E"/>
                </a:solidFill>
              </a:rPr>
              <a:t>Methodology &amp; Model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90000"/>
            <a:ext cx="4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200" y="3890000"/>
            <a:ext cx="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200" y="3890000"/>
            <a:ext cx="1067729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3A6E"/>
                </a:solidFill>
              </a:rPr>
              <a:t>Results &amp;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0000"/>
            <a:ext cx="4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200" y="4720000"/>
            <a:ext cx="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200" y="4720000"/>
            <a:ext cx="1067729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3A6E"/>
                </a:solidFill>
              </a:rPr>
              <a:t>Conclusion &amp; Future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Contents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–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MEET SOPHEA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00000"/>
            <a:ext cx="5200000" cy="5257376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00000"/>
            <a:ext cx="91440" cy="52573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00" y="1240000"/>
            <a:ext cx="50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SOPHEA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00" y="1740000"/>
            <a:ext cx="50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04040"/>
                </a:solidFill>
              </a:rPr>
              <a:t>Age 42  ·  Kampong Cham Province  ·  Rice Farmer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00" y="2180000"/>
            <a:ext cx="4950000" cy="27432"/>
          </a:xfrm>
          <a:prstGeom prst="rect">
            <a:avLst/>
          </a:prstGeom>
          <a:solidFill>
            <a:srgbClr val="CB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00" y="2280000"/>
            <a:ext cx="5000000" cy="3957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 b="1">
                <a:solidFill>
                  <a:srgbClr val="1F3A6E"/>
                </a:solidFill>
              </a:rPr>
              <a:t>BMI:  </a:t>
            </a:r>
            <a:r>
              <a:rPr sz="1200">
                <a:solidFill>
                  <a:srgbClr val="505050"/>
                </a:solidFill>
              </a:rPr>
              <a:t>24.1  (Normal range)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F3A6E"/>
                </a:solidFill>
              </a:rPr>
              <a:t>Smoker:  </a:t>
            </a:r>
            <a:r>
              <a:rPr sz="1200">
                <a:solidFill>
                  <a:srgbClr val="505050"/>
                </a:solidFill>
              </a:rPr>
              <a:t>No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F3A6E"/>
                </a:solidFill>
              </a:rPr>
              <a:t>Physical Activity:  </a:t>
            </a:r>
            <a:r>
              <a:rPr sz="1200">
                <a:solidFill>
                  <a:srgbClr val="505050"/>
                </a:solidFill>
              </a:rPr>
              <a:t>High  (field farming)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F3A6E"/>
                </a:solidFill>
              </a:rPr>
              <a:t>Clinical Flag:  </a:t>
            </a:r>
            <a:r>
              <a:rPr sz="1200">
                <a:solidFill>
                  <a:srgbClr val="505050"/>
                </a:solidFill>
              </a:rPr>
              <a:t>Hypertension  (managed)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F3A6E"/>
                </a:solidFill>
              </a:rPr>
              <a:t>Wealth Index:  </a:t>
            </a:r>
            <a:r>
              <a:rPr sz="1200">
                <a:solidFill>
                  <a:srgbClr val="505050"/>
                </a:solidFill>
              </a:rPr>
              <a:t>Low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F3A6E"/>
                </a:solidFill>
              </a:rPr>
              <a:t>Education:  </a:t>
            </a:r>
            <a:r>
              <a:rPr sz="1200">
                <a:solidFill>
                  <a:srgbClr val="505050"/>
                </a:solidFill>
              </a:rPr>
              <a:t>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7200" y="1180000"/>
            <a:ext cx="6054495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05050"/>
                </a:solidFill>
              </a:rPr>
              <a:t>In 2023, Sophea walked into a private insurer in Phnom Penh and applied for voluntary health insurance.
The static underwriting system checked two fields.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7200" y="2650000"/>
            <a:ext cx="6054495" cy="55000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37200" y="2650000"/>
            <a:ext cx="73152" cy="550000"/>
          </a:xfrm>
          <a:prstGeom prst="rect">
            <a:avLst/>
          </a:prstGeom>
          <a:solidFill>
            <a:srgbClr val="F4A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7200" y="2780000"/>
            <a:ext cx="5894495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D4E00"/>
                </a:solidFill>
              </a:rPr>
              <a:t>OCCUPATION:  Agriculture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37200" y="3320000"/>
            <a:ext cx="6054495" cy="55000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37200" y="3320000"/>
            <a:ext cx="73152" cy="550000"/>
          </a:xfrm>
          <a:prstGeom prst="rect">
            <a:avLst/>
          </a:prstGeom>
          <a:solidFill>
            <a:srgbClr val="F4A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7200" y="3450000"/>
            <a:ext cx="5894495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D4E00"/>
                </a:solidFill>
              </a:rPr>
              <a:t>CONDITION:  Hypertension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7200" y="3950000"/>
            <a:ext cx="6054495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05050"/>
                </a:solidFill>
              </a:rPr>
              <a:t>Both thresholds crossed. System decision: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7200" y="4350000"/>
            <a:ext cx="6054495" cy="820000"/>
          </a:xfrm>
          <a:prstGeom prst="rect">
            <a:avLst/>
          </a:prstGeom>
          <a:solidFill>
            <a:srgbClr val="F8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37200" y="4350000"/>
            <a:ext cx="109728" cy="8200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7200" y="4510000"/>
            <a:ext cx="58544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02020"/>
                </a:solidFill>
              </a:rPr>
              <a:t>DECLINE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7200" y="5330000"/>
            <a:ext cx="60544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05050"/>
                </a:solidFill>
              </a:rPr>
              <a:t>Sophea leaves without coverage.</a:t>
            </a: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1F3A6E"/>
                </a:solidFill>
              </a:rPr>
              <a:t>Was that the right answer?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1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ABOUT DECENT ACTUARIAL CONSULTANTS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0000"/>
            <a:ext cx="5538647" cy="7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9144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7200" y="1320000"/>
            <a:ext cx="5358647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05050"/>
                </a:solidFill>
              </a:rPr>
              <a:t>Appointed Actuary Services — Life &amp; General Insurance, Southeast Asia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0000"/>
            <a:ext cx="5538647" cy="7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80000"/>
            <a:ext cx="9144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200" y="2100000"/>
            <a:ext cx="5358647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05050"/>
                </a:solidFill>
              </a:rPr>
              <a:t>IFRS 17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60000"/>
            <a:ext cx="5538647" cy="7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60000"/>
            <a:ext cx="9144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200" y="2880000"/>
            <a:ext cx="5358647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05050"/>
                </a:solidFill>
              </a:rPr>
              <a:t>Product Development — Life &amp; General Insurance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847" y="1200000"/>
            <a:ext cx="5538647" cy="7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5847" y="1200000"/>
            <a:ext cx="9144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847" y="1320000"/>
            <a:ext cx="5358647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05050"/>
                </a:solidFill>
              </a:rPr>
              <a:t>Asset–Liability Management &amp; Enterprise Risk Management (ALM/ERM)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5847" y="1980000"/>
            <a:ext cx="5538647" cy="7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5847" y="1980000"/>
            <a:ext cx="9144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847" y="2100000"/>
            <a:ext cx="5358647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05050"/>
                </a:solidFill>
              </a:rPr>
              <a:t>Mergers &amp; Acquisitions Advisory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847" y="2760000"/>
            <a:ext cx="5538647" cy="7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847" y="2760000"/>
            <a:ext cx="9144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847" y="2880000"/>
            <a:ext cx="5358647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05050"/>
                </a:solidFill>
              </a:rPr>
              <a:t>Education &amp; Cooperation — University partnerships, government-academia-industry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5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05050"/>
                </a:solidFill>
              </a:rPr>
              <a:t>HQ: Taipei, Taiwan  ·  Regional offices: Phnom Penh, Vietnam, SEA  ·  Internship: March–June 2026  ·  Advisor: Mr. ON Radet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2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CAMBODIA HEALTH INSURANCE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0000"/>
            <a:ext cx="3800000" cy="18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300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</a:rPr>
              <a:t>&lt; 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220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DCEE4"/>
                </a:solidFill>
              </a:rPr>
              <a:t>HEALTH-INSURANCE PENETRATION (2023 EST.)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000"/>
            <a:ext cx="40000" cy="4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200" y="3240000"/>
            <a:ext cx="4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NSSF covers formal-sector workers only (~16% of population)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80000"/>
            <a:ext cx="40000" cy="4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200" y="3820000"/>
            <a:ext cx="4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Private underwriting is manual and rule-based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60000"/>
            <a:ext cx="40000" cy="4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200" y="4400000"/>
            <a:ext cx="4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Agent networks consume 15–30% of premium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40000"/>
            <a:ext cx="40000" cy="4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200" y="4980000"/>
            <a:ext cx="4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No demographic-parity monitoring in practice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1200000"/>
            <a:ext cx="5200000" cy="38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0000" y="1200000"/>
            <a:ext cx="91440" cy="38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0000" y="130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</a:rPr>
              <a:t>ALIGNMENT WITH CAMBODIA'S SDGs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80000" y="1800000"/>
            <a:ext cx="9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0000" y="2000000"/>
            <a:ext cx="88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SDG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0000" y="1800000"/>
            <a:ext cx="2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A6E"/>
                </a:solidFill>
              </a:rPr>
              <a:t>Good Health &amp; Well-being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0000" y="2180000"/>
            <a:ext cx="2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05050"/>
                </a:solidFill>
              </a:rPr>
              <a:t>Widen voluntary health-insurance access beyond NSSF formal sector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0000" y="2900000"/>
            <a:ext cx="9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0000" y="3100000"/>
            <a:ext cx="88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SDG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0000" y="2900000"/>
            <a:ext cx="2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A6E"/>
                </a:solidFill>
              </a:rPr>
              <a:t>No Poverty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0000" y="3280000"/>
            <a:ext cx="2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05050"/>
                </a:solidFill>
              </a:rPr>
              <a:t>Shield households from catastrophic out-of-pocket health costs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0000" y="4000000"/>
            <a:ext cx="900000" cy="7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0000" y="4200000"/>
            <a:ext cx="88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SDG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0000" y="4000000"/>
            <a:ext cx="2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A6E"/>
                </a:solidFill>
              </a:rPr>
              <a:t>Reduced Inequalities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0000" y="4380000"/>
            <a:ext cx="2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05050"/>
                </a:solidFill>
              </a:rPr>
              <a:t>PSI fairness guardrail keeps underwriting demographically fair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0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6E"/>
                </a:solidFill>
              </a:rPr>
              <a:t>Sophea represents the 98% the current system was not built for.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3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0000"/>
            <a:ext cx="5538647" cy="21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91440" cy="21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7200" y="1320000"/>
            <a:ext cx="5358647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6E"/>
                </a:solidFill>
              </a:rPr>
              <a:t>Static 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1740000"/>
            <a:ext cx="5358647" cy="1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05050"/>
                </a:solidFill>
              </a:rPr>
              <a:t>Fixed cutoffs ignore applicant context — Sophea's BMI, activity, and non-smoking status are invisible to the rule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847" y="1200000"/>
            <a:ext cx="5538647" cy="21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5847" y="1200000"/>
            <a:ext cx="91440" cy="21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847" y="1320000"/>
            <a:ext cx="5358647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6E"/>
                </a:solidFill>
              </a:rPr>
              <a:t>No Online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847" y="1740000"/>
            <a:ext cx="5358647" cy="1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05050"/>
                </a:solidFill>
              </a:rPr>
              <a:t>Claims feedback never reaches the model — static weights do not update from observed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50000"/>
            <a:ext cx="5538647" cy="21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50000"/>
            <a:ext cx="91440" cy="21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200" y="3570000"/>
            <a:ext cx="5358647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6E"/>
                </a:solidFill>
              </a:rPr>
              <a:t>Demographic Blindspot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200" y="3990000"/>
            <a:ext cx="5358647" cy="1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05050"/>
                </a:solidFill>
              </a:rPr>
              <a:t>No parity metric is tracked — systematic patterns against rural or occupational groups emerge invisibly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5847" y="3450000"/>
            <a:ext cx="5538647" cy="2100000"/>
          </a:xfrm>
          <a:prstGeom prst="rect">
            <a:avLst/>
          </a:prstGeom>
          <a:solidFill>
            <a:srgbClr val="EF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5847" y="3450000"/>
            <a:ext cx="91440" cy="21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847" y="3570000"/>
            <a:ext cx="5358647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6E"/>
                </a:solidFill>
              </a:rPr>
              <a:t>No Intelligent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847" y="3990000"/>
            <a:ext cx="5358647" cy="1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05050"/>
                </a:solidFill>
              </a:rPr>
              <a:t>Human experts review routine cases instead of the borderline ones — like Sophea's — that need expert judgment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4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0000"/>
            <a:ext cx="500000" cy="105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200" y="1530000"/>
            <a:ext cx="3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00" y="1400000"/>
            <a:ext cx="1057729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Do contextual bandits achieve higher cumulative reward and lower regret than the Static XGBoost baseline over 5,000 rounds?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50000"/>
            <a:ext cx="500000" cy="105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200" y="2680000"/>
            <a:ext cx="3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00" y="2550000"/>
            <a:ext cx="1057729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Does the bandit framework maintain demographic fairness (regional and occupational approval-rate parity, PSI) without explicit fairness constraints?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00000"/>
            <a:ext cx="500000" cy="105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200" y="3830000"/>
            <a:ext cx="3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00" y="3700000"/>
            <a:ext cx="1057729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What is the relative performance ranking of LinTS, LinUCB, Epsilon-Greedy, and Static XGB?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50000"/>
            <a:ext cx="500000" cy="105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200" y="4980000"/>
            <a:ext cx="3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00" y="4850000"/>
            <a:ext cx="1057729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Is the framework technically feasible for deployment on low-resource mobile infrastructure (&lt;200 ms latency)?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5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A6E"/>
                </a:solidFill>
              </a:rPr>
              <a:t>PROJECT OBJECTIVES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0000" y="969696"/>
            <a:ext cx="2391695" cy="36576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50000"/>
            <a:ext cx="5488647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4B5"/>
                </a:solidFill>
              </a:rPr>
              <a:t>4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0000"/>
            <a:ext cx="300000" cy="8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200" y="183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200" y="1650000"/>
            <a:ext cx="503864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6E"/>
                </a:solidFill>
              </a:rPr>
              <a:t>Synthetic Cambodia Health Insurance Dataset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05050"/>
                </a:solidFill>
              </a:rPr>
              <a:t>2,000 applicants · CDHS/STEPS/ILO/WHO anchored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50000"/>
            <a:ext cx="300000" cy="8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200" y="283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00" y="2650000"/>
            <a:ext cx="503864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6E"/>
                </a:solidFill>
              </a:rPr>
              <a:t>Contextual Bandit Underwriting Engine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05050"/>
                </a:solidFill>
              </a:rPr>
              <a:t>LinUCB · LinTS · Epsilon-Greedy · &lt;200 ms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50000"/>
            <a:ext cx="300000" cy="8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200" y="383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00" y="3650000"/>
            <a:ext cx="503864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6E"/>
                </a:solidFill>
              </a:rPr>
              <a:t>Actuarial Reward Simulator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05050"/>
                </a:solidFill>
              </a:rPr>
              <a:t>Profit-based · adverse selection · elasticity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50000"/>
            <a:ext cx="300000" cy="8000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200" y="483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200" y="4650000"/>
            <a:ext cx="503864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6E"/>
                </a:solidFill>
              </a:rPr>
              <a:t>PSI Fairness Monitoring Framework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05050"/>
                </a:solidFill>
              </a:rPr>
              <a:t>GREEN/AMBER/RED alerts · region + occupation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847" y="1150000"/>
            <a:ext cx="5488647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4B5"/>
                </a:solidFill>
              </a:rPr>
              <a:t>5 SECONDARY 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847" y="1550000"/>
            <a:ext cx="300000" cy="75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5847" y="181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5847" y="1700000"/>
            <a:ext cx="5068647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2,000-record CDHS-anchored synthetic dataset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847" y="2500000"/>
            <a:ext cx="300000" cy="75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5847" y="276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5847" y="2650000"/>
            <a:ext cx="5068647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Benchmark LinUCB, LinTS, EpsGreedy vs Static XGB (5,000 rounds)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847" y="3450000"/>
            <a:ext cx="300000" cy="75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5847" y="371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5847" y="3600000"/>
            <a:ext cx="5068647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PSI fairness guardrails — no demographic drift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847" y="4400000"/>
            <a:ext cx="300000" cy="75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5847" y="466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5847" y="4550000"/>
            <a:ext cx="5068647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EEOC four-fifths approval-rate parity audit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847" y="5350000"/>
            <a:ext cx="300000" cy="75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5847" y="5610000"/>
            <a:ext cx="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5847" y="5500000"/>
            <a:ext cx="5068647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</a:rPr>
              <a:t>Human-in-the-loop wrapper — reward gain vs review cost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37376"/>
            <a:ext cx="3108960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64373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DAC  ·  ITC-AMS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6437376"/>
            <a:ext cx="6126480" cy="420624"/>
          </a:xfrm>
          <a:prstGeom prst="rect">
            <a:avLst/>
          </a:prstGeom>
          <a:solidFill>
            <a:srgbClr val="BD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64373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A6E"/>
                </a:solidFill>
              </a:rPr>
              <a:t>Introduction &amp; Problem Background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6437376"/>
            <a:ext cx="2956255" cy="420624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64373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</a:rPr>
              <a:t>July 2026  ·  6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