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86" d="100"/>
          <a:sy n="86" d="100"/>
        </p:scale>
        <p:origin x="533"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Distinguished Committee. I am Lun Chanpoly, and I am here to defend my master's thesis — Adaptive Health Insurance Underwriting via Contextual Bandits: A Reinforcement Learning Approach for Cambodia.</a:t>
            </a:r>
          </a:p>
          <a:p/>
          <a:p>
            <a:r>
              <a:t>This work was carried out during my internship at Decent Actuarial Consultants in Phnom Penh, from March to June 2026, under the supervision of Dr. Has Sothea and the guidance of Mr. ON Radet at DAC.</a:t>
            </a:r>
          </a:p>
          <a:p/>
          <a:p>
            <a:r>
              <a:t>I hope by the end of this presentation, I can convince you that the question I was given — how do we make underwriting smarter for Cambodia — has a rigorous, honest, and practically useful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take you through five sections. We begin with why this problem matters — which I will show you through a story. Then a brief survey of what the research literature offers. Then the methodology I designed and implemented. Then the results — including some honest findings that did not go as expected. And finally, what all of this means for Cambodia.</a:t>
            </a:r>
          </a:p>
          <a:p/>
          <a:p>
            <a:r>
              <a:t>I also have five technical appendix slides available if the Committee wishes to go deeper on any specific point.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left card on screen.]</a:t>
            </a:r>
          </a:p>
          <a:p/>
          <a:p>
            <a:r>
              <a:t>I would like to introduce you to Sophea. You can see her profile here on the left: 42 years old, rice farmer from Kampong Cham Province. BMI 24.1 — normal range. Non-smoker. High physical activity from field farming. One clinical flag: managed hypertension.</a:t>
            </a:r>
          </a:p>
          <a:p/>
          <a:p>
            <a:r>
              <a:t>[Point to the two amber flag boxes on the right.]</a:t>
            </a:r>
          </a:p>
          <a:p/>
          <a:p>
            <a:r>
              <a:t>In 2023, Sophea walks into a private insurer in Phnom Penh and applies for voluntary health insurance. The static rule-based system checks two fields: OCCUPATION — Agriculture. CONDITION FLAG — Hypertension. Both thresholds are crossed.</a:t>
            </a:r>
          </a:p>
          <a:p/>
          <a:p>
            <a:r>
              <a:t>[Point to the red DECLINE box.]</a:t>
            </a:r>
          </a:p>
          <a:p/>
          <a:p>
            <a:r>
              <a:t>The system decision, shown here in red: DECLINE. Sophea leaves without coverage.</a:t>
            </a:r>
          </a:p>
          <a:p/>
          <a:p>
            <a:r>
              <a:t>Was that the right answer? This research begins with that question.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that question, I joined Decent Actuarial Consultants — DAC — as a research intern in March 2026.</a:t>
            </a:r>
          </a:p>
          <a:p/>
          <a:p>
            <a:r>
              <a:t>DAC is a regional actuarial consultancy with offices in Taipei, Phnom Penh, and Vietnam. Their services span life and non-life insurance — appointed actuary work, IFRS 17 implementation, product development, ALM and ERM, M&amp;A advisory, and university partnerships.</a:t>
            </a:r>
          </a:p>
          <a:p/>
          <a:p>
            <a:r>
              <a:t>Their clients include some of the insurers who work with applicants like Sophea every day. Supervised by Mr. ON Radet, my task was to design and validate an adaptive underwriting system — and build a working prototype. The thesis and demonstration you will see today are the outputs of that internship.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large stat on the left.]</a:t>
            </a:r>
          </a:p>
          <a:p/>
          <a:p>
            <a:r>
              <a:t>This number — under two percent — is the estimated health insurance penetration in Cambodia in 2023. Not 10 percent. Not 20 percent. Under two percent of the population with private voluntary health coverage.</a:t>
            </a:r>
          </a:p>
          <a:p/>
          <a:p>
            <a:r>
              <a:t>The NSSF provides mandatory coverage, but only to formal-sector workers — roughly 16 percent of the population. Private underwriting is manual and rule-based. Agent networks consume 15 to 30 percent of premium revenue. And there is no demographic-parity monitoring in practice.</a:t>
            </a:r>
          </a:p>
          <a:p/>
          <a:p>
            <a:r>
              <a:t>[Point to the SDG panel on the right.]</a:t>
            </a:r>
          </a:p>
          <a:p/>
          <a:p>
            <a:r>
              <a:t>This research connects directly to three of Cambodia's SDGs. SDG 3 — Good Health and Well-being — by widening access. SDG 1 — No Poverty — by shielding households from catastrophic health costs. SDG 10 — Reduced Inequalities — through the PSI fairness guardrail.</a:t>
            </a:r>
          </a:p>
          <a:p/>
          <a:p>
            <a:r>
              <a:t>Sophea's situation is not an edge case — she is one of the 98 percent the current market was not built for.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static system that declined Sophea has four specific failure modes — each one visible in her case.</a:t>
            </a:r>
          </a:p>
          <a:p/>
          <a:p>
            <a:r>
              <a:t>First: Static Thresholds. Fixed cutoffs ignore context. Sophea's BMI, her physical activity, her non-smoking status — all invisible to the rule engine. Two ones triggered two thresholds and the system said no.</a:t>
            </a:r>
          </a:p>
          <a:p/>
          <a:p>
            <a:r>
              <a:t>Second: No Online Adaptation. Claims feedback never reaches the model. Static weights trained once on historical data do not update from new outcomes. Every applicant — including Sophea — is assessed against stale beliefs.</a:t>
            </a:r>
          </a:p>
          <a:p/>
          <a:p>
            <a:r>
              <a:t>Third: Demographic Blindspot. No parity metric is tracked. If the system systematically declined farmers or rural applicants at elevated rates, that pattern would be invisible to the insurer.</a:t>
            </a:r>
          </a:p>
          <a:p/>
          <a:p>
            <a:r>
              <a:t>Fourth: No Intelligent Triage. Human experts review routine cases instead of the borderline ones — like Sophea's — that actually need expert judgment.</a:t>
            </a:r>
          </a:p>
          <a:p/>
          <a:p>
            <a:r>
              <a:t>Each failure costs Sophea. Together, they define the problem.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research questions frame this work.</a:t>
            </a:r>
          </a:p>
          <a:p/>
          <a:p>
            <a:r>
              <a:t>RQ1 asks the primary empirical question: do contextual bandits achieve higher cumulative reward and lower regret than the Static XGBoost baseline over 5,000 rounds?</a:t>
            </a:r>
          </a:p>
          <a:p/>
          <a:p>
            <a:r>
              <a:t>RQ2 asks about fairness: does the bandit framework maintain demographic parity on regional and occupational approval rates — without explicit fairness constraints baked into the reward?</a:t>
            </a:r>
          </a:p>
          <a:p/>
          <a:p>
            <a:r>
              <a:t>RQ3 asks about the ranking: what is the relative performance of LinTS, LinUCB, Epsilon-Greedy, and Static XGB?</a:t>
            </a:r>
          </a:p>
          <a:p/>
          <a:p>
            <a:r>
              <a:t>RQ4 asks about deployment feasibility: is the system technically viable for low-resource mobile infrastructure — under 200 milliseconds latency?</a:t>
            </a:r>
          </a:p>
          <a:p/>
          <a:p>
            <a:r>
              <a:t>All four questions have empirical answers in the results section. I will tell you which ones came back exactly as expected — and which ones did not.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produced four deliverables and five measurable secondary objectives.</a:t>
            </a:r>
          </a:p>
          <a:p/>
          <a:p>
            <a:r>
              <a:t>On the left — the four deliverables.</a:t>
            </a:r>
          </a:p>
          <a:p/>
          <a:p>
            <a:r>
              <a:t>D1: a 2,000-record synthetic Cambodia health insurance dataset, anchored on CDHS 2021-22, STEPS, ILO, and WHO sources. Sophea is one of those 2,000. She is statistically realistic — not a cartoon.</a:t>
            </a:r>
          </a:p>
          <a:p/>
          <a:p>
            <a:r>
              <a:t>D2: the contextual bandit underwriting engine — LinUCB, LinTS, and Epsilon-Greedy — with sub-200 millisecond latency.</a:t>
            </a:r>
          </a:p>
          <a:p/>
          <a:p>
            <a:r>
              <a:t>D3: the actuarial reward simulator that converts underwriting decisions into a profit signal the bandit can learn from.</a:t>
            </a:r>
          </a:p>
          <a:p/>
          <a:p>
            <a:r>
              <a:t>D4: the PSI fairness monitoring framework with GREEN-AMBER-RED alerts.</a:t>
            </a:r>
          </a:p>
          <a:p/>
          <a:p>
            <a:r>
              <a:t>On the right — the five secondary objectives that map directly to the experiments I will describe in the results section.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show you the system I built, let me briefly survey what the research literature told me about how to build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research areas shaped the design of this system.</a:t>
            </a:r>
          </a:p>
          <a:p/>
          <a:p>
            <a:r>
              <a:t>First: emerging-market health insurance. Reports from CDHS 2021-22, ILO 2023, and ADB established Cambodia's context. Under 2 percent penetration. NSSF covering only the formal sector. Private insurers working with manual, rule-based systems.</a:t>
            </a:r>
          </a:p>
          <a:p/>
          <a:p>
            <a:r>
              <a:t>Second: linear contextual bandits. LinUCB from Li et al. 2010 and LinTS from Agrawal and Goyal 2013 both achieve sub-linear regret of order d-root-T-log-T. This theoretical guarantee is why I chose them: provably efficient, interpretable, and low compute.</a:t>
            </a:r>
          </a:p>
          <a:p/>
          <a:p>
            <a:r>
              <a:t>Third: neural bandits. NeuralUCB, NeuralTS, and EE-Net relax the linear reward assumption. Natural future-work candidates, but they require large datasets and risk overfitting on 2,000 records.</a:t>
            </a:r>
          </a:p>
          <a:p/>
          <a:p>
            <a:r>
              <a:t>Fourth: fairness in insurance machine learning. Barocas et al. and Ensign et al. warned specifically about feedback loops that harm rural and occupational groups — exactly Sophea's category.</a:t>
            </a:r>
          </a:p>
          <a:p/>
          <a:p>
            <a:r>
              <a:t>Fifth: Population Stability Index. PSI gives us three interpretable zones: GREEN below 0.10, AMBER 0.10 to 0.25, RED above 0.25. The full review cites 25 sources in APA format.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table.]</a:t>
            </a:r>
          </a:p>
          <a:p/>
          <a:p>
            <a:r>
              <a:t>Five algorithms appear in this comparison. The two highlighted rows — LinUCB and LinTS — are our proposed policies.</a:t>
            </a:r>
          </a:p>
          <a:p/>
          <a:p>
            <a:r>
              <a:t>Both achieve sub-linear regret of order d-root-T-log-T. Both have per-round cost of order d-squared — fast enough for real-time underwriting decisions. Both require only moderate data.</a:t>
            </a:r>
          </a:p>
          <a:p/>
          <a:p>
            <a:r>
              <a:t>LinUCB uses a deterministic UCB exploration bonus — a confidence interval around the estimated reward. LinTS uses posterior sampling — it draws a sample from the Bayesian posterior and picks the best arm under that sample.</a:t>
            </a:r>
          </a:p>
          <a:p/>
          <a:p>
            <a:r>
              <a:t>NeuralUCB and EE-Net are included for context. They relax the linear reward assumption but require much larger datasets and are not viable for our 2,000-record setting.</a:t>
            </a:r>
          </a:p>
          <a:p/>
          <a:p>
            <a:r>
              <a:t>Epsilon-Greedy is included as a weaker admissible baseline — it achieves only O of T to the two-thirds regret in the worst case.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now show you the system I built to give Sophea a better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pipeline diagram left to right.]</a:t>
            </a:r>
          </a:p>
          <a:p/>
          <a:p>
            <a:r>
              <a:t>The system is a closed-loop pipeline. An applicant's context vector enters on the left. A bandit policy selects one of four underwriting arms. An actuarial reward simulator returns a profit signal. PSI and HITL guardrails monitor the decision. The final decision goes out on the right — and the reward loops back to update the bandit.</a:t>
            </a:r>
          </a:p>
          <a:p/>
          <a:p>
            <a:r>
              <a:t>Five key components:</a:t>
            </a:r>
          </a:p>
          <a:p/>
          <a:p>
            <a:r>
              <a:t>One — a 34-dimensional standardised context vector per applicant.</a:t>
            </a:r>
          </a:p>
          <a:p/>
          <a:p>
            <a:r>
              <a:t>Two — four underwriting arms: STANDARD, RATED, DECLINE, REFER.</a:t>
            </a:r>
          </a:p>
          <a:p/>
          <a:p>
            <a:r>
              <a:t>Three — actuarial simulator returning revenue minus expected claims plus noise of plus-or-minus 8 percent.</a:t>
            </a:r>
          </a:p>
          <a:p/>
          <a:p>
            <a:r>
              <a:t>Four — PSI guardrail on a 500-round sliding window.</a:t>
            </a:r>
          </a:p>
          <a:p/>
          <a:p>
            <a:r>
              <a:t>Five — HITL wrapper that escalates when the bandit's uncertainty exceeds threshold kappa.</a:t>
            </a:r>
          </a:p>
          <a:p/>
          <a:p>
            <a:r>
              <a:t>Every decision feeds back into making the next decision sharper. That is the fundamental difference from the static system.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seen the architecture pipeline from left to right. We now zoom in to the first stage — applicant context.</a:t>
            </a:r>
          </a:p>
          <a:p/>
          <a:p>
            <a:r>
              <a:t>[Point to the highlighted input block.]</a:t>
            </a:r>
          </a:p>
          <a:p/>
          <a:p>
            <a:r>
              <a:t>Each applicant is encoded as a 34-dimensional vector drawn from CDHS-anchored features. That vector is the bandit's sole input to every underwriting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system sees Sophea: 34 numbers, nothing more.</a:t>
            </a:r>
          </a:p>
          <a:p/>
          <a:p>
            <a:r>
              <a:t>[Point to the stat boxes at the top.]</a:t>
            </a:r>
          </a:p>
          <a:p/>
          <a:p>
            <a:r>
              <a:t>2,000 synthetic applicants. 34 context features. 4 underwriting arms. 4 real-world anchoring sources.</a:t>
            </a:r>
          </a:p>
          <a:p/>
          <a:p>
            <a:r>
              <a:t>[Point to the feature table.]</a:t>
            </a:r>
          </a:p>
          <a:p/>
          <a:p>
            <a:r>
              <a:t>The 34 dimensions come from seven feature categories. Demographics and vitals — age, gender, BMI. Lifestyle — smoking, alcohol, exercise. Social determinants — education, wealth, self-rated health. Economic features. Clinical flags — hypertension, diabetes, heart disease, COPD, arthritis, TB, hepatitis B. Region — eight one-hot encoded CDHS macro-regions. Occupation — seven one-hot encoded categories.</a:t>
            </a:r>
          </a:p>
          <a:p/>
          <a:p>
            <a:r>
              <a:t>Sophea is represented in this dataset as a vector: age 42, female, BMI 24.1, non-smoker, hypertension flag on, Kampong Cham indicator on, agriculture indicator on, and twenty-seven more features. The static system saw two of those features. The bandit sees all 34.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seen how the context enters the pipeline. We now zoom in to the reward stage.</a:t>
            </a:r>
          </a:p>
          <a:p/>
          <a:p>
            <a:r>
              <a:t>[Point to the highlighted reward block.]</a:t>
            </a:r>
          </a:p>
          <a:p/>
          <a:p>
            <a:r>
              <a:t>After the bandit selects an arm, the actuarial simulator scores that decision — premium revenue minus expected claims, with an adverse-selection penalty and noise of plus-or-minus 8 percent. That number is the signal that drives learning.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reward formula at the top.]</a:t>
            </a:r>
          </a:p>
          <a:p/>
          <a:p>
            <a:r>
              <a:t>Reward equals premium revenue minus expected claims, with noise of plus-or-minus 8 percent. The adverse-selection factor of 1.35 applies when the risk multiplier exceeds 2.0 — this penalises overloading high-risk applicants who then drop out of the pool.</a:t>
            </a:r>
          </a:p>
          <a:p/>
          <a:p>
            <a:r>
              <a:t>[Point to the table rows.]</a:t>
            </a:r>
          </a:p>
          <a:p/>
          <a:p>
            <a:r>
              <a:t>STANDARD: accept at standard premium. Positive net reward for a correctly priced risk. Sophea at STANDARD earns a healthy actuarial margin.</a:t>
            </a:r>
          </a:p>
          <a:p/>
          <a:p>
            <a:r>
              <a:t>RATED: accept with a 25 percent loading. Higher revenue, but elastic demand penalises over-charging healthy applicants. The slope is negative 3.5.</a:t>
            </a:r>
          </a:p>
          <a:p/>
          <a:p>
            <a:r>
              <a:t>DECLINE: reject. Zero premium revenue. The penalty of minus $10 captures the opportunity cost of refusing a viable applicant.</a:t>
            </a:r>
          </a:p>
          <a:p/>
          <a:p>
            <a:r>
              <a:t>REFER: escalate to human. Deferred reward — 70 percent of the best available arm, minus $35 review cost. This incentivises selective escalation, not blanket referral.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seen how the reward is constructed. We now zoom in to the decision stage.</a:t>
            </a:r>
          </a:p>
          <a:p/>
          <a:p>
            <a:r>
              <a:t>[Point to the highlighted policy block.]</a:t>
            </a:r>
          </a:p>
          <a:p/>
          <a:p>
            <a:r>
              <a:t>The bandit computes a UCB score for each of the four arms — STANDARD, RATED, DECLINE, REFER — and selects the argmax. This is the step where the exploration-exploitation trade-off meets the actuarial judgment.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one: Sophea's vector enters the bandit.</a:t>
            </a:r>
          </a:p>
          <a:p/>
          <a:p>
            <a:r>
              <a:t>[Point to the left feature list.]</a:t>
            </a:r>
          </a:p>
          <a:p/>
          <a:p>
            <a:r>
              <a:t>`age_std=0.3, bmi_std=−0.1, smoker=0, hypertension=1, kampong_cham=1, agriculture=1` — and twenty-eight more standardised features. This 34-dimensional vector is the bandit's complete and only view of Sophea. No underwriter notes. No prior history.</a:t>
            </a:r>
          </a:p>
          <a:p/>
          <a:p>
            <a:r>
              <a:t>[Point to the LinUCB formula on the right.]</a:t>
            </a:r>
          </a:p>
          <a:p/>
          <a:p>
            <a:r>
              <a:t>The LinUCB arm score formula: theta-hat transposed Sophea's vector, plus alpha times the square root of her vector transposed A-inverse her vector. The second term is the exploration bonus — large early in training when A is sparse, shrinking as the gram matrix fills in.</a:t>
            </a:r>
          </a:p>
          <a:p/>
          <a:p>
            <a:r>
              <a:t>The bandit computes this score for each of the four arms — RATED, STANDARD, DECLINE, REFER — and takes the argmax.</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argmax banner at the top.]</a:t>
            </a:r>
          </a:p>
          <a:p/>
          <a:p>
            <a:r>
              <a:t>ArgMax = STANDARD (0.52). The bandit gives Sophea the right answer.</a:t>
            </a:r>
          </a:p>
          <a:p/>
          <a:p>
            <a:r>
              <a:t>After sufficient training, the computed arm values for Sophea are: RATED 0.31, STANDARD 0.52, DECLINE 0.10, REFER 0.28. The STANDARD arm wins by a clear margin. The system issues coverage at the correct actuarial price.</a:t>
            </a:r>
          </a:p>
          <a:p/>
          <a:p>
            <a:r>
              <a:t>[Point to the policy ladder table.]</a:t>
            </a:r>
          </a:p>
          <a:p/>
          <a:p>
            <a:r>
              <a:t>Here is the full policy ladder across 5,000 rounds. Oracle — the theoretically perfect policy — earns $126,804. That is the ceiling.</a:t>
            </a:r>
          </a:p>
          <a:p/>
          <a:p>
            <a:r>
              <a:t>LinTS earns $93,723 at plus 29.8 percent over Static XGB. LinUCB earns $91,864 at plus 27.2 percent. Epsilon-Greedy earns $76,441. Static XGB — the system that declined Sophea — earns $72,206.</a:t>
            </a:r>
          </a:p>
          <a:p/>
          <a:p>
            <a:r>
              <a:t>[Point to the note at the bottom.]</a:t>
            </a:r>
          </a:p>
          <a:p/>
          <a:p>
            <a:r>
              <a:t>AlwaysRATED earns $122,287 — between Oracle and LinTS. This is reported honestly in the note: commercially and regulatorily inadmissible. It cannot be deployed. The admissible comparison is LinUCB versus Static XGB.</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seen how the bandit selects actions and receives rewards. We now zoom in to the guardrails.</a:t>
            </a:r>
          </a:p>
          <a:p/>
          <a:p>
            <a:r>
              <a:t>[Point to the highlighted PSI and HITL blocks.]</a:t>
            </a:r>
          </a:p>
          <a:p/>
          <a:p>
            <a:r>
              <a:t>The PSI monitor checks demographic parity on a 500-round sliding window. The HITL wrapper catches decisions where the bandit is uncertain. Together these two layers ensure the system remains fair, auditable, and safe to deploy.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traffic-light zones.]</a:t>
            </a:r>
          </a:p>
          <a:p/>
          <a:p>
            <a:r>
              <a:t>The PSI guardrail monitors the approved-portfolio distribution against the applicant population on a rolling 500-round window — separately for region and occupation.</a:t>
            </a:r>
          </a:p>
          <a:p/>
          <a:p>
            <a:r>
              <a:t>PSI equals the sum over each segment of: actual approval percentage minus expected percentage, times the natural log of actual over expected. This follows Siddiqi 2006, validated by Yurdakul and Naranjo 2020.</a:t>
            </a:r>
          </a:p>
          <a:p/>
          <a:p>
            <a:r>
              <a:t>GREEN below 0.10 — no significant shift, policy is stable.</a:t>
            </a:r>
          </a:p>
          <a:p/>
          <a:p>
            <a:r>
              <a:t>AMBER 0.10 to 0.25 — moderate shift, monitor closely, flag for review.</a:t>
            </a:r>
          </a:p>
          <a:p/>
          <a:p>
            <a:r>
              <a:t>RED above 0.25 — major shift, halt or recalibrate the bandit, escalate to compliance.</a:t>
            </a:r>
          </a:p>
          <a:p/>
          <a:p>
            <a:r>
              <a:t>The EXP-006 result: LinUCB sits GREEN on all 8 regions and 7 occupations across 20 seeds. Mean PSI 0.042 for region and 0.037 for occupation. Sophea's Kampong Cham region PSI: 0.082 — GREEN. Her occupation category PSI max: 0.123 — AMBER, in the monitor zone, below RED.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four-step loop on the left.]</a:t>
            </a:r>
          </a:p>
          <a:p/>
          <a:p>
            <a:r>
              <a:t>The HITL wrapper adds a safety layer on top of the bandit.</a:t>
            </a:r>
          </a:p>
          <a:p/>
          <a:p>
            <a:r>
              <a:t>Step 1: the bandit selects an arm as usual. Step 2: if the margin between the best and second-best arm score is below threshold kappa of 0.7 — the system is genuinely uncertain — the case is escalated to REFER. Step 3: a human actuary reviews the full context and makes the final call. Step 4: the system performs a dual update — updating both the selected arm on the human label, and penalising the REFER arm to prevent over-selection.</a:t>
            </a:r>
          </a:p>
          <a:p/>
          <a:p>
            <a:r>
              <a:t>[Point to the gotcha card on the right.]</a:t>
            </a:r>
          </a:p>
          <a:p/>
          <a:p>
            <a:r>
              <a:t>The dual update is critical. Without it, REFER accumulates reward without cost, creating an over-selection spiral. This was an implementation gotcha discovered during EXP-008 development.</a:t>
            </a:r>
          </a:p>
          <a:p/>
          <a:p>
            <a:r>
              <a:t>The headline result: plus 6.5 percent reward gain over vanilla bandit, at a review rate of only 1.5 percent. 75 applications reviewed out of 5,000. That is the value of targeted human judgment.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statistics protocol banner.]</a:t>
            </a:r>
          </a:p>
          <a:p/>
          <a:p>
            <a:r>
              <a:t>Every experiment follows the same rigorous protocol: 20 independent seeds, bootstrap 95 percent confidence intervals, paired Wilcoxon signed-rank tests, Bonferroni correction for multiple comparisons, and Cohen's d effect sizes.</a:t>
            </a:r>
          </a:p>
          <a:p/>
          <a:p>
            <a:r>
              <a:t>[Point to the experiment table.]</a:t>
            </a:r>
          </a:p>
          <a:p/>
          <a:p>
            <a:r>
              <a:t>Nine experiments in total.</a:t>
            </a:r>
          </a:p>
          <a:p/>
          <a:p>
            <a:r>
              <a:t>EXP-005 is the primary pre-registered test — LinUCB versus Static XGB over 5,000 rounds, 20 seeds. This is the experiment that answers RQ1.</a:t>
            </a:r>
          </a:p>
          <a:p/>
          <a:p>
            <a:r>
              <a:t>EXP-006 runs the six fairness criteria — PSI plus EEOC four-fifths rule — answering RQ2.</a:t>
            </a:r>
          </a:p>
          <a:p/>
          <a:p>
            <a:r>
              <a:t>EXP-007 is the full benchmark ladder using Common Random Numbers for variance reduction.</a:t>
            </a:r>
          </a:p>
          <a:p/>
          <a:p>
            <a:r>
              <a:t>EXP-008 to EXP-015 cover HITL, drift adaptation, cold start, ablation, regret bound validation, and drift rescue — progressively interrogating the system's boundaries.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now tell you what the system actually did — including what it got right, what it got wrong, and what I reported honestly either way.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full ladder table.]</a:t>
            </a:r>
          </a:p>
          <a:p/>
          <a:p>
            <a:r>
              <a:t>This is the complete baseline ladder across 20 seeds. Oracle sits at $126,804 — the theoretical ceiling. LinTS at $93,723. LinUCB at $91,864. Both are highlighted in green as our proposed admissible policies.</a:t>
            </a:r>
          </a:p>
          <a:p/>
          <a:p>
            <a:r>
              <a:t>[Point to the AlwaysRATED row.]</a:t>
            </a:r>
          </a:p>
          <a:p/>
          <a:p>
            <a:r>
              <a:t>I want to be direct about this number — $122,287. AlwaysRATED beats both bandits. I report this honestly. AlwaysRATED is inadmissible: no Cambodian insurer can apply a blanket 25% surcharge to every applicant regardless of risk. Our claim is scoped to admissible policies. Among those, bandits rank first and second.</a:t>
            </a:r>
          </a:p>
          <a:p/>
          <a:p>
            <a:r>
              <a:t>That +25.2% is the gap between 2023 Sophea and 2026 Sophea — between the static system that declined her and the bandit that learned to see her correctly.</a:t>
            </a:r>
          </a:p>
          <a:p/>
          <a:p>
            <a:r>
              <a:t>Two additional points of transparency:</a:t>
            </a:r>
          </a:p>
          <a:p/>
          <a:p>
            <a:r>
              <a:t>LinTS versus LinUCB: p equals 0.87. They are statistically tied at the top of the admissible set. I do not claim one beats the other.</a:t>
            </a:r>
          </a:p>
          <a:p/>
          <a:p>
            <a:r>
              <a:t>AlwaysSTANDARD earns only $34,684 — well below Static XGB. A naive all-approve policy is not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metrics on the left.]</a:t>
            </a:r>
          </a:p>
          <a:p/>
          <a:p>
            <a:r>
              <a:t>EXP-005 is the pre-registered primary experiment. Paired Wilcoxon test across 20 independent seeds, LinUCB versus Static XGB.</a:t>
            </a:r>
          </a:p>
          <a:p/>
          <a:p>
            <a:r>
              <a:t>LinUCB cumulative reward: $90,540 plus-or-minus $5,382, 95 percent CI [88,287 – 92,886]. Static XGB: $72,292 plus-or-minus $4,120, CI [70,646 – 74,136].</a:t>
            </a:r>
          </a:p>
          <a:p/>
          <a:p>
            <a:r>
              <a:t>Improvement: plus $18,248 — that is +25.2%. Cohen's d equals 2.98. P less than 0.001.</a:t>
            </a:r>
          </a:p>
          <a:p/>
          <a:p>
            <a:r>
              <a:t>[Point to the bottom banner.]</a:t>
            </a:r>
          </a:p>
          <a:p/>
          <a:p>
            <a:r>
              <a:t>+25.2% is the gap between 2023 Sophea and 2026 Sophea — between the system that declined her and the bandit that learned to price her correctly.</a:t>
            </a:r>
          </a:p>
          <a:p/>
          <a:p>
            <a:r>
              <a:t>[Point to the convergence panel on the right.]</a:t>
            </a:r>
          </a:p>
          <a:p/>
          <a:p>
            <a:r>
              <a:t>The convergence indicators confirm the learning is genuine. Action entropy drops from 1.314 to 1.105 nats — exploration giving way to exploitation. Oracle-agreement in the last 500 rounds reaches 37.8 percent. And the regret curve follows O of root-T — log-log slope 0.572, R-squared 0.9915. All five EXP-005 criteria: PASSED.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fairness audit evaluates six pre-registered criteria. Five passed. One failed — and I want to address that failure directly.</a:t>
            </a:r>
          </a:p>
          <a:p/>
          <a:p>
            <a:r>
              <a:t>[Point to the six criterion cards.]</a:t>
            </a:r>
          </a:p>
          <a:p/>
          <a:p>
            <a:r>
              <a:t>Region PSI: 0.082 — GREEN. Occupation PSI: 0.123 — AMBER, in the monitor zone but below RED. Region parity at 85.72 percent — above the 80 percent four-fifths threshold. Occupation parity at 90.12 percent — also above 80 percent. Region permutation test: p equals 0.132 — no significant association.</a:t>
            </a:r>
          </a:p>
          <a:p/>
          <a:p>
            <a:r>
              <a:t>[Point to the amber Criterion 6 card.]</a:t>
            </a:r>
          </a:p>
          <a:p/>
          <a:p>
            <a:r>
              <a:t>Criterion 6 — occupation-to-action independence — FAILED, p less than 0.001. The system's decisions are statistically associated with occupation.</a:t>
            </a:r>
          </a:p>
          <a:p/>
          <a:p>
            <a:r>
              <a:t>My interpretation: occupation is an actuarially valid risk factor. Rice farmers, garment workers, and office workers carry genuinely different health risk profiles. The association is statistically significant but practically small — no regulatory threshold is breached. I call this FAILED-with-interpretation. I stand by that verdict. PSI is a monitor, not an enforcer — constrained-action guardrails are future work.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EXP-007 uses the CRN — Common Random Numbers — harness for variance reduction. All policies run on the same sequence of applicant draws, making comparisons sharper.</a:t>
            </a:r>
          </a:p>
          <a:p/>
          <a:p>
            <a:r>
              <a:t>[Point to the left table.]</a:t>
            </a:r>
          </a:p>
          <a:p/>
          <a:p>
            <a:r>
              <a:t>AlwaysRATED leads at $122,287 — as expected and reported honestly. LinTS at $93,723. LinUCB at $91,864. Epsilon-Greedy at $76,441. Static XGB at $72,206.</a:t>
            </a:r>
          </a:p>
          <a:p/>
          <a:p>
            <a:r>
              <a:t>[Point to the pairwise comparison cards on the right.]</a:t>
            </a:r>
          </a:p>
          <a:p/>
          <a:p>
            <a:r>
              <a:t>LinTS versus LinUCB: p equals 0.87, d equals 0.26 — TIED. They are statistically indistinguishable at the top of the admissible set.</a:t>
            </a:r>
          </a:p>
          <a:p/>
          <a:p>
            <a:r>
              <a:t>LinUCB versus Static XGB: minus $19,774 regret, p less than 0.001, d equals negative 3.41 — WIN.</a:t>
            </a:r>
          </a:p>
          <a:p/>
          <a:p>
            <a:r>
              <a:t>LinTS versus Static XGB: minus $21,400 regret, p less than 0.001, d equals negative 3.89 — WIN.</a:t>
            </a:r>
          </a:p>
          <a:p/>
          <a:p>
            <a:r>
              <a:t>Two coexisting findings: adaptive bandits decisively beat the frozen static rule. And the trivial constant AlwaysRATED still beats all bandits — honestly reported.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key metrics.]</a:t>
            </a:r>
          </a:p>
          <a:p/>
          <a:p>
            <a:r>
              <a:t>EXP-008 evaluates the HITL wrapper with kappa of 0.7 — the headline setting.</a:t>
            </a:r>
          </a:p>
          <a:p/>
          <a:p>
            <a:r>
              <a:t>HITL reward: $102,100. Vanilla bandit: $95,872. Improvement: plus $6,228 — that is plus 6.5 percent. Review cost: $2,625 — about 2.6 percent of reward. Human overrides: 75 out of 5,000 applications. A review rate of 1.5 percent. Alignment score between human expert and bandit: 60 percent.</a:t>
            </a:r>
          </a:p>
          <a:p/>
          <a:p>
            <a:r>
              <a:t>[Point to the note at the bottom.]</a:t>
            </a:r>
          </a:p>
          <a:p/>
          <a:p>
            <a:r>
              <a:t>Important scope note: plus 6.5 percent is versus the vanilla bandit — not versus AlwaysRATED, not versus Static XGB. This measures the incremental value of targeted human oversight on top of the bandit baseline.</a:t>
            </a:r>
          </a:p>
          <a:p/>
          <a:p>
            <a:r>
              <a:t>Thirteen applicants reviewed per thousand. The actuary's judgment on those thirteen cases is worth a 6.5 percent gain on the whole portfolio. That is the value of the HITL layer.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left ablation panel.]</a:t>
            </a:r>
          </a:p>
          <a:p/>
          <a:p>
            <a:r>
              <a:t>EXP-011 tells us the exploration bonus is not what drives the value — Greedy-only ties full LinUCB. The value comes from online ridge updating. EXP-015 tells us that even under drift, the constant beats us. These two findings together define the boundary of what this thesis can and cannot claim.</a:t>
            </a:r>
          </a:p>
          <a:p/>
          <a:p>
            <a:r>
              <a:t>On the left: EXP-011. Full LinUCB versus Greedy-only with alpha equals zero. p equals 0.580, d equals 0.13 — statistically tied. Exploration is not load-bearing.</a:t>
            </a:r>
          </a:p>
          <a:p/>
          <a:p>
            <a:r>
              <a:t>But Greedy-only versus Static XGB: plus $18,969, p less than 0.001, d equals 3.01. Online ridge updating IS the mechanism. The bandit beats Static XGB not because of its UCB exploration bonus but because it updates its ridge estimator from every new applicant.</a:t>
            </a:r>
          </a:p>
          <a:p/>
          <a:p>
            <a:r>
              <a:t>[Point to the right drift panel.]</a:t>
            </a:r>
          </a:p>
          <a:p/>
          <a:p>
            <a:r>
              <a:t>On the right: EXP-015. Under a realistic drift shock, AlwaysRATED earns $99,321. LinTS earns $71,429 — minus 39 percent. LinUCB earns $71,373 — minus 39.2 percent. The discounted LinUCB with gamma of 0.999 earns $70,995 — no meaningful improvement.</a:t>
            </a:r>
          </a:p>
          <a:p/>
          <a:p>
            <a:r>
              <a:t>Non-stationarity does not rescue the bandit. We honestly report this as a boundary of the current framework.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cold start table on the left.]</a:t>
            </a:r>
          </a:p>
          <a:p/>
          <a:p>
            <a:r>
              <a:t>EXP-010 asks: at what horizon does the bandit certify its superiority? This matters because a real insurer cannot wait 5,000 applicants before trusting the system.</a:t>
            </a:r>
          </a:p>
          <a:p/>
          <a:p>
            <a:r>
              <a:t>At T equals 200, FreshXGB leads bandits by 2.1 times. At T equals 500, still 1.26 times. At T equals 1,000, the systems tie. At T equals 2,000, bandits cross over and take the lead.</a:t>
            </a:r>
          </a:p>
          <a:p/>
          <a:p>
            <a:r>
              <a:t>Operational implication: warm-start required for the first 1,000 to 2,000 applications. A hybrid deployment — XGBoost until crossover, bandit thereafter — is the practical path.</a:t>
            </a:r>
          </a:p>
          <a:p/>
          <a:p>
            <a:r>
              <a:t>LinTS passes the T equals 2,000 Wilcoxon test with p equals 0.0039. LinUCB draws level but is not certified — p equals 0.0840. I report LinUCB honestly as draws-level, not a proven win at 2,000.</a:t>
            </a:r>
          </a:p>
          <a:p/>
          <a:p>
            <a:r>
              <a:t>[Point to the regret bound panel on the right.]</a:t>
            </a:r>
          </a:p>
          <a:p/>
          <a:p>
            <a:r>
              <a:t>EXP-013: log-log slope 0.572, theory 0.5 — near-optimal. R-squared 0.9915. Sublinear regret confirmed empirically.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browser at localhost:8000 before this slide.]</a:t>
            </a:r>
          </a:p>
          <a:p/>
          <a:p>
            <a:r>
              <a:t>I will now show you Sophea's application — not as a number in a table, but as a live interaction with the prototype dashboard.</a:t>
            </a:r>
          </a:p>
          <a:p/>
          <a:p>
            <a:r>
              <a:t>[Enter Sophea's profile: age 42, female, BMI 24.1, smoker: no, hypertension: yes, Kampong Cham, agriculture.]</a:t>
            </a:r>
          </a:p>
          <a:p/>
          <a:p>
            <a:r>
              <a:t>Enter Sophea's profile live — show STANDARD decision. Age 42, female, BMI 24.1, non-smoker, hypertension managed, Kampong Cham, agriculture. The bandit sees her 34 features, computes the arm scores, and issues its decision.</a:t>
            </a:r>
          </a:p>
          <a:p/>
          <a:p>
            <a:r>
              <a:t>[Show the STANDARD decision.]</a:t>
            </a:r>
          </a:p>
          <a:p/>
          <a:p>
            <a:r>
              <a:t>STANDARD premium. The correct actuarial answer. The one she was denied in 2023.</a:t>
            </a:r>
          </a:p>
          <a:p/>
          <a:p>
            <a:r>
              <a:t>[Submit a high-risk applicant — older, smoker, high BMI, multiple flags.]</a:t>
            </a:r>
          </a:p>
          <a:p/>
          <a:p>
            <a:r>
              <a:t>Now a higher-risk applicant. The system selects REFER — escalating to the HITL queue. Switch to the HITL tab to show the running referral rate and cumulative review cost.</a:t>
            </a:r>
          </a:p>
          <a:p/>
          <a:p>
            <a:r>
              <a:t>[This is the FastAPI prototype deployed on Render — not a mockup.]</a:t>
            </a:r>
          </a:p>
          <a:p/>
          <a:p>
            <a:r>
              <a:t>This is not a simulation. This is the same FastAPI stack described in the thesis, deployed on Render, running in real time.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bring this back to Sophea — and to the four key findings.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Finding 1.]</a:t>
            </a:r>
          </a:p>
          <a:p/>
          <a:p>
            <a:r>
              <a:t>Finding 1 — EXP-005: Online adaptation beats static rules. Plus 25.2 percent, p less than 0.001, d equals 2.98. LinUCB earns plus $18,248 over Static XGB across 20 seeds.</a:t>
            </a:r>
          </a:p>
          <a:p/>
          <a:p>
            <a:r>
              <a:t>[Point to Finding 2.]</a:t>
            </a:r>
          </a:p>
          <a:p/>
          <a:p>
            <a:r>
              <a:t>Finding 2 — EXP-006: No demographic bias introduced. 85.72 and 90.12 percent parity for region and occupation. PSI GREEN-AMBER throughout. Criterion 6 FAILED-with-interpretation — occupation is an actuarially valid signal, not a bias.</a:t>
            </a:r>
          </a:p>
          <a:p/>
          <a:p>
            <a:r>
              <a:t>[Point to Finding 3.]</a:t>
            </a:r>
          </a:p>
          <a:p/>
          <a:p>
            <a:r>
              <a:t>Finding 3 — EXP-011: The mechanism is online ridge updating, not exploration. Greedy-only ties full LinUCB. The value comes from learning, not from exploration bonuses.</a:t>
            </a:r>
          </a:p>
          <a:p/>
          <a:p>
            <a:r>
              <a:t>[Point to Finding 4.]</a:t>
            </a:r>
          </a:p>
          <a:p/>
          <a:p>
            <a:r>
              <a:t>Finding 4 — EXP-008: HITL adds value at low cost. Plus 6.5 percent at 1.5 percent review rate. Alignment score 60 percent — human oversight is meaningful.</a:t>
            </a:r>
          </a:p>
          <a:p/>
          <a:p>
            <a:r>
              <a:t>In 2023, the static system issued DECLINE. Sophea left without coverage. In 2026, the bandit issues STANDARD premium — the correct actuarial answer. That is the 25.2%. It is not everything — a trivial constant earns more. But it is a principled, fair, auditable step forward for an insurance market that needs one.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transparent about the boundaries of this work.</a:t>
            </a:r>
          </a:p>
          <a:p/>
          <a:p>
            <a:r>
              <a:t>[Point to the four limitation cards.]</a:t>
            </a:r>
          </a:p>
          <a:p/>
          <a:p>
            <a:r>
              <a:t>First: synthetic data. 2,000 records cannot capture rare comorbidities, fraud patterns, or the full complexity of real Cambodian claims. The dataset is CDHS-anchored but not real insurance claims.</a:t>
            </a:r>
          </a:p>
          <a:p/>
          <a:p>
            <a:r>
              <a:t>Second: single-period rewards. The reward function is a one-shot proxy for profitability. It does not capture multi-year claims, customer retention, or renewal cycles.</a:t>
            </a:r>
          </a:p>
          <a:p/>
          <a:p>
            <a:r>
              <a:t>Third: stationarity assumption. EXP-009 and EXP-015 partially address this, but DiscountedLinUCB helps only marginally under a shock. Non-stationarity remains a meaningful limit of the current design.</a:t>
            </a:r>
          </a:p>
          <a:p/>
          <a:p>
            <a:r>
              <a:t>Fourth: the constant-policy ceiling. AlwaysRATED beats bandits by roughly 30 percent. Bandits lead every admissible deployable alternative — but the headroom to Oracle remains large. This is honestly reported and defines the next phase of work.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directions for future work.</a:t>
            </a:r>
          </a:p>
          <a:p/>
          <a:p>
            <a:r>
              <a:t>First: non-stationary drift. DiscountedLinUCB plus PSI early-warning pipeline, with threshold-adaptive forgetting factors. The current gamma of 0.999 helped only marginally — better discount schedules need investigation.</a:t>
            </a:r>
          </a:p>
          <a:p/>
          <a:p>
            <a:r>
              <a:t>Second: neural bandit extensions. NeuralUCB and Neural-Linear hybrids would relax the linear reward assumption. Viable once dataset size scales beyond 2,000 records.</a:t>
            </a:r>
          </a:p>
          <a:p/>
          <a:p>
            <a:r>
              <a:t>Third: live A/B deployment. Delayed reward via survival proxy — real claims lag 6 to 24 months. The thesis uses a simulator; a live trial with real Cambodian insurers is the natural next step.</a:t>
            </a:r>
          </a:p>
          <a:p/>
          <a:p>
            <a:r>
              <a:t>Fourth: multi-period customer value. Customer lifetime value, retention, and cross-selling would move the system beyond the single-decision reward framing.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reads: 2023: DECLINE. 2026: STANDARD.]</a:t>
            </a:r>
          </a:p>
          <a:p/>
          <a:p>
            <a:r>
              <a:t>That is the story of this thesis.</a:t>
            </a:r>
          </a:p>
          <a:p/>
          <a:p>
            <a:r>
              <a:t>In 2023, the static system declined Sophea. In 2026, the bandit issues STANDARD premium. Cambodia has hundreds of thousands of applicants like her — people whose risk profiles are nuanced, whose context matters, and who deserve a decision system capable of seeing them fully.</a:t>
            </a:r>
          </a:p>
          <a:p/>
          <a:p>
            <a:r>
              <a:t>Thank you, Distinguished Committee, for your time and attention.</a:t>
            </a:r>
          </a:p>
          <a:p/>
          <a:p>
            <a:r>
              <a:t>I am now ready for your questions. If it would be helpful, I have five appendix slides available: A1 covers the complete baseline ladder with all nine policies; A2 reconciles the three reward-lift numbers — plus 25.2, plus 29.8, and plus 6.5 percent; A3 shows all six fairness criteria verdicts; A4 has the full mathematical details for LinUCB, PSI, and the HITL dual update; and A5 has the full sensitivity parameter tables.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if Committee asks about AlwaysRATED or the full ranking.]</a:t>
            </a:r>
          </a:p>
          <a:p/>
          <a:p>
            <a:r>
              <a:t>The complete ladder across all nine policies — 20 seeds, CRN harness.</a:t>
            </a:r>
          </a:p>
          <a:p/>
          <a:p>
            <a:r>
              <a:t>Oracle: $126,804 — theoretical ceiling, not deployable. LogisticOracle: $123,977 — fit in-sample on oracle labels, not deployable, diagnostic only.</a:t>
            </a:r>
          </a:p>
          <a:p/>
          <a:p>
            <a:r>
              <a:t>AlwaysRATED: $122,287. This is the trivial constant that applies a blanket 25% loading to every applicant regardless of risk. No Cambodian insurer can commercially or regulatorily apply this uniformly. It would create severe adverse selection, drive healthy applicants out of the pool, and face regulatory challenge. Our pre-registered expectation was that bandits would outperform AlwaysRATED. That expectation was falsified. We report it as the scientifically informative outcome it is.</a:t>
            </a:r>
          </a:p>
          <a:p/>
          <a:p>
            <a:r>
              <a:t>LinTS: $93,723. LinUCB: $91,864. Both proposed admissible policies.</a:t>
            </a:r>
          </a:p>
          <a:p/>
          <a:p>
            <a:r>
              <a:t>Epsilon-Greedy: $76,441. Static XGB (the system that declined Sophea): $72,206. AlwaysSTANDARD: $34,684. Random: $1,980.</a:t>
            </a:r>
          </a:p>
          <a:p/>
          <a:p>
            <a:r>
              <a:t>The headline claim stands: bandits rank first and second among every admissible policy a real insurer could deploy.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if Committee asks why there are multiple reward-lift numbers.]</a:t>
            </a:r>
          </a:p>
          <a:p/>
          <a:p>
            <a:r>
              <a:t>Three different reward-lift numbers appear across the thesis. They answer three different questions and are mutually consistent.</a:t>
            </a:r>
          </a:p>
          <a:p/>
          <a:p>
            <a:r>
              <a:t>Plus 25.2 percent: EXP-005. LinUCB versus Static XGB. Pre-registered primary metric. Paired design, 20 seeds, standardised evaluation. LinUCB mean $90,540 versus Static XGB mean $72,292. This is the headline figure cited throughout the thesis.</a:t>
            </a:r>
          </a:p>
          <a:p/>
          <a:p>
            <a:r>
              <a:t>Plus 29.8 percent: EXP-007. LinTS versus Static XGB. CRN benchmark harness — common random numbers for variance reduction. Different experimental setup from EXP-005, which is why the number is slightly higher. Reported for completeness; the pre-registered comparison is EXP-005.</a:t>
            </a:r>
          </a:p>
          <a:p/>
          <a:p>
            <a:r>
              <a:t>Plus 6.5 percent: EXP-008. HITL reward versus vanilla bandit. HITL $102,100 versus vanilla $95,872 on seed 42. Completely different baseline — this measures the incremental value of human oversight on top of the bandit, not versus Static XGB.</a:t>
            </a:r>
          </a:p>
          <a:p/>
          <a:p>
            <a:r>
              <a:t>When I cite the headline result, I cite 25.2 percent — the conservative pre-registered figure.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if Committee asks about the fairness methodology or Criterion 6.]</a:t>
            </a:r>
          </a:p>
          <a:p/>
          <a:p>
            <a:r>
              <a:t>The six pre-registered fairness criteria.</a:t>
            </a:r>
          </a:p>
          <a:p/>
          <a:p>
            <a:r>
              <a:t>Criterion 1: Region PSI must be at or below 0.25. Result: PSI equals 0.082 — GREEN. PASSED.</a:t>
            </a:r>
          </a:p>
          <a:p/>
          <a:p>
            <a:r>
              <a:t>Criterion 2: Occupation PSI must be at or below 0.25. Result: PSI equals 0.123 — AMBER, below RED. PASSED.</a:t>
            </a:r>
          </a:p>
          <a:p/>
          <a:p>
            <a:r>
              <a:t>Criterion 3: EEOC four-fifths rule for region — approval rates across all regions must be at least 80 percent of the highest. Result: 85.72 percent. PASSED.</a:t>
            </a:r>
          </a:p>
          <a:p/>
          <a:p>
            <a:r>
              <a:t>Criterion 4: EEOC four-fifths rule for occupation. Result: 90.12 percent. PASSED.</a:t>
            </a:r>
          </a:p>
          <a:p/>
          <a:p>
            <a:r>
              <a:t>Criterion 5: Permutation test for region-to-action independence. p equals 0.132. PASSED.</a:t>
            </a:r>
          </a:p>
          <a:p/>
          <a:p>
            <a:r>
              <a:t>Criterion 6: Permutation test for occupation-to-action independence. p less than 0.001. FAILED-with-interpretation.</a:t>
            </a:r>
          </a:p>
          <a:p/>
          <a:p>
            <a:r>
              <a:t>My interpretation of Criterion 6: occupation predicts the underwriting action because occupation is a genuine actuarial risk signal. Sophea's agricultural occupation is correctly associated with a different risk profile than an office worker's — that is actuarially sound. The association is statistically significant but practically small. No regulatory threshold is breached. I call this FAILED-with-interpretation, and I stand by that verdict.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if Committee asks about the LinUCB update rule, PSI formula, or HITL dual-update mechanics.]</a:t>
            </a:r>
          </a:p>
          <a:p/>
          <a:p>
            <a:r>
              <a:t>Three mathematical components — using Sophea's application as the concrete example.</a:t>
            </a:r>
          </a:p>
          <a:p/>
          <a:p>
            <a:r>
              <a:t>LinUCB update rule:</a:t>
            </a:r>
          </a:p>
          <a:p>
            <a:r>
              <a:t>Design matrix update: A receives Sophea's vector x transposed times x. Reward vector update: b receives reward times x. Ridge estimate: theta-hat equals A-inverse times b. UCB score for arm a: theta-hat transposed x, plus alpha times the square root of x-transposed A-inverse x — where x is Sophea's 34-dimensional vector.</a:t>
            </a:r>
          </a:p>
          <a:p/>
          <a:p>
            <a:r>
              <a:t>PSI formula:</a:t>
            </a:r>
          </a:p>
          <a:p>
            <a:r>
              <a:t>PSI equals the sum over each segment of: P-new minus P-old, times the natural log of P-new over P-old. For Sophea's Kampong Cham region: PSI 0.082 — GREEN. For her occupation category: PSI max 0.123 — AMBER.</a:t>
            </a:r>
          </a:p>
          <a:p/>
          <a:p>
            <a:r>
              <a:t>HITL dual-update:</a:t>
            </a:r>
          </a:p>
          <a:p>
            <a:r>
              <a:t>When the human overrides the bandit: update the selected arm on the human label, and apply a penalty to the REFER arm reward to prevent the over-selection spiral. Without the penalty, REFER accumulates reward without cost — the dual update corrects that incentive.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if Committee asks about parameter sensitivity or robustness.]</a:t>
            </a:r>
          </a:p>
          <a:p/>
          <a:p>
            <a:r>
              <a:t>The headline results are robust across the full parameter grid.</a:t>
            </a:r>
          </a:p>
          <a:p/>
          <a:p>
            <a:r>
              <a:t>LinUCB exploration parameter alpha: tested from 0.5 to 2.0. Alpha equals 1.0 selected in EXP-012 as the regret-minimising setting.</a:t>
            </a:r>
          </a:p>
          <a:p/>
          <a:p>
            <a:r>
              <a:t>LinTS posterior width v: 0.1. Ridge penalty lambda: 1.0.</a:t>
            </a:r>
          </a:p>
          <a:p/>
          <a:p>
            <a:r>
              <a:t>HITL conservatism kappa: headline result at kappa equals 0.7. Kappa of 0.3 and 0.5 also tested; the ranking of HITL above vanilla bandit is stable across all kappa values.</a:t>
            </a:r>
          </a:p>
          <a:p/>
          <a:p>
            <a:r>
              <a:t>Price elasticity slope: base at 3.5, stressed at 2.5 and 4.5.</a:t>
            </a:r>
          </a:p>
          <a:p/>
          <a:p>
            <a:r>
              <a:t>Adverse-selection factor: 1.35 is the DAC actuarial prior.</a:t>
            </a:r>
          </a:p>
          <a:p/>
          <a:p>
            <a:r>
              <a:t>Across the EXP-011 ablation and EXP-012 sensitivity grid, the ranking of LinUCB and LinTS above all other admissible policies is stable. Sophea receives STANDARD across all parameter combinations tested.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TC.jpg"/>
          <p:cNvPicPr>
            <a:picLocks noChangeAspect="1"/>
          </p:cNvPicPr>
          <p:nvPr/>
        </p:nvPicPr>
        <p:blipFill>
          <a:blip r:embed="rId2"/>
          <a:stretch>
            <a:fillRect/>
          </a:stretch>
        </p:blipFill>
        <p:spPr>
          <a:xfrm>
            <a:off x="548640" y="274320"/>
            <a:ext cx="914400" cy="901541"/>
          </a:xfrm>
          <a:prstGeom prst="rect">
            <a:avLst/>
          </a:prstGeom>
        </p:spPr>
      </p:pic>
      <p:pic>
        <p:nvPicPr>
          <p:cNvPr id="4" name="Picture 3" descr="AMS.png"/>
          <p:cNvPicPr>
            <a:picLocks noChangeAspect="1"/>
          </p:cNvPicPr>
          <p:nvPr/>
        </p:nvPicPr>
        <p:blipFill>
          <a:blip r:embed="rId3"/>
          <a:stretch>
            <a:fillRect/>
          </a:stretch>
        </p:blipFill>
        <p:spPr>
          <a:xfrm>
            <a:off x="1600200" y="365760"/>
            <a:ext cx="1325880" cy="1256418"/>
          </a:xfrm>
          <a:prstGeom prst="rect">
            <a:avLst/>
          </a:prstGeom>
        </p:spPr>
      </p:pic>
      <p:pic>
        <p:nvPicPr>
          <p:cNvPr id="5" name="Picture 4" descr="DAC.jpg"/>
          <p:cNvPicPr>
            <a:picLocks noChangeAspect="1"/>
          </p:cNvPicPr>
          <p:nvPr/>
        </p:nvPicPr>
        <p:blipFill>
          <a:blip r:embed="rId4"/>
          <a:stretch>
            <a:fillRect/>
          </a:stretch>
        </p:blipFill>
        <p:spPr>
          <a:xfrm>
            <a:off x="10332720" y="320040"/>
            <a:ext cx="1325880" cy="745808"/>
          </a:xfrm>
          <a:prstGeom prst="rect">
            <a:avLst/>
          </a:prstGeom>
        </p:spPr>
      </p:pic>
      <p:sp>
        <p:nvSpPr>
          <p:cNvPr id="6" name="TextBox 5"/>
          <p:cNvSpPr txBox="1"/>
          <p:nvPr/>
        </p:nvSpPr>
        <p:spPr>
          <a:xfrm>
            <a:off x="3108960" y="384048"/>
            <a:ext cx="6583680" cy="457200"/>
          </a:xfrm>
          <a:prstGeom prst="rect">
            <a:avLst/>
          </a:prstGeom>
          <a:noFill/>
        </p:spPr>
        <p:txBody>
          <a:bodyPr wrap="square">
            <a:spAutoFit/>
          </a:bodyPr>
          <a:lstStyle/>
          <a:p>
            <a:pPr algn="ctr">
              <a:spcBef>
                <a:spcPts val="0"/>
              </a:spcBef>
              <a:spcAft>
                <a:spcPts val="0"/>
              </a:spcAft>
            </a:pPr>
            <a:r>
              <a:rPr sz="2200" b="1" i="0">
                <a:solidFill>
                  <a:srgbClr val="262626"/>
                </a:solidFill>
                <a:latin typeface="Segoe UI"/>
              </a:rPr>
              <a:t>Institute of Technology of Cambodia</a:t>
            </a:r>
          </a:p>
        </p:txBody>
      </p:sp>
      <p:sp>
        <p:nvSpPr>
          <p:cNvPr id="7" name="TextBox 6"/>
          <p:cNvSpPr txBox="1"/>
          <p:nvPr/>
        </p:nvSpPr>
        <p:spPr>
          <a:xfrm>
            <a:off x="3108960" y="841248"/>
            <a:ext cx="6583680" cy="365760"/>
          </a:xfrm>
          <a:prstGeom prst="rect">
            <a:avLst/>
          </a:prstGeom>
          <a:noFill/>
        </p:spPr>
        <p:txBody>
          <a:bodyPr wrap="square">
            <a:spAutoFit/>
          </a:bodyPr>
          <a:lstStyle/>
          <a:p>
            <a:pPr algn="ctr">
              <a:spcBef>
                <a:spcPts val="0"/>
              </a:spcBef>
              <a:spcAft>
                <a:spcPts val="0"/>
              </a:spcAft>
            </a:pPr>
            <a:r>
              <a:rPr sz="1500" b="0" i="0">
                <a:solidFill>
                  <a:srgbClr val="505050"/>
                </a:solidFill>
                <a:latin typeface="Calibri"/>
              </a:rPr>
              <a:t>Department of Applied Mathematics and Statistics</a:t>
            </a:r>
          </a:p>
        </p:txBody>
      </p:sp>
      <p:sp>
        <p:nvSpPr>
          <p:cNvPr id="8" name="Rectangle 7"/>
          <p:cNvSpPr/>
          <p:nvPr/>
        </p:nvSpPr>
        <p:spPr>
          <a:xfrm>
            <a:off x="5413248" y="1874519"/>
            <a:ext cx="1371600" cy="41148"/>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2148840"/>
            <a:ext cx="10515600" cy="1554480"/>
          </a:xfrm>
          <a:prstGeom prst="rect">
            <a:avLst/>
          </a:prstGeom>
          <a:noFill/>
        </p:spPr>
        <p:txBody>
          <a:bodyPr wrap="square" anchor="ctr">
            <a:spAutoFit/>
          </a:bodyPr>
          <a:lstStyle/>
          <a:p>
            <a:pPr algn="ctr">
              <a:spcBef>
                <a:spcPts val="0"/>
              </a:spcBef>
              <a:spcAft>
                <a:spcPts val="0"/>
              </a:spcAft>
            </a:pPr>
            <a:r>
              <a:rPr sz="2700" b="1" i="0">
                <a:solidFill>
                  <a:srgbClr val="262626"/>
                </a:solidFill>
                <a:latin typeface="Segoe UI"/>
              </a:rPr>
              <a:t>ADAPTIVE HEALTH INSURANCE UNDERWRITING VIA CONTEXTUAL BANDITS: A REINFORCEMENT LEARNING APPROACH FOR CAMBODIA</a:t>
            </a:r>
          </a:p>
        </p:txBody>
      </p:sp>
      <p:sp>
        <p:nvSpPr>
          <p:cNvPr id="10" name="Rectangle 9"/>
          <p:cNvSpPr/>
          <p:nvPr/>
        </p:nvSpPr>
        <p:spPr>
          <a:xfrm>
            <a:off x="5413248" y="3886200"/>
            <a:ext cx="1371600" cy="41148"/>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0" y="4224528"/>
            <a:ext cx="12191695" cy="310896"/>
          </a:xfrm>
          <a:prstGeom prst="rect">
            <a:avLst/>
          </a:prstGeom>
          <a:noFill/>
        </p:spPr>
        <p:txBody>
          <a:bodyPr wrap="square">
            <a:spAutoFit/>
          </a:bodyPr>
          <a:lstStyle/>
          <a:p>
            <a:pPr algn="ctr">
              <a:spcBef>
                <a:spcPts val="0"/>
              </a:spcBef>
              <a:spcAft>
                <a:spcPts val="0"/>
              </a:spcAft>
            </a:pPr>
            <a:r>
              <a:rPr sz="1400" b="0" i="0">
                <a:solidFill>
                  <a:srgbClr val="505050"/>
                </a:solidFill>
                <a:latin typeface="Calibri"/>
              </a:rPr>
              <a:t>Thesis Defense — Presented by</a:t>
            </a:r>
          </a:p>
        </p:txBody>
      </p:sp>
      <p:sp>
        <p:nvSpPr>
          <p:cNvPr id="12" name="TextBox 11"/>
          <p:cNvSpPr txBox="1"/>
          <p:nvPr/>
        </p:nvSpPr>
        <p:spPr>
          <a:xfrm>
            <a:off x="0" y="4535424"/>
            <a:ext cx="12191695" cy="457200"/>
          </a:xfrm>
          <a:prstGeom prst="rect">
            <a:avLst/>
          </a:prstGeom>
          <a:noFill/>
        </p:spPr>
        <p:txBody>
          <a:bodyPr wrap="square">
            <a:spAutoFit/>
          </a:bodyPr>
          <a:lstStyle/>
          <a:p>
            <a:pPr algn="ctr">
              <a:spcBef>
                <a:spcPts val="0"/>
              </a:spcBef>
              <a:spcAft>
                <a:spcPts val="0"/>
              </a:spcAft>
            </a:pPr>
            <a:r>
              <a:rPr sz="2700" b="1" i="0">
                <a:solidFill>
                  <a:srgbClr val="1B5697"/>
                </a:solidFill>
                <a:latin typeface="Segoe UI"/>
              </a:rPr>
              <a:t>LUN CHANPOLY</a:t>
            </a:r>
          </a:p>
        </p:txBody>
      </p:sp>
      <p:sp>
        <p:nvSpPr>
          <p:cNvPr id="13" name="TextBox 12"/>
          <p:cNvSpPr txBox="1"/>
          <p:nvPr/>
        </p:nvSpPr>
        <p:spPr>
          <a:xfrm>
            <a:off x="1371600" y="5193792"/>
            <a:ext cx="5120640" cy="310896"/>
          </a:xfrm>
          <a:prstGeom prst="rect">
            <a:avLst/>
          </a:prstGeom>
          <a:noFill/>
        </p:spPr>
        <p:txBody>
          <a:bodyPr wrap="square">
            <a:spAutoFit/>
          </a:bodyPr>
          <a:lstStyle/>
          <a:p>
            <a:pPr algn="l">
              <a:spcBef>
                <a:spcPts val="0"/>
              </a:spcBef>
              <a:spcAft>
                <a:spcPts val="0"/>
              </a:spcAft>
            </a:pPr>
            <a:r>
              <a:rPr sz="1400" b="0" i="0">
                <a:solidFill>
                  <a:srgbClr val="262626"/>
                </a:solidFill>
                <a:latin typeface="Calibri"/>
              </a:rPr>
              <a:t>Supervisor   :  Dr. HAS Sothea</a:t>
            </a:r>
          </a:p>
        </p:txBody>
      </p:sp>
      <p:sp>
        <p:nvSpPr>
          <p:cNvPr id="14" name="TextBox 13"/>
          <p:cNvSpPr txBox="1"/>
          <p:nvPr/>
        </p:nvSpPr>
        <p:spPr>
          <a:xfrm>
            <a:off x="6858000" y="5193792"/>
            <a:ext cx="5120640" cy="310896"/>
          </a:xfrm>
          <a:prstGeom prst="rect">
            <a:avLst/>
          </a:prstGeom>
          <a:noFill/>
        </p:spPr>
        <p:txBody>
          <a:bodyPr wrap="square">
            <a:spAutoFit/>
          </a:bodyPr>
          <a:lstStyle/>
          <a:p>
            <a:pPr algn="l">
              <a:spcBef>
                <a:spcPts val="0"/>
              </a:spcBef>
              <a:spcAft>
                <a:spcPts val="0"/>
              </a:spcAft>
            </a:pPr>
            <a:r>
              <a:rPr sz="1400" b="0" i="0">
                <a:solidFill>
                  <a:srgbClr val="262626"/>
                </a:solidFill>
                <a:latin typeface="Calibri"/>
              </a:rPr>
              <a:t>Organization  :  DAC (Decent Actuarial Consultants)</a:t>
            </a:r>
          </a:p>
        </p:txBody>
      </p:sp>
      <p:sp>
        <p:nvSpPr>
          <p:cNvPr id="15" name="TextBox 14"/>
          <p:cNvSpPr txBox="1"/>
          <p:nvPr/>
        </p:nvSpPr>
        <p:spPr>
          <a:xfrm>
            <a:off x="1371600" y="5522976"/>
            <a:ext cx="5120640" cy="310896"/>
          </a:xfrm>
          <a:prstGeom prst="rect">
            <a:avLst/>
          </a:prstGeom>
          <a:noFill/>
        </p:spPr>
        <p:txBody>
          <a:bodyPr wrap="square">
            <a:spAutoFit/>
          </a:bodyPr>
          <a:lstStyle/>
          <a:p>
            <a:pPr algn="l">
              <a:spcBef>
                <a:spcPts val="0"/>
              </a:spcBef>
              <a:spcAft>
                <a:spcPts val="0"/>
              </a:spcAft>
            </a:pPr>
            <a:r>
              <a:rPr sz="1400" b="0" i="0">
                <a:solidFill>
                  <a:srgbClr val="262626"/>
                </a:solidFill>
                <a:latin typeface="Calibri"/>
              </a:rPr>
              <a:t>Duration       :  Mar 2026 – Jun 2026</a:t>
            </a:r>
          </a:p>
        </p:txBody>
      </p:sp>
      <p:sp>
        <p:nvSpPr>
          <p:cNvPr id="16" name="TextBox 15"/>
          <p:cNvSpPr txBox="1"/>
          <p:nvPr/>
        </p:nvSpPr>
        <p:spPr>
          <a:xfrm>
            <a:off x="6858000" y="5522976"/>
            <a:ext cx="5120640" cy="310896"/>
          </a:xfrm>
          <a:prstGeom prst="rect">
            <a:avLst/>
          </a:prstGeom>
          <a:noFill/>
        </p:spPr>
        <p:txBody>
          <a:bodyPr wrap="square">
            <a:spAutoFit/>
          </a:bodyPr>
          <a:lstStyle/>
          <a:p>
            <a:pPr algn="l">
              <a:spcBef>
                <a:spcPts val="0"/>
              </a:spcBef>
              <a:spcAft>
                <a:spcPts val="0"/>
              </a:spcAft>
            </a:pPr>
            <a:r>
              <a:rPr sz="1400" b="0" i="0">
                <a:solidFill>
                  <a:srgbClr val="262626"/>
                </a:solidFill>
                <a:latin typeface="Calibri"/>
              </a:rPr>
              <a:t>DAC Advisor  :  Mr. ON Radet</a:t>
            </a:r>
          </a:p>
        </p:txBody>
      </p:sp>
      <p:sp>
        <p:nvSpPr>
          <p:cNvPr id="17" name="TextBox 16"/>
          <p:cNvSpPr txBox="1"/>
          <p:nvPr/>
        </p:nvSpPr>
        <p:spPr>
          <a:xfrm>
            <a:off x="0" y="6035040"/>
            <a:ext cx="12191695" cy="347472"/>
          </a:xfrm>
          <a:prstGeom prst="rect">
            <a:avLst/>
          </a:prstGeom>
          <a:noFill/>
        </p:spPr>
        <p:txBody>
          <a:bodyPr wrap="square">
            <a:spAutoFit/>
          </a:bodyPr>
          <a:lstStyle/>
          <a:p>
            <a:pPr algn="ctr">
              <a:spcBef>
                <a:spcPts val="0"/>
              </a:spcBef>
              <a:spcAft>
                <a:spcPts val="0"/>
              </a:spcAft>
            </a:pPr>
            <a:r>
              <a:rPr sz="1500" b="1" i="0">
                <a:solidFill>
                  <a:srgbClr val="505050"/>
                </a:solidFill>
                <a:latin typeface="Calibri"/>
              </a:rPr>
              <a:t>July 2026</a:t>
            </a:r>
          </a:p>
        </p:txBody>
      </p:sp>
      <p:sp>
        <p:nvSpPr>
          <p:cNvPr id="18" name="Rectangle 17"/>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0" name="Rectangle 19"/>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Title</a:t>
            </a:r>
          </a:p>
        </p:txBody>
      </p:sp>
      <p:sp>
        <p:nvSpPr>
          <p:cNvPr id="22" name="Rectangle 21"/>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 / 43</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 y="-19400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TABLE OF CONTENTS</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200000"/>
            <a:ext cx="450000" cy="7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7200" y="1400000"/>
            <a:ext cx="300000" cy="350000"/>
          </a:xfrm>
          <a:prstGeom prst="rect">
            <a:avLst/>
          </a:prstGeom>
          <a:noFill/>
        </p:spPr>
        <p:txBody>
          <a:bodyPr wrap="square">
            <a:spAutoFit/>
          </a:bodyPr>
          <a:lstStyle/>
          <a:p>
            <a:pPr algn="ctr">
              <a:spcBef>
                <a:spcPts val="0"/>
              </a:spcBef>
              <a:spcAft>
                <a:spcPts val="0"/>
              </a:spcAft>
            </a:pPr>
            <a:r>
              <a:rPr sz="1800" b="1" i="0">
                <a:solidFill>
                  <a:srgbClr val="FFFFFF"/>
                </a:solidFill>
                <a:latin typeface="Calibri"/>
              </a:rPr>
              <a:t>I</a:t>
            </a:r>
          </a:p>
        </p:txBody>
      </p:sp>
      <p:sp>
        <p:nvSpPr>
          <p:cNvPr id="7" name="TextBox 6"/>
          <p:cNvSpPr txBox="1"/>
          <p:nvPr/>
        </p:nvSpPr>
        <p:spPr>
          <a:xfrm>
            <a:off x="957200" y="1400000"/>
            <a:ext cx="10677295" cy="350000"/>
          </a:xfrm>
          <a:prstGeom prst="rect">
            <a:avLst/>
          </a:prstGeom>
          <a:noFill/>
        </p:spPr>
        <p:txBody>
          <a:bodyPr wrap="square">
            <a:spAutoFit/>
          </a:bodyPr>
          <a:lstStyle/>
          <a:p>
            <a:pPr algn="l">
              <a:spcBef>
                <a:spcPts val="0"/>
              </a:spcBef>
              <a:spcAft>
                <a:spcPts val="0"/>
              </a:spcAft>
            </a:pPr>
            <a:r>
              <a:rPr sz="1600" b="0" i="0">
                <a:solidFill>
                  <a:srgbClr val="1B5697"/>
                </a:solidFill>
                <a:latin typeface="Calibri"/>
              </a:rPr>
              <a:t>Introduction &amp; Problem Background</a:t>
            </a:r>
          </a:p>
        </p:txBody>
      </p:sp>
      <p:sp>
        <p:nvSpPr>
          <p:cNvPr id="8" name="Rectangle 7"/>
          <p:cNvSpPr/>
          <p:nvPr/>
        </p:nvSpPr>
        <p:spPr>
          <a:xfrm>
            <a:off x="457200" y="2030000"/>
            <a:ext cx="450000" cy="7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7200" y="2230000"/>
            <a:ext cx="350000" cy="369332"/>
          </a:xfrm>
          <a:prstGeom prst="rect">
            <a:avLst/>
          </a:prstGeom>
          <a:noFill/>
        </p:spPr>
        <p:txBody>
          <a:bodyPr wrap="square">
            <a:spAutoFit/>
          </a:bodyPr>
          <a:lstStyle/>
          <a:p>
            <a:pPr algn="ctr">
              <a:spcBef>
                <a:spcPts val="0"/>
              </a:spcBef>
              <a:spcAft>
                <a:spcPts val="0"/>
              </a:spcAft>
            </a:pPr>
            <a:r>
              <a:rPr sz="1800" b="1" i="0">
                <a:solidFill>
                  <a:srgbClr val="FFFFFF"/>
                </a:solidFill>
                <a:latin typeface="Calibri"/>
              </a:rPr>
              <a:t>II</a:t>
            </a:r>
          </a:p>
        </p:txBody>
      </p:sp>
      <p:sp>
        <p:nvSpPr>
          <p:cNvPr id="10" name="TextBox 9"/>
          <p:cNvSpPr txBox="1"/>
          <p:nvPr/>
        </p:nvSpPr>
        <p:spPr>
          <a:xfrm>
            <a:off x="957200" y="2230000"/>
            <a:ext cx="10677295" cy="350000"/>
          </a:xfrm>
          <a:prstGeom prst="rect">
            <a:avLst/>
          </a:prstGeom>
          <a:noFill/>
        </p:spPr>
        <p:txBody>
          <a:bodyPr wrap="square">
            <a:spAutoFit/>
          </a:bodyPr>
          <a:lstStyle/>
          <a:p>
            <a:pPr algn="l">
              <a:spcBef>
                <a:spcPts val="0"/>
              </a:spcBef>
              <a:spcAft>
                <a:spcPts val="0"/>
              </a:spcAft>
            </a:pPr>
            <a:r>
              <a:rPr sz="1600" b="0" i="0">
                <a:solidFill>
                  <a:srgbClr val="1B5697"/>
                </a:solidFill>
                <a:latin typeface="Calibri"/>
              </a:rPr>
              <a:t>Literature Review</a:t>
            </a:r>
          </a:p>
        </p:txBody>
      </p:sp>
      <p:sp>
        <p:nvSpPr>
          <p:cNvPr id="11" name="Rectangle 10"/>
          <p:cNvSpPr/>
          <p:nvPr/>
        </p:nvSpPr>
        <p:spPr>
          <a:xfrm>
            <a:off x="457200" y="2860000"/>
            <a:ext cx="450000" cy="7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32200" y="3060000"/>
            <a:ext cx="450000" cy="369332"/>
          </a:xfrm>
          <a:prstGeom prst="rect">
            <a:avLst/>
          </a:prstGeom>
          <a:noFill/>
        </p:spPr>
        <p:txBody>
          <a:bodyPr wrap="square">
            <a:spAutoFit/>
          </a:bodyPr>
          <a:lstStyle/>
          <a:p>
            <a:pPr algn="ctr">
              <a:spcBef>
                <a:spcPts val="0"/>
              </a:spcBef>
              <a:spcAft>
                <a:spcPts val="0"/>
              </a:spcAft>
            </a:pPr>
            <a:r>
              <a:rPr sz="1800" b="1" i="0" dirty="0">
                <a:solidFill>
                  <a:srgbClr val="FFFFFF"/>
                </a:solidFill>
                <a:latin typeface="Calibri"/>
              </a:rPr>
              <a:t>III</a:t>
            </a:r>
          </a:p>
        </p:txBody>
      </p:sp>
      <p:sp>
        <p:nvSpPr>
          <p:cNvPr id="13" name="TextBox 12"/>
          <p:cNvSpPr txBox="1"/>
          <p:nvPr/>
        </p:nvSpPr>
        <p:spPr>
          <a:xfrm>
            <a:off x="957200" y="3060000"/>
            <a:ext cx="10677295" cy="350000"/>
          </a:xfrm>
          <a:prstGeom prst="rect">
            <a:avLst/>
          </a:prstGeom>
          <a:noFill/>
        </p:spPr>
        <p:txBody>
          <a:bodyPr wrap="square">
            <a:spAutoFit/>
          </a:bodyPr>
          <a:lstStyle/>
          <a:p>
            <a:pPr algn="l">
              <a:spcBef>
                <a:spcPts val="0"/>
              </a:spcBef>
              <a:spcAft>
                <a:spcPts val="0"/>
              </a:spcAft>
            </a:pPr>
            <a:r>
              <a:rPr sz="1600" b="0" i="0">
                <a:solidFill>
                  <a:srgbClr val="1B5697"/>
                </a:solidFill>
                <a:latin typeface="Calibri"/>
              </a:rPr>
              <a:t>Methodology &amp; Model Design</a:t>
            </a:r>
          </a:p>
        </p:txBody>
      </p:sp>
      <p:sp>
        <p:nvSpPr>
          <p:cNvPr id="14" name="Rectangle 13"/>
          <p:cNvSpPr/>
          <p:nvPr/>
        </p:nvSpPr>
        <p:spPr>
          <a:xfrm>
            <a:off x="457200" y="3690000"/>
            <a:ext cx="450000" cy="7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835124"/>
            <a:ext cx="400000" cy="369332"/>
          </a:xfrm>
          <a:prstGeom prst="rect">
            <a:avLst/>
          </a:prstGeom>
          <a:noFill/>
        </p:spPr>
        <p:txBody>
          <a:bodyPr wrap="square">
            <a:spAutoFit/>
          </a:bodyPr>
          <a:lstStyle/>
          <a:p>
            <a:pPr algn="ctr">
              <a:spcBef>
                <a:spcPts val="0"/>
              </a:spcBef>
              <a:spcAft>
                <a:spcPts val="0"/>
              </a:spcAft>
            </a:pPr>
            <a:r>
              <a:rPr sz="1800" b="1" i="0" dirty="0">
                <a:solidFill>
                  <a:srgbClr val="FFFFFF"/>
                </a:solidFill>
                <a:latin typeface="Calibri"/>
              </a:rPr>
              <a:t>IV</a:t>
            </a:r>
          </a:p>
        </p:txBody>
      </p:sp>
      <p:sp>
        <p:nvSpPr>
          <p:cNvPr id="16" name="TextBox 15"/>
          <p:cNvSpPr txBox="1"/>
          <p:nvPr/>
        </p:nvSpPr>
        <p:spPr>
          <a:xfrm>
            <a:off x="957200" y="3890000"/>
            <a:ext cx="10677295" cy="350000"/>
          </a:xfrm>
          <a:prstGeom prst="rect">
            <a:avLst/>
          </a:prstGeom>
          <a:noFill/>
        </p:spPr>
        <p:txBody>
          <a:bodyPr wrap="square">
            <a:spAutoFit/>
          </a:bodyPr>
          <a:lstStyle/>
          <a:p>
            <a:pPr algn="l">
              <a:spcBef>
                <a:spcPts val="0"/>
              </a:spcBef>
              <a:spcAft>
                <a:spcPts val="0"/>
              </a:spcAft>
            </a:pPr>
            <a:r>
              <a:rPr sz="1600" b="0" i="0">
                <a:solidFill>
                  <a:srgbClr val="1B5697"/>
                </a:solidFill>
                <a:latin typeface="Calibri"/>
              </a:rPr>
              <a:t>Results &amp; Evaluation</a:t>
            </a:r>
          </a:p>
        </p:txBody>
      </p:sp>
      <p:sp>
        <p:nvSpPr>
          <p:cNvPr id="17" name="Rectangle 16"/>
          <p:cNvSpPr/>
          <p:nvPr/>
        </p:nvSpPr>
        <p:spPr>
          <a:xfrm>
            <a:off x="457200" y="4520000"/>
            <a:ext cx="450000" cy="7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07200" y="4720000"/>
            <a:ext cx="300000" cy="350000"/>
          </a:xfrm>
          <a:prstGeom prst="rect">
            <a:avLst/>
          </a:prstGeom>
          <a:noFill/>
        </p:spPr>
        <p:txBody>
          <a:bodyPr wrap="square">
            <a:spAutoFit/>
          </a:bodyPr>
          <a:lstStyle/>
          <a:p>
            <a:pPr algn="ctr">
              <a:spcBef>
                <a:spcPts val="0"/>
              </a:spcBef>
              <a:spcAft>
                <a:spcPts val="0"/>
              </a:spcAft>
            </a:pPr>
            <a:r>
              <a:rPr sz="1800" b="1" i="0">
                <a:solidFill>
                  <a:srgbClr val="FFFFFF"/>
                </a:solidFill>
                <a:latin typeface="Calibri"/>
              </a:rPr>
              <a:t>V</a:t>
            </a:r>
          </a:p>
        </p:txBody>
      </p:sp>
      <p:sp>
        <p:nvSpPr>
          <p:cNvPr id="19" name="TextBox 18"/>
          <p:cNvSpPr txBox="1"/>
          <p:nvPr/>
        </p:nvSpPr>
        <p:spPr>
          <a:xfrm>
            <a:off x="957200" y="4720000"/>
            <a:ext cx="10677295" cy="350000"/>
          </a:xfrm>
          <a:prstGeom prst="rect">
            <a:avLst/>
          </a:prstGeom>
          <a:noFill/>
        </p:spPr>
        <p:txBody>
          <a:bodyPr wrap="square">
            <a:spAutoFit/>
          </a:bodyPr>
          <a:lstStyle/>
          <a:p>
            <a:pPr algn="l">
              <a:spcBef>
                <a:spcPts val="0"/>
              </a:spcBef>
              <a:spcAft>
                <a:spcPts val="0"/>
              </a:spcAft>
            </a:pPr>
            <a:r>
              <a:rPr sz="1600" b="0" i="0">
                <a:solidFill>
                  <a:srgbClr val="1B5697"/>
                </a:solidFill>
                <a:latin typeface="Calibri"/>
              </a:rPr>
              <a:t>Conclusion &amp; Future Work</a:t>
            </a:r>
          </a:p>
        </p:txBody>
      </p:sp>
      <p:sp>
        <p:nvSpPr>
          <p:cNvPr id="20" name="Rectangle 19"/>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2" name="Rectangle 21"/>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Contents</a:t>
            </a:r>
          </a:p>
        </p:txBody>
      </p:sp>
      <p:sp>
        <p:nvSpPr>
          <p:cNvPr id="24" name="Rectangle 23"/>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 / 43</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MEET SOPHEA</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100000"/>
            <a:ext cx="5200000" cy="5257376"/>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100000"/>
            <a:ext cx="91440" cy="52573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17200" y="1240000"/>
            <a:ext cx="5000000" cy="480000"/>
          </a:xfrm>
          <a:prstGeom prst="rect">
            <a:avLst/>
          </a:prstGeom>
          <a:noFill/>
        </p:spPr>
        <p:txBody>
          <a:bodyPr wrap="square">
            <a:spAutoFit/>
          </a:bodyPr>
          <a:lstStyle/>
          <a:p>
            <a:pPr algn="l">
              <a:spcBef>
                <a:spcPts val="0"/>
              </a:spcBef>
              <a:spcAft>
                <a:spcPts val="0"/>
              </a:spcAft>
            </a:pPr>
            <a:r>
              <a:rPr sz="2600" b="1" i="0">
                <a:solidFill>
                  <a:srgbClr val="1B5697"/>
                </a:solidFill>
                <a:latin typeface="Calibri"/>
              </a:rPr>
              <a:t>SOPHEA</a:t>
            </a:r>
          </a:p>
        </p:txBody>
      </p:sp>
      <p:sp>
        <p:nvSpPr>
          <p:cNvPr id="8" name="TextBox 7"/>
          <p:cNvSpPr txBox="1"/>
          <p:nvPr/>
        </p:nvSpPr>
        <p:spPr>
          <a:xfrm>
            <a:off x="617200" y="1740000"/>
            <a:ext cx="5000000" cy="340000"/>
          </a:xfrm>
          <a:prstGeom prst="rect">
            <a:avLst/>
          </a:prstGeom>
          <a:noFill/>
        </p:spPr>
        <p:txBody>
          <a:bodyPr wrap="square">
            <a:spAutoFit/>
          </a:bodyPr>
          <a:lstStyle/>
          <a:p>
            <a:pPr algn="l">
              <a:spcBef>
                <a:spcPts val="0"/>
              </a:spcBef>
              <a:spcAft>
                <a:spcPts val="0"/>
              </a:spcAft>
            </a:pPr>
            <a:r>
              <a:rPr sz="1200" b="0" i="0">
                <a:solidFill>
                  <a:srgbClr val="404040"/>
                </a:solidFill>
                <a:latin typeface="Calibri"/>
              </a:rPr>
              <a:t>Age 42  ·  Kampong Cham Province  ·  Rice Farmer</a:t>
            </a:r>
          </a:p>
        </p:txBody>
      </p:sp>
      <p:sp>
        <p:nvSpPr>
          <p:cNvPr id="9" name="Rectangle 8"/>
          <p:cNvSpPr/>
          <p:nvPr/>
        </p:nvSpPr>
        <p:spPr>
          <a:xfrm>
            <a:off x="617200" y="2180000"/>
            <a:ext cx="4950000" cy="27432"/>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17200" y="2280000"/>
            <a:ext cx="5000000" cy="3957376"/>
          </a:xfrm>
          <a:prstGeom prst="rect">
            <a:avLst/>
          </a:prstGeom>
          <a:noFill/>
        </p:spPr>
        <p:txBody>
          <a:bodyPr wrap="square">
            <a:spAutoFit/>
          </a:bodyPr>
          <a:lstStyle/>
          <a:p>
            <a:pPr>
              <a:spcBef>
                <a:spcPts val="1000"/>
              </a:spcBef>
            </a:pPr>
            <a:r>
              <a:rPr sz="1200" b="1">
                <a:solidFill>
                  <a:srgbClr val="1B5697"/>
                </a:solidFill>
              </a:rPr>
              <a:t>BMI:  </a:t>
            </a:r>
            <a:r>
              <a:rPr sz="1200">
                <a:solidFill>
                  <a:srgbClr val="505050"/>
                </a:solidFill>
              </a:rPr>
              <a:t>24.1  (Normal range)</a:t>
            </a:r>
          </a:p>
          <a:p>
            <a:pPr>
              <a:spcBef>
                <a:spcPts val="1000"/>
              </a:spcBef>
            </a:pPr>
            <a:r>
              <a:rPr sz="1200" b="1">
                <a:solidFill>
                  <a:srgbClr val="1B5697"/>
                </a:solidFill>
              </a:rPr>
              <a:t>Smoker:  </a:t>
            </a:r>
            <a:r>
              <a:rPr sz="1200">
                <a:solidFill>
                  <a:srgbClr val="505050"/>
                </a:solidFill>
              </a:rPr>
              <a:t>No</a:t>
            </a:r>
          </a:p>
          <a:p>
            <a:pPr>
              <a:spcBef>
                <a:spcPts val="1000"/>
              </a:spcBef>
            </a:pPr>
            <a:r>
              <a:rPr sz="1200" b="1">
                <a:solidFill>
                  <a:srgbClr val="1B5697"/>
                </a:solidFill>
              </a:rPr>
              <a:t>Physical Activity:  </a:t>
            </a:r>
            <a:r>
              <a:rPr sz="1200">
                <a:solidFill>
                  <a:srgbClr val="505050"/>
                </a:solidFill>
              </a:rPr>
              <a:t>High  (field farming)</a:t>
            </a:r>
          </a:p>
          <a:p>
            <a:pPr>
              <a:spcBef>
                <a:spcPts val="1000"/>
              </a:spcBef>
            </a:pPr>
            <a:r>
              <a:rPr sz="1200" b="1">
                <a:solidFill>
                  <a:srgbClr val="1B5697"/>
                </a:solidFill>
              </a:rPr>
              <a:t>Clinical Flag:  </a:t>
            </a:r>
            <a:r>
              <a:rPr sz="1200">
                <a:solidFill>
                  <a:srgbClr val="505050"/>
                </a:solidFill>
              </a:rPr>
              <a:t>Hypertension  (managed)</a:t>
            </a:r>
          </a:p>
          <a:p>
            <a:pPr>
              <a:spcBef>
                <a:spcPts val="1000"/>
              </a:spcBef>
            </a:pPr>
            <a:r>
              <a:rPr sz="1200" b="1">
                <a:solidFill>
                  <a:srgbClr val="1B5697"/>
                </a:solidFill>
              </a:rPr>
              <a:t>Wealth Index:  </a:t>
            </a:r>
            <a:r>
              <a:rPr sz="1200">
                <a:solidFill>
                  <a:srgbClr val="505050"/>
                </a:solidFill>
              </a:rPr>
              <a:t>Low</a:t>
            </a:r>
          </a:p>
          <a:p>
            <a:pPr>
              <a:spcBef>
                <a:spcPts val="1000"/>
              </a:spcBef>
            </a:pPr>
            <a:r>
              <a:rPr sz="1200" b="1">
                <a:solidFill>
                  <a:srgbClr val="1B5697"/>
                </a:solidFill>
              </a:rPr>
              <a:t>Education:  </a:t>
            </a:r>
            <a:r>
              <a:rPr sz="1200">
                <a:solidFill>
                  <a:srgbClr val="505050"/>
                </a:solidFill>
              </a:rPr>
              <a:t>Primary</a:t>
            </a:r>
          </a:p>
        </p:txBody>
      </p:sp>
      <p:sp>
        <p:nvSpPr>
          <p:cNvPr id="11" name="TextBox 10"/>
          <p:cNvSpPr txBox="1"/>
          <p:nvPr/>
        </p:nvSpPr>
        <p:spPr>
          <a:xfrm>
            <a:off x="5937200" y="1180000"/>
            <a:ext cx="6054495" cy="1350000"/>
          </a:xfrm>
          <a:prstGeom prst="rect">
            <a:avLst/>
          </a:prstGeom>
          <a:noFill/>
        </p:spPr>
        <p:txBody>
          <a:bodyPr wrap="square">
            <a:spAutoFit/>
          </a:bodyPr>
          <a:lstStyle/>
          <a:p>
            <a:pPr algn="l">
              <a:spcBef>
                <a:spcPts val="0"/>
              </a:spcBef>
              <a:spcAft>
                <a:spcPts val="0"/>
              </a:spcAft>
            </a:pPr>
            <a:r>
              <a:rPr sz="1300" b="0" i="1">
                <a:solidFill>
                  <a:srgbClr val="505050"/>
                </a:solidFill>
                <a:latin typeface="Calibri"/>
              </a:rPr>
              <a:t>In 2023, Sophea walked into a private insurer in Phnom Penh and applied for voluntary health insurance.
The static underwriting system checked two fields.</a:t>
            </a:r>
          </a:p>
        </p:txBody>
      </p:sp>
      <p:sp>
        <p:nvSpPr>
          <p:cNvPr id="12" name="Rectangle 11"/>
          <p:cNvSpPr/>
          <p:nvPr/>
        </p:nvSpPr>
        <p:spPr>
          <a:xfrm>
            <a:off x="5937200" y="2650000"/>
            <a:ext cx="6054495" cy="55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937200" y="2650000"/>
            <a:ext cx="73152" cy="55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67200" y="2780000"/>
            <a:ext cx="5894495" cy="390000"/>
          </a:xfrm>
          <a:prstGeom prst="rect">
            <a:avLst/>
          </a:prstGeom>
          <a:noFill/>
        </p:spPr>
        <p:txBody>
          <a:bodyPr wrap="square">
            <a:spAutoFit/>
          </a:bodyPr>
          <a:lstStyle/>
          <a:p>
            <a:pPr algn="l">
              <a:spcBef>
                <a:spcPts val="0"/>
              </a:spcBef>
              <a:spcAft>
                <a:spcPts val="0"/>
              </a:spcAft>
            </a:pPr>
            <a:r>
              <a:rPr sz="1300" b="1" i="0">
                <a:solidFill>
                  <a:srgbClr val="7D4E00"/>
                </a:solidFill>
                <a:latin typeface="Calibri"/>
              </a:rPr>
              <a:t>OCCUPATION:  Agriculture</a:t>
            </a:r>
          </a:p>
        </p:txBody>
      </p:sp>
      <p:sp>
        <p:nvSpPr>
          <p:cNvPr id="15" name="Rectangle 14"/>
          <p:cNvSpPr/>
          <p:nvPr/>
        </p:nvSpPr>
        <p:spPr>
          <a:xfrm>
            <a:off x="5937200" y="3320000"/>
            <a:ext cx="6054495" cy="55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937200" y="3320000"/>
            <a:ext cx="73152" cy="55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067200" y="3450000"/>
            <a:ext cx="5894495" cy="390000"/>
          </a:xfrm>
          <a:prstGeom prst="rect">
            <a:avLst/>
          </a:prstGeom>
          <a:noFill/>
        </p:spPr>
        <p:txBody>
          <a:bodyPr wrap="square">
            <a:spAutoFit/>
          </a:bodyPr>
          <a:lstStyle/>
          <a:p>
            <a:pPr algn="l">
              <a:spcBef>
                <a:spcPts val="0"/>
              </a:spcBef>
              <a:spcAft>
                <a:spcPts val="0"/>
              </a:spcAft>
            </a:pPr>
            <a:r>
              <a:rPr sz="1300" b="1" i="0">
                <a:solidFill>
                  <a:srgbClr val="7D4E00"/>
                </a:solidFill>
                <a:latin typeface="Calibri"/>
              </a:rPr>
              <a:t>CONDITION:  Hypertension</a:t>
            </a:r>
          </a:p>
        </p:txBody>
      </p:sp>
      <p:sp>
        <p:nvSpPr>
          <p:cNvPr id="18" name="TextBox 17"/>
          <p:cNvSpPr txBox="1"/>
          <p:nvPr/>
        </p:nvSpPr>
        <p:spPr>
          <a:xfrm>
            <a:off x="5937200" y="3950000"/>
            <a:ext cx="6054495" cy="340000"/>
          </a:xfrm>
          <a:prstGeom prst="rect">
            <a:avLst/>
          </a:prstGeom>
          <a:noFill/>
        </p:spPr>
        <p:txBody>
          <a:bodyPr wrap="square">
            <a:spAutoFit/>
          </a:bodyPr>
          <a:lstStyle/>
          <a:p>
            <a:pPr algn="l">
              <a:spcBef>
                <a:spcPts val="0"/>
              </a:spcBef>
              <a:spcAft>
                <a:spcPts val="0"/>
              </a:spcAft>
            </a:pPr>
            <a:r>
              <a:rPr sz="1200" b="0" i="1">
                <a:solidFill>
                  <a:srgbClr val="505050"/>
                </a:solidFill>
                <a:latin typeface="Calibri"/>
              </a:rPr>
              <a:t>Both thresholds crossed. System decision:</a:t>
            </a:r>
          </a:p>
        </p:txBody>
      </p:sp>
      <p:sp>
        <p:nvSpPr>
          <p:cNvPr id="19" name="Rectangle 18"/>
          <p:cNvSpPr/>
          <p:nvPr/>
        </p:nvSpPr>
        <p:spPr>
          <a:xfrm>
            <a:off x="5937200" y="4350000"/>
            <a:ext cx="6054495" cy="820000"/>
          </a:xfrm>
          <a:prstGeom prst="rect">
            <a:avLst/>
          </a:prstGeom>
          <a:solidFill>
            <a:srgbClr val="F8E7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5937200" y="4350000"/>
            <a:ext cx="109728" cy="820000"/>
          </a:xfrm>
          <a:prstGeom prst="rect">
            <a:avLst/>
          </a:prstGeom>
          <a:solidFill>
            <a:srgbClr val="D93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107200" y="4510000"/>
            <a:ext cx="5854495" cy="500000"/>
          </a:xfrm>
          <a:prstGeom prst="rect">
            <a:avLst/>
          </a:prstGeom>
          <a:noFill/>
        </p:spPr>
        <p:txBody>
          <a:bodyPr wrap="square">
            <a:spAutoFit/>
          </a:bodyPr>
          <a:lstStyle/>
          <a:p>
            <a:pPr algn="l">
              <a:spcBef>
                <a:spcPts val="0"/>
              </a:spcBef>
              <a:spcAft>
                <a:spcPts val="0"/>
              </a:spcAft>
            </a:pPr>
            <a:r>
              <a:rPr sz="3600" b="1" i="0">
                <a:solidFill>
                  <a:srgbClr val="D93B3B"/>
                </a:solidFill>
                <a:latin typeface="Calibri"/>
              </a:rPr>
              <a:t>DECLINE</a:t>
            </a:r>
          </a:p>
        </p:txBody>
      </p:sp>
      <p:sp>
        <p:nvSpPr>
          <p:cNvPr id="22" name="TextBox 21"/>
          <p:cNvSpPr txBox="1"/>
          <p:nvPr/>
        </p:nvSpPr>
        <p:spPr>
          <a:xfrm>
            <a:off x="5937200" y="5330000"/>
            <a:ext cx="6054495" cy="500000"/>
          </a:xfrm>
          <a:prstGeom prst="rect">
            <a:avLst/>
          </a:prstGeom>
          <a:noFill/>
        </p:spPr>
        <p:txBody>
          <a:bodyPr wrap="square">
            <a:spAutoFit/>
          </a:bodyPr>
          <a:lstStyle/>
          <a:p>
            <a:pPr algn="l">
              <a:spcBef>
                <a:spcPts val="0"/>
              </a:spcBef>
              <a:spcAft>
                <a:spcPts val="0"/>
              </a:spcAft>
            </a:pPr>
            <a:r>
              <a:rPr sz="1200" b="0" i="1">
                <a:solidFill>
                  <a:srgbClr val="505050"/>
                </a:solidFill>
                <a:latin typeface="Calibri"/>
              </a:rPr>
              <a:t>Sophea leaves without coverage.</a:t>
            </a:r>
          </a:p>
          <a:p>
            <a:pPr algn="l">
              <a:spcBef>
                <a:spcPts val="800"/>
              </a:spcBef>
            </a:pPr>
            <a:r>
              <a:rPr sz="1300" b="1" i="0">
                <a:solidFill>
                  <a:srgbClr val="1B5697"/>
                </a:solidFill>
                <a:latin typeface="Calibri"/>
              </a:rPr>
              <a:t>Was that the right answer?</a:t>
            </a:r>
          </a:p>
        </p:txBody>
      </p:sp>
      <p:sp>
        <p:nvSpPr>
          <p:cNvPr id="23" name="Rectangle 22"/>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5" name="Rectangle 24"/>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Introduction &amp; Problem Background</a:t>
            </a:r>
          </a:p>
        </p:txBody>
      </p:sp>
      <p:sp>
        <p:nvSpPr>
          <p:cNvPr id="27" name="Rectangle 26"/>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1 / 43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ABOUT DECENT ACTUARIAL CONSULTANTS</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200000"/>
            <a:ext cx="5538647" cy="7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200000"/>
            <a:ext cx="91440" cy="7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07200" y="1320000"/>
            <a:ext cx="5358647" cy="48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Appointed Actuary Services — Life &amp; General Insurance, Southeast Asia</a:t>
            </a:r>
          </a:p>
        </p:txBody>
      </p:sp>
      <p:sp>
        <p:nvSpPr>
          <p:cNvPr id="8" name="Rectangle 7"/>
          <p:cNvSpPr/>
          <p:nvPr/>
        </p:nvSpPr>
        <p:spPr>
          <a:xfrm>
            <a:off x="457200" y="1980000"/>
            <a:ext cx="5538647" cy="7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57200" y="1980000"/>
            <a:ext cx="91440" cy="7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07200" y="2100000"/>
            <a:ext cx="5358647" cy="48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IFRS 17 Implementation</a:t>
            </a:r>
          </a:p>
        </p:txBody>
      </p:sp>
      <p:sp>
        <p:nvSpPr>
          <p:cNvPr id="11" name="Rectangle 10"/>
          <p:cNvSpPr/>
          <p:nvPr/>
        </p:nvSpPr>
        <p:spPr>
          <a:xfrm>
            <a:off x="457200" y="2760000"/>
            <a:ext cx="5538647" cy="7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57200" y="2760000"/>
            <a:ext cx="91440" cy="7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07200" y="2880000"/>
            <a:ext cx="5358647" cy="48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Product Development — Life &amp; General Insurance</a:t>
            </a:r>
          </a:p>
        </p:txBody>
      </p:sp>
      <p:sp>
        <p:nvSpPr>
          <p:cNvPr id="14" name="Rectangle 13"/>
          <p:cNvSpPr/>
          <p:nvPr/>
        </p:nvSpPr>
        <p:spPr>
          <a:xfrm>
            <a:off x="6195847" y="1200000"/>
            <a:ext cx="5538647" cy="7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95847" y="1200000"/>
            <a:ext cx="91440" cy="7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45847" y="1320000"/>
            <a:ext cx="5358647" cy="48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Asset–Liability Management &amp; Enterprise Risk Management (ALM/ERM)</a:t>
            </a:r>
          </a:p>
        </p:txBody>
      </p:sp>
      <p:sp>
        <p:nvSpPr>
          <p:cNvPr id="17" name="Rectangle 16"/>
          <p:cNvSpPr/>
          <p:nvPr/>
        </p:nvSpPr>
        <p:spPr>
          <a:xfrm>
            <a:off x="6195847" y="1980000"/>
            <a:ext cx="5538647" cy="7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195847" y="1980000"/>
            <a:ext cx="91440" cy="7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45847" y="2100000"/>
            <a:ext cx="5358647" cy="48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Mergers &amp; Acquisitions Advisory</a:t>
            </a:r>
          </a:p>
        </p:txBody>
      </p:sp>
      <p:sp>
        <p:nvSpPr>
          <p:cNvPr id="20" name="Rectangle 19"/>
          <p:cNvSpPr/>
          <p:nvPr/>
        </p:nvSpPr>
        <p:spPr>
          <a:xfrm>
            <a:off x="6195847" y="2760000"/>
            <a:ext cx="5538647" cy="7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195847" y="2760000"/>
            <a:ext cx="91440" cy="7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45847" y="2880000"/>
            <a:ext cx="5358647" cy="48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Education &amp; Cooperation — University partnerships, government-academia-industry</a:t>
            </a:r>
          </a:p>
        </p:txBody>
      </p:sp>
      <p:sp>
        <p:nvSpPr>
          <p:cNvPr id="23" name="TextBox 22"/>
          <p:cNvSpPr txBox="1"/>
          <p:nvPr/>
        </p:nvSpPr>
        <p:spPr>
          <a:xfrm>
            <a:off x="457200" y="3950000"/>
            <a:ext cx="11277295" cy="400000"/>
          </a:xfrm>
          <a:prstGeom prst="rect">
            <a:avLst/>
          </a:prstGeom>
          <a:noFill/>
        </p:spPr>
        <p:txBody>
          <a:bodyPr wrap="square">
            <a:spAutoFit/>
          </a:bodyPr>
          <a:lstStyle/>
          <a:p>
            <a:pPr algn="l">
              <a:spcBef>
                <a:spcPts val="0"/>
              </a:spcBef>
              <a:spcAft>
                <a:spcPts val="0"/>
              </a:spcAft>
            </a:pPr>
            <a:r>
              <a:rPr sz="1100" b="0" i="1">
                <a:solidFill>
                  <a:srgbClr val="505050"/>
                </a:solidFill>
                <a:latin typeface="Calibri"/>
              </a:rPr>
              <a:t>HQ: Taipei, Taiwan  ·  Regional offices: Phnom Penh, Vietnam, SEA  ·  Internship: March–June 2026  ·  Advisor: Mr. ON Radet</a:t>
            </a:r>
          </a:p>
        </p:txBody>
      </p:sp>
      <p:sp>
        <p:nvSpPr>
          <p:cNvPr id="24" name="Rectangle 23"/>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6" name="Rectangle 25"/>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Introduction &amp; Problem Background</a:t>
            </a:r>
          </a:p>
        </p:txBody>
      </p:sp>
      <p:sp>
        <p:nvSpPr>
          <p:cNvPr id="28" name="Rectangle 27"/>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2 / 43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CAMBODIA HEALTH INSURANCE MARKET</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200000"/>
            <a:ext cx="3800000" cy="18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7200" y="1300000"/>
            <a:ext cx="3600000" cy="900000"/>
          </a:xfrm>
          <a:prstGeom prst="rect">
            <a:avLst/>
          </a:prstGeom>
          <a:noFill/>
        </p:spPr>
        <p:txBody>
          <a:bodyPr wrap="square">
            <a:spAutoFit/>
          </a:bodyPr>
          <a:lstStyle/>
          <a:p>
            <a:pPr algn="ctr">
              <a:spcBef>
                <a:spcPts val="0"/>
              </a:spcBef>
              <a:spcAft>
                <a:spcPts val="0"/>
              </a:spcAft>
            </a:pPr>
            <a:r>
              <a:rPr sz="5200" b="1" i="0">
                <a:solidFill>
                  <a:srgbClr val="FFFFFF"/>
                </a:solidFill>
                <a:latin typeface="Calibri"/>
              </a:rPr>
              <a:t>&lt; 2 %</a:t>
            </a:r>
          </a:p>
        </p:txBody>
      </p:sp>
      <p:sp>
        <p:nvSpPr>
          <p:cNvPr id="7" name="TextBox 6"/>
          <p:cNvSpPr txBox="1"/>
          <p:nvPr/>
        </p:nvSpPr>
        <p:spPr>
          <a:xfrm>
            <a:off x="557200" y="2200000"/>
            <a:ext cx="3600000" cy="400000"/>
          </a:xfrm>
          <a:prstGeom prst="rect">
            <a:avLst/>
          </a:prstGeom>
          <a:noFill/>
        </p:spPr>
        <p:txBody>
          <a:bodyPr wrap="square">
            <a:spAutoFit/>
          </a:bodyPr>
          <a:lstStyle/>
          <a:p>
            <a:pPr algn="ctr">
              <a:spcBef>
                <a:spcPts val="0"/>
              </a:spcBef>
              <a:spcAft>
                <a:spcPts val="0"/>
              </a:spcAft>
            </a:pPr>
            <a:r>
              <a:rPr sz="900" b="0" i="0">
                <a:solidFill>
                  <a:srgbClr val="BDCEE4"/>
                </a:solidFill>
                <a:latin typeface="Calibri"/>
              </a:rPr>
              <a:t>HEALTH-INSURANCE PENETRATION (2023 EST.)</a:t>
            </a:r>
          </a:p>
        </p:txBody>
      </p:sp>
      <p:sp>
        <p:nvSpPr>
          <p:cNvPr id="8" name="Rectangle 7"/>
          <p:cNvSpPr/>
          <p:nvPr/>
        </p:nvSpPr>
        <p:spPr>
          <a:xfrm>
            <a:off x="457200" y="3200000"/>
            <a:ext cx="40000" cy="4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7200" y="3240000"/>
            <a:ext cx="4800000" cy="420000"/>
          </a:xfrm>
          <a:prstGeom prst="rect">
            <a:avLst/>
          </a:prstGeom>
          <a:noFill/>
        </p:spPr>
        <p:txBody>
          <a:bodyPr wrap="square">
            <a:spAutoFit/>
          </a:bodyPr>
          <a:lstStyle/>
          <a:p>
            <a:pPr algn="l">
              <a:spcBef>
                <a:spcPts val="0"/>
              </a:spcBef>
              <a:spcAft>
                <a:spcPts val="0"/>
              </a:spcAft>
            </a:pPr>
            <a:r>
              <a:rPr sz="1200" b="0" i="0">
                <a:solidFill>
                  <a:srgbClr val="262626"/>
                </a:solidFill>
                <a:latin typeface="Calibri"/>
              </a:rPr>
              <a:t>NSSF covers formal-sector workers only (~16% of population)</a:t>
            </a:r>
          </a:p>
        </p:txBody>
      </p:sp>
      <p:sp>
        <p:nvSpPr>
          <p:cNvPr id="10" name="Rectangle 9"/>
          <p:cNvSpPr/>
          <p:nvPr/>
        </p:nvSpPr>
        <p:spPr>
          <a:xfrm>
            <a:off x="457200" y="3780000"/>
            <a:ext cx="40000" cy="4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7200" y="3820000"/>
            <a:ext cx="4800000" cy="420000"/>
          </a:xfrm>
          <a:prstGeom prst="rect">
            <a:avLst/>
          </a:prstGeom>
          <a:noFill/>
        </p:spPr>
        <p:txBody>
          <a:bodyPr wrap="square">
            <a:spAutoFit/>
          </a:bodyPr>
          <a:lstStyle/>
          <a:p>
            <a:pPr algn="l">
              <a:spcBef>
                <a:spcPts val="0"/>
              </a:spcBef>
              <a:spcAft>
                <a:spcPts val="0"/>
              </a:spcAft>
            </a:pPr>
            <a:r>
              <a:rPr sz="1200" b="0" i="0">
                <a:solidFill>
                  <a:srgbClr val="262626"/>
                </a:solidFill>
                <a:latin typeface="Calibri"/>
              </a:rPr>
              <a:t>Private underwriting is manual and rule-based</a:t>
            </a:r>
          </a:p>
        </p:txBody>
      </p:sp>
      <p:sp>
        <p:nvSpPr>
          <p:cNvPr id="12" name="Rectangle 11"/>
          <p:cNvSpPr/>
          <p:nvPr/>
        </p:nvSpPr>
        <p:spPr>
          <a:xfrm>
            <a:off x="457200" y="4360000"/>
            <a:ext cx="40000" cy="4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7200" y="4400000"/>
            <a:ext cx="4800000" cy="420000"/>
          </a:xfrm>
          <a:prstGeom prst="rect">
            <a:avLst/>
          </a:prstGeom>
          <a:noFill/>
        </p:spPr>
        <p:txBody>
          <a:bodyPr wrap="square">
            <a:spAutoFit/>
          </a:bodyPr>
          <a:lstStyle/>
          <a:p>
            <a:pPr algn="l">
              <a:spcBef>
                <a:spcPts val="0"/>
              </a:spcBef>
              <a:spcAft>
                <a:spcPts val="0"/>
              </a:spcAft>
            </a:pPr>
            <a:r>
              <a:rPr sz="1200" b="0" i="0">
                <a:solidFill>
                  <a:srgbClr val="262626"/>
                </a:solidFill>
                <a:latin typeface="Calibri"/>
              </a:rPr>
              <a:t>Agent networks consume 15–30% of premium revenue</a:t>
            </a:r>
          </a:p>
        </p:txBody>
      </p:sp>
      <p:sp>
        <p:nvSpPr>
          <p:cNvPr id="14" name="Rectangle 13"/>
          <p:cNvSpPr/>
          <p:nvPr/>
        </p:nvSpPr>
        <p:spPr>
          <a:xfrm>
            <a:off x="457200" y="4940000"/>
            <a:ext cx="40000" cy="4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77200" y="4980000"/>
            <a:ext cx="4800000" cy="420000"/>
          </a:xfrm>
          <a:prstGeom prst="rect">
            <a:avLst/>
          </a:prstGeom>
          <a:noFill/>
        </p:spPr>
        <p:txBody>
          <a:bodyPr wrap="square">
            <a:spAutoFit/>
          </a:bodyPr>
          <a:lstStyle/>
          <a:p>
            <a:pPr algn="l">
              <a:spcBef>
                <a:spcPts val="0"/>
              </a:spcBef>
              <a:spcAft>
                <a:spcPts val="0"/>
              </a:spcAft>
            </a:pPr>
            <a:r>
              <a:rPr sz="1200" b="0" i="0">
                <a:solidFill>
                  <a:srgbClr val="262626"/>
                </a:solidFill>
                <a:latin typeface="Calibri"/>
              </a:rPr>
              <a:t>No demographic-parity monitoring in practice</a:t>
            </a:r>
          </a:p>
        </p:txBody>
      </p:sp>
      <p:sp>
        <p:nvSpPr>
          <p:cNvPr id="16" name="Rectangle 15"/>
          <p:cNvSpPr/>
          <p:nvPr/>
        </p:nvSpPr>
        <p:spPr>
          <a:xfrm>
            <a:off x="6600000" y="1200000"/>
            <a:ext cx="5200000" cy="38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600000" y="1200000"/>
            <a:ext cx="91440" cy="38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780000" y="1300000"/>
            <a:ext cx="4900000" cy="400000"/>
          </a:xfrm>
          <a:prstGeom prst="rect">
            <a:avLst/>
          </a:prstGeom>
          <a:noFill/>
        </p:spPr>
        <p:txBody>
          <a:bodyPr wrap="square">
            <a:spAutoFit/>
          </a:bodyPr>
          <a:lstStyle/>
          <a:p>
            <a:pPr algn="l">
              <a:spcBef>
                <a:spcPts val="0"/>
              </a:spcBef>
              <a:spcAft>
                <a:spcPts val="0"/>
              </a:spcAft>
            </a:pPr>
            <a:r>
              <a:rPr sz="1100" b="1" i="0">
                <a:solidFill>
                  <a:srgbClr val="1F6FC4"/>
                </a:solidFill>
                <a:latin typeface="Calibri"/>
              </a:rPr>
              <a:t>ALIGNMENT WITH CAMBODIA'S SDGs</a:t>
            </a:r>
          </a:p>
        </p:txBody>
      </p:sp>
      <p:sp>
        <p:nvSpPr>
          <p:cNvPr id="19" name="Rectangle 18"/>
          <p:cNvSpPr/>
          <p:nvPr/>
        </p:nvSpPr>
        <p:spPr>
          <a:xfrm>
            <a:off x="6780000" y="1800000"/>
            <a:ext cx="900000" cy="7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790000" y="2000000"/>
            <a:ext cx="880000" cy="350000"/>
          </a:xfrm>
          <a:prstGeom prst="rect">
            <a:avLst/>
          </a:prstGeom>
          <a:noFill/>
        </p:spPr>
        <p:txBody>
          <a:bodyPr wrap="square">
            <a:spAutoFit/>
          </a:bodyPr>
          <a:lstStyle/>
          <a:p>
            <a:pPr algn="ctr">
              <a:spcBef>
                <a:spcPts val="0"/>
              </a:spcBef>
              <a:spcAft>
                <a:spcPts val="0"/>
              </a:spcAft>
            </a:pPr>
            <a:r>
              <a:rPr sz="1400" b="1" i="0">
                <a:solidFill>
                  <a:srgbClr val="FFFFFF"/>
                </a:solidFill>
                <a:latin typeface="Calibri"/>
              </a:rPr>
              <a:t>SDG 3</a:t>
            </a:r>
          </a:p>
        </p:txBody>
      </p:sp>
      <p:sp>
        <p:nvSpPr>
          <p:cNvPr id="21" name="TextBox 20"/>
          <p:cNvSpPr txBox="1"/>
          <p:nvPr/>
        </p:nvSpPr>
        <p:spPr>
          <a:xfrm>
            <a:off x="7780000" y="1800000"/>
            <a:ext cx="2900000" cy="36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Good Health &amp; Well-being</a:t>
            </a:r>
          </a:p>
        </p:txBody>
      </p:sp>
      <p:sp>
        <p:nvSpPr>
          <p:cNvPr id="22" name="TextBox 21"/>
          <p:cNvSpPr txBox="1"/>
          <p:nvPr/>
        </p:nvSpPr>
        <p:spPr>
          <a:xfrm>
            <a:off x="7780000" y="2180000"/>
            <a:ext cx="2900000" cy="360000"/>
          </a:xfrm>
          <a:prstGeom prst="rect">
            <a:avLst/>
          </a:prstGeom>
          <a:noFill/>
        </p:spPr>
        <p:txBody>
          <a:bodyPr wrap="square">
            <a:spAutoFit/>
          </a:bodyPr>
          <a:lstStyle/>
          <a:p>
            <a:pPr algn="l">
              <a:spcBef>
                <a:spcPts val="0"/>
              </a:spcBef>
              <a:spcAft>
                <a:spcPts val="0"/>
              </a:spcAft>
            </a:pPr>
            <a:r>
              <a:rPr sz="1000" b="0" i="0">
                <a:solidFill>
                  <a:srgbClr val="505050"/>
                </a:solidFill>
                <a:latin typeface="Calibri"/>
              </a:rPr>
              <a:t>Widen voluntary health-insurance access beyond NSSF formal sector</a:t>
            </a:r>
          </a:p>
        </p:txBody>
      </p:sp>
      <p:sp>
        <p:nvSpPr>
          <p:cNvPr id="23" name="Rectangle 22"/>
          <p:cNvSpPr/>
          <p:nvPr/>
        </p:nvSpPr>
        <p:spPr>
          <a:xfrm>
            <a:off x="6780000" y="2900000"/>
            <a:ext cx="900000" cy="7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790000" y="3100000"/>
            <a:ext cx="880000" cy="350000"/>
          </a:xfrm>
          <a:prstGeom prst="rect">
            <a:avLst/>
          </a:prstGeom>
          <a:noFill/>
        </p:spPr>
        <p:txBody>
          <a:bodyPr wrap="square">
            <a:spAutoFit/>
          </a:bodyPr>
          <a:lstStyle/>
          <a:p>
            <a:pPr algn="ctr">
              <a:spcBef>
                <a:spcPts val="0"/>
              </a:spcBef>
              <a:spcAft>
                <a:spcPts val="0"/>
              </a:spcAft>
            </a:pPr>
            <a:r>
              <a:rPr sz="1400" b="1" i="0">
                <a:solidFill>
                  <a:srgbClr val="FFFFFF"/>
                </a:solidFill>
                <a:latin typeface="Calibri"/>
              </a:rPr>
              <a:t>SDG 1</a:t>
            </a:r>
          </a:p>
        </p:txBody>
      </p:sp>
      <p:sp>
        <p:nvSpPr>
          <p:cNvPr id="25" name="TextBox 24"/>
          <p:cNvSpPr txBox="1"/>
          <p:nvPr/>
        </p:nvSpPr>
        <p:spPr>
          <a:xfrm>
            <a:off x="7780000" y="2900000"/>
            <a:ext cx="2900000" cy="36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No Poverty</a:t>
            </a:r>
          </a:p>
        </p:txBody>
      </p:sp>
      <p:sp>
        <p:nvSpPr>
          <p:cNvPr id="26" name="TextBox 25"/>
          <p:cNvSpPr txBox="1"/>
          <p:nvPr/>
        </p:nvSpPr>
        <p:spPr>
          <a:xfrm>
            <a:off x="7780000" y="3280000"/>
            <a:ext cx="2900000" cy="360000"/>
          </a:xfrm>
          <a:prstGeom prst="rect">
            <a:avLst/>
          </a:prstGeom>
          <a:noFill/>
        </p:spPr>
        <p:txBody>
          <a:bodyPr wrap="square">
            <a:spAutoFit/>
          </a:bodyPr>
          <a:lstStyle/>
          <a:p>
            <a:pPr algn="l">
              <a:spcBef>
                <a:spcPts val="0"/>
              </a:spcBef>
              <a:spcAft>
                <a:spcPts val="0"/>
              </a:spcAft>
            </a:pPr>
            <a:r>
              <a:rPr sz="1000" b="0" i="0">
                <a:solidFill>
                  <a:srgbClr val="505050"/>
                </a:solidFill>
                <a:latin typeface="Calibri"/>
              </a:rPr>
              <a:t>Shield households from catastrophic out-of-pocket health costs</a:t>
            </a:r>
          </a:p>
        </p:txBody>
      </p:sp>
      <p:sp>
        <p:nvSpPr>
          <p:cNvPr id="27" name="Rectangle 26"/>
          <p:cNvSpPr/>
          <p:nvPr/>
        </p:nvSpPr>
        <p:spPr>
          <a:xfrm>
            <a:off x="6780000" y="4000000"/>
            <a:ext cx="900000" cy="7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790000" y="4200000"/>
            <a:ext cx="880000" cy="350000"/>
          </a:xfrm>
          <a:prstGeom prst="rect">
            <a:avLst/>
          </a:prstGeom>
          <a:noFill/>
        </p:spPr>
        <p:txBody>
          <a:bodyPr wrap="square">
            <a:spAutoFit/>
          </a:bodyPr>
          <a:lstStyle/>
          <a:p>
            <a:pPr algn="ctr">
              <a:spcBef>
                <a:spcPts val="0"/>
              </a:spcBef>
              <a:spcAft>
                <a:spcPts val="0"/>
              </a:spcAft>
            </a:pPr>
            <a:r>
              <a:rPr sz="1400" b="1" i="0">
                <a:solidFill>
                  <a:srgbClr val="FFFFFF"/>
                </a:solidFill>
                <a:latin typeface="Calibri"/>
              </a:rPr>
              <a:t>SDG 10</a:t>
            </a:r>
          </a:p>
        </p:txBody>
      </p:sp>
      <p:sp>
        <p:nvSpPr>
          <p:cNvPr id="29" name="TextBox 28"/>
          <p:cNvSpPr txBox="1"/>
          <p:nvPr/>
        </p:nvSpPr>
        <p:spPr>
          <a:xfrm>
            <a:off x="7780000" y="4000000"/>
            <a:ext cx="2900000" cy="36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Reduced Inequalities</a:t>
            </a:r>
          </a:p>
        </p:txBody>
      </p:sp>
      <p:sp>
        <p:nvSpPr>
          <p:cNvPr id="30" name="TextBox 29"/>
          <p:cNvSpPr txBox="1"/>
          <p:nvPr/>
        </p:nvSpPr>
        <p:spPr>
          <a:xfrm>
            <a:off x="7780000" y="4380000"/>
            <a:ext cx="2900000" cy="360000"/>
          </a:xfrm>
          <a:prstGeom prst="rect">
            <a:avLst/>
          </a:prstGeom>
          <a:noFill/>
        </p:spPr>
        <p:txBody>
          <a:bodyPr wrap="square">
            <a:spAutoFit/>
          </a:bodyPr>
          <a:lstStyle/>
          <a:p>
            <a:pPr algn="l">
              <a:spcBef>
                <a:spcPts val="0"/>
              </a:spcBef>
              <a:spcAft>
                <a:spcPts val="0"/>
              </a:spcAft>
            </a:pPr>
            <a:r>
              <a:rPr sz="1000" b="0" i="0">
                <a:solidFill>
                  <a:srgbClr val="505050"/>
                </a:solidFill>
                <a:latin typeface="Calibri"/>
              </a:rPr>
              <a:t>PSI fairness guardrail keeps underwriting demographically fair</a:t>
            </a:r>
          </a:p>
        </p:txBody>
      </p:sp>
      <p:sp>
        <p:nvSpPr>
          <p:cNvPr id="31" name="TextBox 30"/>
          <p:cNvSpPr txBox="1"/>
          <p:nvPr/>
        </p:nvSpPr>
        <p:spPr>
          <a:xfrm>
            <a:off x="457200" y="5600000"/>
            <a:ext cx="11277295" cy="400000"/>
          </a:xfrm>
          <a:prstGeom prst="rect">
            <a:avLst/>
          </a:prstGeom>
          <a:noFill/>
        </p:spPr>
        <p:txBody>
          <a:bodyPr wrap="square">
            <a:spAutoFit/>
          </a:bodyPr>
          <a:lstStyle/>
          <a:p>
            <a:pPr algn="ctr">
              <a:spcBef>
                <a:spcPts val="0"/>
              </a:spcBef>
              <a:spcAft>
                <a:spcPts val="0"/>
              </a:spcAft>
            </a:pPr>
            <a:r>
              <a:rPr sz="1200" b="1" i="0">
                <a:solidFill>
                  <a:srgbClr val="1B5697"/>
                </a:solidFill>
                <a:latin typeface="Calibri"/>
              </a:rPr>
              <a:t>Sophea represents the 98% the current system was not built for.</a:t>
            </a:r>
          </a:p>
        </p:txBody>
      </p:sp>
      <p:sp>
        <p:nvSpPr>
          <p:cNvPr id="32" name="Rectangle 31"/>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4" name="Rectangle 33"/>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Introduction &amp; Problem Background</a:t>
            </a:r>
          </a:p>
        </p:txBody>
      </p:sp>
      <p:sp>
        <p:nvSpPr>
          <p:cNvPr id="36" name="Rectangle 35"/>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3 / 43</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PROBLEM STATEMENT</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200000"/>
            <a:ext cx="5538647" cy="21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200000"/>
            <a:ext cx="91440" cy="21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07200" y="1320000"/>
            <a:ext cx="5358647" cy="380000"/>
          </a:xfrm>
          <a:prstGeom prst="rect">
            <a:avLst/>
          </a:prstGeom>
          <a:noFill/>
        </p:spPr>
        <p:txBody>
          <a:bodyPr wrap="square">
            <a:spAutoFit/>
          </a:bodyPr>
          <a:lstStyle/>
          <a:p>
            <a:pPr algn="l">
              <a:spcBef>
                <a:spcPts val="0"/>
              </a:spcBef>
              <a:spcAft>
                <a:spcPts val="0"/>
              </a:spcAft>
            </a:pPr>
            <a:r>
              <a:rPr sz="1400" b="1" i="0">
                <a:solidFill>
                  <a:srgbClr val="1B5697"/>
                </a:solidFill>
                <a:latin typeface="Segoe UI"/>
              </a:rPr>
              <a:t>Static Thresholds</a:t>
            </a:r>
          </a:p>
        </p:txBody>
      </p:sp>
      <p:sp>
        <p:nvSpPr>
          <p:cNvPr id="8" name="TextBox 7"/>
          <p:cNvSpPr txBox="1"/>
          <p:nvPr/>
        </p:nvSpPr>
        <p:spPr>
          <a:xfrm>
            <a:off x="607200" y="1740000"/>
            <a:ext cx="5358647" cy="1460000"/>
          </a:xfrm>
          <a:prstGeom prst="rect">
            <a:avLst/>
          </a:prstGeom>
          <a:noFill/>
        </p:spPr>
        <p:txBody>
          <a:bodyPr wrap="square">
            <a:spAutoFit/>
          </a:bodyPr>
          <a:lstStyle/>
          <a:p>
            <a:pPr algn="l">
              <a:spcBef>
                <a:spcPts val="0"/>
              </a:spcBef>
              <a:spcAft>
                <a:spcPts val="0"/>
              </a:spcAft>
            </a:pPr>
            <a:r>
              <a:rPr sz="1200" b="0" i="0">
                <a:solidFill>
                  <a:srgbClr val="505050"/>
                </a:solidFill>
                <a:latin typeface="Calibri"/>
              </a:rPr>
              <a:t>Fixed cutoffs ignore applicant context — Sophea's BMI, activity, and non-smoking status are invisible to the rule engine</a:t>
            </a:r>
          </a:p>
        </p:txBody>
      </p:sp>
      <p:sp>
        <p:nvSpPr>
          <p:cNvPr id="9" name="Rectangle 8"/>
          <p:cNvSpPr/>
          <p:nvPr/>
        </p:nvSpPr>
        <p:spPr>
          <a:xfrm>
            <a:off x="6195847" y="1200000"/>
            <a:ext cx="5538647" cy="21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95847" y="1200000"/>
            <a:ext cx="91440" cy="21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45847" y="1320000"/>
            <a:ext cx="5358647" cy="380000"/>
          </a:xfrm>
          <a:prstGeom prst="rect">
            <a:avLst/>
          </a:prstGeom>
          <a:noFill/>
        </p:spPr>
        <p:txBody>
          <a:bodyPr wrap="square">
            <a:spAutoFit/>
          </a:bodyPr>
          <a:lstStyle/>
          <a:p>
            <a:pPr algn="l">
              <a:spcBef>
                <a:spcPts val="0"/>
              </a:spcBef>
              <a:spcAft>
                <a:spcPts val="0"/>
              </a:spcAft>
            </a:pPr>
            <a:r>
              <a:rPr sz="1400" b="1" i="0">
                <a:solidFill>
                  <a:srgbClr val="1B5697"/>
                </a:solidFill>
                <a:latin typeface="Segoe UI"/>
              </a:rPr>
              <a:t>No Online Adaptation</a:t>
            </a:r>
          </a:p>
        </p:txBody>
      </p:sp>
      <p:sp>
        <p:nvSpPr>
          <p:cNvPr id="12" name="TextBox 11"/>
          <p:cNvSpPr txBox="1"/>
          <p:nvPr/>
        </p:nvSpPr>
        <p:spPr>
          <a:xfrm>
            <a:off x="6345847" y="1740000"/>
            <a:ext cx="5358647" cy="1460000"/>
          </a:xfrm>
          <a:prstGeom prst="rect">
            <a:avLst/>
          </a:prstGeom>
          <a:noFill/>
        </p:spPr>
        <p:txBody>
          <a:bodyPr wrap="square">
            <a:spAutoFit/>
          </a:bodyPr>
          <a:lstStyle/>
          <a:p>
            <a:pPr algn="l">
              <a:spcBef>
                <a:spcPts val="0"/>
              </a:spcBef>
              <a:spcAft>
                <a:spcPts val="0"/>
              </a:spcAft>
            </a:pPr>
            <a:r>
              <a:rPr sz="1200" b="0" i="0">
                <a:solidFill>
                  <a:srgbClr val="505050"/>
                </a:solidFill>
                <a:latin typeface="Calibri"/>
              </a:rPr>
              <a:t>Claims feedback never reaches the model — static weights do not update from observed outcomes</a:t>
            </a:r>
          </a:p>
        </p:txBody>
      </p:sp>
      <p:sp>
        <p:nvSpPr>
          <p:cNvPr id="13" name="Rectangle 12"/>
          <p:cNvSpPr/>
          <p:nvPr/>
        </p:nvSpPr>
        <p:spPr>
          <a:xfrm>
            <a:off x="457200" y="3450000"/>
            <a:ext cx="5538647" cy="21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3450000"/>
            <a:ext cx="91440" cy="21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07200" y="3570000"/>
            <a:ext cx="5358647" cy="380000"/>
          </a:xfrm>
          <a:prstGeom prst="rect">
            <a:avLst/>
          </a:prstGeom>
          <a:noFill/>
        </p:spPr>
        <p:txBody>
          <a:bodyPr wrap="square">
            <a:spAutoFit/>
          </a:bodyPr>
          <a:lstStyle/>
          <a:p>
            <a:pPr algn="l">
              <a:spcBef>
                <a:spcPts val="0"/>
              </a:spcBef>
              <a:spcAft>
                <a:spcPts val="0"/>
              </a:spcAft>
            </a:pPr>
            <a:r>
              <a:rPr sz="1400" b="1" i="0">
                <a:solidFill>
                  <a:srgbClr val="1B5697"/>
                </a:solidFill>
                <a:latin typeface="Segoe UI"/>
              </a:rPr>
              <a:t>Demographic Blindspot</a:t>
            </a:r>
          </a:p>
        </p:txBody>
      </p:sp>
      <p:sp>
        <p:nvSpPr>
          <p:cNvPr id="16" name="TextBox 15"/>
          <p:cNvSpPr txBox="1"/>
          <p:nvPr/>
        </p:nvSpPr>
        <p:spPr>
          <a:xfrm>
            <a:off x="607200" y="3990000"/>
            <a:ext cx="5358647" cy="1460000"/>
          </a:xfrm>
          <a:prstGeom prst="rect">
            <a:avLst/>
          </a:prstGeom>
          <a:noFill/>
        </p:spPr>
        <p:txBody>
          <a:bodyPr wrap="square">
            <a:spAutoFit/>
          </a:bodyPr>
          <a:lstStyle/>
          <a:p>
            <a:pPr algn="l">
              <a:spcBef>
                <a:spcPts val="0"/>
              </a:spcBef>
              <a:spcAft>
                <a:spcPts val="0"/>
              </a:spcAft>
            </a:pPr>
            <a:r>
              <a:rPr sz="1200" b="0" i="0">
                <a:solidFill>
                  <a:srgbClr val="505050"/>
                </a:solidFill>
                <a:latin typeface="Calibri"/>
              </a:rPr>
              <a:t>No parity metric is tracked — systematic patterns against rural or occupational groups emerge invisibly</a:t>
            </a:r>
          </a:p>
        </p:txBody>
      </p:sp>
      <p:sp>
        <p:nvSpPr>
          <p:cNvPr id="17" name="Rectangle 16"/>
          <p:cNvSpPr/>
          <p:nvPr/>
        </p:nvSpPr>
        <p:spPr>
          <a:xfrm>
            <a:off x="6195847" y="3450000"/>
            <a:ext cx="5538647" cy="21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195847" y="3450000"/>
            <a:ext cx="91440" cy="21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45847" y="3570000"/>
            <a:ext cx="5358647" cy="380000"/>
          </a:xfrm>
          <a:prstGeom prst="rect">
            <a:avLst/>
          </a:prstGeom>
          <a:noFill/>
        </p:spPr>
        <p:txBody>
          <a:bodyPr wrap="square">
            <a:spAutoFit/>
          </a:bodyPr>
          <a:lstStyle/>
          <a:p>
            <a:pPr algn="l">
              <a:spcBef>
                <a:spcPts val="0"/>
              </a:spcBef>
              <a:spcAft>
                <a:spcPts val="0"/>
              </a:spcAft>
            </a:pPr>
            <a:r>
              <a:rPr sz="1400" b="1" i="0">
                <a:solidFill>
                  <a:srgbClr val="1B5697"/>
                </a:solidFill>
                <a:latin typeface="Segoe UI"/>
              </a:rPr>
              <a:t>No Intelligent Triage</a:t>
            </a:r>
          </a:p>
        </p:txBody>
      </p:sp>
      <p:sp>
        <p:nvSpPr>
          <p:cNvPr id="20" name="TextBox 19"/>
          <p:cNvSpPr txBox="1"/>
          <p:nvPr/>
        </p:nvSpPr>
        <p:spPr>
          <a:xfrm>
            <a:off x="6345847" y="3990000"/>
            <a:ext cx="5358647" cy="1460000"/>
          </a:xfrm>
          <a:prstGeom prst="rect">
            <a:avLst/>
          </a:prstGeom>
          <a:noFill/>
        </p:spPr>
        <p:txBody>
          <a:bodyPr wrap="square">
            <a:spAutoFit/>
          </a:bodyPr>
          <a:lstStyle/>
          <a:p>
            <a:pPr algn="l">
              <a:spcBef>
                <a:spcPts val="0"/>
              </a:spcBef>
              <a:spcAft>
                <a:spcPts val="0"/>
              </a:spcAft>
            </a:pPr>
            <a:r>
              <a:rPr sz="1200" b="0" i="0">
                <a:solidFill>
                  <a:srgbClr val="505050"/>
                </a:solidFill>
                <a:latin typeface="Calibri"/>
              </a:rPr>
              <a:t>Human experts review routine cases instead of the borderline ones — like Sophea's — that need expert judgment</a:t>
            </a:r>
          </a:p>
        </p:txBody>
      </p:sp>
      <p:sp>
        <p:nvSpPr>
          <p:cNvPr id="21" name="Rectangle 20"/>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3" name="Rectangle 22"/>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Introduction &amp; Problem Background</a:t>
            </a:r>
          </a:p>
        </p:txBody>
      </p:sp>
      <p:sp>
        <p:nvSpPr>
          <p:cNvPr id="25" name="Rectangle 24"/>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4 / 43</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RESEARCH QUESTIONS</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550000"/>
            <a:ext cx="500000" cy="9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37200" y="1550000"/>
            <a:ext cx="340000" cy="900000"/>
          </a:xfrm>
          <a:prstGeom prst="rect">
            <a:avLst/>
          </a:prstGeom>
          <a:noFill/>
        </p:spPr>
        <p:txBody>
          <a:bodyPr wrap="square" anchor="ctr">
            <a:spAutoFit/>
          </a:bodyPr>
          <a:lstStyle/>
          <a:p>
            <a:pPr algn="ctr">
              <a:spcBef>
                <a:spcPts val="0"/>
              </a:spcBef>
              <a:spcAft>
                <a:spcPts val="0"/>
              </a:spcAft>
            </a:pPr>
            <a:r>
              <a:rPr sz="1600" b="1" i="0">
                <a:solidFill>
                  <a:srgbClr val="FFFFFF"/>
                </a:solidFill>
                <a:latin typeface="Calibri"/>
              </a:rPr>
              <a:t>RQ1</a:t>
            </a:r>
          </a:p>
        </p:txBody>
      </p:sp>
      <p:sp>
        <p:nvSpPr>
          <p:cNvPr id="7" name="TextBox 6"/>
          <p:cNvSpPr txBox="1"/>
          <p:nvPr/>
        </p:nvSpPr>
        <p:spPr>
          <a:xfrm>
            <a:off x="1097200" y="1550000"/>
            <a:ext cx="10537295" cy="900000"/>
          </a:xfrm>
          <a:prstGeom prst="rect">
            <a:avLst/>
          </a:prstGeom>
          <a:noFill/>
        </p:spPr>
        <p:txBody>
          <a:bodyPr wrap="square" anchor="ctr">
            <a:spAutoFit/>
          </a:bodyPr>
          <a:lstStyle/>
          <a:p>
            <a:pPr algn="l">
              <a:spcBef>
                <a:spcPts val="0"/>
              </a:spcBef>
              <a:spcAft>
                <a:spcPts val="0"/>
              </a:spcAft>
            </a:pPr>
            <a:r>
              <a:rPr sz="1400" b="0" i="0">
                <a:solidFill>
                  <a:srgbClr val="262626"/>
                </a:solidFill>
                <a:latin typeface="Calibri"/>
              </a:rPr>
              <a:t>Do contextual bandits achieve higher cumulative reward and lower regret than the Static XGBoost baseline over 5,000 rounds?</a:t>
            </a:r>
          </a:p>
        </p:txBody>
      </p:sp>
      <p:sp>
        <p:nvSpPr>
          <p:cNvPr id="8" name="Rectangle 7"/>
          <p:cNvSpPr/>
          <p:nvPr/>
        </p:nvSpPr>
        <p:spPr>
          <a:xfrm>
            <a:off x="457200" y="2700000"/>
            <a:ext cx="500000" cy="9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37200" y="2700000"/>
            <a:ext cx="340000" cy="900000"/>
          </a:xfrm>
          <a:prstGeom prst="rect">
            <a:avLst/>
          </a:prstGeom>
          <a:noFill/>
        </p:spPr>
        <p:txBody>
          <a:bodyPr wrap="square" anchor="ctr">
            <a:spAutoFit/>
          </a:bodyPr>
          <a:lstStyle/>
          <a:p>
            <a:pPr algn="ctr">
              <a:spcBef>
                <a:spcPts val="0"/>
              </a:spcBef>
              <a:spcAft>
                <a:spcPts val="0"/>
              </a:spcAft>
            </a:pPr>
            <a:r>
              <a:rPr sz="1600" b="1" i="0">
                <a:solidFill>
                  <a:srgbClr val="FFFFFF"/>
                </a:solidFill>
                <a:latin typeface="Calibri"/>
              </a:rPr>
              <a:t>RQ2</a:t>
            </a:r>
          </a:p>
        </p:txBody>
      </p:sp>
      <p:sp>
        <p:nvSpPr>
          <p:cNvPr id="10" name="TextBox 9"/>
          <p:cNvSpPr txBox="1"/>
          <p:nvPr/>
        </p:nvSpPr>
        <p:spPr>
          <a:xfrm>
            <a:off x="1097200" y="2700000"/>
            <a:ext cx="10537295" cy="900000"/>
          </a:xfrm>
          <a:prstGeom prst="rect">
            <a:avLst/>
          </a:prstGeom>
          <a:noFill/>
        </p:spPr>
        <p:txBody>
          <a:bodyPr wrap="square" anchor="ctr">
            <a:spAutoFit/>
          </a:bodyPr>
          <a:lstStyle/>
          <a:p>
            <a:pPr algn="l">
              <a:spcBef>
                <a:spcPts val="0"/>
              </a:spcBef>
              <a:spcAft>
                <a:spcPts val="0"/>
              </a:spcAft>
            </a:pPr>
            <a:r>
              <a:rPr sz="1400" b="0" i="0">
                <a:solidFill>
                  <a:srgbClr val="262626"/>
                </a:solidFill>
                <a:latin typeface="Calibri"/>
              </a:rPr>
              <a:t>Does the bandit framework maintain demographic fairness (regional and occupational approval-rate parity, PSI) without explicit fairness constraints?</a:t>
            </a:r>
          </a:p>
        </p:txBody>
      </p:sp>
      <p:sp>
        <p:nvSpPr>
          <p:cNvPr id="11" name="Rectangle 10"/>
          <p:cNvSpPr/>
          <p:nvPr/>
        </p:nvSpPr>
        <p:spPr>
          <a:xfrm>
            <a:off x="457200" y="3850000"/>
            <a:ext cx="500000" cy="9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37200" y="3850000"/>
            <a:ext cx="340000" cy="900000"/>
          </a:xfrm>
          <a:prstGeom prst="rect">
            <a:avLst/>
          </a:prstGeom>
          <a:noFill/>
        </p:spPr>
        <p:txBody>
          <a:bodyPr wrap="square" anchor="ctr">
            <a:spAutoFit/>
          </a:bodyPr>
          <a:lstStyle/>
          <a:p>
            <a:pPr algn="ctr">
              <a:spcBef>
                <a:spcPts val="0"/>
              </a:spcBef>
              <a:spcAft>
                <a:spcPts val="0"/>
              </a:spcAft>
            </a:pPr>
            <a:r>
              <a:rPr sz="1600" b="1" i="0">
                <a:solidFill>
                  <a:srgbClr val="FFFFFF"/>
                </a:solidFill>
                <a:latin typeface="Calibri"/>
              </a:rPr>
              <a:t>RQ3</a:t>
            </a:r>
          </a:p>
        </p:txBody>
      </p:sp>
      <p:sp>
        <p:nvSpPr>
          <p:cNvPr id="13" name="TextBox 12"/>
          <p:cNvSpPr txBox="1"/>
          <p:nvPr/>
        </p:nvSpPr>
        <p:spPr>
          <a:xfrm>
            <a:off x="1097200" y="3850000"/>
            <a:ext cx="10537295" cy="900000"/>
          </a:xfrm>
          <a:prstGeom prst="rect">
            <a:avLst/>
          </a:prstGeom>
          <a:noFill/>
        </p:spPr>
        <p:txBody>
          <a:bodyPr wrap="square" anchor="ctr">
            <a:spAutoFit/>
          </a:bodyPr>
          <a:lstStyle/>
          <a:p>
            <a:pPr algn="l">
              <a:spcBef>
                <a:spcPts val="0"/>
              </a:spcBef>
              <a:spcAft>
                <a:spcPts val="0"/>
              </a:spcAft>
            </a:pPr>
            <a:r>
              <a:rPr sz="1400" b="0" i="0">
                <a:solidFill>
                  <a:srgbClr val="262626"/>
                </a:solidFill>
                <a:latin typeface="Calibri"/>
              </a:rPr>
              <a:t>What is the relative performance ranking of LinTS, LinUCB, Epsilon-Greedy, and Static XGB?</a:t>
            </a:r>
          </a:p>
        </p:txBody>
      </p:sp>
      <p:sp>
        <p:nvSpPr>
          <p:cNvPr id="14" name="Rectangle 13"/>
          <p:cNvSpPr/>
          <p:nvPr/>
        </p:nvSpPr>
        <p:spPr>
          <a:xfrm>
            <a:off x="457200" y="5000000"/>
            <a:ext cx="500000" cy="9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37200" y="5000000"/>
            <a:ext cx="340000" cy="900000"/>
          </a:xfrm>
          <a:prstGeom prst="rect">
            <a:avLst/>
          </a:prstGeom>
          <a:noFill/>
        </p:spPr>
        <p:txBody>
          <a:bodyPr wrap="square" anchor="ctr">
            <a:spAutoFit/>
          </a:bodyPr>
          <a:lstStyle/>
          <a:p>
            <a:pPr algn="ctr">
              <a:spcBef>
                <a:spcPts val="0"/>
              </a:spcBef>
              <a:spcAft>
                <a:spcPts val="0"/>
              </a:spcAft>
            </a:pPr>
            <a:r>
              <a:rPr sz="1600" b="1" i="0">
                <a:solidFill>
                  <a:srgbClr val="FFFFFF"/>
                </a:solidFill>
                <a:latin typeface="Calibri"/>
              </a:rPr>
              <a:t>RQ4</a:t>
            </a:r>
          </a:p>
        </p:txBody>
      </p:sp>
      <p:sp>
        <p:nvSpPr>
          <p:cNvPr id="16" name="TextBox 15"/>
          <p:cNvSpPr txBox="1"/>
          <p:nvPr/>
        </p:nvSpPr>
        <p:spPr>
          <a:xfrm>
            <a:off x="1097200" y="5000000"/>
            <a:ext cx="10537295" cy="900000"/>
          </a:xfrm>
          <a:prstGeom prst="rect">
            <a:avLst/>
          </a:prstGeom>
          <a:noFill/>
        </p:spPr>
        <p:txBody>
          <a:bodyPr wrap="square" anchor="ctr">
            <a:spAutoFit/>
          </a:bodyPr>
          <a:lstStyle/>
          <a:p>
            <a:pPr algn="l">
              <a:spcBef>
                <a:spcPts val="0"/>
              </a:spcBef>
              <a:spcAft>
                <a:spcPts val="0"/>
              </a:spcAft>
            </a:pPr>
            <a:r>
              <a:rPr sz="1400" b="0" i="0">
                <a:solidFill>
                  <a:srgbClr val="262626"/>
                </a:solidFill>
                <a:latin typeface="Calibri"/>
              </a:rPr>
              <a:t>Is the framework technically feasible for deployment on low-resource mobile infrastructure (&lt;200 ms latency)?</a:t>
            </a:r>
          </a:p>
        </p:txBody>
      </p:sp>
      <p:sp>
        <p:nvSpPr>
          <p:cNvPr id="17" name="Rectangle 16"/>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19" name="Rectangle 18"/>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Introduction &amp; Problem Background</a:t>
            </a:r>
          </a:p>
        </p:txBody>
      </p:sp>
      <p:sp>
        <p:nvSpPr>
          <p:cNvPr id="21" name="Rectangle 20"/>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5 / 43</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PROJECT OBJECTIVES &amp; DELIVERABLES</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150000"/>
            <a:ext cx="5488647" cy="350000"/>
          </a:xfrm>
          <a:prstGeom prst="rect">
            <a:avLst/>
          </a:prstGeom>
          <a:noFill/>
        </p:spPr>
        <p:txBody>
          <a:bodyPr wrap="square">
            <a:spAutoFit/>
          </a:bodyPr>
          <a:lstStyle/>
          <a:p>
            <a:pPr algn="l">
              <a:spcBef>
                <a:spcPts val="0"/>
              </a:spcBef>
              <a:spcAft>
                <a:spcPts val="0"/>
              </a:spcAft>
            </a:pPr>
            <a:r>
              <a:rPr sz="1200" b="1" i="0">
                <a:solidFill>
                  <a:srgbClr val="1F6FC4"/>
                </a:solidFill>
                <a:latin typeface="Calibri"/>
              </a:rPr>
              <a:t>4 DELIVERABLES</a:t>
            </a:r>
          </a:p>
        </p:txBody>
      </p:sp>
      <p:sp>
        <p:nvSpPr>
          <p:cNvPr id="6" name="Rectangle 5"/>
          <p:cNvSpPr/>
          <p:nvPr/>
        </p:nvSpPr>
        <p:spPr>
          <a:xfrm>
            <a:off x="457200" y="1600000"/>
            <a:ext cx="300000" cy="8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600000"/>
            <a:ext cx="300000" cy="800000"/>
          </a:xfrm>
          <a:prstGeom prst="rect">
            <a:avLst/>
          </a:prstGeom>
          <a:noFill/>
        </p:spPr>
        <p:txBody>
          <a:bodyPr wrap="square" anchor="ctr">
            <a:spAutoFit/>
          </a:bodyPr>
          <a:lstStyle/>
          <a:p>
            <a:pPr algn="ctr">
              <a:spcBef>
                <a:spcPts val="0"/>
              </a:spcBef>
              <a:spcAft>
                <a:spcPts val="0"/>
              </a:spcAft>
            </a:pPr>
            <a:r>
              <a:rPr sz="1400" b="1" i="0">
                <a:solidFill>
                  <a:srgbClr val="FFFFFF"/>
                </a:solidFill>
                <a:latin typeface="Calibri"/>
              </a:rPr>
              <a:t>D1</a:t>
            </a:r>
          </a:p>
        </p:txBody>
      </p:sp>
      <p:sp>
        <p:nvSpPr>
          <p:cNvPr id="8" name="TextBox 7"/>
          <p:cNvSpPr txBox="1"/>
          <p:nvPr/>
        </p:nvSpPr>
        <p:spPr>
          <a:xfrm>
            <a:off x="837200" y="1600000"/>
            <a:ext cx="5038647" cy="800000"/>
          </a:xfrm>
          <a:prstGeom prst="rect">
            <a:avLst/>
          </a:prstGeom>
          <a:noFill/>
        </p:spPr>
        <p:txBody>
          <a:bodyPr wrap="square" anchor="ctr">
            <a:spAutoFit/>
          </a:bodyPr>
          <a:lstStyle/>
          <a:p>
            <a:pPr algn="l">
              <a:spcBef>
                <a:spcPts val="0"/>
              </a:spcBef>
              <a:spcAft>
                <a:spcPts val="0"/>
              </a:spcAft>
            </a:pPr>
            <a:r>
              <a:rPr sz="1200" b="1" i="0">
                <a:solidFill>
                  <a:srgbClr val="1B5697"/>
                </a:solidFill>
                <a:latin typeface="Calibri"/>
              </a:rPr>
              <a:t>Synthetic Cambodia Health Insurance Dataset</a:t>
            </a:r>
          </a:p>
          <a:p>
            <a:pPr algn="l">
              <a:spcBef>
                <a:spcPts val="400"/>
              </a:spcBef>
            </a:pPr>
            <a:r>
              <a:rPr sz="1000" b="0" i="0">
                <a:solidFill>
                  <a:srgbClr val="505050"/>
                </a:solidFill>
                <a:latin typeface="Calibri"/>
              </a:rPr>
              <a:t>2,000 applicants · CDHS/STEPS/ILO/WHO anchored</a:t>
            </a:r>
          </a:p>
        </p:txBody>
      </p:sp>
      <p:sp>
        <p:nvSpPr>
          <p:cNvPr id="9" name="Rectangle 8"/>
          <p:cNvSpPr/>
          <p:nvPr/>
        </p:nvSpPr>
        <p:spPr>
          <a:xfrm>
            <a:off x="457200" y="2816666"/>
            <a:ext cx="300000" cy="8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2816666"/>
            <a:ext cx="300000" cy="800000"/>
          </a:xfrm>
          <a:prstGeom prst="rect">
            <a:avLst/>
          </a:prstGeom>
          <a:noFill/>
        </p:spPr>
        <p:txBody>
          <a:bodyPr wrap="square" anchor="ctr">
            <a:spAutoFit/>
          </a:bodyPr>
          <a:lstStyle/>
          <a:p>
            <a:pPr algn="ctr">
              <a:spcBef>
                <a:spcPts val="0"/>
              </a:spcBef>
              <a:spcAft>
                <a:spcPts val="0"/>
              </a:spcAft>
            </a:pPr>
            <a:r>
              <a:rPr sz="1400" b="1" i="0">
                <a:solidFill>
                  <a:srgbClr val="FFFFFF"/>
                </a:solidFill>
                <a:latin typeface="Calibri"/>
              </a:rPr>
              <a:t>D2</a:t>
            </a:r>
          </a:p>
        </p:txBody>
      </p:sp>
      <p:sp>
        <p:nvSpPr>
          <p:cNvPr id="11" name="TextBox 10"/>
          <p:cNvSpPr txBox="1"/>
          <p:nvPr/>
        </p:nvSpPr>
        <p:spPr>
          <a:xfrm>
            <a:off x="837200" y="2816666"/>
            <a:ext cx="5038647" cy="800000"/>
          </a:xfrm>
          <a:prstGeom prst="rect">
            <a:avLst/>
          </a:prstGeom>
          <a:noFill/>
        </p:spPr>
        <p:txBody>
          <a:bodyPr wrap="square" anchor="ctr">
            <a:spAutoFit/>
          </a:bodyPr>
          <a:lstStyle/>
          <a:p>
            <a:pPr algn="l">
              <a:spcBef>
                <a:spcPts val="0"/>
              </a:spcBef>
              <a:spcAft>
                <a:spcPts val="0"/>
              </a:spcAft>
            </a:pPr>
            <a:r>
              <a:rPr sz="1200" b="1" i="0">
                <a:solidFill>
                  <a:srgbClr val="1B5697"/>
                </a:solidFill>
                <a:latin typeface="Calibri"/>
              </a:rPr>
              <a:t>Contextual Bandit Underwriting Engine</a:t>
            </a:r>
          </a:p>
          <a:p>
            <a:pPr algn="l">
              <a:spcBef>
                <a:spcPts val="400"/>
              </a:spcBef>
            </a:pPr>
            <a:r>
              <a:rPr sz="1000" b="0" i="0">
                <a:solidFill>
                  <a:srgbClr val="505050"/>
                </a:solidFill>
                <a:latin typeface="Calibri"/>
              </a:rPr>
              <a:t>LinUCB · LinTS · Epsilon-Greedy · &lt;200 ms latency</a:t>
            </a:r>
          </a:p>
        </p:txBody>
      </p:sp>
      <p:sp>
        <p:nvSpPr>
          <p:cNvPr id="12" name="Rectangle 11"/>
          <p:cNvSpPr/>
          <p:nvPr/>
        </p:nvSpPr>
        <p:spPr>
          <a:xfrm>
            <a:off x="457200" y="4033332"/>
            <a:ext cx="300000" cy="8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4033332"/>
            <a:ext cx="300000" cy="800000"/>
          </a:xfrm>
          <a:prstGeom prst="rect">
            <a:avLst/>
          </a:prstGeom>
          <a:noFill/>
        </p:spPr>
        <p:txBody>
          <a:bodyPr wrap="square" anchor="ctr">
            <a:spAutoFit/>
          </a:bodyPr>
          <a:lstStyle/>
          <a:p>
            <a:pPr algn="ctr">
              <a:spcBef>
                <a:spcPts val="0"/>
              </a:spcBef>
              <a:spcAft>
                <a:spcPts val="0"/>
              </a:spcAft>
            </a:pPr>
            <a:r>
              <a:rPr sz="1400" b="1" i="0">
                <a:solidFill>
                  <a:srgbClr val="FFFFFF"/>
                </a:solidFill>
                <a:latin typeface="Calibri"/>
              </a:rPr>
              <a:t>D3</a:t>
            </a:r>
          </a:p>
        </p:txBody>
      </p:sp>
      <p:sp>
        <p:nvSpPr>
          <p:cNvPr id="14" name="TextBox 13"/>
          <p:cNvSpPr txBox="1"/>
          <p:nvPr/>
        </p:nvSpPr>
        <p:spPr>
          <a:xfrm>
            <a:off x="837200" y="4033332"/>
            <a:ext cx="5038647" cy="800000"/>
          </a:xfrm>
          <a:prstGeom prst="rect">
            <a:avLst/>
          </a:prstGeom>
          <a:noFill/>
        </p:spPr>
        <p:txBody>
          <a:bodyPr wrap="square" anchor="ctr">
            <a:spAutoFit/>
          </a:bodyPr>
          <a:lstStyle/>
          <a:p>
            <a:pPr algn="l">
              <a:spcBef>
                <a:spcPts val="0"/>
              </a:spcBef>
              <a:spcAft>
                <a:spcPts val="0"/>
              </a:spcAft>
            </a:pPr>
            <a:r>
              <a:rPr sz="1200" b="1" i="0">
                <a:solidFill>
                  <a:srgbClr val="1B5697"/>
                </a:solidFill>
                <a:latin typeface="Calibri"/>
              </a:rPr>
              <a:t>Actuarial Reward Simulator</a:t>
            </a:r>
          </a:p>
          <a:p>
            <a:pPr algn="l">
              <a:spcBef>
                <a:spcPts val="400"/>
              </a:spcBef>
            </a:pPr>
            <a:r>
              <a:rPr sz="1000" b="0" i="0">
                <a:solidFill>
                  <a:srgbClr val="505050"/>
                </a:solidFill>
                <a:latin typeface="Calibri"/>
              </a:rPr>
              <a:t>Profit-based · adverse selection · elasticity model</a:t>
            </a:r>
          </a:p>
        </p:txBody>
      </p:sp>
      <p:sp>
        <p:nvSpPr>
          <p:cNvPr id="15" name="Rectangle 14"/>
          <p:cNvSpPr/>
          <p:nvPr/>
        </p:nvSpPr>
        <p:spPr>
          <a:xfrm>
            <a:off x="457200" y="5249998"/>
            <a:ext cx="300000" cy="8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 y="5249998"/>
            <a:ext cx="300000" cy="800000"/>
          </a:xfrm>
          <a:prstGeom prst="rect">
            <a:avLst/>
          </a:prstGeom>
          <a:noFill/>
        </p:spPr>
        <p:txBody>
          <a:bodyPr wrap="square" anchor="ctr">
            <a:spAutoFit/>
          </a:bodyPr>
          <a:lstStyle/>
          <a:p>
            <a:pPr algn="ctr">
              <a:spcBef>
                <a:spcPts val="0"/>
              </a:spcBef>
              <a:spcAft>
                <a:spcPts val="0"/>
              </a:spcAft>
            </a:pPr>
            <a:r>
              <a:rPr sz="1400" b="1" i="0">
                <a:solidFill>
                  <a:srgbClr val="FFFFFF"/>
                </a:solidFill>
                <a:latin typeface="Calibri"/>
              </a:rPr>
              <a:t>D4</a:t>
            </a:r>
          </a:p>
        </p:txBody>
      </p:sp>
      <p:sp>
        <p:nvSpPr>
          <p:cNvPr id="17" name="TextBox 16"/>
          <p:cNvSpPr txBox="1"/>
          <p:nvPr/>
        </p:nvSpPr>
        <p:spPr>
          <a:xfrm>
            <a:off x="837200" y="5249998"/>
            <a:ext cx="5038647" cy="800000"/>
          </a:xfrm>
          <a:prstGeom prst="rect">
            <a:avLst/>
          </a:prstGeom>
          <a:noFill/>
        </p:spPr>
        <p:txBody>
          <a:bodyPr wrap="square" anchor="ctr">
            <a:spAutoFit/>
          </a:bodyPr>
          <a:lstStyle/>
          <a:p>
            <a:pPr algn="l">
              <a:spcBef>
                <a:spcPts val="0"/>
              </a:spcBef>
              <a:spcAft>
                <a:spcPts val="0"/>
              </a:spcAft>
            </a:pPr>
            <a:r>
              <a:rPr sz="1200" b="1" i="0">
                <a:solidFill>
                  <a:srgbClr val="1B5697"/>
                </a:solidFill>
                <a:latin typeface="Calibri"/>
              </a:rPr>
              <a:t>PSI Fairness Monitoring Framework</a:t>
            </a:r>
          </a:p>
          <a:p>
            <a:pPr algn="l">
              <a:spcBef>
                <a:spcPts val="400"/>
              </a:spcBef>
            </a:pPr>
            <a:r>
              <a:rPr sz="1000" b="0" i="0">
                <a:solidFill>
                  <a:srgbClr val="505050"/>
                </a:solidFill>
                <a:latin typeface="Calibri"/>
              </a:rPr>
              <a:t>GREEN/AMBER/RED alerts · region + occupation</a:t>
            </a:r>
          </a:p>
        </p:txBody>
      </p:sp>
      <p:sp>
        <p:nvSpPr>
          <p:cNvPr id="18" name="TextBox 17"/>
          <p:cNvSpPr txBox="1"/>
          <p:nvPr/>
        </p:nvSpPr>
        <p:spPr>
          <a:xfrm>
            <a:off x="6245847" y="1150000"/>
            <a:ext cx="5488647" cy="350000"/>
          </a:xfrm>
          <a:prstGeom prst="rect">
            <a:avLst/>
          </a:prstGeom>
          <a:noFill/>
        </p:spPr>
        <p:txBody>
          <a:bodyPr wrap="square">
            <a:spAutoFit/>
          </a:bodyPr>
          <a:lstStyle/>
          <a:p>
            <a:pPr algn="l">
              <a:spcBef>
                <a:spcPts val="0"/>
              </a:spcBef>
              <a:spcAft>
                <a:spcPts val="0"/>
              </a:spcAft>
            </a:pPr>
            <a:r>
              <a:rPr sz="1200" b="1" i="0">
                <a:solidFill>
                  <a:srgbClr val="1F6FC4"/>
                </a:solidFill>
                <a:latin typeface="Calibri"/>
              </a:rPr>
              <a:t>5 SECONDARY OBJECTIVES</a:t>
            </a:r>
          </a:p>
        </p:txBody>
      </p:sp>
      <p:sp>
        <p:nvSpPr>
          <p:cNvPr id="19" name="Rectangle 18"/>
          <p:cNvSpPr/>
          <p:nvPr/>
        </p:nvSpPr>
        <p:spPr>
          <a:xfrm>
            <a:off x="6245847" y="1600000"/>
            <a:ext cx="300000" cy="75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245847" y="1600000"/>
            <a:ext cx="300000" cy="750000"/>
          </a:xfrm>
          <a:prstGeom prst="rect">
            <a:avLst/>
          </a:prstGeom>
          <a:noFill/>
        </p:spPr>
        <p:txBody>
          <a:bodyPr wrap="square" anchor="ctr">
            <a:spAutoFit/>
          </a:bodyPr>
          <a:lstStyle/>
          <a:p>
            <a:pPr algn="ctr">
              <a:spcBef>
                <a:spcPts val="0"/>
              </a:spcBef>
              <a:spcAft>
                <a:spcPts val="0"/>
              </a:spcAft>
            </a:pPr>
            <a:r>
              <a:rPr sz="1400" b="1" i="0">
                <a:solidFill>
                  <a:srgbClr val="FFFFFF"/>
                </a:solidFill>
                <a:latin typeface="Calibri"/>
              </a:rPr>
              <a:t>O1</a:t>
            </a:r>
          </a:p>
        </p:txBody>
      </p:sp>
      <p:sp>
        <p:nvSpPr>
          <p:cNvPr id="21" name="TextBox 20"/>
          <p:cNvSpPr txBox="1"/>
          <p:nvPr/>
        </p:nvSpPr>
        <p:spPr>
          <a:xfrm>
            <a:off x="6625847" y="1600000"/>
            <a:ext cx="5068647" cy="750000"/>
          </a:xfrm>
          <a:prstGeom prst="rect">
            <a:avLst/>
          </a:prstGeom>
          <a:noFill/>
        </p:spPr>
        <p:txBody>
          <a:bodyPr wrap="square" anchor="ctr">
            <a:spAutoFit/>
          </a:bodyPr>
          <a:lstStyle/>
          <a:p>
            <a:pPr algn="l">
              <a:spcBef>
                <a:spcPts val="0"/>
              </a:spcBef>
              <a:spcAft>
                <a:spcPts val="0"/>
              </a:spcAft>
            </a:pPr>
            <a:r>
              <a:rPr sz="1200" b="0" i="0">
                <a:solidFill>
                  <a:srgbClr val="262626"/>
                </a:solidFill>
                <a:latin typeface="Calibri"/>
              </a:rPr>
              <a:t>2,000-record CDHS-anchored synthetic dataset</a:t>
            </a:r>
          </a:p>
        </p:txBody>
      </p:sp>
      <p:sp>
        <p:nvSpPr>
          <p:cNvPr id="22" name="Rectangle 21"/>
          <p:cNvSpPr/>
          <p:nvPr/>
        </p:nvSpPr>
        <p:spPr>
          <a:xfrm>
            <a:off x="6245847" y="2525000"/>
            <a:ext cx="300000" cy="75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245847" y="2525000"/>
            <a:ext cx="300000" cy="750000"/>
          </a:xfrm>
          <a:prstGeom prst="rect">
            <a:avLst/>
          </a:prstGeom>
          <a:noFill/>
        </p:spPr>
        <p:txBody>
          <a:bodyPr wrap="square" anchor="ctr">
            <a:spAutoFit/>
          </a:bodyPr>
          <a:lstStyle/>
          <a:p>
            <a:pPr algn="ctr">
              <a:spcBef>
                <a:spcPts val="0"/>
              </a:spcBef>
              <a:spcAft>
                <a:spcPts val="0"/>
              </a:spcAft>
            </a:pPr>
            <a:r>
              <a:rPr sz="1400" b="1" i="0">
                <a:solidFill>
                  <a:srgbClr val="FFFFFF"/>
                </a:solidFill>
                <a:latin typeface="Calibri"/>
              </a:rPr>
              <a:t>O2</a:t>
            </a:r>
          </a:p>
        </p:txBody>
      </p:sp>
      <p:sp>
        <p:nvSpPr>
          <p:cNvPr id="24" name="TextBox 23"/>
          <p:cNvSpPr txBox="1"/>
          <p:nvPr/>
        </p:nvSpPr>
        <p:spPr>
          <a:xfrm>
            <a:off x="6625847" y="2525000"/>
            <a:ext cx="5068647" cy="750000"/>
          </a:xfrm>
          <a:prstGeom prst="rect">
            <a:avLst/>
          </a:prstGeom>
          <a:noFill/>
        </p:spPr>
        <p:txBody>
          <a:bodyPr wrap="square" anchor="ctr">
            <a:spAutoFit/>
          </a:bodyPr>
          <a:lstStyle/>
          <a:p>
            <a:pPr algn="l">
              <a:spcBef>
                <a:spcPts val="0"/>
              </a:spcBef>
              <a:spcAft>
                <a:spcPts val="0"/>
              </a:spcAft>
            </a:pPr>
            <a:r>
              <a:rPr sz="1200" b="0" i="0">
                <a:solidFill>
                  <a:srgbClr val="262626"/>
                </a:solidFill>
                <a:latin typeface="Calibri"/>
              </a:rPr>
              <a:t>Benchmark LinUCB, LinTS, EpsGreedy vs Static XGB (5,000 rounds)</a:t>
            </a:r>
          </a:p>
        </p:txBody>
      </p:sp>
      <p:sp>
        <p:nvSpPr>
          <p:cNvPr id="25" name="Rectangle 24"/>
          <p:cNvSpPr/>
          <p:nvPr/>
        </p:nvSpPr>
        <p:spPr>
          <a:xfrm>
            <a:off x="6245847" y="3450000"/>
            <a:ext cx="300000" cy="75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45847" y="3450000"/>
            <a:ext cx="300000" cy="750000"/>
          </a:xfrm>
          <a:prstGeom prst="rect">
            <a:avLst/>
          </a:prstGeom>
          <a:noFill/>
        </p:spPr>
        <p:txBody>
          <a:bodyPr wrap="square" anchor="ctr">
            <a:spAutoFit/>
          </a:bodyPr>
          <a:lstStyle/>
          <a:p>
            <a:pPr algn="ctr">
              <a:spcBef>
                <a:spcPts val="0"/>
              </a:spcBef>
              <a:spcAft>
                <a:spcPts val="0"/>
              </a:spcAft>
            </a:pPr>
            <a:r>
              <a:rPr sz="1400" b="1" i="0">
                <a:solidFill>
                  <a:srgbClr val="FFFFFF"/>
                </a:solidFill>
                <a:latin typeface="Calibri"/>
              </a:rPr>
              <a:t>O3</a:t>
            </a:r>
          </a:p>
        </p:txBody>
      </p:sp>
      <p:sp>
        <p:nvSpPr>
          <p:cNvPr id="27" name="TextBox 26"/>
          <p:cNvSpPr txBox="1"/>
          <p:nvPr/>
        </p:nvSpPr>
        <p:spPr>
          <a:xfrm>
            <a:off x="6625847" y="3450000"/>
            <a:ext cx="5068647" cy="750000"/>
          </a:xfrm>
          <a:prstGeom prst="rect">
            <a:avLst/>
          </a:prstGeom>
          <a:noFill/>
        </p:spPr>
        <p:txBody>
          <a:bodyPr wrap="square" anchor="ctr">
            <a:spAutoFit/>
          </a:bodyPr>
          <a:lstStyle/>
          <a:p>
            <a:pPr algn="l">
              <a:spcBef>
                <a:spcPts val="0"/>
              </a:spcBef>
              <a:spcAft>
                <a:spcPts val="0"/>
              </a:spcAft>
            </a:pPr>
            <a:r>
              <a:rPr sz="1200" b="0" i="0">
                <a:solidFill>
                  <a:srgbClr val="262626"/>
                </a:solidFill>
                <a:latin typeface="Calibri"/>
              </a:rPr>
              <a:t>PSI fairness guardrails — no demographic drift</a:t>
            </a:r>
          </a:p>
        </p:txBody>
      </p:sp>
      <p:sp>
        <p:nvSpPr>
          <p:cNvPr id="28" name="Rectangle 27"/>
          <p:cNvSpPr/>
          <p:nvPr/>
        </p:nvSpPr>
        <p:spPr>
          <a:xfrm>
            <a:off x="6245847" y="4375000"/>
            <a:ext cx="300000" cy="75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245847" y="4375000"/>
            <a:ext cx="300000" cy="750000"/>
          </a:xfrm>
          <a:prstGeom prst="rect">
            <a:avLst/>
          </a:prstGeom>
          <a:noFill/>
        </p:spPr>
        <p:txBody>
          <a:bodyPr wrap="square" anchor="ctr">
            <a:spAutoFit/>
          </a:bodyPr>
          <a:lstStyle/>
          <a:p>
            <a:pPr algn="ctr">
              <a:spcBef>
                <a:spcPts val="0"/>
              </a:spcBef>
              <a:spcAft>
                <a:spcPts val="0"/>
              </a:spcAft>
            </a:pPr>
            <a:r>
              <a:rPr sz="1400" b="1" i="0">
                <a:solidFill>
                  <a:srgbClr val="FFFFFF"/>
                </a:solidFill>
                <a:latin typeface="Calibri"/>
              </a:rPr>
              <a:t>O4</a:t>
            </a:r>
          </a:p>
        </p:txBody>
      </p:sp>
      <p:sp>
        <p:nvSpPr>
          <p:cNvPr id="30" name="TextBox 29"/>
          <p:cNvSpPr txBox="1"/>
          <p:nvPr/>
        </p:nvSpPr>
        <p:spPr>
          <a:xfrm>
            <a:off x="6625847" y="4375000"/>
            <a:ext cx="5068647" cy="750000"/>
          </a:xfrm>
          <a:prstGeom prst="rect">
            <a:avLst/>
          </a:prstGeom>
          <a:noFill/>
        </p:spPr>
        <p:txBody>
          <a:bodyPr wrap="square" anchor="ctr">
            <a:spAutoFit/>
          </a:bodyPr>
          <a:lstStyle/>
          <a:p>
            <a:pPr algn="l">
              <a:spcBef>
                <a:spcPts val="0"/>
              </a:spcBef>
              <a:spcAft>
                <a:spcPts val="0"/>
              </a:spcAft>
            </a:pPr>
            <a:r>
              <a:rPr sz="1200" b="0" i="0">
                <a:solidFill>
                  <a:srgbClr val="262626"/>
                </a:solidFill>
                <a:latin typeface="Calibri"/>
              </a:rPr>
              <a:t>EEOC four-fifths approval-rate parity audit</a:t>
            </a:r>
          </a:p>
        </p:txBody>
      </p:sp>
      <p:sp>
        <p:nvSpPr>
          <p:cNvPr id="31" name="Rectangle 30"/>
          <p:cNvSpPr/>
          <p:nvPr/>
        </p:nvSpPr>
        <p:spPr>
          <a:xfrm>
            <a:off x="6245847" y="5300000"/>
            <a:ext cx="300000" cy="75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245847" y="5300000"/>
            <a:ext cx="300000" cy="750000"/>
          </a:xfrm>
          <a:prstGeom prst="rect">
            <a:avLst/>
          </a:prstGeom>
          <a:noFill/>
        </p:spPr>
        <p:txBody>
          <a:bodyPr wrap="square" anchor="ctr">
            <a:spAutoFit/>
          </a:bodyPr>
          <a:lstStyle/>
          <a:p>
            <a:pPr algn="ctr">
              <a:spcBef>
                <a:spcPts val="0"/>
              </a:spcBef>
              <a:spcAft>
                <a:spcPts val="0"/>
              </a:spcAft>
            </a:pPr>
            <a:r>
              <a:rPr sz="1400" b="1" i="0">
                <a:solidFill>
                  <a:srgbClr val="FFFFFF"/>
                </a:solidFill>
                <a:latin typeface="Calibri"/>
              </a:rPr>
              <a:t>O5</a:t>
            </a:r>
          </a:p>
        </p:txBody>
      </p:sp>
      <p:sp>
        <p:nvSpPr>
          <p:cNvPr id="33" name="TextBox 32"/>
          <p:cNvSpPr txBox="1"/>
          <p:nvPr/>
        </p:nvSpPr>
        <p:spPr>
          <a:xfrm>
            <a:off x="6625847" y="5300000"/>
            <a:ext cx="5068647" cy="750000"/>
          </a:xfrm>
          <a:prstGeom prst="rect">
            <a:avLst/>
          </a:prstGeom>
          <a:noFill/>
        </p:spPr>
        <p:txBody>
          <a:bodyPr wrap="square" anchor="ctr">
            <a:spAutoFit/>
          </a:bodyPr>
          <a:lstStyle/>
          <a:p>
            <a:pPr algn="l">
              <a:spcBef>
                <a:spcPts val="0"/>
              </a:spcBef>
              <a:spcAft>
                <a:spcPts val="0"/>
              </a:spcAft>
            </a:pPr>
            <a:r>
              <a:rPr sz="1200" b="0" i="0">
                <a:solidFill>
                  <a:srgbClr val="262626"/>
                </a:solidFill>
                <a:latin typeface="Calibri"/>
              </a:rPr>
              <a:t>Human-in-the-loop wrapper — reward gain vs review cost</a:t>
            </a:r>
          </a:p>
        </p:txBody>
      </p:sp>
      <p:sp>
        <p:nvSpPr>
          <p:cNvPr id="34" name="Rectangle 33"/>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6" name="Rectangle 35"/>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Introduction &amp; Problem Background</a:t>
            </a:r>
          </a:p>
        </p:txBody>
      </p:sp>
      <p:sp>
        <p:nvSpPr>
          <p:cNvPr id="38" name="Rectangle 37"/>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6 / 43</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9000"/>
            <a:ext cx="11277295" cy="700000"/>
          </a:xfrm>
          <a:prstGeom prst="rect">
            <a:avLst/>
          </a:prstGeom>
          <a:noFill/>
        </p:spPr>
        <p:txBody>
          <a:bodyPr wrap="square">
            <a:spAutoFit/>
          </a:bodyPr>
          <a:lstStyle/>
          <a:p>
            <a:pPr algn="l">
              <a:spcBef>
                <a:spcPts val="0"/>
              </a:spcBef>
              <a:spcAft>
                <a:spcPts val="0"/>
              </a:spcAft>
            </a:pPr>
            <a:r>
              <a:rPr sz="4800" b="1" i="0">
                <a:solidFill>
                  <a:srgbClr val="FFFFFF"/>
                </a:solidFill>
                <a:latin typeface="Segoe UI"/>
              </a:rPr>
              <a:t>II.</a:t>
            </a:r>
          </a:p>
        </p:txBody>
      </p:sp>
      <p:sp>
        <p:nvSpPr>
          <p:cNvPr id="4" name="Rectangle 3"/>
          <p:cNvSpPr/>
          <p:nvPr/>
        </p:nvSpPr>
        <p:spPr>
          <a:xfrm>
            <a:off x="457200" y="3489000"/>
            <a:ext cx="292608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3589000"/>
            <a:ext cx="11277295" cy="800000"/>
          </a:xfrm>
          <a:prstGeom prst="rect">
            <a:avLst/>
          </a:prstGeom>
          <a:noFill/>
        </p:spPr>
        <p:txBody>
          <a:bodyPr wrap="square">
            <a:spAutoFit/>
          </a:bodyPr>
          <a:lstStyle/>
          <a:p>
            <a:pPr algn="l">
              <a:spcBef>
                <a:spcPts val="0"/>
              </a:spcBef>
              <a:spcAft>
                <a:spcPts val="0"/>
              </a:spcAft>
            </a:pPr>
            <a:r>
              <a:rPr sz="2800" b="1" i="0">
                <a:solidFill>
                  <a:srgbClr val="FFFFFF"/>
                </a:solidFill>
                <a:latin typeface="Segoe UI"/>
              </a:rPr>
              <a:t>Literature Review</a:t>
            </a:r>
          </a:p>
        </p:txBody>
      </p:sp>
      <p:sp>
        <p:nvSpPr>
          <p:cNvPr id="6" name="Rectangle 5"/>
          <p:cNvSpPr/>
          <p:nvPr/>
        </p:nvSpPr>
        <p:spPr>
          <a:xfrm>
            <a:off x="0" y="6437376"/>
            <a:ext cx="1219169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8" name="TextBox 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AFC4E4"/>
                </a:solidFill>
                <a:latin typeface="Calibri"/>
              </a:rPr>
              <a:t>Literature Review</a:t>
            </a:r>
          </a:p>
        </p:txBody>
      </p:sp>
      <p:sp>
        <p:nvSpPr>
          <p:cNvPr id="9" name="TextBox 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7 / 43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LITERATURE REVIEW</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150000"/>
            <a:ext cx="11277295" cy="8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150000"/>
            <a:ext cx="91440" cy="82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07200" y="1270000"/>
            <a:ext cx="11097295" cy="380000"/>
          </a:xfrm>
          <a:prstGeom prst="rect">
            <a:avLst/>
          </a:prstGeom>
          <a:noFill/>
        </p:spPr>
        <p:txBody>
          <a:bodyPr wrap="square">
            <a:spAutoFit/>
          </a:bodyPr>
          <a:lstStyle/>
          <a:p>
            <a:pPr algn="l">
              <a:spcBef>
                <a:spcPts val="0"/>
              </a:spcBef>
              <a:spcAft>
                <a:spcPts val="0"/>
              </a:spcAft>
            </a:pPr>
            <a:r>
              <a:rPr sz="1200" b="1" i="0">
                <a:solidFill>
                  <a:srgbClr val="1B5697"/>
                </a:solidFill>
                <a:latin typeface="Segoe UI"/>
              </a:rPr>
              <a:t>Health Insurance in Emerging Markets</a:t>
            </a:r>
          </a:p>
        </p:txBody>
      </p:sp>
      <p:sp>
        <p:nvSpPr>
          <p:cNvPr id="8" name="TextBox 7"/>
          <p:cNvSpPr txBox="1"/>
          <p:nvPr/>
        </p:nvSpPr>
        <p:spPr>
          <a:xfrm>
            <a:off x="607200" y="1690000"/>
            <a:ext cx="11097295" cy="180000"/>
          </a:xfrm>
          <a:prstGeom prst="rect">
            <a:avLst/>
          </a:prstGeom>
          <a:noFill/>
        </p:spPr>
        <p:txBody>
          <a:bodyPr wrap="square">
            <a:spAutoFit/>
          </a:bodyPr>
          <a:lstStyle/>
          <a:p>
            <a:pPr algn="l">
              <a:spcBef>
                <a:spcPts val="0"/>
              </a:spcBef>
              <a:spcAft>
                <a:spcPts val="0"/>
              </a:spcAft>
            </a:pPr>
            <a:r>
              <a:rPr sz="1000" b="0" i="0">
                <a:solidFill>
                  <a:srgbClr val="505050"/>
                </a:solidFill>
                <a:latin typeface="Calibri"/>
              </a:rPr>
              <a:t>CDHS 2021-22, ILO 2023, ADB — Cambodia context and data anchors. &lt;2% penetration; NSSF formal-sector gap; manual static rules.</a:t>
            </a:r>
          </a:p>
        </p:txBody>
      </p:sp>
      <p:sp>
        <p:nvSpPr>
          <p:cNvPr id="9" name="Rectangle 8"/>
          <p:cNvSpPr/>
          <p:nvPr/>
        </p:nvSpPr>
        <p:spPr>
          <a:xfrm>
            <a:off x="457200" y="2030000"/>
            <a:ext cx="11277295" cy="8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2030000"/>
            <a:ext cx="91440" cy="82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7200" y="2150000"/>
            <a:ext cx="11097295" cy="380000"/>
          </a:xfrm>
          <a:prstGeom prst="rect">
            <a:avLst/>
          </a:prstGeom>
          <a:noFill/>
        </p:spPr>
        <p:txBody>
          <a:bodyPr wrap="square">
            <a:spAutoFit/>
          </a:bodyPr>
          <a:lstStyle/>
          <a:p>
            <a:pPr algn="l">
              <a:spcBef>
                <a:spcPts val="0"/>
              </a:spcBef>
              <a:spcAft>
                <a:spcPts val="0"/>
              </a:spcAft>
            </a:pPr>
            <a:r>
              <a:rPr sz="1200" b="1" i="0">
                <a:solidFill>
                  <a:srgbClr val="1B5697"/>
                </a:solidFill>
                <a:latin typeface="Segoe UI"/>
              </a:rPr>
              <a:t>Linear Contextual Bandits</a:t>
            </a:r>
          </a:p>
        </p:txBody>
      </p:sp>
      <p:sp>
        <p:nvSpPr>
          <p:cNvPr id="12" name="TextBox 11"/>
          <p:cNvSpPr txBox="1"/>
          <p:nvPr/>
        </p:nvSpPr>
        <p:spPr>
          <a:xfrm>
            <a:off x="607200" y="2570000"/>
            <a:ext cx="11097295" cy="180000"/>
          </a:xfrm>
          <a:prstGeom prst="rect">
            <a:avLst/>
          </a:prstGeom>
          <a:noFill/>
        </p:spPr>
        <p:txBody>
          <a:bodyPr wrap="square">
            <a:spAutoFit/>
          </a:bodyPr>
          <a:lstStyle/>
          <a:p>
            <a:pPr algn="l">
              <a:spcBef>
                <a:spcPts val="0"/>
              </a:spcBef>
              <a:spcAft>
                <a:spcPts val="0"/>
              </a:spcAft>
            </a:pPr>
            <a:r>
              <a:rPr sz="1000" b="0" i="0">
                <a:solidFill>
                  <a:srgbClr val="505050"/>
                </a:solidFill>
                <a:latin typeface="Calibri"/>
              </a:rPr>
              <a:t>LinUCB (Li et al. 2010), LinTS (Agrawal &amp; Goyal 2013). Sub-linear regret O(d√T log T). Per-round update O(d²). Chosen for interpretability and emerging-market compute constraints.</a:t>
            </a:r>
          </a:p>
        </p:txBody>
      </p:sp>
      <p:sp>
        <p:nvSpPr>
          <p:cNvPr id="13" name="Rectangle 12"/>
          <p:cNvSpPr/>
          <p:nvPr/>
        </p:nvSpPr>
        <p:spPr>
          <a:xfrm>
            <a:off x="457200" y="2910000"/>
            <a:ext cx="11277295" cy="8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2910000"/>
            <a:ext cx="91440" cy="82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07200" y="3030000"/>
            <a:ext cx="11097295" cy="380000"/>
          </a:xfrm>
          <a:prstGeom prst="rect">
            <a:avLst/>
          </a:prstGeom>
          <a:noFill/>
        </p:spPr>
        <p:txBody>
          <a:bodyPr wrap="square">
            <a:spAutoFit/>
          </a:bodyPr>
          <a:lstStyle/>
          <a:p>
            <a:pPr algn="l">
              <a:spcBef>
                <a:spcPts val="0"/>
              </a:spcBef>
              <a:spcAft>
                <a:spcPts val="0"/>
              </a:spcAft>
            </a:pPr>
            <a:r>
              <a:rPr sz="1200" b="1" i="0">
                <a:solidFill>
                  <a:srgbClr val="1B5697"/>
                </a:solidFill>
                <a:latin typeface="Segoe UI"/>
              </a:rPr>
              <a:t>Neural Contextual Bandits</a:t>
            </a:r>
          </a:p>
        </p:txBody>
      </p:sp>
      <p:sp>
        <p:nvSpPr>
          <p:cNvPr id="16" name="TextBox 15"/>
          <p:cNvSpPr txBox="1"/>
          <p:nvPr/>
        </p:nvSpPr>
        <p:spPr>
          <a:xfrm>
            <a:off x="607200" y="3450000"/>
            <a:ext cx="11097295" cy="180000"/>
          </a:xfrm>
          <a:prstGeom prst="rect">
            <a:avLst/>
          </a:prstGeom>
          <a:noFill/>
        </p:spPr>
        <p:txBody>
          <a:bodyPr wrap="square">
            <a:spAutoFit/>
          </a:bodyPr>
          <a:lstStyle/>
          <a:p>
            <a:pPr algn="l">
              <a:spcBef>
                <a:spcPts val="0"/>
              </a:spcBef>
              <a:spcAft>
                <a:spcPts val="0"/>
              </a:spcAft>
            </a:pPr>
            <a:r>
              <a:rPr sz="1000" b="0" i="0">
                <a:solidFill>
                  <a:srgbClr val="505050"/>
                </a:solidFill>
                <a:latin typeface="Calibri"/>
              </a:rPr>
              <a:t>NeuralUCB, NeuralTS, EE-Net — relax linear reward assumption. Require large datasets; risk of overfitting on 2,000 records. Natural future-work candidate.</a:t>
            </a:r>
          </a:p>
        </p:txBody>
      </p:sp>
      <p:sp>
        <p:nvSpPr>
          <p:cNvPr id="17" name="Rectangle 16"/>
          <p:cNvSpPr/>
          <p:nvPr/>
        </p:nvSpPr>
        <p:spPr>
          <a:xfrm>
            <a:off x="457200" y="3790000"/>
            <a:ext cx="11277295" cy="8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3790000"/>
            <a:ext cx="91440" cy="82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07200" y="3910000"/>
            <a:ext cx="11097295" cy="380000"/>
          </a:xfrm>
          <a:prstGeom prst="rect">
            <a:avLst/>
          </a:prstGeom>
          <a:noFill/>
        </p:spPr>
        <p:txBody>
          <a:bodyPr wrap="square">
            <a:spAutoFit/>
          </a:bodyPr>
          <a:lstStyle/>
          <a:p>
            <a:pPr algn="l">
              <a:spcBef>
                <a:spcPts val="0"/>
              </a:spcBef>
              <a:spcAft>
                <a:spcPts val="0"/>
              </a:spcAft>
            </a:pPr>
            <a:r>
              <a:rPr sz="1200" b="1" i="0">
                <a:solidFill>
                  <a:srgbClr val="1B5697"/>
                </a:solidFill>
                <a:latin typeface="Segoe UI"/>
              </a:rPr>
              <a:t>Fairness in Insurance ML</a:t>
            </a:r>
          </a:p>
        </p:txBody>
      </p:sp>
      <p:sp>
        <p:nvSpPr>
          <p:cNvPr id="20" name="TextBox 19"/>
          <p:cNvSpPr txBox="1"/>
          <p:nvPr/>
        </p:nvSpPr>
        <p:spPr>
          <a:xfrm>
            <a:off x="607200" y="4330000"/>
            <a:ext cx="11097295" cy="180000"/>
          </a:xfrm>
          <a:prstGeom prst="rect">
            <a:avLst/>
          </a:prstGeom>
          <a:noFill/>
        </p:spPr>
        <p:txBody>
          <a:bodyPr wrap="square">
            <a:spAutoFit/>
          </a:bodyPr>
          <a:lstStyle/>
          <a:p>
            <a:pPr algn="l">
              <a:spcBef>
                <a:spcPts val="0"/>
              </a:spcBef>
              <a:spcAft>
                <a:spcPts val="0"/>
              </a:spcAft>
            </a:pPr>
            <a:r>
              <a:rPr sz="1000" b="0" i="0">
                <a:solidFill>
                  <a:srgbClr val="505050"/>
                </a:solidFill>
                <a:latin typeface="Calibri"/>
              </a:rPr>
              <a:t>Barocas et al., Ensign et al. — protected-attribute constraints, feedback-loop risk. Rural/occupational groups (Sophea’s category) most at risk.</a:t>
            </a:r>
          </a:p>
        </p:txBody>
      </p:sp>
      <p:sp>
        <p:nvSpPr>
          <p:cNvPr id="21" name="Rectangle 20"/>
          <p:cNvSpPr/>
          <p:nvPr/>
        </p:nvSpPr>
        <p:spPr>
          <a:xfrm>
            <a:off x="457200" y="4670000"/>
            <a:ext cx="11277295" cy="8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57200" y="4670000"/>
            <a:ext cx="91440" cy="82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07200" y="4790000"/>
            <a:ext cx="11097295" cy="380000"/>
          </a:xfrm>
          <a:prstGeom prst="rect">
            <a:avLst/>
          </a:prstGeom>
          <a:noFill/>
        </p:spPr>
        <p:txBody>
          <a:bodyPr wrap="square">
            <a:spAutoFit/>
          </a:bodyPr>
          <a:lstStyle/>
          <a:p>
            <a:pPr algn="l">
              <a:spcBef>
                <a:spcPts val="0"/>
              </a:spcBef>
              <a:spcAft>
                <a:spcPts val="0"/>
              </a:spcAft>
            </a:pPr>
            <a:r>
              <a:rPr sz="1200" b="1" i="0">
                <a:solidFill>
                  <a:srgbClr val="1B5697"/>
                </a:solidFill>
                <a:latin typeface="Segoe UI"/>
              </a:rPr>
              <a:t>Population Stability Index</a:t>
            </a:r>
          </a:p>
        </p:txBody>
      </p:sp>
      <p:sp>
        <p:nvSpPr>
          <p:cNvPr id="24" name="TextBox 23"/>
          <p:cNvSpPr txBox="1"/>
          <p:nvPr/>
        </p:nvSpPr>
        <p:spPr>
          <a:xfrm>
            <a:off x="607200" y="5210000"/>
            <a:ext cx="11097295" cy="180000"/>
          </a:xfrm>
          <a:prstGeom prst="rect">
            <a:avLst/>
          </a:prstGeom>
          <a:noFill/>
        </p:spPr>
        <p:txBody>
          <a:bodyPr wrap="square">
            <a:spAutoFit/>
          </a:bodyPr>
          <a:lstStyle/>
          <a:p>
            <a:pPr algn="l">
              <a:spcBef>
                <a:spcPts val="0"/>
              </a:spcBef>
              <a:spcAft>
                <a:spcPts val="0"/>
              </a:spcAft>
            </a:pPr>
            <a:r>
              <a:rPr sz="1000" b="0" i="0">
                <a:solidFill>
                  <a:srgbClr val="505050"/>
                </a:solidFill>
                <a:latin typeface="Calibri"/>
              </a:rPr>
              <a:t>PSI = Σ(Aᵢ − Eᵢ) × ln(Aᵢ/Eᵢ). Siddiqi (2006); validated Yurdakul &amp; Naranjo (2020). THREE ZONES: GREEN &lt;0.10 · AMBER 0.10–0.25 · RED &gt;0.25.</a:t>
            </a:r>
          </a:p>
        </p:txBody>
      </p:sp>
      <p:sp>
        <p:nvSpPr>
          <p:cNvPr id="25" name="Rectangle 24"/>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7" name="Rectangle 26"/>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Literature Review</a:t>
            </a:r>
          </a:p>
        </p:txBody>
      </p:sp>
      <p:sp>
        <p:nvSpPr>
          <p:cNvPr id="29" name="Rectangle 28"/>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7 / 43</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ALGORITHM COMPARISON</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457200" y="1150000"/>
          <a:ext cx="11277295" cy="5100000"/>
        </p:xfrm>
        <a:graphic>
          <a:graphicData uri="http://schemas.openxmlformats.org/drawingml/2006/table">
            <a:tbl>
              <a:tblPr firstRow="1" bandRow="1">
                <a:tableStyleId>{5C22544A-7EE6-4342-B048-85BDC9FD1C3A}</a:tableStyleId>
              </a:tblPr>
              <a:tblGrid>
                <a:gridCol w="2255459">
                  <a:extLst>
                    <a:ext uri="{9D8B030D-6E8A-4147-A177-3AD203B41FA5}">
                      <a16:colId xmlns:a16="http://schemas.microsoft.com/office/drawing/2014/main" val="20000"/>
                    </a:ext>
                  </a:extLst>
                </a:gridCol>
                <a:gridCol w="2255459">
                  <a:extLst>
                    <a:ext uri="{9D8B030D-6E8A-4147-A177-3AD203B41FA5}">
                      <a16:colId xmlns:a16="http://schemas.microsoft.com/office/drawing/2014/main" val="20001"/>
                    </a:ext>
                  </a:extLst>
                </a:gridCol>
                <a:gridCol w="2255459">
                  <a:extLst>
                    <a:ext uri="{9D8B030D-6E8A-4147-A177-3AD203B41FA5}">
                      <a16:colId xmlns:a16="http://schemas.microsoft.com/office/drawing/2014/main" val="20002"/>
                    </a:ext>
                  </a:extLst>
                </a:gridCol>
                <a:gridCol w="2255459">
                  <a:extLst>
                    <a:ext uri="{9D8B030D-6E8A-4147-A177-3AD203B41FA5}">
                      <a16:colId xmlns:a16="http://schemas.microsoft.com/office/drawing/2014/main" val="20003"/>
                    </a:ext>
                  </a:extLst>
                </a:gridCol>
                <a:gridCol w="2255459">
                  <a:extLst>
                    <a:ext uri="{9D8B030D-6E8A-4147-A177-3AD203B41FA5}">
                      <a16:colId xmlns:a16="http://schemas.microsoft.com/office/drawing/2014/main" val="20004"/>
                    </a:ext>
                  </a:extLst>
                </a:gridCol>
              </a:tblGrid>
              <a:tr h="850000">
                <a:tc>
                  <a:txBody>
                    <a:bodyPr/>
                    <a:lstStyle/>
                    <a:p>
                      <a:r>
                        <a:rPr sz="1100" b="1">
                          <a:solidFill>
                            <a:srgbClr val="FFFFFF"/>
                          </a:solidFill>
                        </a:rPr>
                        <a:t>Algorithm</a:t>
                      </a:r>
                    </a:p>
                  </a:txBody>
                  <a:tcPr>
                    <a:solidFill>
                      <a:srgbClr val="1B5697"/>
                    </a:solidFill>
                  </a:tcPr>
                </a:tc>
                <a:tc>
                  <a:txBody>
                    <a:bodyPr/>
                    <a:lstStyle/>
                    <a:p>
                      <a:r>
                        <a:rPr sz="1100" b="1">
                          <a:solidFill>
                            <a:srgbClr val="FFFFFF"/>
                          </a:solidFill>
                        </a:rPr>
                        <a:t>Exploration</a:t>
                      </a:r>
                    </a:p>
                  </a:txBody>
                  <a:tcPr>
                    <a:solidFill>
                      <a:srgbClr val="1B5697"/>
                    </a:solidFill>
                  </a:tcPr>
                </a:tc>
                <a:tc>
                  <a:txBody>
                    <a:bodyPr/>
                    <a:lstStyle/>
                    <a:p>
                      <a:r>
                        <a:rPr sz="1100" b="1">
                          <a:solidFill>
                            <a:srgbClr val="FFFFFF"/>
                          </a:solidFill>
                        </a:rPr>
                        <a:t>Regret</a:t>
                      </a:r>
                    </a:p>
                  </a:txBody>
                  <a:tcPr>
                    <a:solidFill>
                      <a:srgbClr val="1B5697"/>
                    </a:solidFill>
                  </a:tcPr>
                </a:tc>
                <a:tc>
                  <a:txBody>
                    <a:bodyPr/>
                    <a:lstStyle/>
                    <a:p>
                      <a:r>
                        <a:rPr sz="1100" b="1">
                          <a:solidFill>
                            <a:srgbClr val="FFFFFF"/>
                          </a:solidFill>
                        </a:rPr>
                        <a:t>Per-Round Cost</a:t>
                      </a:r>
                    </a:p>
                  </a:txBody>
                  <a:tcPr>
                    <a:solidFill>
                      <a:srgbClr val="1B5697"/>
                    </a:solidFill>
                  </a:tcPr>
                </a:tc>
                <a:tc>
                  <a:txBody>
                    <a:bodyPr/>
                    <a:lstStyle/>
                    <a:p>
                      <a:r>
                        <a:rPr sz="1100" b="1">
                          <a:solidFill>
                            <a:srgbClr val="FFFFFF"/>
                          </a:solidFill>
                        </a:rPr>
                        <a:t>Data Need</a:t>
                      </a:r>
                    </a:p>
                  </a:txBody>
                  <a:tcPr>
                    <a:solidFill>
                      <a:srgbClr val="1B5697"/>
                    </a:solidFill>
                  </a:tcPr>
                </a:tc>
                <a:extLst>
                  <a:ext uri="{0D108BD9-81ED-4DB2-BD59-A6C34878D82A}">
                    <a16:rowId xmlns:a16="http://schemas.microsoft.com/office/drawing/2014/main" val="10000"/>
                  </a:ext>
                </a:extLst>
              </a:tr>
              <a:tr h="850000">
                <a:tc>
                  <a:txBody>
                    <a:bodyPr/>
                    <a:lstStyle/>
                    <a:p>
                      <a:r>
                        <a:rPr sz="1000" b="1">
                          <a:solidFill>
                            <a:srgbClr val="1B5697"/>
                          </a:solidFill>
                        </a:rPr>
                        <a:t>LinUCB</a:t>
                      </a:r>
                    </a:p>
                    <a:p>
                      <a:r>
                        <a:rPr sz="1000" b="1">
                          <a:solidFill>
                            <a:srgbClr val="1B5697"/>
                          </a:solidFill>
                        </a:rPr>
                        <a:t>(Li et al. 2010)</a:t>
                      </a:r>
                    </a:p>
                  </a:txBody>
                  <a:tcPr>
                    <a:solidFill>
                      <a:srgbClr val="D4E6F7"/>
                    </a:solidFill>
                  </a:tcPr>
                </a:tc>
                <a:tc>
                  <a:txBody>
                    <a:bodyPr/>
                    <a:lstStyle/>
                    <a:p>
                      <a:r>
                        <a:rPr sz="1000" b="0">
                          <a:solidFill>
                            <a:srgbClr val="262626"/>
                          </a:solidFill>
                        </a:rPr>
                        <a:t>UCB bonus:</a:t>
                      </a:r>
                    </a:p>
                    <a:p>
                      <a:r>
                        <a:rPr sz="1000" b="0">
                          <a:solidFill>
                            <a:srgbClr val="262626"/>
                          </a:solidFill>
                        </a:rPr>
                        <a:t>α√(xᵀA⁻¹x)</a:t>
                      </a:r>
                    </a:p>
                  </a:txBody>
                  <a:tcPr>
                    <a:solidFill>
                      <a:srgbClr val="F3F6FB"/>
                    </a:solidFill>
                  </a:tcPr>
                </a:tc>
                <a:tc>
                  <a:txBody>
                    <a:bodyPr/>
                    <a:lstStyle/>
                    <a:p>
                      <a:r>
                        <a:rPr sz="1000" b="0">
                          <a:solidFill>
                            <a:srgbClr val="262626"/>
                          </a:solidFill>
                        </a:rPr>
                        <a:t>O(d√T log T)</a:t>
                      </a:r>
                    </a:p>
                  </a:txBody>
                  <a:tcPr>
                    <a:solidFill>
                      <a:srgbClr val="F3F6FB"/>
                    </a:solidFill>
                  </a:tcPr>
                </a:tc>
                <a:tc>
                  <a:txBody>
                    <a:bodyPr/>
                    <a:lstStyle/>
                    <a:p>
                      <a:r>
                        <a:rPr sz="1000" b="0">
                          <a:solidFill>
                            <a:srgbClr val="262626"/>
                          </a:solidFill>
                        </a:rPr>
                        <a:t>O(d²)</a:t>
                      </a:r>
                    </a:p>
                  </a:txBody>
                  <a:tcPr>
                    <a:solidFill>
                      <a:srgbClr val="F3F6FB"/>
                    </a:solidFill>
                  </a:tcPr>
                </a:tc>
                <a:tc>
                  <a:txBody>
                    <a:bodyPr/>
                    <a:lstStyle/>
                    <a:p>
                      <a:r>
                        <a:rPr sz="1000" b="0">
                          <a:solidFill>
                            <a:srgbClr val="262626"/>
                          </a:solidFill>
                        </a:rPr>
                        <a:t>Moderate</a:t>
                      </a:r>
                    </a:p>
                  </a:txBody>
                  <a:tcPr>
                    <a:solidFill>
                      <a:srgbClr val="F3F6FB"/>
                    </a:solidFill>
                  </a:tcPr>
                </a:tc>
                <a:extLst>
                  <a:ext uri="{0D108BD9-81ED-4DB2-BD59-A6C34878D82A}">
                    <a16:rowId xmlns:a16="http://schemas.microsoft.com/office/drawing/2014/main" val="10001"/>
                  </a:ext>
                </a:extLst>
              </a:tr>
              <a:tr h="850000">
                <a:tc>
                  <a:txBody>
                    <a:bodyPr/>
                    <a:lstStyle/>
                    <a:p>
                      <a:r>
                        <a:rPr sz="1000" b="1">
                          <a:solidFill>
                            <a:srgbClr val="1B5697"/>
                          </a:solidFill>
                        </a:rPr>
                        <a:t>LinTS</a:t>
                      </a:r>
                    </a:p>
                    <a:p>
                      <a:r>
                        <a:rPr sz="1000" b="1">
                          <a:solidFill>
                            <a:srgbClr val="1B5697"/>
                          </a:solidFill>
                        </a:rPr>
                        <a:t>(Agrawal &amp; Goyal 2013)</a:t>
                      </a:r>
                    </a:p>
                  </a:txBody>
                  <a:tcPr>
                    <a:solidFill>
                      <a:srgbClr val="D4E6F7"/>
                    </a:solidFill>
                  </a:tcPr>
                </a:tc>
                <a:tc>
                  <a:txBody>
                    <a:bodyPr/>
                    <a:lstStyle/>
                    <a:p>
                      <a:r>
                        <a:rPr sz="1000" b="0">
                          <a:solidFill>
                            <a:srgbClr val="262626"/>
                          </a:solidFill>
                        </a:rPr>
                        <a:t>Posterior sampling:</a:t>
                      </a:r>
                    </a:p>
                    <a:p>
                      <a:r>
                        <a:rPr sz="1000" b="0">
                          <a:solidFill>
                            <a:srgbClr val="262626"/>
                          </a:solidFill>
                        </a:rPr>
                        <a:t>θ̃ ~ N(θ̂, v²A⁻¹)</a:t>
                      </a:r>
                    </a:p>
                  </a:txBody>
                  <a:tcPr>
                    <a:solidFill>
                      <a:srgbClr val="FFFFFF"/>
                    </a:solidFill>
                  </a:tcPr>
                </a:tc>
                <a:tc>
                  <a:txBody>
                    <a:bodyPr/>
                    <a:lstStyle/>
                    <a:p>
                      <a:r>
                        <a:rPr sz="1000" b="0">
                          <a:solidFill>
                            <a:srgbClr val="262626"/>
                          </a:solidFill>
                        </a:rPr>
                        <a:t>O(d√T log T)</a:t>
                      </a:r>
                    </a:p>
                  </a:txBody>
                  <a:tcPr>
                    <a:solidFill>
                      <a:srgbClr val="FFFFFF"/>
                    </a:solidFill>
                  </a:tcPr>
                </a:tc>
                <a:tc>
                  <a:txBody>
                    <a:bodyPr/>
                    <a:lstStyle/>
                    <a:p>
                      <a:r>
                        <a:rPr sz="1000" b="0">
                          <a:solidFill>
                            <a:srgbClr val="262626"/>
                          </a:solidFill>
                        </a:rPr>
                        <a:t>O(d²)</a:t>
                      </a:r>
                    </a:p>
                  </a:txBody>
                  <a:tcPr>
                    <a:solidFill>
                      <a:srgbClr val="FFFFFF"/>
                    </a:solidFill>
                  </a:tcPr>
                </a:tc>
                <a:tc>
                  <a:txBody>
                    <a:bodyPr/>
                    <a:lstStyle/>
                    <a:p>
                      <a:r>
                        <a:rPr sz="1000" b="0">
                          <a:solidFill>
                            <a:srgbClr val="262626"/>
                          </a:solidFill>
                        </a:rPr>
                        <a:t>Moderate</a:t>
                      </a:r>
                    </a:p>
                  </a:txBody>
                  <a:tcPr>
                    <a:solidFill>
                      <a:srgbClr val="FFFFFF"/>
                    </a:solidFill>
                  </a:tcPr>
                </a:tc>
                <a:extLst>
                  <a:ext uri="{0D108BD9-81ED-4DB2-BD59-A6C34878D82A}">
                    <a16:rowId xmlns:a16="http://schemas.microsoft.com/office/drawing/2014/main" val="10002"/>
                  </a:ext>
                </a:extLst>
              </a:tr>
              <a:tr h="850000">
                <a:tc>
                  <a:txBody>
                    <a:bodyPr/>
                    <a:lstStyle/>
                    <a:p>
                      <a:r>
                        <a:rPr sz="1000" b="1">
                          <a:solidFill>
                            <a:srgbClr val="1B5697"/>
                          </a:solidFill>
                        </a:rPr>
                        <a:t>NeuralUCB</a:t>
                      </a:r>
                    </a:p>
                    <a:p>
                      <a:r>
                        <a:rPr sz="1000" b="1">
                          <a:solidFill>
                            <a:srgbClr val="1B5697"/>
                          </a:solidFill>
                        </a:rPr>
                        <a:t>(Zhou et al. 2020)</a:t>
                      </a:r>
                    </a:p>
                  </a:txBody>
                  <a:tcPr>
                    <a:solidFill>
                      <a:srgbClr val="F3F6FB"/>
                    </a:solidFill>
                  </a:tcPr>
                </a:tc>
                <a:tc>
                  <a:txBody>
                    <a:bodyPr/>
                    <a:lstStyle/>
                    <a:p>
                      <a:r>
                        <a:rPr sz="1000" b="0">
                          <a:solidFill>
                            <a:srgbClr val="262626"/>
                          </a:solidFill>
                        </a:rPr>
                        <a:t>Gradient confidence</a:t>
                      </a:r>
                    </a:p>
                  </a:txBody>
                  <a:tcPr>
                    <a:solidFill>
                      <a:srgbClr val="F3F6FB"/>
                    </a:solidFill>
                  </a:tcPr>
                </a:tc>
                <a:tc>
                  <a:txBody>
                    <a:bodyPr/>
                    <a:lstStyle/>
                    <a:p>
                      <a:r>
                        <a:rPr sz="1000" b="0">
                          <a:solidFill>
                            <a:srgbClr val="262626"/>
                          </a:solidFill>
                        </a:rPr>
                        <a:t>Õ(d̃√T)</a:t>
                      </a:r>
                    </a:p>
                  </a:txBody>
                  <a:tcPr>
                    <a:solidFill>
                      <a:srgbClr val="F3F6FB"/>
                    </a:solidFill>
                  </a:tcPr>
                </a:tc>
                <a:tc>
                  <a:txBody>
                    <a:bodyPr/>
                    <a:lstStyle/>
                    <a:p>
                      <a:r>
                        <a:rPr sz="1000" b="0">
                          <a:solidFill>
                            <a:srgbClr val="262626"/>
                          </a:solidFill>
                        </a:rPr>
                        <a:t>O(‖θ‖·T)</a:t>
                      </a:r>
                    </a:p>
                  </a:txBody>
                  <a:tcPr>
                    <a:solidFill>
                      <a:srgbClr val="F3F6FB"/>
                    </a:solidFill>
                  </a:tcPr>
                </a:tc>
                <a:tc>
                  <a:txBody>
                    <a:bodyPr/>
                    <a:lstStyle/>
                    <a:p>
                      <a:r>
                        <a:rPr sz="1000" b="0">
                          <a:solidFill>
                            <a:srgbClr val="262626"/>
                          </a:solidFill>
                        </a:rPr>
                        <a:t>Large</a:t>
                      </a:r>
                    </a:p>
                  </a:txBody>
                  <a:tcPr>
                    <a:solidFill>
                      <a:srgbClr val="F3F6FB"/>
                    </a:solidFill>
                  </a:tcPr>
                </a:tc>
                <a:extLst>
                  <a:ext uri="{0D108BD9-81ED-4DB2-BD59-A6C34878D82A}">
                    <a16:rowId xmlns:a16="http://schemas.microsoft.com/office/drawing/2014/main" val="10003"/>
                  </a:ext>
                </a:extLst>
              </a:tr>
              <a:tr h="850000">
                <a:tc>
                  <a:txBody>
                    <a:bodyPr/>
                    <a:lstStyle/>
                    <a:p>
                      <a:r>
                        <a:rPr sz="1000" b="1">
                          <a:solidFill>
                            <a:srgbClr val="1B5697"/>
                          </a:solidFill>
                        </a:rPr>
                        <a:t>EE-Net</a:t>
                      </a:r>
                    </a:p>
                    <a:p>
                      <a:r>
                        <a:rPr sz="1000" b="1">
                          <a:solidFill>
                            <a:srgbClr val="1B5697"/>
                          </a:solidFill>
                        </a:rPr>
                        <a:t>(Ban et al. 2022)</a:t>
                      </a:r>
                    </a:p>
                  </a:txBody>
                  <a:tcPr>
                    <a:solidFill>
                      <a:srgbClr val="FFFFFF"/>
                    </a:solidFill>
                  </a:tcPr>
                </a:tc>
                <a:tc>
                  <a:txBody>
                    <a:bodyPr/>
                    <a:lstStyle/>
                    <a:p>
                      <a:r>
                        <a:rPr sz="1000" b="0">
                          <a:solidFill>
                            <a:srgbClr val="262626"/>
                          </a:solidFill>
                        </a:rPr>
                        <a:t>Learned exploration</a:t>
                      </a:r>
                    </a:p>
                  </a:txBody>
                  <a:tcPr>
                    <a:solidFill>
                      <a:srgbClr val="FFFFFF"/>
                    </a:solidFill>
                  </a:tcPr>
                </a:tc>
                <a:tc>
                  <a:txBody>
                    <a:bodyPr/>
                    <a:lstStyle/>
                    <a:p>
                      <a:r>
                        <a:rPr sz="1000" b="0">
                          <a:solidFill>
                            <a:srgbClr val="262626"/>
                          </a:solidFill>
                        </a:rPr>
                        <a:t>Empirical only</a:t>
                      </a:r>
                    </a:p>
                  </a:txBody>
                  <a:tcPr>
                    <a:solidFill>
                      <a:srgbClr val="FFFFFF"/>
                    </a:solidFill>
                  </a:tcPr>
                </a:tc>
                <a:tc>
                  <a:txBody>
                    <a:bodyPr/>
                    <a:lstStyle/>
                    <a:p>
                      <a:r>
                        <a:rPr sz="1000" b="0">
                          <a:solidFill>
                            <a:srgbClr val="262626"/>
                          </a:solidFill>
                        </a:rPr>
                        <a:t>O(‖θ‖·T)</a:t>
                      </a:r>
                    </a:p>
                  </a:txBody>
                  <a:tcPr>
                    <a:solidFill>
                      <a:srgbClr val="FFFFFF"/>
                    </a:solidFill>
                  </a:tcPr>
                </a:tc>
                <a:tc>
                  <a:txBody>
                    <a:bodyPr/>
                    <a:lstStyle/>
                    <a:p>
                      <a:r>
                        <a:rPr sz="1000" b="0">
                          <a:solidFill>
                            <a:srgbClr val="262626"/>
                          </a:solidFill>
                        </a:rPr>
                        <a:t>Large</a:t>
                      </a:r>
                    </a:p>
                  </a:txBody>
                  <a:tcPr>
                    <a:solidFill>
                      <a:srgbClr val="FFFFFF"/>
                    </a:solidFill>
                  </a:tcPr>
                </a:tc>
                <a:extLst>
                  <a:ext uri="{0D108BD9-81ED-4DB2-BD59-A6C34878D82A}">
                    <a16:rowId xmlns:a16="http://schemas.microsoft.com/office/drawing/2014/main" val="10004"/>
                  </a:ext>
                </a:extLst>
              </a:tr>
              <a:tr h="850000">
                <a:tc>
                  <a:txBody>
                    <a:bodyPr/>
                    <a:lstStyle/>
                    <a:p>
                      <a:r>
                        <a:rPr sz="1000" b="1">
                          <a:solidFill>
                            <a:srgbClr val="1B5697"/>
                          </a:solidFill>
                        </a:rPr>
                        <a:t>Epsilon-Greedy</a:t>
                      </a:r>
                    </a:p>
                  </a:txBody>
                  <a:tcPr>
                    <a:solidFill>
                      <a:srgbClr val="F3F6FB"/>
                    </a:solidFill>
                  </a:tcPr>
                </a:tc>
                <a:tc>
                  <a:txBody>
                    <a:bodyPr/>
                    <a:lstStyle/>
                    <a:p>
                      <a:r>
                        <a:rPr sz="1000" b="0">
                          <a:solidFill>
                            <a:srgbClr val="262626"/>
                          </a:solidFill>
                        </a:rPr>
                        <a:t>ε-random (ε=0.15)</a:t>
                      </a:r>
                    </a:p>
                  </a:txBody>
                  <a:tcPr>
                    <a:solidFill>
                      <a:srgbClr val="F3F6FB"/>
                    </a:solidFill>
                  </a:tcPr>
                </a:tc>
                <a:tc>
                  <a:txBody>
                    <a:bodyPr/>
                    <a:lstStyle/>
                    <a:p>
                      <a:r>
                        <a:rPr sz="1000" b="0">
                          <a:solidFill>
                            <a:srgbClr val="262626"/>
                          </a:solidFill>
                        </a:rPr>
                        <a:t>O(T^(2/3))</a:t>
                      </a:r>
                    </a:p>
                  </a:txBody>
                  <a:tcPr>
                    <a:solidFill>
                      <a:srgbClr val="F3F6FB"/>
                    </a:solidFill>
                  </a:tcPr>
                </a:tc>
                <a:tc>
                  <a:txBody>
                    <a:bodyPr/>
                    <a:lstStyle/>
                    <a:p>
                      <a:r>
                        <a:rPr sz="1000" b="0">
                          <a:solidFill>
                            <a:srgbClr val="262626"/>
                          </a:solidFill>
                        </a:rPr>
                        <a:t>O(d²)</a:t>
                      </a:r>
                    </a:p>
                  </a:txBody>
                  <a:tcPr>
                    <a:solidFill>
                      <a:srgbClr val="F3F6FB"/>
                    </a:solidFill>
                  </a:tcPr>
                </a:tc>
                <a:tc>
                  <a:txBody>
                    <a:bodyPr/>
                    <a:lstStyle/>
                    <a:p>
                      <a:r>
                        <a:rPr sz="1000" b="0">
                          <a:solidFill>
                            <a:srgbClr val="262626"/>
                          </a:solidFill>
                        </a:rPr>
                        <a:t>Low</a:t>
                      </a:r>
                    </a:p>
                  </a:txBody>
                  <a:tcPr>
                    <a:solidFill>
                      <a:srgbClr val="F3F6FB"/>
                    </a:solidFill>
                  </a:tcPr>
                </a:tc>
                <a:extLst>
                  <a:ext uri="{0D108BD9-81ED-4DB2-BD59-A6C34878D82A}">
                    <a16:rowId xmlns:a16="http://schemas.microsoft.com/office/drawing/2014/main" val="10005"/>
                  </a:ext>
                </a:extLst>
              </a:tr>
            </a:tbl>
          </a:graphicData>
        </a:graphic>
      </p:graphicFrame>
      <p:sp>
        <p:nvSpPr>
          <p:cNvPr id="6" name="Rectangle 5"/>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8" name="Rectangle 7"/>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Literature Review</a:t>
            </a:r>
          </a:p>
        </p:txBody>
      </p:sp>
      <p:sp>
        <p:nvSpPr>
          <p:cNvPr id="10" name="Rectangle 9"/>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8 / 43</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9000"/>
            <a:ext cx="11277295" cy="700000"/>
          </a:xfrm>
          <a:prstGeom prst="rect">
            <a:avLst/>
          </a:prstGeom>
          <a:noFill/>
        </p:spPr>
        <p:txBody>
          <a:bodyPr wrap="square">
            <a:spAutoFit/>
          </a:bodyPr>
          <a:lstStyle/>
          <a:p>
            <a:pPr algn="l">
              <a:spcBef>
                <a:spcPts val="0"/>
              </a:spcBef>
              <a:spcAft>
                <a:spcPts val="0"/>
              </a:spcAft>
            </a:pPr>
            <a:r>
              <a:rPr sz="4800" b="1" i="0">
                <a:solidFill>
                  <a:srgbClr val="FFFFFF"/>
                </a:solidFill>
                <a:latin typeface="Segoe UI"/>
              </a:rPr>
              <a:t>III.</a:t>
            </a:r>
          </a:p>
        </p:txBody>
      </p:sp>
      <p:sp>
        <p:nvSpPr>
          <p:cNvPr id="4" name="Rectangle 3"/>
          <p:cNvSpPr/>
          <p:nvPr/>
        </p:nvSpPr>
        <p:spPr>
          <a:xfrm>
            <a:off x="457200" y="3489000"/>
            <a:ext cx="292608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3589000"/>
            <a:ext cx="11277295" cy="800000"/>
          </a:xfrm>
          <a:prstGeom prst="rect">
            <a:avLst/>
          </a:prstGeom>
          <a:noFill/>
        </p:spPr>
        <p:txBody>
          <a:bodyPr wrap="square">
            <a:spAutoFit/>
          </a:bodyPr>
          <a:lstStyle/>
          <a:p>
            <a:pPr algn="l">
              <a:spcBef>
                <a:spcPts val="0"/>
              </a:spcBef>
              <a:spcAft>
                <a:spcPts val="0"/>
              </a:spcAft>
            </a:pPr>
            <a:r>
              <a:rPr sz="2800" b="1" i="0">
                <a:solidFill>
                  <a:srgbClr val="FFFFFF"/>
                </a:solidFill>
                <a:latin typeface="Segoe UI"/>
              </a:rPr>
              <a:t>Methodology &amp; Model Design</a:t>
            </a:r>
          </a:p>
        </p:txBody>
      </p:sp>
      <p:sp>
        <p:nvSpPr>
          <p:cNvPr id="6" name="Rectangle 5"/>
          <p:cNvSpPr/>
          <p:nvPr/>
        </p:nvSpPr>
        <p:spPr>
          <a:xfrm>
            <a:off x="0" y="6437376"/>
            <a:ext cx="1219169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8" name="TextBox 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AFC4E4"/>
                </a:solidFill>
                <a:latin typeface="Calibri"/>
              </a:rPr>
              <a:t>Methodology &amp; Model Design</a:t>
            </a:r>
          </a:p>
        </p:txBody>
      </p:sp>
      <p:sp>
        <p:nvSpPr>
          <p:cNvPr id="9" name="TextBox 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9 / 43</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SYSTEM ARCHITECTURE</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095847" y="1400000"/>
            <a:ext cx="1500000" cy="7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45847" y="1500000"/>
            <a:ext cx="1400000" cy="600000"/>
          </a:xfrm>
          <a:prstGeom prst="rect">
            <a:avLst/>
          </a:prstGeom>
          <a:noFill/>
        </p:spPr>
        <p:txBody>
          <a:bodyPr wrap="square">
            <a:spAutoFit/>
          </a:bodyPr>
          <a:lstStyle/>
          <a:p>
            <a:pPr algn="ctr">
              <a:spcBef>
                <a:spcPts val="0"/>
              </a:spcBef>
              <a:spcAft>
                <a:spcPts val="0"/>
              </a:spcAft>
            </a:pPr>
            <a:r>
              <a:rPr sz="1200" b="1" i="0">
                <a:solidFill>
                  <a:srgbClr val="FFFFFF"/>
                </a:solidFill>
                <a:latin typeface="Calibri"/>
              </a:rPr>
              <a:t>Applicant
Context</a:t>
            </a:r>
          </a:p>
        </p:txBody>
      </p:sp>
      <p:sp>
        <p:nvSpPr>
          <p:cNvPr id="7" name="TextBox 6"/>
          <p:cNvSpPr txBox="1"/>
          <p:nvPr/>
        </p:nvSpPr>
        <p:spPr>
          <a:xfrm>
            <a:off x="2595847" y="1600000"/>
            <a:ext cx="200000" cy="5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8" name="Rectangle 7"/>
          <p:cNvSpPr/>
          <p:nvPr/>
        </p:nvSpPr>
        <p:spPr>
          <a:xfrm>
            <a:off x="2795847" y="1400000"/>
            <a:ext cx="1500000" cy="7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845847" y="1500000"/>
            <a:ext cx="1400000" cy="600000"/>
          </a:xfrm>
          <a:prstGeom prst="rect">
            <a:avLst/>
          </a:prstGeom>
          <a:noFill/>
        </p:spPr>
        <p:txBody>
          <a:bodyPr wrap="square">
            <a:spAutoFit/>
          </a:bodyPr>
          <a:lstStyle/>
          <a:p>
            <a:pPr algn="ctr">
              <a:spcBef>
                <a:spcPts val="0"/>
              </a:spcBef>
              <a:spcAft>
                <a:spcPts val="0"/>
              </a:spcAft>
            </a:pPr>
            <a:r>
              <a:rPr sz="1200" b="1" i="0">
                <a:solidFill>
                  <a:srgbClr val="FFFFFF"/>
                </a:solidFill>
                <a:latin typeface="Calibri"/>
              </a:rPr>
              <a:t>Bandit
Policy</a:t>
            </a:r>
          </a:p>
        </p:txBody>
      </p:sp>
      <p:sp>
        <p:nvSpPr>
          <p:cNvPr id="10" name="TextBox 9"/>
          <p:cNvSpPr txBox="1"/>
          <p:nvPr/>
        </p:nvSpPr>
        <p:spPr>
          <a:xfrm>
            <a:off x="4295847" y="1600000"/>
            <a:ext cx="200000" cy="5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11" name="Rectangle 10"/>
          <p:cNvSpPr/>
          <p:nvPr/>
        </p:nvSpPr>
        <p:spPr>
          <a:xfrm>
            <a:off x="4495847" y="1400000"/>
            <a:ext cx="1500000" cy="7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5847" y="1500000"/>
            <a:ext cx="1400000" cy="600000"/>
          </a:xfrm>
          <a:prstGeom prst="rect">
            <a:avLst/>
          </a:prstGeom>
          <a:noFill/>
        </p:spPr>
        <p:txBody>
          <a:bodyPr wrap="square">
            <a:spAutoFit/>
          </a:bodyPr>
          <a:lstStyle/>
          <a:p>
            <a:pPr algn="ctr">
              <a:spcBef>
                <a:spcPts val="0"/>
              </a:spcBef>
              <a:spcAft>
                <a:spcPts val="0"/>
              </a:spcAft>
            </a:pPr>
            <a:r>
              <a:rPr sz="1200" b="1" i="0">
                <a:solidFill>
                  <a:srgbClr val="FFFFFF"/>
                </a:solidFill>
                <a:latin typeface="Calibri"/>
              </a:rPr>
              <a:t>Underwriting
Action</a:t>
            </a:r>
          </a:p>
        </p:txBody>
      </p:sp>
      <p:sp>
        <p:nvSpPr>
          <p:cNvPr id="13" name="TextBox 12"/>
          <p:cNvSpPr txBox="1"/>
          <p:nvPr/>
        </p:nvSpPr>
        <p:spPr>
          <a:xfrm>
            <a:off x="5995847" y="1600000"/>
            <a:ext cx="200000" cy="5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14" name="Rectangle 13"/>
          <p:cNvSpPr/>
          <p:nvPr/>
        </p:nvSpPr>
        <p:spPr>
          <a:xfrm>
            <a:off x="6195847" y="1400000"/>
            <a:ext cx="1500000" cy="70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245847" y="1500000"/>
            <a:ext cx="1400000" cy="600000"/>
          </a:xfrm>
          <a:prstGeom prst="rect">
            <a:avLst/>
          </a:prstGeom>
          <a:noFill/>
        </p:spPr>
        <p:txBody>
          <a:bodyPr wrap="square">
            <a:spAutoFit/>
          </a:bodyPr>
          <a:lstStyle/>
          <a:p>
            <a:pPr algn="ctr">
              <a:spcBef>
                <a:spcPts val="0"/>
              </a:spcBef>
              <a:spcAft>
                <a:spcPts val="0"/>
              </a:spcAft>
            </a:pPr>
            <a:r>
              <a:rPr sz="1200" b="1" i="0">
                <a:solidFill>
                  <a:srgbClr val="FFFFFF"/>
                </a:solidFill>
                <a:latin typeface="Calibri"/>
              </a:rPr>
              <a:t>Actuarial
Reward</a:t>
            </a:r>
          </a:p>
        </p:txBody>
      </p:sp>
      <p:sp>
        <p:nvSpPr>
          <p:cNvPr id="16" name="TextBox 15"/>
          <p:cNvSpPr txBox="1"/>
          <p:nvPr/>
        </p:nvSpPr>
        <p:spPr>
          <a:xfrm>
            <a:off x="7695847" y="1600000"/>
            <a:ext cx="200000" cy="5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17" name="Rectangle 16"/>
          <p:cNvSpPr/>
          <p:nvPr/>
        </p:nvSpPr>
        <p:spPr>
          <a:xfrm>
            <a:off x="7895847" y="1400000"/>
            <a:ext cx="1500000" cy="7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945847" y="1500000"/>
            <a:ext cx="1400000" cy="600000"/>
          </a:xfrm>
          <a:prstGeom prst="rect">
            <a:avLst/>
          </a:prstGeom>
          <a:noFill/>
        </p:spPr>
        <p:txBody>
          <a:bodyPr wrap="square">
            <a:spAutoFit/>
          </a:bodyPr>
          <a:lstStyle/>
          <a:p>
            <a:pPr algn="ctr">
              <a:spcBef>
                <a:spcPts val="0"/>
              </a:spcBef>
              <a:spcAft>
                <a:spcPts val="0"/>
              </a:spcAft>
            </a:pPr>
            <a:r>
              <a:rPr sz="1200" b="1" i="0">
                <a:solidFill>
                  <a:srgbClr val="FFFFFF"/>
                </a:solidFill>
                <a:latin typeface="Calibri"/>
              </a:rPr>
              <a:t>PSI + HITL
Guardrail</a:t>
            </a:r>
          </a:p>
        </p:txBody>
      </p:sp>
      <p:sp>
        <p:nvSpPr>
          <p:cNvPr id="19" name="TextBox 18"/>
          <p:cNvSpPr txBox="1"/>
          <p:nvPr/>
        </p:nvSpPr>
        <p:spPr>
          <a:xfrm>
            <a:off x="9395847" y="1600000"/>
            <a:ext cx="200000" cy="5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20" name="Rectangle 19"/>
          <p:cNvSpPr/>
          <p:nvPr/>
        </p:nvSpPr>
        <p:spPr>
          <a:xfrm>
            <a:off x="9595847" y="1400000"/>
            <a:ext cx="1500000" cy="700000"/>
          </a:xfrm>
          <a:prstGeom prst="rect">
            <a:avLst/>
          </a:prstGeom>
          <a:solidFill>
            <a:srgbClr val="C0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645847" y="1500000"/>
            <a:ext cx="1400000" cy="600000"/>
          </a:xfrm>
          <a:prstGeom prst="rect">
            <a:avLst/>
          </a:prstGeom>
          <a:noFill/>
        </p:spPr>
        <p:txBody>
          <a:bodyPr wrap="square">
            <a:spAutoFit/>
          </a:bodyPr>
          <a:lstStyle/>
          <a:p>
            <a:pPr algn="ctr">
              <a:spcBef>
                <a:spcPts val="0"/>
              </a:spcBef>
              <a:spcAft>
                <a:spcPts val="0"/>
              </a:spcAft>
            </a:pPr>
            <a:r>
              <a:rPr sz="1200" b="1" i="0">
                <a:solidFill>
                  <a:srgbClr val="FFFFFF"/>
                </a:solidFill>
                <a:latin typeface="Calibri"/>
              </a:rPr>
              <a:t>Decision</a:t>
            </a:r>
          </a:p>
        </p:txBody>
      </p:sp>
      <p:sp>
        <p:nvSpPr>
          <p:cNvPr id="22" name="Rectangle 21"/>
          <p:cNvSpPr/>
          <p:nvPr/>
        </p:nvSpPr>
        <p:spPr>
          <a:xfrm>
            <a:off x="457200" y="2400000"/>
            <a:ext cx="40000" cy="4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77200" y="2440000"/>
            <a:ext cx="11077295" cy="420000"/>
          </a:xfrm>
          <a:prstGeom prst="rect">
            <a:avLst/>
          </a:prstGeom>
          <a:noFill/>
        </p:spPr>
        <p:txBody>
          <a:bodyPr wrap="square">
            <a:spAutoFit/>
          </a:bodyPr>
          <a:lstStyle/>
          <a:p>
            <a:pPr algn="l">
              <a:spcBef>
                <a:spcPts val="0"/>
              </a:spcBef>
              <a:spcAft>
                <a:spcPts val="0"/>
              </a:spcAft>
            </a:pPr>
            <a:r>
              <a:rPr sz="1200" b="0" i="0">
                <a:solidFill>
                  <a:srgbClr val="262626"/>
                </a:solidFill>
                <a:latin typeface="Calibri"/>
              </a:rPr>
              <a:t>34-dimensional applicant context vector (standardised features)</a:t>
            </a:r>
          </a:p>
        </p:txBody>
      </p:sp>
      <p:sp>
        <p:nvSpPr>
          <p:cNvPr id="24" name="Rectangle 23"/>
          <p:cNvSpPr/>
          <p:nvPr/>
        </p:nvSpPr>
        <p:spPr>
          <a:xfrm>
            <a:off x="457200" y="3000000"/>
            <a:ext cx="40000" cy="4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77200" y="3040000"/>
            <a:ext cx="11077295" cy="420000"/>
          </a:xfrm>
          <a:prstGeom prst="rect">
            <a:avLst/>
          </a:prstGeom>
          <a:noFill/>
        </p:spPr>
        <p:txBody>
          <a:bodyPr wrap="square">
            <a:spAutoFit/>
          </a:bodyPr>
          <a:lstStyle/>
          <a:p>
            <a:pPr algn="l">
              <a:spcBef>
                <a:spcPts val="0"/>
              </a:spcBef>
              <a:spcAft>
                <a:spcPts val="0"/>
              </a:spcAft>
            </a:pPr>
            <a:r>
              <a:rPr sz="1200" b="0" i="0">
                <a:solidFill>
                  <a:srgbClr val="262626"/>
                </a:solidFill>
                <a:latin typeface="Calibri"/>
              </a:rPr>
              <a:t>Four underwriting arms: STANDARD · RATED · DECLINE · REFER</a:t>
            </a:r>
          </a:p>
        </p:txBody>
      </p:sp>
      <p:sp>
        <p:nvSpPr>
          <p:cNvPr id="26" name="Rectangle 25"/>
          <p:cNvSpPr/>
          <p:nvPr/>
        </p:nvSpPr>
        <p:spPr>
          <a:xfrm>
            <a:off x="457200" y="3600000"/>
            <a:ext cx="40000" cy="4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77200" y="3640000"/>
            <a:ext cx="11077295" cy="420000"/>
          </a:xfrm>
          <a:prstGeom prst="rect">
            <a:avLst/>
          </a:prstGeom>
          <a:noFill/>
        </p:spPr>
        <p:txBody>
          <a:bodyPr wrap="square">
            <a:spAutoFit/>
          </a:bodyPr>
          <a:lstStyle/>
          <a:p>
            <a:pPr algn="l">
              <a:spcBef>
                <a:spcPts val="0"/>
              </a:spcBef>
              <a:spcAft>
                <a:spcPts val="0"/>
              </a:spcAft>
            </a:pPr>
            <a:r>
              <a:rPr sz="1200" b="0" i="0">
                <a:solidFill>
                  <a:srgbClr val="262626"/>
                </a:solidFill>
                <a:latin typeface="Calibri"/>
              </a:rPr>
              <a:t>Actuarial simulator returns reward: premium revenue − expected claims (+ noise ±8%)</a:t>
            </a:r>
          </a:p>
        </p:txBody>
      </p:sp>
      <p:sp>
        <p:nvSpPr>
          <p:cNvPr id="28" name="Rectangle 27"/>
          <p:cNvSpPr/>
          <p:nvPr/>
        </p:nvSpPr>
        <p:spPr>
          <a:xfrm>
            <a:off x="457200" y="4200000"/>
            <a:ext cx="40000" cy="4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77200" y="4240000"/>
            <a:ext cx="11077295" cy="420000"/>
          </a:xfrm>
          <a:prstGeom prst="rect">
            <a:avLst/>
          </a:prstGeom>
          <a:noFill/>
        </p:spPr>
        <p:txBody>
          <a:bodyPr wrap="square">
            <a:spAutoFit/>
          </a:bodyPr>
          <a:lstStyle/>
          <a:p>
            <a:pPr algn="l">
              <a:spcBef>
                <a:spcPts val="0"/>
              </a:spcBef>
              <a:spcAft>
                <a:spcPts val="0"/>
              </a:spcAft>
            </a:pPr>
            <a:r>
              <a:rPr sz="1200" b="0" i="0">
                <a:solidFill>
                  <a:srgbClr val="262626"/>
                </a:solidFill>
                <a:latin typeface="Calibri"/>
              </a:rPr>
              <a:t>PSI guardrail monitors portfolio drift on 500-round sliding window</a:t>
            </a:r>
          </a:p>
        </p:txBody>
      </p:sp>
      <p:sp>
        <p:nvSpPr>
          <p:cNvPr id="30" name="Rectangle 29"/>
          <p:cNvSpPr/>
          <p:nvPr/>
        </p:nvSpPr>
        <p:spPr>
          <a:xfrm>
            <a:off x="457200" y="4800000"/>
            <a:ext cx="40000" cy="4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77200" y="4840000"/>
            <a:ext cx="11077295" cy="420000"/>
          </a:xfrm>
          <a:prstGeom prst="rect">
            <a:avLst/>
          </a:prstGeom>
          <a:noFill/>
        </p:spPr>
        <p:txBody>
          <a:bodyPr wrap="square">
            <a:spAutoFit/>
          </a:bodyPr>
          <a:lstStyle/>
          <a:p>
            <a:pPr algn="l">
              <a:spcBef>
                <a:spcPts val="0"/>
              </a:spcBef>
              <a:spcAft>
                <a:spcPts val="0"/>
              </a:spcAft>
            </a:pPr>
            <a:r>
              <a:rPr sz="1200" b="0" i="0">
                <a:solidFill>
                  <a:srgbClr val="262626"/>
                </a:solidFill>
                <a:latin typeface="Calibri"/>
              </a:rPr>
              <a:t>HITL wrapper escalates uncertain cases (uncertainty &gt; κ threshold)</a:t>
            </a:r>
          </a:p>
        </p:txBody>
      </p:sp>
      <p:sp>
        <p:nvSpPr>
          <p:cNvPr id="32" name="Rectangle 31"/>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4" name="Rectangle 33"/>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Methodology &amp; Model Design</a:t>
            </a:r>
          </a:p>
        </p:txBody>
      </p:sp>
      <p:sp>
        <p:nvSpPr>
          <p:cNvPr id="36" name="Rectangle 35"/>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9 / 43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ZOOM-IN: APPLICANT CONTEXT</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700000"/>
            <a:ext cx="11277295" cy="320000"/>
          </a:xfrm>
          <a:prstGeom prst="rect">
            <a:avLst/>
          </a:prstGeom>
          <a:noFill/>
        </p:spPr>
        <p:txBody>
          <a:bodyPr wrap="square">
            <a:spAutoFit/>
          </a:bodyPr>
          <a:lstStyle/>
          <a:p>
            <a:pPr algn="ctr">
              <a:spcBef>
                <a:spcPts val="0"/>
              </a:spcBef>
              <a:spcAft>
                <a:spcPts val="0"/>
              </a:spcAft>
            </a:pPr>
            <a:r>
              <a:rPr sz="1100" b="1" i="0">
                <a:solidFill>
                  <a:srgbClr val="2E8B57"/>
                </a:solidFill>
                <a:latin typeface="Calibri"/>
              </a:rPr>
              <a:t>▸ YOU ARE HERE</a:t>
            </a:r>
          </a:p>
        </p:txBody>
      </p:sp>
      <p:sp>
        <p:nvSpPr>
          <p:cNvPr id="6" name="Rectangle 5"/>
          <p:cNvSpPr/>
          <p:nvPr/>
        </p:nvSpPr>
        <p:spPr>
          <a:xfrm>
            <a:off x="1095847" y="2550000"/>
            <a:ext cx="1500000" cy="7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050847" y="2505000"/>
            <a:ext cx="1590000" cy="850000"/>
          </a:xfrm>
          <a:prstGeom prst="rect">
            <a:avLst/>
          </a:prstGeom>
          <a:noFill/>
          <a:ln w="4445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45847" y="2660000"/>
            <a:ext cx="1400000" cy="610000"/>
          </a:xfrm>
          <a:prstGeom prst="rect">
            <a:avLst/>
          </a:prstGeom>
          <a:noFill/>
        </p:spPr>
        <p:txBody>
          <a:bodyPr wrap="square">
            <a:spAutoFit/>
          </a:bodyPr>
          <a:lstStyle/>
          <a:p>
            <a:pPr algn="ctr">
              <a:spcBef>
                <a:spcPts val="0"/>
              </a:spcBef>
              <a:spcAft>
                <a:spcPts val="0"/>
              </a:spcAft>
            </a:pPr>
            <a:r>
              <a:rPr sz="1200" b="1" i="0">
                <a:solidFill>
                  <a:srgbClr val="FFFFFF"/>
                </a:solidFill>
                <a:latin typeface="Calibri"/>
              </a:rPr>
              <a:t>Applicant
Context</a:t>
            </a:r>
          </a:p>
        </p:txBody>
      </p:sp>
      <p:sp>
        <p:nvSpPr>
          <p:cNvPr id="9" name="TextBox 8"/>
          <p:cNvSpPr txBox="1"/>
          <p:nvPr/>
        </p:nvSpPr>
        <p:spPr>
          <a:xfrm>
            <a:off x="25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10" name="Rectangle 9"/>
          <p:cNvSpPr/>
          <p:nvPr/>
        </p:nvSpPr>
        <p:spPr>
          <a:xfrm>
            <a:off x="27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845847" y="2660000"/>
            <a:ext cx="1400000" cy="610000"/>
          </a:xfrm>
          <a:prstGeom prst="rect">
            <a:avLst/>
          </a:prstGeom>
          <a:noFill/>
        </p:spPr>
        <p:txBody>
          <a:bodyPr wrap="square">
            <a:spAutoFit/>
          </a:bodyPr>
          <a:lstStyle/>
          <a:p>
            <a:pPr algn="ctr">
              <a:spcBef>
                <a:spcPts val="0"/>
              </a:spcBef>
              <a:spcAft>
                <a:spcPts val="0"/>
              </a:spcAft>
            </a:pPr>
            <a:r>
              <a:rPr sz="1200" b="1" i="0">
                <a:solidFill>
                  <a:srgbClr val="505050"/>
                </a:solidFill>
                <a:latin typeface="Calibri"/>
              </a:rPr>
              <a:t>Bandit
Policy</a:t>
            </a:r>
          </a:p>
        </p:txBody>
      </p:sp>
      <p:sp>
        <p:nvSpPr>
          <p:cNvPr id="12" name="TextBox 11"/>
          <p:cNvSpPr txBox="1"/>
          <p:nvPr/>
        </p:nvSpPr>
        <p:spPr>
          <a:xfrm>
            <a:off x="42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13" name="Rectangle 12"/>
          <p:cNvSpPr/>
          <p:nvPr/>
        </p:nvSpPr>
        <p:spPr>
          <a:xfrm>
            <a:off x="44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45847" y="2660000"/>
            <a:ext cx="1400000" cy="610000"/>
          </a:xfrm>
          <a:prstGeom prst="rect">
            <a:avLst/>
          </a:prstGeom>
          <a:noFill/>
        </p:spPr>
        <p:txBody>
          <a:bodyPr wrap="square">
            <a:spAutoFit/>
          </a:bodyPr>
          <a:lstStyle/>
          <a:p>
            <a:pPr algn="ctr">
              <a:spcBef>
                <a:spcPts val="0"/>
              </a:spcBef>
              <a:spcAft>
                <a:spcPts val="0"/>
              </a:spcAft>
            </a:pPr>
            <a:r>
              <a:rPr sz="1200" b="1" i="0">
                <a:solidFill>
                  <a:srgbClr val="505050"/>
                </a:solidFill>
                <a:latin typeface="Calibri"/>
              </a:rPr>
              <a:t>Underwriting
Action</a:t>
            </a:r>
          </a:p>
        </p:txBody>
      </p:sp>
      <p:sp>
        <p:nvSpPr>
          <p:cNvPr id="15" name="TextBox 14"/>
          <p:cNvSpPr txBox="1"/>
          <p:nvPr/>
        </p:nvSpPr>
        <p:spPr>
          <a:xfrm>
            <a:off x="59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16" name="Rectangle 15"/>
          <p:cNvSpPr/>
          <p:nvPr/>
        </p:nvSpPr>
        <p:spPr>
          <a:xfrm>
            <a:off x="61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245847" y="2660000"/>
            <a:ext cx="1400000" cy="610000"/>
          </a:xfrm>
          <a:prstGeom prst="rect">
            <a:avLst/>
          </a:prstGeom>
          <a:noFill/>
        </p:spPr>
        <p:txBody>
          <a:bodyPr wrap="square">
            <a:spAutoFit/>
          </a:bodyPr>
          <a:lstStyle/>
          <a:p>
            <a:pPr algn="ctr">
              <a:spcBef>
                <a:spcPts val="0"/>
              </a:spcBef>
              <a:spcAft>
                <a:spcPts val="0"/>
              </a:spcAft>
            </a:pPr>
            <a:r>
              <a:rPr sz="1200" b="1" i="0">
                <a:solidFill>
                  <a:srgbClr val="505050"/>
                </a:solidFill>
                <a:latin typeface="Calibri"/>
              </a:rPr>
              <a:t>Actuarial
Reward</a:t>
            </a:r>
          </a:p>
        </p:txBody>
      </p:sp>
      <p:sp>
        <p:nvSpPr>
          <p:cNvPr id="18" name="TextBox 17"/>
          <p:cNvSpPr txBox="1"/>
          <p:nvPr/>
        </p:nvSpPr>
        <p:spPr>
          <a:xfrm>
            <a:off x="76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19" name="Rectangle 18"/>
          <p:cNvSpPr/>
          <p:nvPr/>
        </p:nvSpPr>
        <p:spPr>
          <a:xfrm>
            <a:off x="78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945847" y="2660000"/>
            <a:ext cx="1400000" cy="610000"/>
          </a:xfrm>
          <a:prstGeom prst="rect">
            <a:avLst/>
          </a:prstGeom>
          <a:noFill/>
        </p:spPr>
        <p:txBody>
          <a:bodyPr wrap="square">
            <a:spAutoFit/>
          </a:bodyPr>
          <a:lstStyle/>
          <a:p>
            <a:pPr algn="ctr">
              <a:spcBef>
                <a:spcPts val="0"/>
              </a:spcBef>
              <a:spcAft>
                <a:spcPts val="0"/>
              </a:spcAft>
            </a:pPr>
            <a:r>
              <a:rPr sz="1200" b="1" i="0">
                <a:solidFill>
                  <a:srgbClr val="505050"/>
                </a:solidFill>
                <a:latin typeface="Calibri"/>
              </a:rPr>
              <a:t>PSI + HITL
Guardrail</a:t>
            </a:r>
          </a:p>
        </p:txBody>
      </p:sp>
      <p:sp>
        <p:nvSpPr>
          <p:cNvPr id="21" name="TextBox 20"/>
          <p:cNvSpPr txBox="1"/>
          <p:nvPr/>
        </p:nvSpPr>
        <p:spPr>
          <a:xfrm>
            <a:off x="93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22" name="Rectangle 21"/>
          <p:cNvSpPr/>
          <p:nvPr/>
        </p:nvSpPr>
        <p:spPr>
          <a:xfrm>
            <a:off x="95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645847" y="2660000"/>
            <a:ext cx="1400000" cy="610000"/>
          </a:xfrm>
          <a:prstGeom prst="rect">
            <a:avLst/>
          </a:prstGeom>
          <a:noFill/>
        </p:spPr>
        <p:txBody>
          <a:bodyPr wrap="square">
            <a:spAutoFit/>
          </a:bodyPr>
          <a:lstStyle/>
          <a:p>
            <a:pPr algn="ctr">
              <a:spcBef>
                <a:spcPts val="0"/>
              </a:spcBef>
              <a:spcAft>
                <a:spcPts val="0"/>
              </a:spcAft>
            </a:pPr>
            <a:r>
              <a:rPr sz="1200" b="1" i="0">
                <a:solidFill>
                  <a:srgbClr val="505050"/>
                </a:solidFill>
                <a:latin typeface="Calibri"/>
              </a:rPr>
              <a:t>Decision</a:t>
            </a:r>
          </a:p>
        </p:txBody>
      </p:sp>
      <p:sp>
        <p:nvSpPr>
          <p:cNvPr id="24" name="TextBox 23"/>
          <p:cNvSpPr txBox="1"/>
          <p:nvPr/>
        </p:nvSpPr>
        <p:spPr>
          <a:xfrm>
            <a:off x="1457200" y="3850000"/>
            <a:ext cx="9277295" cy="700000"/>
          </a:xfrm>
          <a:prstGeom prst="rect">
            <a:avLst/>
          </a:prstGeom>
          <a:noFill/>
        </p:spPr>
        <p:txBody>
          <a:bodyPr wrap="square">
            <a:spAutoFit/>
          </a:bodyPr>
          <a:lstStyle/>
          <a:p>
            <a:pPr algn="ctr">
              <a:spcBef>
                <a:spcPts val="0"/>
              </a:spcBef>
              <a:spcAft>
                <a:spcPts val="0"/>
              </a:spcAft>
            </a:pPr>
            <a:r>
              <a:rPr sz="1600" b="0" i="1">
                <a:solidFill>
                  <a:srgbClr val="1B5697"/>
                </a:solidFill>
                <a:latin typeface="Calibri"/>
              </a:rPr>
              <a:t>Now examining how each applicant becomes a 34-dimensional context vector.</a:t>
            </a:r>
          </a:p>
        </p:txBody>
      </p:sp>
      <p:sp>
        <p:nvSpPr>
          <p:cNvPr id="25" name="Rectangle 24"/>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7" name="Rectangle 26"/>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Methodology &amp; Model Design</a:t>
            </a:r>
          </a:p>
        </p:txBody>
      </p:sp>
      <p:sp>
        <p:nvSpPr>
          <p:cNvPr id="29" name="Rectangle 28"/>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10 / 43</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DATASET &amp; CONTEXT</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150000"/>
            <a:ext cx="2769323" cy="500000"/>
          </a:xfrm>
          <a:prstGeom prst="rect">
            <a:avLst/>
          </a:prstGeom>
          <a:noFill/>
        </p:spPr>
        <p:txBody>
          <a:bodyPr wrap="square">
            <a:spAutoFit/>
          </a:bodyPr>
          <a:lstStyle/>
          <a:p>
            <a:pPr algn="ctr">
              <a:spcBef>
                <a:spcPts val="0"/>
              </a:spcBef>
              <a:spcAft>
                <a:spcPts val="0"/>
              </a:spcAft>
            </a:pPr>
            <a:r>
              <a:rPr sz="3600" b="1" i="0">
                <a:solidFill>
                  <a:srgbClr val="1B5697"/>
                </a:solidFill>
                <a:latin typeface="Calibri"/>
              </a:rPr>
              <a:t>2,000</a:t>
            </a:r>
          </a:p>
        </p:txBody>
      </p:sp>
      <p:sp>
        <p:nvSpPr>
          <p:cNvPr id="6" name="TextBox 5"/>
          <p:cNvSpPr txBox="1"/>
          <p:nvPr/>
        </p:nvSpPr>
        <p:spPr>
          <a:xfrm>
            <a:off x="457200" y="1680000"/>
            <a:ext cx="2769323" cy="350000"/>
          </a:xfrm>
          <a:prstGeom prst="rect">
            <a:avLst/>
          </a:prstGeom>
          <a:noFill/>
        </p:spPr>
        <p:txBody>
          <a:bodyPr wrap="square">
            <a:spAutoFit/>
          </a:bodyPr>
          <a:lstStyle/>
          <a:p>
            <a:pPr algn="ctr">
              <a:spcBef>
                <a:spcPts val="0"/>
              </a:spcBef>
              <a:spcAft>
                <a:spcPts val="0"/>
              </a:spcAft>
            </a:pPr>
            <a:r>
              <a:rPr sz="900" b="0" i="0">
                <a:solidFill>
                  <a:srgbClr val="505050"/>
                </a:solidFill>
                <a:latin typeface="Calibri"/>
              </a:rPr>
              <a:t>SYNTHETIC
APPLICANTS</a:t>
            </a:r>
          </a:p>
        </p:txBody>
      </p:sp>
      <p:sp>
        <p:nvSpPr>
          <p:cNvPr id="7" name="TextBox 6"/>
          <p:cNvSpPr txBox="1"/>
          <p:nvPr/>
        </p:nvSpPr>
        <p:spPr>
          <a:xfrm>
            <a:off x="3276523" y="1150000"/>
            <a:ext cx="2769323" cy="500000"/>
          </a:xfrm>
          <a:prstGeom prst="rect">
            <a:avLst/>
          </a:prstGeom>
          <a:noFill/>
        </p:spPr>
        <p:txBody>
          <a:bodyPr wrap="square">
            <a:spAutoFit/>
          </a:bodyPr>
          <a:lstStyle/>
          <a:p>
            <a:pPr algn="ctr">
              <a:spcBef>
                <a:spcPts val="0"/>
              </a:spcBef>
              <a:spcAft>
                <a:spcPts val="0"/>
              </a:spcAft>
            </a:pPr>
            <a:r>
              <a:rPr sz="3600" b="1" i="0">
                <a:solidFill>
                  <a:srgbClr val="1B5697"/>
                </a:solidFill>
                <a:latin typeface="Calibri"/>
              </a:rPr>
              <a:t>34</a:t>
            </a:r>
          </a:p>
        </p:txBody>
      </p:sp>
      <p:sp>
        <p:nvSpPr>
          <p:cNvPr id="8" name="TextBox 7"/>
          <p:cNvSpPr txBox="1"/>
          <p:nvPr/>
        </p:nvSpPr>
        <p:spPr>
          <a:xfrm>
            <a:off x="3276523" y="1680000"/>
            <a:ext cx="2769323" cy="350000"/>
          </a:xfrm>
          <a:prstGeom prst="rect">
            <a:avLst/>
          </a:prstGeom>
          <a:noFill/>
        </p:spPr>
        <p:txBody>
          <a:bodyPr wrap="square">
            <a:spAutoFit/>
          </a:bodyPr>
          <a:lstStyle/>
          <a:p>
            <a:pPr algn="ctr">
              <a:spcBef>
                <a:spcPts val="0"/>
              </a:spcBef>
              <a:spcAft>
                <a:spcPts val="0"/>
              </a:spcAft>
            </a:pPr>
            <a:r>
              <a:rPr sz="900" b="0" i="0">
                <a:solidFill>
                  <a:srgbClr val="505050"/>
                </a:solidFill>
                <a:latin typeface="Calibri"/>
              </a:rPr>
              <a:t>CONTEXT
FEATURES</a:t>
            </a:r>
          </a:p>
        </p:txBody>
      </p:sp>
      <p:sp>
        <p:nvSpPr>
          <p:cNvPr id="9" name="TextBox 8"/>
          <p:cNvSpPr txBox="1"/>
          <p:nvPr/>
        </p:nvSpPr>
        <p:spPr>
          <a:xfrm>
            <a:off x="6095846" y="1150000"/>
            <a:ext cx="2769323" cy="500000"/>
          </a:xfrm>
          <a:prstGeom prst="rect">
            <a:avLst/>
          </a:prstGeom>
          <a:noFill/>
        </p:spPr>
        <p:txBody>
          <a:bodyPr wrap="square">
            <a:spAutoFit/>
          </a:bodyPr>
          <a:lstStyle/>
          <a:p>
            <a:pPr algn="ctr">
              <a:spcBef>
                <a:spcPts val="0"/>
              </a:spcBef>
              <a:spcAft>
                <a:spcPts val="0"/>
              </a:spcAft>
            </a:pPr>
            <a:r>
              <a:rPr sz="3600" b="1" i="0">
                <a:solidFill>
                  <a:srgbClr val="1B5697"/>
                </a:solidFill>
                <a:latin typeface="Calibri"/>
              </a:rPr>
              <a:t>4</a:t>
            </a:r>
          </a:p>
        </p:txBody>
      </p:sp>
      <p:sp>
        <p:nvSpPr>
          <p:cNvPr id="10" name="TextBox 9"/>
          <p:cNvSpPr txBox="1"/>
          <p:nvPr/>
        </p:nvSpPr>
        <p:spPr>
          <a:xfrm>
            <a:off x="6095846" y="1680000"/>
            <a:ext cx="2769323" cy="350000"/>
          </a:xfrm>
          <a:prstGeom prst="rect">
            <a:avLst/>
          </a:prstGeom>
          <a:noFill/>
        </p:spPr>
        <p:txBody>
          <a:bodyPr wrap="square">
            <a:spAutoFit/>
          </a:bodyPr>
          <a:lstStyle/>
          <a:p>
            <a:pPr algn="ctr">
              <a:spcBef>
                <a:spcPts val="0"/>
              </a:spcBef>
              <a:spcAft>
                <a:spcPts val="0"/>
              </a:spcAft>
            </a:pPr>
            <a:r>
              <a:rPr sz="900" b="0" i="0">
                <a:solidFill>
                  <a:srgbClr val="505050"/>
                </a:solidFill>
                <a:latin typeface="Calibri"/>
              </a:rPr>
              <a:t>UNDERWRITING
ARMS</a:t>
            </a:r>
          </a:p>
        </p:txBody>
      </p:sp>
      <p:sp>
        <p:nvSpPr>
          <p:cNvPr id="11" name="TextBox 10"/>
          <p:cNvSpPr txBox="1"/>
          <p:nvPr/>
        </p:nvSpPr>
        <p:spPr>
          <a:xfrm>
            <a:off x="8915169" y="1150000"/>
            <a:ext cx="2769323" cy="500000"/>
          </a:xfrm>
          <a:prstGeom prst="rect">
            <a:avLst/>
          </a:prstGeom>
          <a:noFill/>
        </p:spPr>
        <p:txBody>
          <a:bodyPr wrap="square">
            <a:spAutoFit/>
          </a:bodyPr>
          <a:lstStyle/>
          <a:p>
            <a:pPr algn="ctr">
              <a:spcBef>
                <a:spcPts val="0"/>
              </a:spcBef>
              <a:spcAft>
                <a:spcPts val="0"/>
              </a:spcAft>
            </a:pPr>
            <a:r>
              <a:rPr sz="3600" b="1" i="0">
                <a:solidFill>
                  <a:srgbClr val="1B5697"/>
                </a:solidFill>
                <a:latin typeface="Calibri"/>
              </a:rPr>
              <a:t>4</a:t>
            </a:r>
          </a:p>
        </p:txBody>
      </p:sp>
      <p:sp>
        <p:nvSpPr>
          <p:cNvPr id="12" name="TextBox 11"/>
          <p:cNvSpPr txBox="1"/>
          <p:nvPr/>
        </p:nvSpPr>
        <p:spPr>
          <a:xfrm>
            <a:off x="8915169" y="1680000"/>
            <a:ext cx="2769323" cy="350000"/>
          </a:xfrm>
          <a:prstGeom prst="rect">
            <a:avLst/>
          </a:prstGeom>
          <a:noFill/>
        </p:spPr>
        <p:txBody>
          <a:bodyPr wrap="square">
            <a:spAutoFit/>
          </a:bodyPr>
          <a:lstStyle/>
          <a:p>
            <a:pPr algn="ctr">
              <a:spcBef>
                <a:spcPts val="0"/>
              </a:spcBef>
              <a:spcAft>
                <a:spcPts val="0"/>
              </a:spcAft>
            </a:pPr>
            <a:r>
              <a:rPr sz="900" b="0" i="0">
                <a:solidFill>
                  <a:srgbClr val="505050"/>
                </a:solidFill>
                <a:latin typeface="Calibri"/>
              </a:rPr>
              <a:t>ANCHORING
SOURCES</a:t>
            </a:r>
          </a:p>
        </p:txBody>
      </p:sp>
      <p:graphicFrame>
        <p:nvGraphicFramePr>
          <p:cNvPr id="13" name="Table 12"/>
          <p:cNvGraphicFramePr>
            <a:graphicFrameLocks noGrp="1"/>
          </p:cNvGraphicFramePr>
          <p:nvPr/>
        </p:nvGraphicFramePr>
        <p:xfrm>
          <a:off x="457200" y="2200000"/>
          <a:ext cx="11277295" cy="4000000"/>
        </p:xfrm>
        <a:graphic>
          <a:graphicData uri="http://schemas.openxmlformats.org/drawingml/2006/table">
            <a:tbl>
              <a:tblPr firstRow="1" bandRow="1">
                <a:tableStyleId>{5C22544A-7EE6-4342-B048-85BDC9FD1C3A}</a:tableStyleId>
              </a:tblPr>
              <a:tblGrid>
                <a:gridCol w="3759098">
                  <a:extLst>
                    <a:ext uri="{9D8B030D-6E8A-4147-A177-3AD203B41FA5}">
                      <a16:colId xmlns:a16="http://schemas.microsoft.com/office/drawing/2014/main" val="20000"/>
                    </a:ext>
                  </a:extLst>
                </a:gridCol>
                <a:gridCol w="3759098">
                  <a:extLst>
                    <a:ext uri="{9D8B030D-6E8A-4147-A177-3AD203B41FA5}">
                      <a16:colId xmlns:a16="http://schemas.microsoft.com/office/drawing/2014/main" val="20001"/>
                    </a:ext>
                  </a:extLst>
                </a:gridCol>
                <a:gridCol w="3759099">
                  <a:extLst>
                    <a:ext uri="{9D8B030D-6E8A-4147-A177-3AD203B41FA5}">
                      <a16:colId xmlns:a16="http://schemas.microsoft.com/office/drawing/2014/main" val="20002"/>
                    </a:ext>
                  </a:extLst>
                </a:gridCol>
              </a:tblGrid>
              <a:tr h="500000">
                <a:tc>
                  <a:txBody>
                    <a:bodyPr/>
                    <a:lstStyle/>
                    <a:p>
                      <a:r>
                        <a:rPr sz="1000" b="1">
                          <a:solidFill>
                            <a:srgbClr val="FFFFFF"/>
                          </a:solidFill>
                        </a:rPr>
                        <a:t>Category</a:t>
                      </a:r>
                    </a:p>
                  </a:txBody>
                  <a:tcPr>
                    <a:solidFill>
                      <a:srgbClr val="1B5697"/>
                    </a:solidFill>
                  </a:tcPr>
                </a:tc>
                <a:tc>
                  <a:txBody>
                    <a:bodyPr/>
                    <a:lstStyle/>
                    <a:p>
                      <a:r>
                        <a:rPr sz="1000" b="1">
                          <a:solidFill>
                            <a:srgbClr val="FFFFFF"/>
                          </a:solidFill>
                        </a:rPr>
                        <a:t>Features</a:t>
                      </a:r>
                    </a:p>
                  </a:txBody>
                  <a:tcPr>
                    <a:solidFill>
                      <a:srgbClr val="1B5697"/>
                    </a:solidFill>
                  </a:tcPr>
                </a:tc>
                <a:tc>
                  <a:txBody>
                    <a:bodyPr/>
                    <a:lstStyle/>
                    <a:p>
                      <a:r>
                        <a:rPr sz="1000" b="1">
                          <a:solidFill>
                            <a:srgbClr val="FFFFFF"/>
                          </a:solidFill>
                        </a:rPr>
                        <a:t>Dims</a:t>
                      </a:r>
                    </a:p>
                  </a:txBody>
                  <a:tcPr>
                    <a:solidFill>
                      <a:srgbClr val="1B5697"/>
                    </a:solidFill>
                  </a:tcPr>
                </a:tc>
                <a:extLst>
                  <a:ext uri="{0D108BD9-81ED-4DB2-BD59-A6C34878D82A}">
                    <a16:rowId xmlns:a16="http://schemas.microsoft.com/office/drawing/2014/main" val="10000"/>
                  </a:ext>
                </a:extLst>
              </a:tr>
              <a:tr h="500000">
                <a:tc>
                  <a:txBody>
                    <a:bodyPr/>
                    <a:lstStyle/>
                    <a:p>
                      <a:r>
                        <a:rPr sz="900" b="1">
                          <a:solidFill>
                            <a:srgbClr val="1B5697"/>
                          </a:solidFill>
                        </a:rPr>
                        <a:t>Demographics &amp; Vitals</a:t>
                      </a:r>
                    </a:p>
                  </a:txBody>
                  <a:tcPr>
                    <a:solidFill>
                      <a:srgbClr val="F3F6FB"/>
                    </a:solidFill>
                  </a:tcPr>
                </a:tc>
                <a:tc>
                  <a:txBody>
                    <a:bodyPr/>
                    <a:lstStyle/>
                    <a:p>
                      <a:r>
                        <a:rPr sz="900" b="0">
                          <a:solidFill>
                            <a:srgbClr val="262626"/>
                          </a:solidFill>
                        </a:rPr>
                        <a:t>Age, Gender, BMI</a:t>
                      </a:r>
                    </a:p>
                  </a:txBody>
                  <a:tcPr>
                    <a:solidFill>
                      <a:srgbClr val="F3F6FB"/>
                    </a:solidFill>
                  </a:tcPr>
                </a:tc>
                <a:tc>
                  <a:txBody>
                    <a:bodyPr/>
                    <a:lstStyle/>
                    <a:p>
                      <a:r>
                        <a:rPr sz="900" b="0">
                          <a:solidFill>
                            <a:srgbClr val="262626"/>
                          </a:solidFill>
                        </a:rPr>
                        <a:t>3</a:t>
                      </a:r>
                    </a:p>
                  </a:txBody>
                  <a:tcPr>
                    <a:solidFill>
                      <a:srgbClr val="F3F6FB"/>
                    </a:solidFill>
                  </a:tcPr>
                </a:tc>
                <a:extLst>
                  <a:ext uri="{0D108BD9-81ED-4DB2-BD59-A6C34878D82A}">
                    <a16:rowId xmlns:a16="http://schemas.microsoft.com/office/drawing/2014/main" val="10001"/>
                  </a:ext>
                </a:extLst>
              </a:tr>
              <a:tr h="500000">
                <a:tc>
                  <a:txBody>
                    <a:bodyPr/>
                    <a:lstStyle/>
                    <a:p>
                      <a:r>
                        <a:rPr sz="900" b="1">
                          <a:solidFill>
                            <a:srgbClr val="1B5697"/>
                          </a:solidFill>
                        </a:rPr>
                        <a:t>Lifestyle</a:t>
                      </a:r>
                    </a:p>
                  </a:txBody>
                  <a:tcPr>
                    <a:solidFill>
                      <a:srgbClr val="FFFFFF"/>
                    </a:solidFill>
                  </a:tcPr>
                </a:tc>
                <a:tc>
                  <a:txBody>
                    <a:bodyPr/>
                    <a:lstStyle/>
                    <a:p>
                      <a:r>
                        <a:rPr sz="900" b="0">
                          <a:solidFill>
                            <a:srgbClr val="262626"/>
                          </a:solidFill>
                        </a:rPr>
                        <a:t>Smoking, Alcohol, Exercise</a:t>
                      </a:r>
                    </a:p>
                  </a:txBody>
                  <a:tcPr>
                    <a:solidFill>
                      <a:srgbClr val="FFFFFF"/>
                    </a:solidFill>
                  </a:tcPr>
                </a:tc>
                <a:tc>
                  <a:txBody>
                    <a:bodyPr/>
                    <a:lstStyle/>
                    <a:p>
                      <a:r>
                        <a:rPr sz="900" b="0">
                          <a:solidFill>
                            <a:srgbClr val="262626"/>
                          </a:solidFill>
                        </a:rPr>
                        <a:t>3</a:t>
                      </a:r>
                    </a:p>
                  </a:txBody>
                  <a:tcPr>
                    <a:solidFill>
                      <a:srgbClr val="FFFFFF"/>
                    </a:solidFill>
                  </a:tcPr>
                </a:tc>
                <a:extLst>
                  <a:ext uri="{0D108BD9-81ED-4DB2-BD59-A6C34878D82A}">
                    <a16:rowId xmlns:a16="http://schemas.microsoft.com/office/drawing/2014/main" val="10002"/>
                  </a:ext>
                </a:extLst>
              </a:tr>
              <a:tr h="500000">
                <a:tc>
                  <a:txBody>
                    <a:bodyPr/>
                    <a:lstStyle/>
                    <a:p>
                      <a:r>
                        <a:rPr sz="900" b="1">
                          <a:solidFill>
                            <a:srgbClr val="1B5697"/>
                          </a:solidFill>
                        </a:rPr>
                        <a:t>Social Determinants</a:t>
                      </a:r>
                    </a:p>
                  </a:txBody>
                  <a:tcPr>
                    <a:solidFill>
                      <a:srgbClr val="F3F6FB"/>
                    </a:solidFill>
                  </a:tcPr>
                </a:tc>
                <a:tc>
                  <a:txBody>
                    <a:bodyPr/>
                    <a:lstStyle/>
                    <a:p>
                      <a:r>
                        <a:rPr sz="900" b="0">
                          <a:solidFill>
                            <a:srgbClr val="262626"/>
                          </a:solidFill>
                        </a:rPr>
                        <a:t>Education, Wealth, Self-rated health</a:t>
                      </a:r>
                    </a:p>
                  </a:txBody>
                  <a:tcPr>
                    <a:solidFill>
                      <a:srgbClr val="F3F6FB"/>
                    </a:solidFill>
                  </a:tcPr>
                </a:tc>
                <a:tc>
                  <a:txBody>
                    <a:bodyPr/>
                    <a:lstStyle/>
                    <a:p>
                      <a:r>
                        <a:rPr sz="900" b="0">
                          <a:solidFill>
                            <a:srgbClr val="262626"/>
                          </a:solidFill>
                        </a:rPr>
                        <a:t>3</a:t>
                      </a:r>
                    </a:p>
                  </a:txBody>
                  <a:tcPr>
                    <a:solidFill>
                      <a:srgbClr val="F3F6FB"/>
                    </a:solidFill>
                  </a:tcPr>
                </a:tc>
                <a:extLst>
                  <a:ext uri="{0D108BD9-81ED-4DB2-BD59-A6C34878D82A}">
                    <a16:rowId xmlns:a16="http://schemas.microsoft.com/office/drawing/2014/main" val="10003"/>
                  </a:ext>
                </a:extLst>
              </a:tr>
              <a:tr h="500000">
                <a:tc>
                  <a:txBody>
                    <a:bodyPr/>
                    <a:lstStyle/>
                    <a:p>
                      <a:r>
                        <a:rPr sz="900" b="1">
                          <a:solidFill>
                            <a:srgbClr val="1B5697"/>
                          </a:solidFill>
                        </a:rPr>
                        <a:t>Economic</a:t>
                      </a:r>
                    </a:p>
                  </a:txBody>
                  <a:tcPr>
                    <a:solidFill>
                      <a:srgbClr val="FFFFFF"/>
                    </a:solidFill>
                  </a:tcPr>
                </a:tc>
                <a:tc>
                  <a:txBody>
                    <a:bodyPr/>
                    <a:lstStyle/>
                    <a:p>
                      <a:r>
                        <a:rPr sz="900" b="0">
                          <a:solidFill>
                            <a:srgbClr val="262626"/>
                          </a:solidFill>
                        </a:rPr>
                        <a:t>Monthly income, Family history</a:t>
                      </a:r>
                    </a:p>
                  </a:txBody>
                  <a:tcPr>
                    <a:solidFill>
                      <a:srgbClr val="FFFFFF"/>
                    </a:solidFill>
                  </a:tcPr>
                </a:tc>
                <a:tc>
                  <a:txBody>
                    <a:bodyPr/>
                    <a:lstStyle/>
                    <a:p>
                      <a:r>
                        <a:rPr sz="900" b="0">
                          <a:solidFill>
                            <a:srgbClr val="262626"/>
                          </a:solidFill>
                        </a:rPr>
                        <a:t>2</a:t>
                      </a:r>
                    </a:p>
                  </a:txBody>
                  <a:tcPr>
                    <a:solidFill>
                      <a:srgbClr val="FFFFFF"/>
                    </a:solidFill>
                  </a:tcPr>
                </a:tc>
                <a:extLst>
                  <a:ext uri="{0D108BD9-81ED-4DB2-BD59-A6C34878D82A}">
                    <a16:rowId xmlns:a16="http://schemas.microsoft.com/office/drawing/2014/main" val="10004"/>
                  </a:ext>
                </a:extLst>
              </a:tr>
              <a:tr h="500000">
                <a:tc>
                  <a:txBody>
                    <a:bodyPr/>
                    <a:lstStyle/>
                    <a:p>
                      <a:r>
                        <a:rPr sz="900" b="1">
                          <a:solidFill>
                            <a:srgbClr val="1B5697"/>
                          </a:solidFill>
                        </a:rPr>
                        <a:t>Clinical Flags</a:t>
                      </a:r>
                    </a:p>
                  </a:txBody>
                  <a:tcPr>
                    <a:solidFill>
                      <a:srgbClr val="F3F6FB"/>
                    </a:solidFill>
                  </a:tcPr>
                </a:tc>
                <a:tc>
                  <a:txBody>
                    <a:bodyPr/>
                    <a:lstStyle/>
                    <a:p>
                      <a:r>
                        <a:rPr sz="900" b="0">
                          <a:solidFill>
                            <a:srgbClr val="262626"/>
                          </a:solidFill>
                        </a:rPr>
                        <a:t>Hypertension, Diabetes, Heart, COPD, Arthritis, TB, Hepatitis B</a:t>
                      </a:r>
                    </a:p>
                  </a:txBody>
                  <a:tcPr>
                    <a:solidFill>
                      <a:srgbClr val="F3F6FB"/>
                    </a:solidFill>
                  </a:tcPr>
                </a:tc>
                <a:tc>
                  <a:txBody>
                    <a:bodyPr/>
                    <a:lstStyle/>
                    <a:p>
                      <a:r>
                        <a:rPr sz="900" b="0">
                          <a:solidFill>
                            <a:srgbClr val="262626"/>
                          </a:solidFill>
                        </a:rPr>
                        <a:t>7+1</a:t>
                      </a:r>
                    </a:p>
                  </a:txBody>
                  <a:tcPr>
                    <a:solidFill>
                      <a:srgbClr val="F3F6FB"/>
                    </a:solidFill>
                  </a:tcPr>
                </a:tc>
                <a:extLst>
                  <a:ext uri="{0D108BD9-81ED-4DB2-BD59-A6C34878D82A}">
                    <a16:rowId xmlns:a16="http://schemas.microsoft.com/office/drawing/2014/main" val="10005"/>
                  </a:ext>
                </a:extLst>
              </a:tr>
              <a:tr h="500000">
                <a:tc>
                  <a:txBody>
                    <a:bodyPr/>
                    <a:lstStyle/>
                    <a:p>
                      <a:r>
                        <a:rPr sz="900" b="1">
                          <a:solidFill>
                            <a:srgbClr val="1B5697"/>
                          </a:solidFill>
                        </a:rPr>
                        <a:t>Region (one-hot)</a:t>
                      </a:r>
                    </a:p>
                  </a:txBody>
                  <a:tcPr>
                    <a:solidFill>
                      <a:srgbClr val="FFFFFF"/>
                    </a:solidFill>
                  </a:tcPr>
                </a:tc>
                <a:tc>
                  <a:txBody>
                    <a:bodyPr/>
                    <a:lstStyle/>
                    <a:p>
                      <a:r>
                        <a:rPr sz="900" b="0">
                          <a:solidFill>
                            <a:srgbClr val="262626"/>
                          </a:solidFill>
                        </a:rPr>
                        <a:t>8 macro-regions (CDHS 2021-22)</a:t>
                      </a:r>
                    </a:p>
                  </a:txBody>
                  <a:tcPr>
                    <a:solidFill>
                      <a:srgbClr val="FFFFFF"/>
                    </a:solidFill>
                  </a:tcPr>
                </a:tc>
                <a:tc>
                  <a:txBody>
                    <a:bodyPr/>
                    <a:lstStyle/>
                    <a:p>
                      <a:r>
                        <a:rPr sz="900" b="0">
                          <a:solidFill>
                            <a:srgbClr val="262626"/>
                          </a:solidFill>
                        </a:rPr>
                        <a:t>8</a:t>
                      </a:r>
                    </a:p>
                  </a:txBody>
                  <a:tcPr>
                    <a:solidFill>
                      <a:srgbClr val="FFFFFF"/>
                    </a:solidFill>
                  </a:tcPr>
                </a:tc>
                <a:extLst>
                  <a:ext uri="{0D108BD9-81ED-4DB2-BD59-A6C34878D82A}">
                    <a16:rowId xmlns:a16="http://schemas.microsoft.com/office/drawing/2014/main" val="10006"/>
                  </a:ext>
                </a:extLst>
              </a:tr>
              <a:tr h="500000">
                <a:tc>
                  <a:txBody>
                    <a:bodyPr/>
                    <a:lstStyle/>
                    <a:p>
                      <a:r>
                        <a:rPr sz="900" b="1">
                          <a:solidFill>
                            <a:srgbClr val="1B5697"/>
                          </a:solidFill>
                        </a:rPr>
                        <a:t>Occupation (one-hot)</a:t>
                      </a:r>
                    </a:p>
                  </a:txBody>
                  <a:tcPr>
                    <a:solidFill>
                      <a:srgbClr val="F3F6FB"/>
                    </a:solidFill>
                  </a:tcPr>
                </a:tc>
                <a:tc>
                  <a:txBody>
                    <a:bodyPr/>
                    <a:lstStyle/>
                    <a:p>
                      <a:r>
                        <a:rPr sz="900" b="0">
                          <a:solidFill>
                            <a:srgbClr val="262626"/>
                          </a:solidFill>
                        </a:rPr>
                        <a:t>Rice farmer 28%, Garment 20%, Market vendor 15%, Moto 12%…</a:t>
                      </a:r>
                    </a:p>
                  </a:txBody>
                  <a:tcPr>
                    <a:solidFill>
                      <a:srgbClr val="F3F6FB"/>
                    </a:solidFill>
                  </a:tcPr>
                </a:tc>
                <a:tc>
                  <a:txBody>
                    <a:bodyPr/>
                    <a:lstStyle/>
                    <a:p>
                      <a:r>
                        <a:rPr sz="900" b="0">
                          <a:solidFill>
                            <a:srgbClr val="262626"/>
                          </a:solidFill>
                        </a:rPr>
                        <a:t>7</a:t>
                      </a:r>
                    </a:p>
                  </a:txBody>
                  <a:tcPr>
                    <a:solidFill>
                      <a:srgbClr val="F3F6FB"/>
                    </a:solidFill>
                  </a:tcPr>
                </a:tc>
                <a:extLst>
                  <a:ext uri="{0D108BD9-81ED-4DB2-BD59-A6C34878D82A}">
                    <a16:rowId xmlns:a16="http://schemas.microsoft.com/office/drawing/2014/main" val="10007"/>
                  </a:ext>
                </a:extLst>
              </a:tr>
            </a:tbl>
          </a:graphicData>
        </a:graphic>
      </p:graphicFrame>
      <p:sp>
        <p:nvSpPr>
          <p:cNvPr id="14" name="Rectangle 13"/>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16" name="Rectangle 15"/>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Methodology &amp; Model Design</a:t>
            </a:r>
          </a:p>
        </p:txBody>
      </p:sp>
      <p:sp>
        <p:nvSpPr>
          <p:cNvPr id="18" name="Rectangle 17"/>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10 / 43</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ZOOM-IN: ACTUARIAL REWARD</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700000"/>
            <a:ext cx="11277295" cy="320000"/>
          </a:xfrm>
          <a:prstGeom prst="rect">
            <a:avLst/>
          </a:prstGeom>
          <a:noFill/>
        </p:spPr>
        <p:txBody>
          <a:bodyPr wrap="square">
            <a:spAutoFit/>
          </a:bodyPr>
          <a:lstStyle/>
          <a:p>
            <a:pPr algn="ctr">
              <a:spcBef>
                <a:spcPts val="0"/>
              </a:spcBef>
              <a:spcAft>
                <a:spcPts val="0"/>
              </a:spcAft>
            </a:pPr>
            <a:r>
              <a:rPr sz="1100" b="1" i="0">
                <a:solidFill>
                  <a:srgbClr val="2E8B57"/>
                </a:solidFill>
                <a:latin typeface="Calibri"/>
              </a:rPr>
              <a:t>▸ YOU ARE HERE</a:t>
            </a:r>
          </a:p>
        </p:txBody>
      </p:sp>
      <p:sp>
        <p:nvSpPr>
          <p:cNvPr id="6" name="Rectangle 5"/>
          <p:cNvSpPr/>
          <p:nvPr/>
        </p:nvSpPr>
        <p:spPr>
          <a:xfrm>
            <a:off x="10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45847" y="2660000"/>
            <a:ext cx="1400000" cy="610000"/>
          </a:xfrm>
          <a:prstGeom prst="rect">
            <a:avLst/>
          </a:prstGeom>
          <a:noFill/>
        </p:spPr>
        <p:txBody>
          <a:bodyPr wrap="square">
            <a:spAutoFit/>
          </a:bodyPr>
          <a:lstStyle/>
          <a:p>
            <a:pPr algn="ctr">
              <a:spcBef>
                <a:spcPts val="0"/>
              </a:spcBef>
              <a:spcAft>
                <a:spcPts val="0"/>
              </a:spcAft>
            </a:pPr>
            <a:r>
              <a:rPr sz="1200" b="1" i="0">
                <a:solidFill>
                  <a:srgbClr val="505050"/>
                </a:solidFill>
                <a:latin typeface="Calibri"/>
              </a:rPr>
              <a:t>Applicant
Context</a:t>
            </a:r>
          </a:p>
        </p:txBody>
      </p:sp>
      <p:sp>
        <p:nvSpPr>
          <p:cNvPr id="8" name="TextBox 7"/>
          <p:cNvSpPr txBox="1"/>
          <p:nvPr/>
        </p:nvSpPr>
        <p:spPr>
          <a:xfrm>
            <a:off x="25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9" name="Rectangle 8"/>
          <p:cNvSpPr/>
          <p:nvPr/>
        </p:nvSpPr>
        <p:spPr>
          <a:xfrm>
            <a:off x="27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845847" y="2660000"/>
            <a:ext cx="1400000" cy="610000"/>
          </a:xfrm>
          <a:prstGeom prst="rect">
            <a:avLst/>
          </a:prstGeom>
          <a:noFill/>
        </p:spPr>
        <p:txBody>
          <a:bodyPr wrap="square">
            <a:spAutoFit/>
          </a:bodyPr>
          <a:lstStyle/>
          <a:p>
            <a:pPr algn="ctr">
              <a:spcBef>
                <a:spcPts val="0"/>
              </a:spcBef>
              <a:spcAft>
                <a:spcPts val="0"/>
              </a:spcAft>
            </a:pPr>
            <a:r>
              <a:rPr sz="1200" b="1" i="0">
                <a:solidFill>
                  <a:srgbClr val="505050"/>
                </a:solidFill>
                <a:latin typeface="Calibri"/>
              </a:rPr>
              <a:t>Bandit
Policy</a:t>
            </a:r>
          </a:p>
        </p:txBody>
      </p:sp>
      <p:sp>
        <p:nvSpPr>
          <p:cNvPr id="11" name="TextBox 10"/>
          <p:cNvSpPr txBox="1"/>
          <p:nvPr/>
        </p:nvSpPr>
        <p:spPr>
          <a:xfrm>
            <a:off x="42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12" name="Rectangle 11"/>
          <p:cNvSpPr/>
          <p:nvPr/>
        </p:nvSpPr>
        <p:spPr>
          <a:xfrm>
            <a:off x="44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45847" y="2660000"/>
            <a:ext cx="1400000" cy="610000"/>
          </a:xfrm>
          <a:prstGeom prst="rect">
            <a:avLst/>
          </a:prstGeom>
          <a:noFill/>
        </p:spPr>
        <p:txBody>
          <a:bodyPr wrap="square">
            <a:spAutoFit/>
          </a:bodyPr>
          <a:lstStyle/>
          <a:p>
            <a:pPr algn="ctr">
              <a:spcBef>
                <a:spcPts val="0"/>
              </a:spcBef>
              <a:spcAft>
                <a:spcPts val="0"/>
              </a:spcAft>
            </a:pPr>
            <a:r>
              <a:rPr sz="1200" b="1" i="0">
                <a:solidFill>
                  <a:srgbClr val="505050"/>
                </a:solidFill>
                <a:latin typeface="Calibri"/>
              </a:rPr>
              <a:t>Underwriting
Action</a:t>
            </a:r>
          </a:p>
        </p:txBody>
      </p:sp>
      <p:sp>
        <p:nvSpPr>
          <p:cNvPr id="14" name="TextBox 13"/>
          <p:cNvSpPr txBox="1"/>
          <p:nvPr/>
        </p:nvSpPr>
        <p:spPr>
          <a:xfrm>
            <a:off x="59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15" name="Rectangle 14"/>
          <p:cNvSpPr/>
          <p:nvPr/>
        </p:nvSpPr>
        <p:spPr>
          <a:xfrm>
            <a:off x="6195847" y="2550000"/>
            <a:ext cx="1500000" cy="7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50847" y="2505000"/>
            <a:ext cx="1590000" cy="850000"/>
          </a:xfrm>
          <a:prstGeom prst="rect">
            <a:avLst/>
          </a:prstGeom>
          <a:noFill/>
          <a:ln w="4445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245847" y="2660000"/>
            <a:ext cx="1400000" cy="610000"/>
          </a:xfrm>
          <a:prstGeom prst="rect">
            <a:avLst/>
          </a:prstGeom>
          <a:noFill/>
        </p:spPr>
        <p:txBody>
          <a:bodyPr wrap="square">
            <a:spAutoFit/>
          </a:bodyPr>
          <a:lstStyle/>
          <a:p>
            <a:pPr algn="ctr">
              <a:spcBef>
                <a:spcPts val="0"/>
              </a:spcBef>
              <a:spcAft>
                <a:spcPts val="0"/>
              </a:spcAft>
            </a:pPr>
            <a:r>
              <a:rPr sz="1200" b="1" i="0">
                <a:solidFill>
                  <a:srgbClr val="FFFFFF"/>
                </a:solidFill>
                <a:latin typeface="Calibri"/>
              </a:rPr>
              <a:t>Actuarial
Reward</a:t>
            </a:r>
          </a:p>
        </p:txBody>
      </p:sp>
      <p:sp>
        <p:nvSpPr>
          <p:cNvPr id="18" name="TextBox 17"/>
          <p:cNvSpPr txBox="1"/>
          <p:nvPr/>
        </p:nvSpPr>
        <p:spPr>
          <a:xfrm>
            <a:off x="76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19" name="Rectangle 18"/>
          <p:cNvSpPr/>
          <p:nvPr/>
        </p:nvSpPr>
        <p:spPr>
          <a:xfrm>
            <a:off x="78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945847" y="2660000"/>
            <a:ext cx="1400000" cy="610000"/>
          </a:xfrm>
          <a:prstGeom prst="rect">
            <a:avLst/>
          </a:prstGeom>
          <a:noFill/>
        </p:spPr>
        <p:txBody>
          <a:bodyPr wrap="square">
            <a:spAutoFit/>
          </a:bodyPr>
          <a:lstStyle/>
          <a:p>
            <a:pPr algn="ctr">
              <a:spcBef>
                <a:spcPts val="0"/>
              </a:spcBef>
              <a:spcAft>
                <a:spcPts val="0"/>
              </a:spcAft>
            </a:pPr>
            <a:r>
              <a:rPr sz="1200" b="1" i="0">
                <a:solidFill>
                  <a:srgbClr val="505050"/>
                </a:solidFill>
                <a:latin typeface="Calibri"/>
              </a:rPr>
              <a:t>PSI + HITL
Guardrail</a:t>
            </a:r>
          </a:p>
        </p:txBody>
      </p:sp>
      <p:sp>
        <p:nvSpPr>
          <p:cNvPr id="21" name="TextBox 20"/>
          <p:cNvSpPr txBox="1"/>
          <p:nvPr/>
        </p:nvSpPr>
        <p:spPr>
          <a:xfrm>
            <a:off x="93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22" name="Rectangle 21"/>
          <p:cNvSpPr/>
          <p:nvPr/>
        </p:nvSpPr>
        <p:spPr>
          <a:xfrm>
            <a:off x="95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645847" y="2660000"/>
            <a:ext cx="1400000" cy="610000"/>
          </a:xfrm>
          <a:prstGeom prst="rect">
            <a:avLst/>
          </a:prstGeom>
          <a:noFill/>
        </p:spPr>
        <p:txBody>
          <a:bodyPr wrap="square">
            <a:spAutoFit/>
          </a:bodyPr>
          <a:lstStyle/>
          <a:p>
            <a:pPr algn="ctr">
              <a:spcBef>
                <a:spcPts val="0"/>
              </a:spcBef>
              <a:spcAft>
                <a:spcPts val="0"/>
              </a:spcAft>
            </a:pPr>
            <a:r>
              <a:rPr sz="1200" b="1" i="0">
                <a:solidFill>
                  <a:srgbClr val="505050"/>
                </a:solidFill>
                <a:latin typeface="Calibri"/>
              </a:rPr>
              <a:t>Decision</a:t>
            </a:r>
          </a:p>
        </p:txBody>
      </p:sp>
      <p:sp>
        <p:nvSpPr>
          <p:cNvPr id="24" name="TextBox 23"/>
          <p:cNvSpPr txBox="1"/>
          <p:nvPr/>
        </p:nvSpPr>
        <p:spPr>
          <a:xfrm>
            <a:off x="1457200" y="3850000"/>
            <a:ext cx="9277295" cy="700000"/>
          </a:xfrm>
          <a:prstGeom prst="rect">
            <a:avLst/>
          </a:prstGeom>
          <a:noFill/>
        </p:spPr>
        <p:txBody>
          <a:bodyPr wrap="square">
            <a:spAutoFit/>
          </a:bodyPr>
          <a:lstStyle/>
          <a:p>
            <a:pPr algn="ctr">
              <a:spcBef>
                <a:spcPts val="0"/>
              </a:spcBef>
              <a:spcAft>
                <a:spcPts val="0"/>
              </a:spcAft>
            </a:pPr>
            <a:r>
              <a:rPr sz="1600" b="0" i="1">
                <a:solidFill>
                  <a:srgbClr val="1B5697"/>
                </a:solidFill>
                <a:latin typeface="Calibri"/>
              </a:rPr>
              <a:t>Now examining how each underwriting action is scored into an actuarial reward.</a:t>
            </a:r>
          </a:p>
        </p:txBody>
      </p:sp>
      <p:sp>
        <p:nvSpPr>
          <p:cNvPr id="25" name="Rectangle 24"/>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7" name="Rectangle 26"/>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Methodology &amp; Model Design</a:t>
            </a:r>
          </a:p>
        </p:txBody>
      </p:sp>
      <p:sp>
        <p:nvSpPr>
          <p:cNvPr id="29" name="Rectangle 28"/>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11 / 43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ACTUARIAL REWARD SIMULATOR (TABLE 8)</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100000"/>
            <a:ext cx="11277295" cy="400000"/>
          </a:xfrm>
          <a:prstGeom prst="rect">
            <a:avLst/>
          </a:prstGeom>
          <a:noFill/>
        </p:spPr>
        <p:txBody>
          <a:bodyPr wrap="square">
            <a:spAutoFit/>
          </a:bodyPr>
          <a:lstStyle/>
          <a:p>
            <a:pPr algn="l">
              <a:spcBef>
                <a:spcPts val="0"/>
              </a:spcBef>
              <a:spcAft>
                <a:spcPts val="0"/>
              </a:spcAft>
            </a:pPr>
            <a:r>
              <a:rPr sz="1100" b="0" i="1">
                <a:solidFill>
                  <a:srgbClr val="505050"/>
                </a:solidFill>
                <a:latin typeface="Calibri"/>
              </a:rPr>
              <a:t>Reward = Premium Revenue − Expected Claims  (noise ±8%)  ·  Adverse-selection factor 1.35 when risk multiplier m &gt; 2.0  ·  Elasticity slope 3.5</a:t>
            </a:r>
          </a:p>
        </p:txBody>
      </p:sp>
      <p:graphicFrame>
        <p:nvGraphicFramePr>
          <p:cNvPr id="6" name="Table 5"/>
          <p:cNvGraphicFramePr>
            <a:graphicFrameLocks noGrp="1"/>
          </p:cNvGraphicFramePr>
          <p:nvPr/>
        </p:nvGraphicFramePr>
        <p:xfrm>
          <a:off x="457200" y="1700000"/>
          <a:ext cx="11277295" cy="3600000"/>
        </p:xfrm>
        <a:graphic>
          <a:graphicData uri="http://schemas.openxmlformats.org/drawingml/2006/table">
            <a:tbl>
              <a:tblPr firstRow="1" bandRow="1">
                <a:tableStyleId>{5C22544A-7EE6-4342-B048-85BDC9FD1C3A}</a:tableStyleId>
              </a:tblPr>
              <a:tblGrid>
                <a:gridCol w="2255459">
                  <a:extLst>
                    <a:ext uri="{9D8B030D-6E8A-4147-A177-3AD203B41FA5}">
                      <a16:colId xmlns:a16="http://schemas.microsoft.com/office/drawing/2014/main" val="20000"/>
                    </a:ext>
                  </a:extLst>
                </a:gridCol>
                <a:gridCol w="2255459">
                  <a:extLst>
                    <a:ext uri="{9D8B030D-6E8A-4147-A177-3AD203B41FA5}">
                      <a16:colId xmlns:a16="http://schemas.microsoft.com/office/drawing/2014/main" val="20001"/>
                    </a:ext>
                  </a:extLst>
                </a:gridCol>
                <a:gridCol w="2255459">
                  <a:extLst>
                    <a:ext uri="{9D8B030D-6E8A-4147-A177-3AD203B41FA5}">
                      <a16:colId xmlns:a16="http://schemas.microsoft.com/office/drawing/2014/main" val="20002"/>
                    </a:ext>
                  </a:extLst>
                </a:gridCol>
                <a:gridCol w="2255459">
                  <a:extLst>
                    <a:ext uri="{9D8B030D-6E8A-4147-A177-3AD203B41FA5}">
                      <a16:colId xmlns:a16="http://schemas.microsoft.com/office/drawing/2014/main" val="20003"/>
                    </a:ext>
                  </a:extLst>
                </a:gridCol>
                <a:gridCol w="2255459">
                  <a:extLst>
                    <a:ext uri="{9D8B030D-6E8A-4147-A177-3AD203B41FA5}">
                      <a16:colId xmlns:a16="http://schemas.microsoft.com/office/drawing/2014/main" val="20004"/>
                    </a:ext>
                  </a:extLst>
                </a:gridCol>
              </a:tblGrid>
              <a:tr h="720000">
                <a:tc>
                  <a:txBody>
                    <a:bodyPr/>
                    <a:lstStyle/>
                    <a:p>
                      <a:r>
                        <a:rPr sz="1100" b="1">
                          <a:solidFill>
                            <a:srgbClr val="FFFFFF"/>
                          </a:solidFill>
                        </a:rPr>
                        <a:t>Arm</a:t>
                      </a:r>
                    </a:p>
                  </a:txBody>
                  <a:tcPr>
                    <a:solidFill>
                      <a:srgbClr val="1B5697"/>
                    </a:solidFill>
                  </a:tcPr>
                </a:tc>
                <a:tc>
                  <a:txBody>
                    <a:bodyPr/>
                    <a:lstStyle/>
                    <a:p>
                      <a:r>
                        <a:rPr sz="1100" b="1">
                          <a:solidFill>
                            <a:srgbClr val="FFFFFF"/>
                          </a:solidFill>
                        </a:rPr>
                        <a:t>Base Premium</a:t>
                      </a:r>
                    </a:p>
                  </a:txBody>
                  <a:tcPr>
                    <a:solidFill>
                      <a:srgbClr val="1B5697"/>
                    </a:solidFill>
                  </a:tcPr>
                </a:tc>
                <a:tc>
                  <a:txBody>
                    <a:bodyPr/>
                    <a:lstStyle/>
                    <a:p>
                      <a:r>
                        <a:rPr sz="1100" b="1">
                          <a:solidFill>
                            <a:srgbClr val="FFFFFF"/>
                          </a:solidFill>
                        </a:rPr>
                        <a:t>Expected Claims</a:t>
                      </a:r>
                    </a:p>
                  </a:txBody>
                  <a:tcPr>
                    <a:solidFill>
                      <a:srgbClr val="1B5697"/>
                    </a:solidFill>
                  </a:tcPr>
                </a:tc>
                <a:tc>
                  <a:txBody>
                    <a:bodyPr/>
                    <a:lstStyle/>
                    <a:p>
                      <a:r>
                        <a:rPr sz="1100" b="1">
                          <a:solidFill>
                            <a:srgbClr val="FFFFFF"/>
                          </a:solidFill>
                        </a:rPr>
                        <a:t>Acceptance Prob.</a:t>
                      </a:r>
                    </a:p>
                  </a:txBody>
                  <a:tcPr>
                    <a:solidFill>
                      <a:srgbClr val="1B5697"/>
                    </a:solidFill>
                  </a:tcPr>
                </a:tc>
                <a:tc>
                  <a:txBody>
                    <a:bodyPr/>
                    <a:lstStyle/>
                    <a:p>
                      <a:r>
                        <a:rPr sz="1100" b="1">
                          <a:solidFill>
                            <a:srgbClr val="FFFFFF"/>
                          </a:solidFill>
                        </a:rPr>
                        <a:t>Net Reward Formula</a:t>
                      </a:r>
                    </a:p>
                  </a:txBody>
                  <a:tcPr>
                    <a:solidFill>
                      <a:srgbClr val="1B5697"/>
                    </a:solidFill>
                  </a:tcPr>
                </a:tc>
                <a:extLst>
                  <a:ext uri="{0D108BD9-81ED-4DB2-BD59-A6C34878D82A}">
                    <a16:rowId xmlns:a16="http://schemas.microsoft.com/office/drawing/2014/main" val="10000"/>
                  </a:ext>
                </a:extLst>
              </a:tr>
              <a:tr h="720000">
                <a:tc>
                  <a:txBody>
                    <a:bodyPr/>
                    <a:lstStyle/>
                    <a:p>
                      <a:r>
                        <a:rPr sz="1000" b="1">
                          <a:solidFill>
                            <a:srgbClr val="1B5697"/>
                          </a:solidFill>
                        </a:rPr>
                        <a:t>STANDARD</a:t>
                      </a:r>
                    </a:p>
                  </a:txBody>
                  <a:tcPr>
                    <a:solidFill>
                      <a:srgbClr val="D4E6F7"/>
                    </a:solidFill>
                  </a:tcPr>
                </a:tc>
                <a:tc>
                  <a:txBody>
                    <a:bodyPr/>
                    <a:lstStyle/>
                    <a:p>
                      <a:r>
                        <a:rPr sz="1000" b="0">
                          <a:solidFill>
                            <a:srgbClr val="262626"/>
                          </a:solidFill>
                        </a:rPr>
                        <a:t>$200 × m</a:t>
                      </a:r>
                    </a:p>
                  </a:txBody>
                  <a:tcPr>
                    <a:solidFill>
                      <a:srgbClr val="D4E6F7"/>
                    </a:solidFill>
                  </a:tcPr>
                </a:tc>
                <a:tc>
                  <a:txBody>
                    <a:bodyPr/>
                    <a:lstStyle/>
                    <a:p>
                      <a:r>
                        <a:rPr sz="1000" b="0">
                          <a:solidFill>
                            <a:srgbClr val="262626"/>
                          </a:solidFill>
                        </a:rPr>
                        <a:t>$150 × m</a:t>
                      </a:r>
                    </a:p>
                  </a:txBody>
                  <a:tcPr>
                    <a:solidFill>
                      <a:srgbClr val="D4E6F7"/>
                    </a:solidFill>
                  </a:tcPr>
                </a:tc>
                <a:tc>
                  <a:txBody>
                    <a:bodyPr/>
                    <a:lstStyle/>
                    <a:p>
                      <a:r>
                        <a:rPr sz="1000" b="0">
                          <a:solidFill>
                            <a:srgbClr val="262626"/>
                          </a:solidFill>
                        </a:rPr>
                        <a:t>High</a:t>
                      </a:r>
                    </a:p>
                  </a:txBody>
                  <a:tcPr>
                    <a:solidFill>
                      <a:srgbClr val="D4E6F7"/>
                    </a:solidFill>
                  </a:tcPr>
                </a:tc>
                <a:tc>
                  <a:txBody>
                    <a:bodyPr/>
                    <a:lstStyle/>
                    <a:p>
                      <a:r>
                        <a:rPr sz="1000" b="0">
                          <a:solidFill>
                            <a:srgbClr val="262626"/>
                          </a:solidFill>
                        </a:rPr>
                        <a:t>Premium − Claims ± noise</a:t>
                      </a:r>
                    </a:p>
                  </a:txBody>
                  <a:tcPr>
                    <a:solidFill>
                      <a:srgbClr val="D4E6F7"/>
                    </a:solidFill>
                  </a:tcPr>
                </a:tc>
                <a:extLst>
                  <a:ext uri="{0D108BD9-81ED-4DB2-BD59-A6C34878D82A}">
                    <a16:rowId xmlns:a16="http://schemas.microsoft.com/office/drawing/2014/main" val="10001"/>
                  </a:ext>
                </a:extLst>
              </a:tr>
              <a:tr h="720000">
                <a:tc>
                  <a:txBody>
                    <a:bodyPr/>
                    <a:lstStyle/>
                    <a:p>
                      <a:r>
                        <a:rPr sz="1000" b="1">
                          <a:solidFill>
                            <a:srgbClr val="1B5697"/>
                          </a:solidFill>
                        </a:rPr>
                        <a:t>RATED</a:t>
                      </a:r>
                    </a:p>
                  </a:txBody>
                  <a:tcPr>
                    <a:solidFill>
                      <a:srgbClr val="FEF3CD"/>
                    </a:solidFill>
                  </a:tcPr>
                </a:tc>
                <a:tc>
                  <a:txBody>
                    <a:bodyPr/>
                    <a:lstStyle/>
                    <a:p>
                      <a:r>
                        <a:rPr sz="1000" b="0">
                          <a:solidFill>
                            <a:srgbClr val="262626"/>
                          </a:solidFill>
                        </a:rPr>
                        <a:t>$200 × m × load</a:t>
                      </a:r>
                    </a:p>
                  </a:txBody>
                  <a:tcPr>
                    <a:solidFill>
                      <a:srgbClr val="FEF3CD"/>
                    </a:solidFill>
                  </a:tcPr>
                </a:tc>
                <a:tc>
                  <a:txBody>
                    <a:bodyPr/>
                    <a:lstStyle/>
                    <a:p>
                      <a:r>
                        <a:rPr sz="1000" b="0">
                          <a:solidFill>
                            <a:srgbClr val="262626"/>
                          </a:solidFill>
                        </a:rPr>
                        <a:t>$150 × m × 1.35 (if m&gt;2)</a:t>
                      </a:r>
                    </a:p>
                  </a:txBody>
                  <a:tcPr>
                    <a:solidFill>
                      <a:srgbClr val="FEF3CD"/>
                    </a:solidFill>
                  </a:tcPr>
                </a:tc>
                <a:tc>
                  <a:txBody>
                    <a:bodyPr/>
                    <a:lstStyle/>
                    <a:p>
                      <a:r>
                        <a:rPr sz="1000" b="0">
                          <a:solidFill>
                            <a:srgbClr val="262626"/>
                          </a:solidFill>
                        </a:rPr>
                        <a:t>Medium (elasticity −3.5 slope)</a:t>
                      </a:r>
                    </a:p>
                  </a:txBody>
                  <a:tcPr>
                    <a:solidFill>
                      <a:srgbClr val="FEF3CD"/>
                    </a:solidFill>
                  </a:tcPr>
                </a:tc>
                <a:tc>
                  <a:txBody>
                    <a:bodyPr/>
                    <a:lstStyle/>
                    <a:p>
                      <a:r>
                        <a:rPr sz="1000" b="0">
                          <a:solidFill>
                            <a:srgbClr val="262626"/>
                          </a:solidFill>
                        </a:rPr>
                        <a:t>Premium − Claims ± noise</a:t>
                      </a:r>
                    </a:p>
                  </a:txBody>
                  <a:tcPr>
                    <a:solidFill>
                      <a:srgbClr val="FEF3CD"/>
                    </a:solidFill>
                  </a:tcPr>
                </a:tc>
                <a:extLst>
                  <a:ext uri="{0D108BD9-81ED-4DB2-BD59-A6C34878D82A}">
                    <a16:rowId xmlns:a16="http://schemas.microsoft.com/office/drawing/2014/main" val="10002"/>
                  </a:ext>
                </a:extLst>
              </a:tr>
              <a:tr h="720000">
                <a:tc>
                  <a:txBody>
                    <a:bodyPr/>
                    <a:lstStyle/>
                    <a:p>
                      <a:r>
                        <a:rPr sz="1000" b="1">
                          <a:solidFill>
                            <a:srgbClr val="1B5697"/>
                          </a:solidFill>
                        </a:rPr>
                        <a:t>DECLINE</a:t>
                      </a:r>
                    </a:p>
                  </a:txBody>
                  <a:tcPr>
                    <a:solidFill>
                      <a:srgbClr val="F8E7E7"/>
                    </a:solidFill>
                  </a:tcPr>
                </a:tc>
                <a:tc>
                  <a:txBody>
                    <a:bodyPr/>
                    <a:lstStyle/>
                    <a:p>
                      <a:r>
                        <a:rPr sz="1000" b="0">
                          <a:solidFill>
                            <a:srgbClr val="262626"/>
                          </a:solidFill>
                        </a:rPr>
                        <a:t>$0</a:t>
                      </a:r>
                    </a:p>
                  </a:txBody>
                  <a:tcPr>
                    <a:solidFill>
                      <a:srgbClr val="F8E7E7"/>
                    </a:solidFill>
                  </a:tcPr>
                </a:tc>
                <a:tc>
                  <a:txBody>
                    <a:bodyPr/>
                    <a:lstStyle/>
                    <a:p>
                      <a:r>
                        <a:rPr sz="1000" b="0">
                          <a:solidFill>
                            <a:srgbClr val="262626"/>
                          </a:solidFill>
                        </a:rPr>
                        <a:t>$0</a:t>
                      </a:r>
                    </a:p>
                  </a:txBody>
                  <a:tcPr>
                    <a:solidFill>
                      <a:srgbClr val="F8E7E7"/>
                    </a:solidFill>
                  </a:tcPr>
                </a:tc>
                <a:tc>
                  <a:txBody>
                    <a:bodyPr/>
                    <a:lstStyle/>
                    <a:p>
                      <a:r>
                        <a:rPr sz="1000" b="0">
                          <a:solidFill>
                            <a:srgbClr val="262626"/>
                          </a:solidFill>
                        </a:rPr>
                        <a:t>N/A</a:t>
                      </a:r>
                    </a:p>
                  </a:txBody>
                  <a:tcPr>
                    <a:solidFill>
                      <a:srgbClr val="F8E7E7"/>
                    </a:solidFill>
                  </a:tcPr>
                </a:tc>
                <a:tc>
                  <a:txBody>
                    <a:bodyPr/>
                    <a:lstStyle/>
                    <a:p>
                      <a:r>
                        <a:rPr sz="1000" b="0">
                          <a:solidFill>
                            <a:srgbClr val="262626"/>
                          </a:solidFill>
                        </a:rPr>
                        <a:t>−$10 (opportunity cost)</a:t>
                      </a:r>
                    </a:p>
                  </a:txBody>
                  <a:tcPr>
                    <a:solidFill>
                      <a:srgbClr val="F8E7E7"/>
                    </a:solidFill>
                  </a:tcPr>
                </a:tc>
                <a:extLst>
                  <a:ext uri="{0D108BD9-81ED-4DB2-BD59-A6C34878D82A}">
                    <a16:rowId xmlns:a16="http://schemas.microsoft.com/office/drawing/2014/main" val="10003"/>
                  </a:ext>
                </a:extLst>
              </a:tr>
              <a:tr h="720000">
                <a:tc>
                  <a:txBody>
                    <a:bodyPr/>
                    <a:lstStyle/>
                    <a:p>
                      <a:r>
                        <a:rPr sz="1000" b="1">
                          <a:solidFill>
                            <a:srgbClr val="1B5697"/>
                          </a:solidFill>
                        </a:rPr>
                        <a:t>REFER</a:t>
                      </a:r>
                    </a:p>
                  </a:txBody>
                  <a:tcPr>
                    <a:solidFill>
                      <a:srgbClr val="E7F4E8"/>
                    </a:solidFill>
                  </a:tcPr>
                </a:tc>
                <a:tc>
                  <a:txBody>
                    <a:bodyPr/>
                    <a:lstStyle/>
                    <a:p>
                      <a:r>
                        <a:rPr sz="1000" b="0">
                          <a:solidFill>
                            <a:srgbClr val="262626"/>
                          </a:solidFill>
                        </a:rPr>
                        <a:t>Deferred</a:t>
                      </a:r>
                    </a:p>
                  </a:txBody>
                  <a:tcPr>
                    <a:solidFill>
                      <a:srgbClr val="E7F4E8"/>
                    </a:solidFill>
                  </a:tcPr>
                </a:tc>
                <a:tc>
                  <a:txBody>
                    <a:bodyPr/>
                    <a:lstStyle/>
                    <a:p>
                      <a:r>
                        <a:rPr sz="1000" b="0">
                          <a:solidFill>
                            <a:srgbClr val="262626"/>
                          </a:solidFill>
                        </a:rPr>
                        <a:t>Deferred</a:t>
                      </a:r>
                    </a:p>
                  </a:txBody>
                  <a:tcPr>
                    <a:solidFill>
                      <a:srgbClr val="E7F4E8"/>
                    </a:solidFill>
                  </a:tcPr>
                </a:tc>
                <a:tc>
                  <a:txBody>
                    <a:bodyPr/>
                    <a:lstStyle/>
                    <a:p>
                      <a:r>
                        <a:rPr sz="1000" b="0">
                          <a:solidFill>
                            <a:srgbClr val="262626"/>
                          </a:solidFill>
                        </a:rPr>
                        <a:t>Deferred to human</a:t>
                      </a:r>
                    </a:p>
                  </a:txBody>
                  <a:tcPr>
                    <a:solidFill>
                      <a:srgbClr val="E7F4E8"/>
                    </a:solidFill>
                  </a:tcPr>
                </a:tc>
                <a:tc>
                  <a:txBody>
                    <a:bodyPr/>
                    <a:lstStyle/>
                    <a:p>
                      <a:r>
                        <a:rPr sz="1000" b="0">
                          <a:solidFill>
                            <a:srgbClr val="262626"/>
                          </a:solidFill>
                        </a:rPr>
                        <a:t>0.70 × max(r) − $35</a:t>
                      </a:r>
                    </a:p>
                  </a:txBody>
                  <a:tcPr>
                    <a:solidFill>
                      <a:srgbClr val="E7F4E8"/>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457200" y="5450000"/>
            <a:ext cx="11277295" cy="700000"/>
          </a:xfrm>
          <a:prstGeom prst="rect">
            <a:avLst/>
          </a:prstGeom>
          <a:noFill/>
        </p:spPr>
        <p:txBody>
          <a:bodyPr wrap="square">
            <a:spAutoFit/>
          </a:bodyPr>
          <a:lstStyle/>
          <a:p>
            <a:pPr algn="l">
              <a:spcBef>
                <a:spcPts val="0"/>
              </a:spcBef>
              <a:spcAft>
                <a:spcPts val="0"/>
              </a:spcAft>
            </a:pPr>
            <a:r>
              <a:rPr sz="1100" b="0" i="1">
                <a:solidFill>
                  <a:srgbClr val="505050"/>
                </a:solidFill>
                <a:latin typeface="Calibri"/>
              </a:rPr>
              <a:t>Design rationale: DECLINE penalty prevents over-rejection; REFER formula incentivises selective escalation rather than blanket referral.</a:t>
            </a:r>
          </a:p>
        </p:txBody>
      </p:sp>
      <p:sp>
        <p:nvSpPr>
          <p:cNvPr id="8" name="Rectangle 7"/>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10" name="Rectangle 9"/>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Methodology &amp; Model Design</a:t>
            </a:r>
          </a:p>
        </p:txBody>
      </p:sp>
      <p:sp>
        <p:nvSpPr>
          <p:cNvPr id="12" name="Rectangle 11"/>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11 / 43</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ZOOM-IN: BANDIT POLICY &amp; ACTION</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700000"/>
            <a:ext cx="11277295" cy="320000"/>
          </a:xfrm>
          <a:prstGeom prst="rect">
            <a:avLst/>
          </a:prstGeom>
          <a:noFill/>
        </p:spPr>
        <p:txBody>
          <a:bodyPr wrap="square">
            <a:spAutoFit/>
          </a:bodyPr>
          <a:lstStyle/>
          <a:p>
            <a:pPr algn="ctr">
              <a:spcBef>
                <a:spcPts val="0"/>
              </a:spcBef>
              <a:spcAft>
                <a:spcPts val="0"/>
              </a:spcAft>
            </a:pPr>
            <a:r>
              <a:rPr sz="1100" b="1" i="0">
                <a:solidFill>
                  <a:srgbClr val="2E8B57"/>
                </a:solidFill>
                <a:latin typeface="Calibri"/>
              </a:rPr>
              <a:t>▸ YOU ARE HERE</a:t>
            </a:r>
          </a:p>
        </p:txBody>
      </p:sp>
      <p:sp>
        <p:nvSpPr>
          <p:cNvPr id="6" name="Rectangle 5"/>
          <p:cNvSpPr/>
          <p:nvPr/>
        </p:nvSpPr>
        <p:spPr>
          <a:xfrm>
            <a:off x="10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45847" y="2660000"/>
            <a:ext cx="1400000" cy="610000"/>
          </a:xfrm>
          <a:prstGeom prst="rect">
            <a:avLst/>
          </a:prstGeom>
          <a:noFill/>
        </p:spPr>
        <p:txBody>
          <a:bodyPr wrap="square">
            <a:spAutoFit/>
          </a:bodyPr>
          <a:lstStyle/>
          <a:p>
            <a:pPr algn="ctr">
              <a:spcBef>
                <a:spcPts val="0"/>
              </a:spcBef>
              <a:spcAft>
                <a:spcPts val="0"/>
              </a:spcAft>
            </a:pPr>
            <a:r>
              <a:rPr sz="1200" b="1" i="0">
                <a:solidFill>
                  <a:srgbClr val="505050"/>
                </a:solidFill>
                <a:latin typeface="Calibri"/>
              </a:rPr>
              <a:t>Applicant
Context</a:t>
            </a:r>
          </a:p>
        </p:txBody>
      </p:sp>
      <p:sp>
        <p:nvSpPr>
          <p:cNvPr id="8" name="TextBox 7"/>
          <p:cNvSpPr txBox="1"/>
          <p:nvPr/>
        </p:nvSpPr>
        <p:spPr>
          <a:xfrm>
            <a:off x="25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9" name="Rectangle 8"/>
          <p:cNvSpPr/>
          <p:nvPr/>
        </p:nvSpPr>
        <p:spPr>
          <a:xfrm>
            <a:off x="2795847" y="2550000"/>
            <a:ext cx="1500000" cy="7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750847" y="2505000"/>
            <a:ext cx="1590000" cy="850000"/>
          </a:xfrm>
          <a:prstGeom prst="rect">
            <a:avLst/>
          </a:prstGeom>
          <a:noFill/>
          <a:ln w="4445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845847" y="2660000"/>
            <a:ext cx="1400000" cy="610000"/>
          </a:xfrm>
          <a:prstGeom prst="rect">
            <a:avLst/>
          </a:prstGeom>
          <a:noFill/>
        </p:spPr>
        <p:txBody>
          <a:bodyPr wrap="square">
            <a:spAutoFit/>
          </a:bodyPr>
          <a:lstStyle/>
          <a:p>
            <a:pPr algn="ctr">
              <a:spcBef>
                <a:spcPts val="0"/>
              </a:spcBef>
              <a:spcAft>
                <a:spcPts val="0"/>
              </a:spcAft>
            </a:pPr>
            <a:r>
              <a:rPr sz="1200" b="1" i="0">
                <a:solidFill>
                  <a:srgbClr val="FFFFFF"/>
                </a:solidFill>
                <a:latin typeface="Calibri"/>
              </a:rPr>
              <a:t>Bandit
Policy</a:t>
            </a:r>
          </a:p>
        </p:txBody>
      </p:sp>
      <p:sp>
        <p:nvSpPr>
          <p:cNvPr id="12" name="TextBox 11"/>
          <p:cNvSpPr txBox="1"/>
          <p:nvPr/>
        </p:nvSpPr>
        <p:spPr>
          <a:xfrm>
            <a:off x="42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13" name="Rectangle 12"/>
          <p:cNvSpPr/>
          <p:nvPr/>
        </p:nvSpPr>
        <p:spPr>
          <a:xfrm>
            <a:off x="4495847" y="2550000"/>
            <a:ext cx="1500000" cy="7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450847" y="2505000"/>
            <a:ext cx="1590000" cy="850000"/>
          </a:xfrm>
          <a:prstGeom prst="rect">
            <a:avLst/>
          </a:prstGeom>
          <a:noFill/>
          <a:ln w="4445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45847" y="2660000"/>
            <a:ext cx="1400000" cy="610000"/>
          </a:xfrm>
          <a:prstGeom prst="rect">
            <a:avLst/>
          </a:prstGeom>
          <a:noFill/>
        </p:spPr>
        <p:txBody>
          <a:bodyPr wrap="square">
            <a:spAutoFit/>
          </a:bodyPr>
          <a:lstStyle/>
          <a:p>
            <a:pPr algn="ctr">
              <a:spcBef>
                <a:spcPts val="0"/>
              </a:spcBef>
              <a:spcAft>
                <a:spcPts val="0"/>
              </a:spcAft>
            </a:pPr>
            <a:r>
              <a:rPr sz="1200" b="1" i="0">
                <a:solidFill>
                  <a:srgbClr val="FFFFFF"/>
                </a:solidFill>
                <a:latin typeface="Calibri"/>
              </a:rPr>
              <a:t>Underwriting
Action</a:t>
            </a:r>
          </a:p>
        </p:txBody>
      </p:sp>
      <p:sp>
        <p:nvSpPr>
          <p:cNvPr id="16" name="TextBox 15"/>
          <p:cNvSpPr txBox="1"/>
          <p:nvPr/>
        </p:nvSpPr>
        <p:spPr>
          <a:xfrm>
            <a:off x="59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17" name="Rectangle 16"/>
          <p:cNvSpPr/>
          <p:nvPr/>
        </p:nvSpPr>
        <p:spPr>
          <a:xfrm>
            <a:off x="61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45847" y="2660000"/>
            <a:ext cx="1400000" cy="610000"/>
          </a:xfrm>
          <a:prstGeom prst="rect">
            <a:avLst/>
          </a:prstGeom>
          <a:noFill/>
        </p:spPr>
        <p:txBody>
          <a:bodyPr wrap="square">
            <a:spAutoFit/>
          </a:bodyPr>
          <a:lstStyle/>
          <a:p>
            <a:pPr algn="ctr">
              <a:spcBef>
                <a:spcPts val="0"/>
              </a:spcBef>
              <a:spcAft>
                <a:spcPts val="0"/>
              </a:spcAft>
            </a:pPr>
            <a:r>
              <a:rPr sz="1200" b="1" i="0">
                <a:solidFill>
                  <a:srgbClr val="505050"/>
                </a:solidFill>
                <a:latin typeface="Calibri"/>
              </a:rPr>
              <a:t>Actuarial
Reward</a:t>
            </a:r>
          </a:p>
        </p:txBody>
      </p:sp>
      <p:sp>
        <p:nvSpPr>
          <p:cNvPr id="19" name="TextBox 18"/>
          <p:cNvSpPr txBox="1"/>
          <p:nvPr/>
        </p:nvSpPr>
        <p:spPr>
          <a:xfrm>
            <a:off x="76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20" name="Rectangle 19"/>
          <p:cNvSpPr/>
          <p:nvPr/>
        </p:nvSpPr>
        <p:spPr>
          <a:xfrm>
            <a:off x="78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945847" y="2660000"/>
            <a:ext cx="1400000" cy="610000"/>
          </a:xfrm>
          <a:prstGeom prst="rect">
            <a:avLst/>
          </a:prstGeom>
          <a:noFill/>
        </p:spPr>
        <p:txBody>
          <a:bodyPr wrap="square">
            <a:spAutoFit/>
          </a:bodyPr>
          <a:lstStyle/>
          <a:p>
            <a:pPr algn="ctr">
              <a:spcBef>
                <a:spcPts val="0"/>
              </a:spcBef>
              <a:spcAft>
                <a:spcPts val="0"/>
              </a:spcAft>
            </a:pPr>
            <a:r>
              <a:rPr sz="1200" b="1" i="0">
                <a:solidFill>
                  <a:srgbClr val="505050"/>
                </a:solidFill>
                <a:latin typeface="Calibri"/>
              </a:rPr>
              <a:t>PSI + HITL
Guardrail</a:t>
            </a:r>
          </a:p>
        </p:txBody>
      </p:sp>
      <p:sp>
        <p:nvSpPr>
          <p:cNvPr id="22" name="TextBox 21"/>
          <p:cNvSpPr txBox="1"/>
          <p:nvPr/>
        </p:nvSpPr>
        <p:spPr>
          <a:xfrm>
            <a:off x="93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23" name="Rectangle 22"/>
          <p:cNvSpPr/>
          <p:nvPr/>
        </p:nvSpPr>
        <p:spPr>
          <a:xfrm>
            <a:off x="95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645847" y="2660000"/>
            <a:ext cx="1400000" cy="610000"/>
          </a:xfrm>
          <a:prstGeom prst="rect">
            <a:avLst/>
          </a:prstGeom>
          <a:noFill/>
        </p:spPr>
        <p:txBody>
          <a:bodyPr wrap="square">
            <a:spAutoFit/>
          </a:bodyPr>
          <a:lstStyle/>
          <a:p>
            <a:pPr algn="ctr">
              <a:spcBef>
                <a:spcPts val="0"/>
              </a:spcBef>
              <a:spcAft>
                <a:spcPts val="0"/>
              </a:spcAft>
            </a:pPr>
            <a:r>
              <a:rPr sz="1200" b="1" i="0">
                <a:solidFill>
                  <a:srgbClr val="505050"/>
                </a:solidFill>
                <a:latin typeface="Calibri"/>
              </a:rPr>
              <a:t>Decision</a:t>
            </a:r>
          </a:p>
        </p:txBody>
      </p:sp>
      <p:sp>
        <p:nvSpPr>
          <p:cNvPr id="25" name="TextBox 24"/>
          <p:cNvSpPr txBox="1"/>
          <p:nvPr/>
        </p:nvSpPr>
        <p:spPr>
          <a:xfrm>
            <a:off x="1457200" y="3850000"/>
            <a:ext cx="9277295" cy="700000"/>
          </a:xfrm>
          <a:prstGeom prst="rect">
            <a:avLst/>
          </a:prstGeom>
          <a:noFill/>
        </p:spPr>
        <p:txBody>
          <a:bodyPr wrap="square">
            <a:spAutoFit/>
          </a:bodyPr>
          <a:lstStyle/>
          <a:p>
            <a:pPr algn="ctr">
              <a:spcBef>
                <a:spcPts val="0"/>
              </a:spcBef>
              <a:spcAft>
                <a:spcPts val="0"/>
              </a:spcAft>
            </a:pPr>
            <a:r>
              <a:rPr sz="1600" b="0" i="1">
                <a:solidFill>
                  <a:srgbClr val="1B5697"/>
                </a:solidFill>
                <a:latin typeface="Calibri"/>
              </a:rPr>
              <a:t>Now examining how the bandit reads the context and selects an underwriting action.</a:t>
            </a:r>
          </a:p>
        </p:txBody>
      </p:sp>
      <p:sp>
        <p:nvSpPr>
          <p:cNvPr id="26" name="Rectangle 25"/>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8" name="Rectangle 27"/>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Methodology &amp; Model Design</a:t>
            </a:r>
          </a:p>
        </p:txBody>
      </p:sp>
      <p:sp>
        <p:nvSpPr>
          <p:cNvPr id="30" name="Rectangle 29"/>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12 / 43</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BANDIT IN ACTION: SOPHEA’S CONTEXT &amp; ARM SCORES</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100000"/>
            <a:ext cx="5488647" cy="52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100000"/>
            <a:ext cx="91440" cy="52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07200" y="1220000"/>
            <a:ext cx="5308647" cy="380000"/>
          </a:xfrm>
          <a:prstGeom prst="rect">
            <a:avLst/>
          </a:prstGeom>
          <a:noFill/>
        </p:spPr>
        <p:txBody>
          <a:bodyPr wrap="square">
            <a:spAutoFit/>
          </a:bodyPr>
          <a:lstStyle/>
          <a:p>
            <a:pPr algn="l">
              <a:spcBef>
                <a:spcPts val="0"/>
              </a:spcBef>
              <a:spcAft>
                <a:spcPts val="0"/>
              </a:spcAft>
            </a:pPr>
            <a:r>
              <a:rPr sz="1200" b="1" i="0">
                <a:solidFill>
                  <a:srgbClr val="1B5697"/>
                </a:solidFill>
                <a:latin typeface="Segoe UI"/>
              </a:rPr>
              <a:t>Sophea’s Context Vector (34 dims, key shown)</a:t>
            </a:r>
          </a:p>
        </p:txBody>
      </p:sp>
      <p:sp>
        <p:nvSpPr>
          <p:cNvPr id="8" name="TextBox 7"/>
          <p:cNvSpPr txBox="1"/>
          <p:nvPr/>
        </p:nvSpPr>
        <p:spPr>
          <a:xfrm>
            <a:off x="627200" y="1620000"/>
            <a:ext cx="5288647" cy="4400000"/>
          </a:xfrm>
          <a:prstGeom prst="rect">
            <a:avLst/>
          </a:prstGeom>
          <a:noFill/>
        </p:spPr>
        <p:txBody>
          <a:bodyPr wrap="square">
            <a:spAutoFit/>
          </a:bodyPr>
          <a:lstStyle/>
          <a:p>
            <a:pPr>
              <a:spcBef>
                <a:spcPts val="800"/>
              </a:spcBef>
            </a:pPr>
            <a:r>
              <a:rPr sz="1100" b="1">
                <a:solidFill>
                  <a:srgbClr val="1B5697"/>
                </a:solidFill>
              </a:rPr>
              <a:t>age_std:  </a:t>
            </a:r>
            <a:r>
              <a:rPr sz="1100">
                <a:solidFill>
                  <a:srgbClr val="262626"/>
                </a:solidFill>
              </a:rPr>
              <a:t>0.3</a:t>
            </a:r>
          </a:p>
          <a:p>
            <a:pPr>
              <a:spcBef>
                <a:spcPts val="800"/>
              </a:spcBef>
            </a:pPr>
            <a:r>
              <a:rPr sz="1100" b="1">
                <a:solidFill>
                  <a:srgbClr val="1B5697"/>
                </a:solidFill>
              </a:rPr>
              <a:t>bmi_std:  </a:t>
            </a:r>
            <a:r>
              <a:rPr sz="1100">
                <a:solidFill>
                  <a:srgbClr val="262626"/>
                </a:solidFill>
              </a:rPr>
              <a:t>−0.1</a:t>
            </a:r>
          </a:p>
          <a:p>
            <a:pPr>
              <a:spcBef>
                <a:spcPts val="800"/>
              </a:spcBef>
            </a:pPr>
            <a:r>
              <a:rPr sz="1100" b="1">
                <a:solidFill>
                  <a:srgbClr val="1B5697"/>
                </a:solidFill>
              </a:rPr>
              <a:t>smoker:  </a:t>
            </a:r>
            <a:r>
              <a:rPr sz="1100">
                <a:solidFill>
                  <a:srgbClr val="262626"/>
                </a:solidFill>
              </a:rPr>
              <a:t>0  (non-smoker)</a:t>
            </a:r>
          </a:p>
          <a:p>
            <a:pPr>
              <a:spcBef>
                <a:spcPts val="800"/>
              </a:spcBef>
            </a:pPr>
            <a:r>
              <a:rPr sz="1100" b="1">
                <a:solidFill>
                  <a:srgbClr val="1B5697"/>
                </a:solidFill>
              </a:rPr>
              <a:t>hypertension:  </a:t>
            </a:r>
            <a:r>
              <a:rPr sz="1100">
                <a:solidFill>
                  <a:srgbClr val="262626"/>
                </a:solidFill>
              </a:rPr>
              <a:t>1  (managed)</a:t>
            </a:r>
          </a:p>
          <a:p>
            <a:pPr>
              <a:spcBef>
                <a:spcPts val="800"/>
              </a:spcBef>
            </a:pPr>
            <a:r>
              <a:rPr sz="1100" b="1">
                <a:solidFill>
                  <a:srgbClr val="1B5697"/>
                </a:solidFill>
              </a:rPr>
              <a:t>kampong_cham:  </a:t>
            </a:r>
            <a:r>
              <a:rPr sz="1100">
                <a:solidFill>
                  <a:srgbClr val="262626"/>
                </a:solidFill>
              </a:rPr>
              <a:t>1  (region one-hot)</a:t>
            </a:r>
          </a:p>
          <a:p>
            <a:pPr>
              <a:spcBef>
                <a:spcPts val="800"/>
              </a:spcBef>
            </a:pPr>
            <a:r>
              <a:rPr sz="1100" b="1">
                <a:solidFill>
                  <a:srgbClr val="1B5697"/>
                </a:solidFill>
              </a:rPr>
              <a:t>agriculture:  </a:t>
            </a:r>
            <a:r>
              <a:rPr sz="1100">
                <a:solidFill>
                  <a:srgbClr val="262626"/>
                </a:solidFill>
              </a:rPr>
              <a:t>1  (occupation one-hot)</a:t>
            </a:r>
          </a:p>
          <a:p>
            <a:pPr>
              <a:spcBef>
                <a:spcPts val="800"/>
              </a:spcBef>
            </a:pPr>
            <a:r>
              <a:rPr sz="1100" b="1">
                <a:solidFill>
                  <a:srgbClr val="1B5697"/>
                </a:solidFill>
              </a:rPr>
              <a:t>wealth_low:  </a:t>
            </a:r>
            <a:r>
              <a:rPr sz="1100">
                <a:solidFill>
                  <a:srgbClr val="262626"/>
                </a:solidFill>
              </a:rPr>
              <a:t>1</a:t>
            </a:r>
          </a:p>
          <a:p>
            <a:pPr>
              <a:spcBef>
                <a:spcPts val="800"/>
              </a:spcBef>
            </a:pPr>
            <a:r>
              <a:rPr sz="1100" b="1">
                <a:solidFill>
                  <a:srgbClr val="1B5697"/>
                </a:solidFill>
              </a:rPr>
              <a:t>education_prim:  </a:t>
            </a:r>
            <a:r>
              <a:rPr sz="1100">
                <a:solidFill>
                  <a:srgbClr val="262626"/>
                </a:solidFill>
              </a:rPr>
              <a:t>1</a:t>
            </a:r>
          </a:p>
          <a:p>
            <a:pPr>
              <a:spcBef>
                <a:spcPts val="800"/>
              </a:spcBef>
            </a:pPr>
            <a:r>
              <a:rPr sz="1100" b="1">
                <a:solidFill>
                  <a:srgbClr val="1B5697"/>
                </a:solidFill>
              </a:rPr>
              <a:t>… 26 more:  </a:t>
            </a:r>
            <a:r>
              <a:rPr sz="1100">
                <a:solidFill>
                  <a:srgbClr val="262626"/>
                </a:solidFill>
              </a:rPr>
              <a:t>—</a:t>
            </a:r>
          </a:p>
        </p:txBody>
      </p:sp>
      <p:sp>
        <p:nvSpPr>
          <p:cNvPr id="9" name="Rectangle 8"/>
          <p:cNvSpPr/>
          <p:nvPr/>
        </p:nvSpPr>
        <p:spPr>
          <a:xfrm>
            <a:off x="6245847" y="1100000"/>
            <a:ext cx="5488648" cy="24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245847" y="1100000"/>
            <a:ext cx="91440" cy="24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95847" y="1220000"/>
            <a:ext cx="5308648" cy="380000"/>
          </a:xfrm>
          <a:prstGeom prst="rect">
            <a:avLst/>
          </a:prstGeom>
          <a:noFill/>
        </p:spPr>
        <p:txBody>
          <a:bodyPr wrap="square">
            <a:spAutoFit/>
          </a:bodyPr>
          <a:lstStyle/>
          <a:p>
            <a:pPr algn="l">
              <a:spcBef>
                <a:spcPts val="0"/>
              </a:spcBef>
              <a:spcAft>
                <a:spcPts val="0"/>
              </a:spcAft>
            </a:pPr>
            <a:r>
              <a:rPr sz="1200" b="1" i="0">
                <a:solidFill>
                  <a:srgbClr val="1B5697"/>
                </a:solidFill>
                <a:latin typeface="Segoe UI"/>
              </a:rPr>
              <a:t>LinUCB Arm Score Formula</a:t>
            </a:r>
          </a:p>
        </p:txBody>
      </p:sp>
      <p:sp>
        <p:nvSpPr>
          <p:cNvPr id="12" name="TextBox 11"/>
          <p:cNvSpPr txBox="1"/>
          <p:nvPr/>
        </p:nvSpPr>
        <p:spPr>
          <a:xfrm>
            <a:off x="6395847" y="1640000"/>
            <a:ext cx="5308648" cy="176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UCBᵃ(x) = θ̂ᵃᵀ x  +  α × √(xᵀ Aᵃ⁻¹ x)</a:t>
            </a:r>
          </a:p>
          <a:p>
            <a:pPr algn="l">
              <a:spcBef>
                <a:spcPts val="400"/>
              </a:spcBef>
            </a:pPr>
            <a:endParaRPr sz="1100" b="0" i="0">
              <a:solidFill>
                <a:srgbClr val="505050"/>
              </a:solidFill>
              <a:latin typeface="Calibri"/>
            </a:endParaRPr>
          </a:p>
          <a:p>
            <a:pPr algn="l">
              <a:spcBef>
                <a:spcPts val="400"/>
              </a:spcBef>
            </a:pPr>
            <a:r>
              <a:rPr sz="1100" b="0" i="0">
                <a:solidFill>
                  <a:srgbClr val="505050"/>
                </a:solidFill>
                <a:latin typeface="Calibri"/>
              </a:rPr>
              <a:t>θ̂ᵃ = posterior mean weights for arm a</a:t>
            </a:r>
          </a:p>
          <a:p>
            <a:pPr algn="l">
              <a:spcBef>
                <a:spcPts val="400"/>
              </a:spcBef>
            </a:pPr>
            <a:r>
              <a:rPr sz="1100" b="0" i="0">
                <a:solidFill>
                  <a:srgbClr val="505050"/>
                </a:solidFill>
                <a:latin typeface="Calibri"/>
              </a:rPr>
              <a:t>α = exploration bonus scaling (default 1.0)</a:t>
            </a:r>
          </a:p>
          <a:p>
            <a:pPr algn="l">
              <a:spcBef>
                <a:spcPts val="400"/>
              </a:spcBef>
            </a:pPr>
            <a:r>
              <a:rPr sz="1100" b="0" i="0">
                <a:solidFill>
                  <a:srgbClr val="505050"/>
                </a:solidFill>
                <a:latin typeface="Calibri"/>
              </a:rPr>
              <a:t>x = Sophea’s 34-dim context vector</a:t>
            </a:r>
          </a:p>
        </p:txBody>
      </p:sp>
      <p:sp>
        <p:nvSpPr>
          <p:cNvPr id="13" name="TextBox 12"/>
          <p:cNvSpPr txBox="1"/>
          <p:nvPr/>
        </p:nvSpPr>
        <p:spPr>
          <a:xfrm>
            <a:off x="6245847" y="3650000"/>
            <a:ext cx="5488648" cy="360000"/>
          </a:xfrm>
          <a:prstGeom prst="rect">
            <a:avLst/>
          </a:prstGeom>
          <a:noFill/>
        </p:spPr>
        <p:txBody>
          <a:bodyPr wrap="square">
            <a:spAutoFit/>
          </a:bodyPr>
          <a:lstStyle/>
          <a:p>
            <a:pPr algn="l">
              <a:spcBef>
                <a:spcPts val="0"/>
              </a:spcBef>
              <a:spcAft>
                <a:spcPts val="0"/>
              </a:spcAft>
            </a:pPr>
            <a:r>
              <a:rPr sz="1200" b="1" i="0">
                <a:solidFill>
                  <a:srgbClr val="1B5697"/>
                </a:solidFill>
                <a:latin typeface="Calibri"/>
              </a:rPr>
              <a:t>Arm Scores (LinUCB, Sophea):</a:t>
            </a:r>
          </a:p>
        </p:txBody>
      </p:sp>
      <p:sp>
        <p:nvSpPr>
          <p:cNvPr id="14" name="Rectangle 13"/>
          <p:cNvSpPr/>
          <p:nvPr/>
        </p:nvSpPr>
        <p:spPr>
          <a:xfrm>
            <a:off x="6245847" y="4100000"/>
            <a:ext cx="5488648" cy="48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65847" y="4180000"/>
            <a:ext cx="5248648" cy="340000"/>
          </a:xfrm>
          <a:prstGeom prst="rect">
            <a:avLst/>
          </a:prstGeom>
          <a:noFill/>
        </p:spPr>
        <p:txBody>
          <a:bodyPr wrap="square">
            <a:spAutoFit/>
          </a:bodyPr>
          <a:lstStyle/>
          <a:p>
            <a:pPr algn="l">
              <a:spcBef>
                <a:spcPts val="0"/>
              </a:spcBef>
              <a:spcAft>
                <a:spcPts val="0"/>
              </a:spcAft>
            </a:pPr>
            <a:r>
              <a:rPr sz="1300" b="0" i="0">
                <a:solidFill>
                  <a:srgbClr val="7D4E00"/>
                </a:solidFill>
                <a:latin typeface="Calibri"/>
              </a:rPr>
              <a:t>RATED:  0.31</a:t>
            </a:r>
          </a:p>
        </p:txBody>
      </p:sp>
      <p:sp>
        <p:nvSpPr>
          <p:cNvPr id="16" name="Rectangle 15"/>
          <p:cNvSpPr/>
          <p:nvPr/>
        </p:nvSpPr>
        <p:spPr>
          <a:xfrm>
            <a:off x="6245847" y="4660000"/>
            <a:ext cx="5488648" cy="480000"/>
          </a:xfrm>
          <a:prstGeom prst="rect">
            <a:avLst/>
          </a:prstGeom>
          <a:solidFill>
            <a:srgbClr val="D4E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65847" y="4740000"/>
            <a:ext cx="5248648" cy="34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STANDARD:  0.52</a:t>
            </a:r>
          </a:p>
        </p:txBody>
      </p:sp>
      <p:sp>
        <p:nvSpPr>
          <p:cNvPr id="18" name="Rectangle 17"/>
          <p:cNvSpPr/>
          <p:nvPr/>
        </p:nvSpPr>
        <p:spPr>
          <a:xfrm>
            <a:off x="6245847" y="4660000"/>
            <a:ext cx="5488648" cy="480000"/>
          </a:xfrm>
          <a:prstGeom prst="rect">
            <a:avLst/>
          </a:prstGeom>
          <a:noFill/>
          <a:ln>
            <a:solidFill>
              <a:srgbClr val="1B569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245847" y="5220000"/>
            <a:ext cx="5488648" cy="480000"/>
          </a:xfrm>
          <a:prstGeom prst="rect">
            <a:avLst/>
          </a:prstGeom>
          <a:solidFill>
            <a:srgbClr val="F8E7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365847" y="5300000"/>
            <a:ext cx="5248648" cy="340000"/>
          </a:xfrm>
          <a:prstGeom prst="rect">
            <a:avLst/>
          </a:prstGeom>
          <a:noFill/>
        </p:spPr>
        <p:txBody>
          <a:bodyPr wrap="square">
            <a:spAutoFit/>
          </a:bodyPr>
          <a:lstStyle/>
          <a:p>
            <a:pPr algn="l">
              <a:spcBef>
                <a:spcPts val="0"/>
              </a:spcBef>
              <a:spcAft>
                <a:spcPts val="0"/>
              </a:spcAft>
            </a:pPr>
            <a:r>
              <a:rPr sz="1300" b="0" i="0">
                <a:solidFill>
                  <a:srgbClr val="D93B3B"/>
                </a:solidFill>
                <a:latin typeface="Calibri"/>
              </a:rPr>
              <a:t>DECLINE:  0.10</a:t>
            </a:r>
          </a:p>
        </p:txBody>
      </p:sp>
      <p:sp>
        <p:nvSpPr>
          <p:cNvPr id="21" name="Rectangle 20"/>
          <p:cNvSpPr/>
          <p:nvPr/>
        </p:nvSpPr>
        <p:spPr>
          <a:xfrm>
            <a:off x="6245847" y="5780000"/>
            <a:ext cx="5488648" cy="48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65847" y="5860000"/>
            <a:ext cx="5248648" cy="340000"/>
          </a:xfrm>
          <a:prstGeom prst="rect">
            <a:avLst/>
          </a:prstGeom>
          <a:noFill/>
        </p:spPr>
        <p:txBody>
          <a:bodyPr wrap="square">
            <a:spAutoFit/>
          </a:bodyPr>
          <a:lstStyle/>
          <a:p>
            <a:pPr algn="l">
              <a:spcBef>
                <a:spcPts val="0"/>
              </a:spcBef>
              <a:spcAft>
                <a:spcPts val="0"/>
              </a:spcAft>
            </a:pPr>
            <a:r>
              <a:rPr sz="1300" b="0" i="0">
                <a:solidFill>
                  <a:srgbClr val="2E8B57"/>
                </a:solidFill>
                <a:latin typeface="Calibri"/>
              </a:rPr>
              <a:t>REFER:  0.28</a:t>
            </a:r>
          </a:p>
        </p:txBody>
      </p:sp>
      <p:sp>
        <p:nvSpPr>
          <p:cNvPr id="23" name="TextBox 22"/>
          <p:cNvSpPr txBox="1"/>
          <p:nvPr/>
        </p:nvSpPr>
        <p:spPr>
          <a:xfrm>
            <a:off x="6245847" y="6350000"/>
            <a:ext cx="5488648" cy="3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 argmax = STANDARD  (Sophea gets coverage)</a:t>
            </a:r>
          </a:p>
        </p:txBody>
      </p:sp>
      <p:sp>
        <p:nvSpPr>
          <p:cNvPr id="24" name="Rectangle 23"/>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6" name="Rectangle 25"/>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Methodology &amp; Model Design</a:t>
            </a:r>
          </a:p>
        </p:txBody>
      </p:sp>
      <p:sp>
        <p:nvSpPr>
          <p:cNvPr id="28" name="Rectangle 27"/>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12 / 43</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POLICY LADDER: CUMULATIVE REWARD OVER 5,000 ROUNDS</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100000"/>
            <a:ext cx="11277295" cy="420000"/>
          </a:xfrm>
          <a:prstGeom prst="rect">
            <a:avLst/>
          </a:prstGeom>
          <a:solidFill>
            <a:srgbClr val="D4E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07200" y="1130000"/>
            <a:ext cx="11077295" cy="3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Sophea’s Round: argmax UCB = STANDARD  →  Policy issues coverage</a:t>
            </a:r>
          </a:p>
        </p:txBody>
      </p:sp>
      <p:graphicFrame>
        <p:nvGraphicFramePr>
          <p:cNvPr id="7" name="Table 6"/>
          <p:cNvGraphicFramePr>
            <a:graphicFrameLocks noGrp="1"/>
          </p:cNvGraphicFramePr>
          <p:nvPr/>
        </p:nvGraphicFramePr>
        <p:xfrm>
          <a:off x="457200" y="1680000"/>
          <a:ext cx="11277295" cy="4400000"/>
        </p:xfrm>
        <a:graphic>
          <a:graphicData uri="http://schemas.openxmlformats.org/drawingml/2006/table">
            <a:tbl>
              <a:tblPr firstRow="1" bandRow="1">
                <a:tableStyleId>{5C22544A-7EE6-4342-B048-85BDC9FD1C3A}</a:tableStyleId>
              </a:tblPr>
              <a:tblGrid>
                <a:gridCol w="2255459">
                  <a:extLst>
                    <a:ext uri="{9D8B030D-6E8A-4147-A177-3AD203B41FA5}">
                      <a16:colId xmlns:a16="http://schemas.microsoft.com/office/drawing/2014/main" val="20000"/>
                    </a:ext>
                  </a:extLst>
                </a:gridCol>
                <a:gridCol w="2255459">
                  <a:extLst>
                    <a:ext uri="{9D8B030D-6E8A-4147-A177-3AD203B41FA5}">
                      <a16:colId xmlns:a16="http://schemas.microsoft.com/office/drawing/2014/main" val="20001"/>
                    </a:ext>
                  </a:extLst>
                </a:gridCol>
                <a:gridCol w="2255459">
                  <a:extLst>
                    <a:ext uri="{9D8B030D-6E8A-4147-A177-3AD203B41FA5}">
                      <a16:colId xmlns:a16="http://schemas.microsoft.com/office/drawing/2014/main" val="20002"/>
                    </a:ext>
                  </a:extLst>
                </a:gridCol>
                <a:gridCol w="2255459">
                  <a:extLst>
                    <a:ext uri="{9D8B030D-6E8A-4147-A177-3AD203B41FA5}">
                      <a16:colId xmlns:a16="http://schemas.microsoft.com/office/drawing/2014/main" val="20003"/>
                    </a:ext>
                  </a:extLst>
                </a:gridCol>
                <a:gridCol w="2255459">
                  <a:extLst>
                    <a:ext uri="{9D8B030D-6E8A-4147-A177-3AD203B41FA5}">
                      <a16:colId xmlns:a16="http://schemas.microsoft.com/office/drawing/2014/main" val="20004"/>
                    </a:ext>
                  </a:extLst>
                </a:gridCol>
              </a:tblGrid>
              <a:tr h="550000">
                <a:tc>
                  <a:txBody>
                    <a:bodyPr/>
                    <a:lstStyle/>
                    <a:p>
                      <a:r>
                        <a:rPr sz="1100" b="1">
                          <a:solidFill>
                            <a:srgbClr val="FFFFFF"/>
                          </a:solidFill>
                        </a:rPr>
                        <a:t>Rank</a:t>
                      </a:r>
                    </a:p>
                  </a:txBody>
                  <a:tcPr>
                    <a:solidFill>
                      <a:srgbClr val="1B5697"/>
                    </a:solidFill>
                  </a:tcPr>
                </a:tc>
                <a:tc>
                  <a:txBody>
                    <a:bodyPr/>
                    <a:lstStyle/>
                    <a:p>
                      <a:r>
                        <a:rPr sz="1100" b="1">
                          <a:solidFill>
                            <a:srgbClr val="FFFFFF"/>
                          </a:solidFill>
                        </a:rPr>
                        <a:t>Policy</a:t>
                      </a:r>
                    </a:p>
                  </a:txBody>
                  <a:tcPr>
                    <a:solidFill>
                      <a:srgbClr val="1B5697"/>
                    </a:solidFill>
                  </a:tcPr>
                </a:tc>
                <a:tc>
                  <a:txBody>
                    <a:bodyPr/>
                    <a:lstStyle/>
                    <a:p>
                      <a:r>
                        <a:rPr sz="1100" b="1">
                          <a:solidFill>
                            <a:srgbClr val="FFFFFF"/>
                          </a:solidFill>
                        </a:rPr>
                        <a:t>Cumul. Reward</a:t>
                      </a:r>
                    </a:p>
                  </a:txBody>
                  <a:tcPr>
                    <a:solidFill>
                      <a:srgbClr val="1B5697"/>
                    </a:solidFill>
                  </a:tcPr>
                </a:tc>
                <a:tc>
                  <a:txBody>
                    <a:bodyPr/>
                    <a:lstStyle/>
                    <a:p>
                      <a:r>
                        <a:rPr sz="1100" b="1">
                          <a:solidFill>
                            <a:srgbClr val="FFFFFF"/>
                          </a:solidFill>
                        </a:rPr>
                        <a:t>vs Static XGB</a:t>
                      </a:r>
                    </a:p>
                  </a:txBody>
                  <a:tcPr>
                    <a:solidFill>
                      <a:srgbClr val="1B5697"/>
                    </a:solidFill>
                  </a:tcPr>
                </a:tc>
                <a:tc>
                  <a:txBody>
                    <a:bodyPr/>
                    <a:lstStyle/>
                    <a:p>
                      <a:r>
                        <a:rPr sz="1100" b="1">
                          <a:solidFill>
                            <a:srgbClr val="FFFFFF"/>
                          </a:solidFill>
                        </a:rPr>
                        <a:t>Status</a:t>
                      </a:r>
                    </a:p>
                  </a:txBody>
                  <a:tcPr>
                    <a:solidFill>
                      <a:srgbClr val="1B5697"/>
                    </a:solidFill>
                  </a:tcPr>
                </a:tc>
                <a:extLst>
                  <a:ext uri="{0D108BD9-81ED-4DB2-BD59-A6C34878D82A}">
                    <a16:rowId xmlns:a16="http://schemas.microsoft.com/office/drawing/2014/main" val="10000"/>
                  </a:ext>
                </a:extLst>
              </a:tr>
              <a:tr h="550000">
                <a:tc>
                  <a:txBody>
                    <a:bodyPr/>
                    <a:lstStyle/>
                    <a:p>
                      <a:r>
                        <a:rPr sz="1000" b="1">
                          <a:solidFill>
                            <a:srgbClr val="1B5697"/>
                          </a:solidFill>
                        </a:rPr>
                        <a:t>1</a:t>
                      </a:r>
                    </a:p>
                  </a:txBody>
                  <a:tcPr>
                    <a:solidFill>
                      <a:srgbClr val="F3F6FB"/>
                    </a:solidFill>
                  </a:tcPr>
                </a:tc>
                <a:tc>
                  <a:txBody>
                    <a:bodyPr/>
                    <a:lstStyle/>
                    <a:p>
                      <a:r>
                        <a:rPr sz="1000" b="1">
                          <a:solidFill>
                            <a:srgbClr val="1B5697"/>
                          </a:solidFill>
                        </a:rPr>
                        <a:t>Oracle</a:t>
                      </a:r>
                    </a:p>
                  </a:txBody>
                  <a:tcPr>
                    <a:solidFill>
                      <a:srgbClr val="F3F6FB"/>
                    </a:solidFill>
                  </a:tcPr>
                </a:tc>
                <a:tc>
                  <a:txBody>
                    <a:bodyPr/>
                    <a:lstStyle/>
                    <a:p>
                      <a:r>
                        <a:rPr sz="1000" b="0">
                          <a:solidFill>
                            <a:srgbClr val="262626"/>
                          </a:solidFill>
                        </a:rPr>
                        <a:t>126,804</a:t>
                      </a:r>
                    </a:p>
                  </a:txBody>
                  <a:tcPr>
                    <a:solidFill>
                      <a:srgbClr val="F3F6FB"/>
                    </a:solidFill>
                  </a:tcPr>
                </a:tc>
                <a:tc>
                  <a:txBody>
                    <a:bodyPr/>
                    <a:lstStyle/>
                    <a:p>
                      <a:r>
                        <a:rPr sz="1000" b="0">
                          <a:solidFill>
                            <a:srgbClr val="262626"/>
                          </a:solidFill>
                        </a:rPr>
                        <a:t>+75.6%</a:t>
                      </a:r>
                    </a:p>
                  </a:txBody>
                  <a:tcPr>
                    <a:solidFill>
                      <a:srgbClr val="F3F6FB"/>
                    </a:solidFill>
                  </a:tcPr>
                </a:tc>
                <a:tc>
                  <a:txBody>
                    <a:bodyPr/>
                    <a:lstStyle/>
                    <a:p>
                      <a:r>
                        <a:rPr sz="1000" b="0">
                          <a:solidFill>
                            <a:srgbClr val="262626"/>
                          </a:solidFill>
                        </a:rPr>
                        <a:t>Ceiling (inadmissible)</a:t>
                      </a:r>
                    </a:p>
                  </a:txBody>
                  <a:tcPr>
                    <a:solidFill>
                      <a:srgbClr val="F3F6FB"/>
                    </a:solidFill>
                  </a:tcPr>
                </a:tc>
                <a:extLst>
                  <a:ext uri="{0D108BD9-81ED-4DB2-BD59-A6C34878D82A}">
                    <a16:rowId xmlns:a16="http://schemas.microsoft.com/office/drawing/2014/main" val="10001"/>
                  </a:ext>
                </a:extLst>
              </a:tr>
              <a:tr h="550000">
                <a:tc>
                  <a:txBody>
                    <a:bodyPr/>
                    <a:lstStyle/>
                    <a:p>
                      <a:r>
                        <a:rPr sz="1000" b="1">
                          <a:solidFill>
                            <a:srgbClr val="1B5697"/>
                          </a:solidFill>
                        </a:rPr>
                        <a:t>2</a:t>
                      </a:r>
                    </a:p>
                  </a:txBody>
                  <a:tcPr>
                    <a:solidFill>
                      <a:srgbClr val="D4E6F7"/>
                    </a:solidFill>
                  </a:tcPr>
                </a:tc>
                <a:tc>
                  <a:txBody>
                    <a:bodyPr/>
                    <a:lstStyle/>
                    <a:p>
                      <a:r>
                        <a:rPr sz="1000" b="1">
                          <a:solidFill>
                            <a:srgbClr val="1B5697"/>
                          </a:solidFill>
                        </a:rPr>
                        <a:t>LinTS</a:t>
                      </a:r>
                    </a:p>
                  </a:txBody>
                  <a:tcPr>
                    <a:solidFill>
                      <a:srgbClr val="D4E6F7"/>
                    </a:solidFill>
                  </a:tcPr>
                </a:tc>
                <a:tc>
                  <a:txBody>
                    <a:bodyPr/>
                    <a:lstStyle/>
                    <a:p>
                      <a:r>
                        <a:rPr sz="1000" b="0">
                          <a:solidFill>
                            <a:srgbClr val="262626"/>
                          </a:solidFill>
                        </a:rPr>
                        <a:t> 93,723</a:t>
                      </a:r>
                    </a:p>
                  </a:txBody>
                  <a:tcPr>
                    <a:solidFill>
                      <a:srgbClr val="D4E6F7"/>
                    </a:solidFill>
                  </a:tcPr>
                </a:tc>
                <a:tc>
                  <a:txBody>
                    <a:bodyPr/>
                    <a:lstStyle/>
                    <a:p>
                      <a:r>
                        <a:rPr sz="1000" b="0">
                          <a:solidFill>
                            <a:srgbClr val="262626"/>
                          </a:solidFill>
                        </a:rPr>
                        <a:t>+29.8%</a:t>
                      </a:r>
                    </a:p>
                  </a:txBody>
                  <a:tcPr>
                    <a:solidFill>
                      <a:srgbClr val="D4E6F7"/>
                    </a:solidFill>
                  </a:tcPr>
                </a:tc>
                <a:tc>
                  <a:txBody>
                    <a:bodyPr/>
                    <a:lstStyle/>
                    <a:p>
                      <a:r>
                        <a:rPr sz="1000" b="0">
                          <a:solidFill>
                            <a:srgbClr val="262626"/>
                          </a:solidFill>
                        </a:rPr>
                        <a:t>Admissible ✓</a:t>
                      </a:r>
                    </a:p>
                  </a:txBody>
                  <a:tcPr>
                    <a:solidFill>
                      <a:srgbClr val="D4E6F7"/>
                    </a:solidFill>
                  </a:tcPr>
                </a:tc>
                <a:extLst>
                  <a:ext uri="{0D108BD9-81ED-4DB2-BD59-A6C34878D82A}">
                    <a16:rowId xmlns:a16="http://schemas.microsoft.com/office/drawing/2014/main" val="10002"/>
                  </a:ext>
                </a:extLst>
              </a:tr>
              <a:tr h="550000">
                <a:tc>
                  <a:txBody>
                    <a:bodyPr/>
                    <a:lstStyle/>
                    <a:p>
                      <a:r>
                        <a:rPr sz="1000" b="1">
                          <a:solidFill>
                            <a:srgbClr val="1B5697"/>
                          </a:solidFill>
                        </a:rPr>
                        <a:t>3</a:t>
                      </a:r>
                    </a:p>
                  </a:txBody>
                  <a:tcPr>
                    <a:solidFill>
                      <a:srgbClr val="D4E6F7"/>
                    </a:solidFill>
                  </a:tcPr>
                </a:tc>
                <a:tc>
                  <a:txBody>
                    <a:bodyPr/>
                    <a:lstStyle/>
                    <a:p>
                      <a:r>
                        <a:rPr sz="1000" b="1">
                          <a:solidFill>
                            <a:srgbClr val="1B5697"/>
                          </a:solidFill>
                        </a:rPr>
                        <a:t>LinUCB</a:t>
                      </a:r>
                    </a:p>
                  </a:txBody>
                  <a:tcPr>
                    <a:solidFill>
                      <a:srgbClr val="D4E6F7"/>
                    </a:solidFill>
                  </a:tcPr>
                </a:tc>
                <a:tc>
                  <a:txBody>
                    <a:bodyPr/>
                    <a:lstStyle/>
                    <a:p>
                      <a:r>
                        <a:rPr sz="1000" b="0">
                          <a:solidFill>
                            <a:srgbClr val="262626"/>
                          </a:solidFill>
                        </a:rPr>
                        <a:t> 91,864</a:t>
                      </a:r>
                    </a:p>
                  </a:txBody>
                  <a:tcPr>
                    <a:solidFill>
                      <a:srgbClr val="D4E6F7"/>
                    </a:solidFill>
                  </a:tcPr>
                </a:tc>
                <a:tc>
                  <a:txBody>
                    <a:bodyPr/>
                    <a:lstStyle/>
                    <a:p>
                      <a:r>
                        <a:rPr sz="1000" b="0">
                          <a:solidFill>
                            <a:srgbClr val="262626"/>
                          </a:solidFill>
                        </a:rPr>
                        <a:t>+27.2%</a:t>
                      </a:r>
                    </a:p>
                  </a:txBody>
                  <a:tcPr>
                    <a:solidFill>
                      <a:srgbClr val="D4E6F7"/>
                    </a:solidFill>
                  </a:tcPr>
                </a:tc>
                <a:tc>
                  <a:txBody>
                    <a:bodyPr/>
                    <a:lstStyle/>
                    <a:p>
                      <a:r>
                        <a:rPr sz="1000" b="0">
                          <a:solidFill>
                            <a:srgbClr val="262626"/>
                          </a:solidFill>
                        </a:rPr>
                        <a:t>Admissible ✓</a:t>
                      </a:r>
                    </a:p>
                  </a:txBody>
                  <a:tcPr>
                    <a:solidFill>
                      <a:srgbClr val="D4E6F7"/>
                    </a:solidFill>
                  </a:tcPr>
                </a:tc>
                <a:extLst>
                  <a:ext uri="{0D108BD9-81ED-4DB2-BD59-A6C34878D82A}">
                    <a16:rowId xmlns:a16="http://schemas.microsoft.com/office/drawing/2014/main" val="10003"/>
                  </a:ext>
                </a:extLst>
              </a:tr>
              <a:tr h="550000">
                <a:tc>
                  <a:txBody>
                    <a:bodyPr/>
                    <a:lstStyle/>
                    <a:p>
                      <a:r>
                        <a:rPr sz="1000" b="1">
                          <a:solidFill>
                            <a:srgbClr val="1B5697"/>
                          </a:solidFill>
                        </a:rPr>
                        <a:t>4</a:t>
                      </a:r>
                    </a:p>
                  </a:txBody>
                  <a:tcPr>
                    <a:solidFill>
                      <a:srgbClr val="F3F6FB"/>
                    </a:solidFill>
                  </a:tcPr>
                </a:tc>
                <a:tc>
                  <a:txBody>
                    <a:bodyPr/>
                    <a:lstStyle/>
                    <a:p>
                      <a:r>
                        <a:rPr sz="1000" b="1">
                          <a:solidFill>
                            <a:srgbClr val="1B5697"/>
                          </a:solidFill>
                        </a:rPr>
                        <a:t>Epsilon-Greedy</a:t>
                      </a:r>
                    </a:p>
                  </a:txBody>
                  <a:tcPr>
                    <a:solidFill>
                      <a:srgbClr val="F3F6FB"/>
                    </a:solidFill>
                  </a:tcPr>
                </a:tc>
                <a:tc>
                  <a:txBody>
                    <a:bodyPr/>
                    <a:lstStyle/>
                    <a:p>
                      <a:r>
                        <a:rPr sz="1000" b="0">
                          <a:solidFill>
                            <a:srgbClr val="262626"/>
                          </a:solidFill>
                        </a:rPr>
                        <a:t> 76,441</a:t>
                      </a:r>
                    </a:p>
                  </a:txBody>
                  <a:tcPr>
                    <a:solidFill>
                      <a:srgbClr val="F3F6FB"/>
                    </a:solidFill>
                  </a:tcPr>
                </a:tc>
                <a:tc>
                  <a:txBody>
                    <a:bodyPr/>
                    <a:lstStyle/>
                    <a:p>
                      <a:r>
                        <a:rPr sz="1000" b="0">
                          <a:solidFill>
                            <a:srgbClr val="262626"/>
                          </a:solidFill>
                        </a:rPr>
                        <a:t>+ 5.9%</a:t>
                      </a:r>
                    </a:p>
                  </a:txBody>
                  <a:tcPr>
                    <a:solidFill>
                      <a:srgbClr val="F3F6FB"/>
                    </a:solidFill>
                  </a:tcPr>
                </a:tc>
                <a:tc>
                  <a:txBody>
                    <a:bodyPr/>
                    <a:lstStyle/>
                    <a:p>
                      <a:r>
                        <a:rPr sz="1000" b="0">
                          <a:solidFill>
                            <a:srgbClr val="262626"/>
                          </a:solidFill>
                        </a:rPr>
                        <a:t>Admissible ✓</a:t>
                      </a:r>
                    </a:p>
                  </a:txBody>
                  <a:tcPr>
                    <a:solidFill>
                      <a:srgbClr val="F3F6FB"/>
                    </a:solidFill>
                  </a:tcPr>
                </a:tc>
                <a:extLst>
                  <a:ext uri="{0D108BD9-81ED-4DB2-BD59-A6C34878D82A}">
                    <a16:rowId xmlns:a16="http://schemas.microsoft.com/office/drawing/2014/main" val="10004"/>
                  </a:ext>
                </a:extLst>
              </a:tr>
              <a:tr h="550000">
                <a:tc>
                  <a:txBody>
                    <a:bodyPr/>
                    <a:lstStyle/>
                    <a:p>
                      <a:r>
                        <a:rPr sz="1000" b="1">
                          <a:solidFill>
                            <a:srgbClr val="1B5697"/>
                          </a:solidFill>
                        </a:rPr>
                        <a:t>5</a:t>
                      </a:r>
                    </a:p>
                  </a:txBody>
                  <a:tcPr>
                    <a:solidFill>
                      <a:srgbClr val="FEF3CD"/>
                    </a:solidFill>
                  </a:tcPr>
                </a:tc>
                <a:tc>
                  <a:txBody>
                    <a:bodyPr/>
                    <a:lstStyle/>
                    <a:p>
                      <a:r>
                        <a:rPr sz="1000" b="1">
                          <a:solidFill>
                            <a:srgbClr val="1B5697"/>
                          </a:solidFill>
                        </a:rPr>
                        <a:t>Static XGB</a:t>
                      </a:r>
                    </a:p>
                  </a:txBody>
                  <a:tcPr>
                    <a:solidFill>
                      <a:srgbClr val="FEF3CD"/>
                    </a:solidFill>
                  </a:tcPr>
                </a:tc>
                <a:tc>
                  <a:txBody>
                    <a:bodyPr/>
                    <a:lstStyle/>
                    <a:p>
                      <a:r>
                        <a:rPr sz="1000" b="0">
                          <a:solidFill>
                            <a:srgbClr val="262626"/>
                          </a:solidFill>
                        </a:rPr>
                        <a:t> 72,206</a:t>
                      </a:r>
                    </a:p>
                  </a:txBody>
                  <a:tcPr>
                    <a:solidFill>
                      <a:srgbClr val="FEF3CD"/>
                    </a:solidFill>
                  </a:tcPr>
                </a:tc>
                <a:tc>
                  <a:txBody>
                    <a:bodyPr/>
                    <a:lstStyle/>
                    <a:p>
                      <a:r>
                        <a:rPr sz="1000" b="0">
                          <a:solidFill>
                            <a:srgbClr val="262626"/>
                          </a:solidFill>
                        </a:rPr>
                        <a:t>baseline</a:t>
                      </a:r>
                    </a:p>
                  </a:txBody>
                  <a:tcPr>
                    <a:solidFill>
                      <a:srgbClr val="FEF3CD"/>
                    </a:solidFill>
                  </a:tcPr>
                </a:tc>
                <a:tc>
                  <a:txBody>
                    <a:bodyPr/>
                    <a:lstStyle/>
                    <a:p>
                      <a:r>
                        <a:rPr sz="1000" b="0">
                          <a:solidFill>
                            <a:srgbClr val="262626"/>
                          </a:solidFill>
                        </a:rPr>
                        <a:t>Baseline</a:t>
                      </a:r>
                    </a:p>
                  </a:txBody>
                  <a:tcPr>
                    <a:solidFill>
                      <a:srgbClr val="FEF3CD"/>
                    </a:solidFill>
                  </a:tcPr>
                </a:tc>
                <a:extLst>
                  <a:ext uri="{0D108BD9-81ED-4DB2-BD59-A6C34878D82A}">
                    <a16:rowId xmlns:a16="http://schemas.microsoft.com/office/drawing/2014/main" val="10005"/>
                  </a:ext>
                </a:extLst>
              </a:tr>
              <a:tr h="550000">
                <a:tc>
                  <a:txBody>
                    <a:bodyPr/>
                    <a:lstStyle/>
                    <a:p>
                      <a:r>
                        <a:rPr sz="1000" b="1">
                          <a:solidFill>
                            <a:srgbClr val="1B5697"/>
                          </a:solidFill>
                        </a:rPr>
                        <a:t>6</a:t>
                      </a:r>
                    </a:p>
                  </a:txBody>
                  <a:tcPr>
                    <a:solidFill>
                      <a:srgbClr val="FFFFFF"/>
                    </a:solidFill>
                  </a:tcPr>
                </a:tc>
                <a:tc>
                  <a:txBody>
                    <a:bodyPr/>
                    <a:lstStyle/>
                    <a:p>
                      <a:r>
                        <a:rPr sz="1000" b="1">
                          <a:solidFill>
                            <a:srgbClr val="1B5697"/>
                          </a:solidFill>
                        </a:rPr>
                        <a:t>AlwaysSTANDARD</a:t>
                      </a:r>
                    </a:p>
                  </a:txBody>
                  <a:tcPr>
                    <a:solidFill>
                      <a:srgbClr val="FFFFFF"/>
                    </a:solidFill>
                  </a:tcPr>
                </a:tc>
                <a:tc>
                  <a:txBody>
                    <a:bodyPr/>
                    <a:lstStyle/>
                    <a:p>
                      <a:r>
                        <a:rPr sz="1000" b="0">
                          <a:solidFill>
                            <a:srgbClr val="262626"/>
                          </a:solidFill>
                        </a:rPr>
                        <a:t> 34,684</a:t>
                      </a:r>
                    </a:p>
                  </a:txBody>
                  <a:tcPr>
                    <a:solidFill>
                      <a:srgbClr val="FFFFFF"/>
                    </a:solidFill>
                  </a:tcPr>
                </a:tc>
                <a:tc>
                  <a:txBody>
                    <a:bodyPr/>
                    <a:lstStyle/>
                    <a:p>
                      <a:r>
                        <a:rPr sz="1000" b="0">
                          <a:solidFill>
                            <a:srgbClr val="262626"/>
                          </a:solidFill>
                        </a:rPr>
                        <a:t>−52.0%</a:t>
                      </a:r>
                    </a:p>
                  </a:txBody>
                  <a:tcPr>
                    <a:solidFill>
                      <a:srgbClr val="FFFFFF"/>
                    </a:solidFill>
                  </a:tcPr>
                </a:tc>
                <a:tc>
                  <a:txBody>
                    <a:bodyPr/>
                    <a:lstStyle/>
                    <a:p>
                      <a:r>
                        <a:rPr sz="1000" b="0">
                          <a:solidFill>
                            <a:srgbClr val="262626"/>
                          </a:solidFill>
                        </a:rPr>
                        <a:t>Trivial ✗</a:t>
                      </a:r>
                    </a:p>
                  </a:txBody>
                  <a:tcPr>
                    <a:solidFill>
                      <a:srgbClr val="FFFFFF"/>
                    </a:solidFill>
                  </a:tcPr>
                </a:tc>
                <a:extLst>
                  <a:ext uri="{0D108BD9-81ED-4DB2-BD59-A6C34878D82A}">
                    <a16:rowId xmlns:a16="http://schemas.microsoft.com/office/drawing/2014/main" val="10006"/>
                  </a:ext>
                </a:extLst>
              </a:tr>
              <a:tr h="550000">
                <a:tc>
                  <a:txBody>
                    <a:bodyPr/>
                    <a:lstStyle/>
                    <a:p>
                      <a:r>
                        <a:rPr sz="1000" b="1">
                          <a:solidFill>
                            <a:srgbClr val="1B5697"/>
                          </a:solidFill>
                        </a:rPr>
                        <a:t>7</a:t>
                      </a:r>
                    </a:p>
                  </a:txBody>
                  <a:tcPr>
                    <a:solidFill>
                      <a:srgbClr val="FFFFFF"/>
                    </a:solidFill>
                  </a:tcPr>
                </a:tc>
                <a:tc>
                  <a:txBody>
                    <a:bodyPr/>
                    <a:lstStyle/>
                    <a:p>
                      <a:r>
                        <a:rPr sz="1000" b="1">
                          <a:solidFill>
                            <a:srgbClr val="1B5697"/>
                          </a:solidFill>
                        </a:rPr>
                        <a:t>Random</a:t>
                      </a:r>
                    </a:p>
                  </a:txBody>
                  <a:tcPr>
                    <a:solidFill>
                      <a:srgbClr val="FFFFFF"/>
                    </a:solidFill>
                  </a:tcPr>
                </a:tc>
                <a:tc>
                  <a:txBody>
                    <a:bodyPr/>
                    <a:lstStyle/>
                    <a:p>
                      <a:r>
                        <a:rPr sz="1000" b="0">
                          <a:solidFill>
                            <a:srgbClr val="262626"/>
                          </a:solidFill>
                        </a:rPr>
                        <a:t>  1,980</a:t>
                      </a:r>
                    </a:p>
                  </a:txBody>
                  <a:tcPr>
                    <a:solidFill>
                      <a:srgbClr val="FFFFFF"/>
                    </a:solidFill>
                  </a:tcPr>
                </a:tc>
                <a:tc>
                  <a:txBody>
                    <a:bodyPr/>
                    <a:lstStyle/>
                    <a:p>
                      <a:r>
                        <a:rPr sz="1000" b="0">
                          <a:solidFill>
                            <a:srgbClr val="262626"/>
                          </a:solidFill>
                        </a:rPr>
                        <a:t>−97.3%</a:t>
                      </a:r>
                    </a:p>
                  </a:txBody>
                  <a:tcPr>
                    <a:solidFill>
                      <a:srgbClr val="FFFFFF"/>
                    </a:solidFill>
                  </a:tcPr>
                </a:tc>
                <a:tc>
                  <a:txBody>
                    <a:bodyPr/>
                    <a:lstStyle/>
                    <a:p>
                      <a:r>
                        <a:rPr sz="1000" b="0">
                          <a:solidFill>
                            <a:srgbClr val="262626"/>
                          </a:solidFill>
                        </a:rPr>
                        <a:t>Trivial ✗</a:t>
                      </a:r>
                    </a:p>
                  </a:txBody>
                  <a:tcPr>
                    <a:solidFill>
                      <a:srgbClr val="FFFFFF"/>
                    </a:solidFill>
                  </a:tcPr>
                </a:tc>
                <a:extLst>
                  <a:ext uri="{0D108BD9-81ED-4DB2-BD59-A6C34878D82A}">
                    <a16:rowId xmlns:a16="http://schemas.microsoft.com/office/drawing/2014/main" val="10007"/>
                  </a:ext>
                </a:extLst>
              </a:tr>
            </a:tbl>
          </a:graphicData>
        </a:graphic>
      </p:graphicFrame>
      <p:sp>
        <p:nvSpPr>
          <p:cNvPr id="8" name="TextBox 7"/>
          <p:cNvSpPr txBox="1"/>
          <p:nvPr/>
        </p:nvSpPr>
        <p:spPr>
          <a:xfrm>
            <a:off x="457200" y="6200000"/>
            <a:ext cx="11277295" cy="450000"/>
          </a:xfrm>
          <a:prstGeom prst="rect">
            <a:avLst/>
          </a:prstGeom>
          <a:noFill/>
        </p:spPr>
        <p:txBody>
          <a:bodyPr wrap="square">
            <a:spAutoFit/>
          </a:bodyPr>
          <a:lstStyle/>
          <a:p>
            <a:pPr algn="l">
              <a:spcBef>
                <a:spcPts val="0"/>
              </a:spcBef>
              <a:spcAft>
                <a:spcPts val="0"/>
              </a:spcAft>
            </a:pPr>
            <a:r>
              <a:rPr sz="1100" b="0" i="1">
                <a:solidFill>
                  <a:srgbClr val="505050"/>
                </a:solidFill>
                <a:latin typeface="Calibri"/>
              </a:rPr>
              <a:t>Note: AlwaysRATED = 122,287 (between Oracle and LinTS) — inadmissible: denies all low-risk applicants coverage; discriminatory by design.</a:t>
            </a:r>
          </a:p>
        </p:txBody>
      </p:sp>
      <p:sp>
        <p:nvSpPr>
          <p:cNvPr id="9" name="Rectangle 8"/>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11" name="Rectangle 10"/>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Methodology &amp; Model Design</a:t>
            </a:r>
          </a:p>
        </p:txBody>
      </p:sp>
      <p:sp>
        <p:nvSpPr>
          <p:cNvPr id="13" name="Rectangle 12"/>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13 / 43</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ZOOM-IN: FAIRNESS GUARDRAIL &amp; HITL</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700000"/>
            <a:ext cx="11277295" cy="320000"/>
          </a:xfrm>
          <a:prstGeom prst="rect">
            <a:avLst/>
          </a:prstGeom>
          <a:noFill/>
        </p:spPr>
        <p:txBody>
          <a:bodyPr wrap="square">
            <a:spAutoFit/>
          </a:bodyPr>
          <a:lstStyle/>
          <a:p>
            <a:pPr algn="ctr">
              <a:spcBef>
                <a:spcPts val="0"/>
              </a:spcBef>
              <a:spcAft>
                <a:spcPts val="0"/>
              </a:spcAft>
            </a:pPr>
            <a:r>
              <a:rPr sz="1100" b="1" i="0">
                <a:solidFill>
                  <a:srgbClr val="2E8B57"/>
                </a:solidFill>
                <a:latin typeface="Calibri"/>
              </a:rPr>
              <a:t>▸ YOU ARE HERE</a:t>
            </a:r>
          </a:p>
        </p:txBody>
      </p:sp>
      <p:sp>
        <p:nvSpPr>
          <p:cNvPr id="6" name="Rectangle 5"/>
          <p:cNvSpPr/>
          <p:nvPr/>
        </p:nvSpPr>
        <p:spPr>
          <a:xfrm>
            <a:off x="10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45847" y="2660000"/>
            <a:ext cx="1400000" cy="610000"/>
          </a:xfrm>
          <a:prstGeom prst="rect">
            <a:avLst/>
          </a:prstGeom>
          <a:noFill/>
        </p:spPr>
        <p:txBody>
          <a:bodyPr wrap="square">
            <a:spAutoFit/>
          </a:bodyPr>
          <a:lstStyle/>
          <a:p>
            <a:pPr algn="ctr">
              <a:spcBef>
                <a:spcPts val="0"/>
              </a:spcBef>
              <a:spcAft>
                <a:spcPts val="0"/>
              </a:spcAft>
            </a:pPr>
            <a:r>
              <a:rPr sz="1200" b="1" i="0">
                <a:solidFill>
                  <a:srgbClr val="505050"/>
                </a:solidFill>
                <a:latin typeface="Calibri"/>
              </a:rPr>
              <a:t>Applicant
Context</a:t>
            </a:r>
          </a:p>
        </p:txBody>
      </p:sp>
      <p:sp>
        <p:nvSpPr>
          <p:cNvPr id="8" name="TextBox 7"/>
          <p:cNvSpPr txBox="1"/>
          <p:nvPr/>
        </p:nvSpPr>
        <p:spPr>
          <a:xfrm>
            <a:off x="25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9" name="Rectangle 8"/>
          <p:cNvSpPr/>
          <p:nvPr/>
        </p:nvSpPr>
        <p:spPr>
          <a:xfrm>
            <a:off x="27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845847" y="2660000"/>
            <a:ext cx="1400000" cy="610000"/>
          </a:xfrm>
          <a:prstGeom prst="rect">
            <a:avLst/>
          </a:prstGeom>
          <a:noFill/>
        </p:spPr>
        <p:txBody>
          <a:bodyPr wrap="square">
            <a:spAutoFit/>
          </a:bodyPr>
          <a:lstStyle/>
          <a:p>
            <a:pPr algn="ctr">
              <a:spcBef>
                <a:spcPts val="0"/>
              </a:spcBef>
              <a:spcAft>
                <a:spcPts val="0"/>
              </a:spcAft>
            </a:pPr>
            <a:r>
              <a:rPr sz="1200" b="1" i="0">
                <a:solidFill>
                  <a:srgbClr val="505050"/>
                </a:solidFill>
                <a:latin typeface="Calibri"/>
              </a:rPr>
              <a:t>Bandit
Policy</a:t>
            </a:r>
          </a:p>
        </p:txBody>
      </p:sp>
      <p:sp>
        <p:nvSpPr>
          <p:cNvPr id="11" name="TextBox 10"/>
          <p:cNvSpPr txBox="1"/>
          <p:nvPr/>
        </p:nvSpPr>
        <p:spPr>
          <a:xfrm>
            <a:off x="42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12" name="Rectangle 11"/>
          <p:cNvSpPr/>
          <p:nvPr/>
        </p:nvSpPr>
        <p:spPr>
          <a:xfrm>
            <a:off x="44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45847" y="2660000"/>
            <a:ext cx="1400000" cy="610000"/>
          </a:xfrm>
          <a:prstGeom prst="rect">
            <a:avLst/>
          </a:prstGeom>
          <a:noFill/>
        </p:spPr>
        <p:txBody>
          <a:bodyPr wrap="square">
            <a:spAutoFit/>
          </a:bodyPr>
          <a:lstStyle/>
          <a:p>
            <a:pPr algn="ctr">
              <a:spcBef>
                <a:spcPts val="0"/>
              </a:spcBef>
              <a:spcAft>
                <a:spcPts val="0"/>
              </a:spcAft>
            </a:pPr>
            <a:r>
              <a:rPr sz="1200" b="1" i="0">
                <a:solidFill>
                  <a:srgbClr val="505050"/>
                </a:solidFill>
                <a:latin typeface="Calibri"/>
              </a:rPr>
              <a:t>Underwriting
Action</a:t>
            </a:r>
          </a:p>
        </p:txBody>
      </p:sp>
      <p:sp>
        <p:nvSpPr>
          <p:cNvPr id="14" name="TextBox 13"/>
          <p:cNvSpPr txBox="1"/>
          <p:nvPr/>
        </p:nvSpPr>
        <p:spPr>
          <a:xfrm>
            <a:off x="59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15" name="Rectangle 14"/>
          <p:cNvSpPr/>
          <p:nvPr/>
        </p:nvSpPr>
        <p:spPr>
          <a:xfrm>
            <a:off x="61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45847" y="2660000"/>
            <a:ext cx="1400000" cy="610000"/>
          </a:xfrm>
          <a:prstGeom prst="rect">
            <a:avLst/>
          </a:prstGeom>
          <a:noFill/>
        </p:spPr>
        <p:txBody>
          <a:bodyPr wrap="square">
            <a:spAutoFit/>
          </a:bodyPr>
          <a:lstStyle/>
          <a:p>
            <a:pPr algn="ctr">
              <a:spcBef>
                <a:spcPts val="0"/>
              </a:spcBef>
              <a:spcAft>
                <a:spcPts val="0"/>
              </a:spcAft>
            </a:pPr>
            <a:r>
              <a:rPr sz="1200" b="1" i="0">
                <a:solidFill>
                  <a:srgbClr val="505050"/>
                </a:solidFill>
                <a:latin typeface="Calibri"/>
              </a:rPr>
              <a:t>Actuarial
Reward</a:t>
            </a:r>
          </a:p>
        </p:txBody>
      </p:sp>
      <p:sp>
        <p:nvSpPr>
          <p:cNvPr id="17" name="TextBox 16"/>
          <p:cNvSpPr txBox="1"/>
          <p:nvPr/>
        </p:nvSpPr>
        <p:spPr>
          <a:xfrm>
            <a:off x="76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18" name="Rectangle 17"/>
          <p:cNvSpPr/>
          <p:nvPr/>
        </p:nvSpPr>
        <p:spPr>
          <a:xfrm>
            <a:off x="7895847" y="2550000"/>
            <a:ext cx="1500000" cy="7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850847" y="2505000"/>
            <a:ext cx="1590000" cy="850000"/>
          </a:xfrm>
          <a:prstGeom prst="rect">
            <a:avLst/>
          </a:prstGeom>
          <a:noFill/>
          <a:ln w="4445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945847" y="2660000"/>
            <a:ext cx="1400000" cy="610000"/>
          </a:xfrm>
          <a:prstGeom prst="rect">
            <a:avLst/>
          </a:prstGeom>
          <a:noFill/>
        </p:spPr>
        <p:txBody>
          <a:bodyPr wrap="square">
            <a:spAutoFit/>
          </a:bodyPr>
          <a:lstStyle/>
          <a:p>
            <a:pPr algn="ctr">
              <a:spcBef>
                <a:spcPts val="0"/>
              </a:spcBef>
              <a:spcAft>
                <a:spcPts val="0"/>
              </a:spcAft>
            </a:pPr>
            <a:r>
              <a:rPr sz="1200" b="1" i="0">
                <a:solidFill>
                  <a:srgbClr val="FFFFFF"/>
                </a:solidFill>
                <a:latin typeface="Calibri"/>
              </a:rPr>
              <a:t>PSI + HITL
Guardrail</a:t>
            </a:r>
          </a:p>
        </p:txBody>
      </p:sp>
      <p:sp>
        <p:nvSpPr>
          <p:cNvPr id="21" name="TextBox 20"/>
          <p:cNvSpPr txBox="1"/>
          <p:nvPr/>
        </p:nvSpPr>
        <p:spPr>
          <a:xfrm>
            <a:off x="93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22" name="Rectangle 21"/>
          <p:cNvSpPr/>
          <p:nvPr/>
        </p:nvSpPr>
        <p:spPr>
          <a:xfrm>
            <a:off x="95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645847" y="2660000"/>
            <a:ext cx="1400000" cy="610000"/>
          </a:xfrm>
          <a:prstGeom prst="rect">
            <a:avLst/>
          </a:prstGeom>
          <a:noFill/>
        </p:spPr>
        <p:txBody>
          <a:bodyPr wrap="square">
            <a:spAutoFit/>
          </a:bodyPr>
          <a:lstStyle/>
          <a:p>
            <a:pPr algn="ctr">
              <a:spcBef>
                <a:spcPts val="0"/>
              </a:spcBef>
              <a:spcAft>
                <a:spcPts val="0"/>
              </a:spcAft>
            </a:pPr>
            <a:r>
              <a:rPr sz="1200" b="1" i="0">
                <a:solidFill>
                  <a:srgbClr val="505050"/>
                </a:solidFill>
                <a:latin typeface="Calibri"/>
              </a:rPr>
              <a:t>Decision</a:t>
            </a:r>
          </a:p>
        </p:txBody>
      </p:sp>
      <p:sp>
        <p:nvSpPr>
          <p:cNvPr id="24" name="TextBox 23"/>
          <p:cNvSpPr txBox="1"/>
          <p:nvPr/>
        </p:nvSpPr>
        <p:spPr>
          <a:xfrm>
            <a:off x="1457200" y="3850000"/>
            <a:ext cx="9277295" cy="700000"/>
          </a:xfrm>
          <a:prstGeom prst="rect">
            <a:avLst/>
          </a:prstGeom>
          <a:noFill/>
        </p:spPr>
        <p:txBody>
          <a:bodyPr wrap="square">
            <a:spAutoFit/>
          </a:bodyPr>
          <a:lstStyle/>
          <a:p>
            <a:pPr algn="ctr">
              <a:spcBef>
                <a:spcPts val="0"/>
              </a:spcBef>
              <a:spcAft>
                <a:spcPts val="0"/>
              </a:spcAft>
            </a:pPr>
            <a:r>
              <a:rPr sz="1600" b="0" i="1">
                <a:solidFill>
                  <a:srgbClr val="1B5697"/>
                </a:solidFill>
                <a:latin typeface="Calibri"/>
              </a:rPr>
              <a:t>Now examining the PSI fairness guardrail and the human-in-the-loop review wrapper.</a:t>
            </a:r>
          </a:p>
        </p:txBody>
      </p:sp>
      <p:sp>
        <p:nvSpPr>
          <p:cNvPr id="25" name="Rectangle 24"/>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7" name="Rectangle 26"/>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Methodology &amp; Model Design</a:t>
            </a:r>
          </a:p>
        </p:txBody>
      </p:sp>
      <p:sp>
        <p:nvSpPr>
          <p:cNvPr id="29" name="Rectangle 28"/>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14 / 43</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PSI FAIRNESS GUARDRAIL</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100000"/>
            <a:ext cx="11277295" cy="420000"/>
          </a:xfrm>
          <a:prstGeom prst="rect">
            <a:avLst/>
          </a:prstGeom>
          <a:noFill/>
        </p:spPr>
        <p:txBody>
          <a:bodyPr wrap="square">
            <a:spAutoFit/>
          </a:bodyPr>
          <a:lstStyle/>
          <a:p>
            <a:pPr algn="l">
              <a:spcBef>
                <a:spcPts val="0"/>
              </a:spcBef>
              <a:spcAft>
                <a:spcPts val="0"/>
              </a:spcAft>
            </a:pPr>
            <a:r>
              <a:rPr sz="1200" b="0" i="1">
                <a:solidFill>
                  <a:srgbClr val="505050"/>
                </a:solidFill>
                <a:latin typeface="Calibri"/>
              </a:rPr>
              <a:t>PSI = Σ (Aᵢ − Eᵢ) × ln(Aᵢ / Eᵢ)   ·   Applied per 500-round sliding window   ·   Monitored on: region (8 groups) + occupation (7 groups) separately</a:t>
            </a:r>
          </a:p>
        </p:txBody>
      </p:sp>
      <p:sp>
        <p:nvSpPr>
          <p:cNvPr id="6" name="Rectangle 5"/>
          <p:cNvSpPr/>
          <p:nvPr/>
        </p:nvSpPr>
        <p:spPr>
          <a:xfrm>
            <a:off x="457200" y="1580000"/>
            <a:ext cx="11277295" cy="27432"/>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57200" y="1750000"/>
            <a:ext cx="3692431" cy="300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57200" y="1750000"/>
            <a:ext cx="3692431" cy="60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37200" y="1870000"/>
            <a:ext cx="3532431" cy="400000"/>
          </a:xfrm>
          <a:prstGeom prst="rect">
            <a:avLst/>
          </a:prstGeom>
          <a:noFill/>
        </p:spPr>
        <p:txBody>
          <a:bodyPr wrap="square">
            <a:spAutoFit/>
          </a:bodyPr>
          <a:lstStyle/>
          <a:p>
            <a:pPr algn="ctr">
              <a:spcBef>
                <a:spcPts val="0"/>
              </a:spcBef>
              <a:spcAft>
                <a:spcPts val="0"/>
              </a:spcAft>
            </a:pPr>
            <a:r>
              <a:rPr sz="2200" b="1" i="0">
                <a:solidFill>
                  <a:srgbClr val="FFFFFF"/>
                </a:solidFill>
                <a:latin typeface="Calibri"/>
              </a:rPr>
              <a:t>GREEN</a:t>
            </a:r>
          </a:p>
        </p:txBody>
      </p:sp>
      <p:sp>
        <p:nvSpPr>
          <p:cNvPr id="10" name="TextBox 9"/>
          <p:cNvSpPr txBox="1"/>
          <p:nvPr/>
        </p:nvSpPr>
        <p:spPr>
          <a:xfrm>
            <a:off x="537200" y="2500000"/>
            <a:ext cx="3532431" cy="400000"/>
          </a:xfrm>
          <a:prstGeom prst="rect">
            <a:avLst/>
          </a:prstGeom>
          <a:noFill/>
        </p:spPr>
        <p:txBody>
          <a:bodyPr wrap="square">
            <a:spAutoFit/>
          </a:bodyPr>
          <a:lstStyle/>
          <a:p>
            <a:pPr algn="ctr">
              <a:spcBef>
                <a:spcPts val="0"/>
              </a:spcBef>
              <a:spcAft>
                <a:spcPts val="0"/>
              </a:spcAft>
            </a:pPr>
            <a:r>
              <a:rPr sz="1400" b="1" i="0">
                <a:solidFill>
                  <a:srgbClr val="2E8B57"/>
                </a:solidFill>
                <a:latin typeface="Calibri"/>
              </a:rPr>
              <a:t>PSI &lt; 0.10</a:t>
            </a:r>
          </a:p>
        </p:txBody>
      </p:sp>
      <p:sp>
        <p:nvSpPr>
          <p:cNvPr id="11" name="TextBox 10"/>
          <p:cNvSpPr txBox="1"/>
          <p:nvPr/>
        </p:nvSpPr>
        <p:spPr>
          <a:xfrm>
            <a:off x="537200" y="3000000"/>
            <a:ext cx="3532431" cy="1600000"/>
          </a:xfrm>
          <a:prstGeom prst="rect">
            <a:avLst/>
          </a:prstGeom>
          <a:noFill/>
        </p:spPr>
        <p:txBody>
          <a:bodyPr wrap="square">
            <a:spAutoFit/>
          </a:bodyPr>
          <a:lstStyle/>
          <a:p>
            <a:pPr algn="l">
              <a:spcBef>
                <a:spcPts val="0"/>
              </a:spcBef>
              <a:spcAft>
                <a:spcPts val="0"/>
              </a:spcAft>
            </a:pPr>
            <a:r>
              <a:rPr sz="1100" b="0" i="0">
                <a:solidFill>
                  <a:srgbClr val="262626"/>
                </a:solidFill>
                <a:latin typeface="Calibri"/>
              </a:rPr>
              <a:t>No significant shift — policy is stable</a:t>
            </a:r>
          </a:p>
        </p:txBody>
      </p:sp>
      <p:sp>
        <p:nvSpPr>
          <p:cNvPr id="12" name="Rectangle 11"/>
          <p:cNvSpPr/>
          <p:nvPr/>
        </p:nvSpPr>
        <p:spPr>
          <a:xfrm>
            <a:off x="4249631" y="1750000"/>
            <a:ext cx="3692431" cy="300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249631" y="1750000"/>
            <a:ext cx="3692431" cy="60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29631" y="1870000"/>
            <a:ext cx="3532431" cy="400000"/>
          </a:xfrm>
          <a:prstGeom prst="rect">
            <a:avLst/>
          </a:prstGeom>
          <a:noFill/>
        </p:spPr>
        <p:txBody>
          <a:bodyPr wrap="square">
            <a:spAutoFit/>
          </a:bodyPr>
          <a:lstStyle/>
          <a:p>
            <a:pPr algn="ctr">
              <a:spcBef>
                <a:spcPts val="0"/>
              </a:spcBef>
              <a:spcAft>
                <a:spcPts val="0"/>
              </a:spcAft>
            </a:pPr>
            <a:r>
              <a:rPr sz="2200" b="1" i="0">
                <a:solidFill>
                  <a:srgbClr val="FFFFFF"/>
                </a:solidFill>
                <a:latin typeface="Calibri"/>
              </a:rPr>
              <a:t>AMBER</a:t>
            </a:r>
          </a:p>
        </p:txBody>
      </p:sp>
      <p:sp>
        <p:nvSpPr>
          <p:cNvPr id="15" name="TextBox 14"/>
          <p:cNvSpPr txBox="1"/>
          <p:nvPr/>
        </p:nvSpPr>
        <p:spPr>
          <a:xfrm>
            <a:off x="4329631" y="2500000"/>
            <a:ext cx="3532431" cy="400000"/>
          </a:xfrm>
          <a:prstGeom prst="rect">
            <a:avLst/>
          </a:prstGeom>
          <a:noFill/>
        </p:spPr>
        <p:txBody>
          <a:bodyPr wrap="square">
            <a:spAutoFit/>
          </a:bodyPr>
          <a:lstStyle/>
          <a:p>
            <a:pPr algn="ctr">
              <a:spcBef>
                <a:spcPts val="0"/>
              </a:spcBef>
              <a:spcAft>
                <a:spcPts val="0"/>
              </a:spcAft>
            </a:pPr>
            <a:r>
              <a:rPr sz="1400" b="1" i="0">
                <a:solidFill>
                  <a:srgbClr val="E6A62E"/>
                </a:solidFill>
                <a:latin typeface="Calibri"/>
              </a:rPr>
              <a:t>0.10 ≤ PSI ≤ 0.25</a:t>
            </a:r>
          </a:p>
        </p:txBody>
      </p:sp>
      <p:sp>
        <p:nvSpPr>
          <p:cNvPr id="16" name="TextBox 15"/>
          <p:cNvSpPr txBox="1"/>
          <p:nvPr/>
        </p:nvSpPr>
        <p:spPr>
          <a:xfrm>
            <a:off x="4329631" y="3000000"/>
            <a:ext cx="3532431" cy="1600000"/>
          </a:xfrm>
          <a:prstGeom prst="rect">
            <a:avLst/>
          </a:prstGeom>
          <a:noFill/>
        </p:spPr>
        <p:txBody>
          <a:bodyPr wrap="square">
            <a:spAutoFit/>
          </a:bodyPr>
          <a:lstStyle/>
          <a:p>
            <a:pPr algn="l">
              <a:spcBef>
                <a:spcPts val="0"/>
              </a:spcBef>
              <a:spcAft>
                <a:spcPts val="0"/>
              </a:spcAft>
            </a:pPr>
            <a:r>
              <a:rPr sz="1100" b="0" i="0">
                <a:solidFill>
                  <a:srgbClr val="262626"/>
                </a:solidFill>
                <a:latin typeface="Calibri"/>
              </a:rPr>
              <a:t>Moderate shift — monitor closely; flag for review</a:t>
            </a:r>
          </a:p>
        </p:txBody>
      </p:sp>
      <p:sp>
        <p:nvSpPr>
          <p:cNvPr id="17" name="Rectangle 16"/>
          <p:cNvSpPr/>
          <p:nvPr/>
        </p:nvSpPr>
        <p:spPr>
          <a:xfrm>
            <a:off x="8042062" y="1750000"/>
            <a:ext cx="3692431" cy="3000000"/>
          </a:xfrm>
          <a:prstGeom prst="rect">
            <a:avLst/>
          </a:prstGeom>
          <a:solidFill>
            <a:srgbClr val="F8E7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042062" y="1750000"/>
            <a:ext cx="3692431" cy="600000"/>
          </a:xfrm>
          <a:prstGeom prst="rect">
            <a:avLst/>
          </a:prstGeom>
          <a:solidFill>
            <a:srgbClr val="D93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122062" y="1870000"/>
            <a:ext cx="3532431" cy="400000"/>
          </a:xfrm>
          <a:prstGeom prst="rect">
            <a:avLst/>
          </a:prstGeom>
          <a:noFill/>
        </p:spPr>
        <p:txBody>
          <a:bodyPr wrap="square">
            <a:spAutoFit/>
          </a:bodyPr>
          <a:lstStyle/>
          <a:p>
            <a:pPr algn="ctr">
              <a:spcBef>
                <a:spcPts val="0"/>
              </a:spcBef>
              <a:spcAft>
                <a:spcPts val="0"/>
              </a:spcAft>
            </a:pPr>
            <a:r>
              <a:rPr sz="2200" b="1" i="0">
                <a:solidFill>
                  <a:srgbClr val="FFFFFF"/>
                </a:solidFill>
                <a:latin typeface="Calibri"/>
              </a:rPr>
              <a:t>RED</a:t>
            </a:r>
          </a:p>
        </p:txBody>
      </p:sp>
      <p:sp>
        <p:nvSpPr>
          <p:cNvPr id="20" name="TextBox 19"/>
          <p:cNvSpPr txBox="1"/>
          <p:nvPr/>
        </p:nvSpPr>
        <p:spPr>
          <a:xfrm>
            <a:off x="8122062" y="2500000"/>
            <a:ext cx="3532431" cy="400000"/>
          </a:xfrm>
          <a:prstGeom prst="rect">
            <a:avLst/>
          </a:prstGeom>
          <a:noFill/>
        </p:spPr>
        <p:txBody>
          <a:bodyPr wrap="square">
            <a:spAutoFit/>
          </a:bodyPr>
          <a:lstStyle/>
          <a:p>
            <a:pPr algn="ctr">
              <a:spcBef>
                <a:spcPts val="0"/>
              </a:spcBef>
              <a:spcAft>
                <a:spcPts val="0"/>
              </a:spcAft>
            </a:pPr>
            <a:r>
              <a:rPr sz="1400" b="1" i="0">
                <a:solidFill>
                  <a:srgbClr val="D93B3B"/>
                </a:solidFill>
                <a:latin typeface="Calibri"/>
              </a:rPr>
              <a:t>PSI &gt; 0.25</a:t>
            </a:r>
          </a:p>
        </p:txBody>
      </p:sp>
      <p:sp>
        <p:nvSpPr>
          <p:cNvPr id="21" name="TextBox 20"/>
          <p:cNvSpPr txBox="1"/>
          <p:nvPr/>
        </p:nvSpPr>
        <p:spPr>
          <a:xfrm>
            <a:off x="8122062" y="3000000"/>
            <a:ext cx="3532431" cy="1600000"/>
          </a:xfrm>
          <a:prstGeom prst="rect">
            <a:avLst/>
          </a:prstGeom>
          <a:noFill/>
        </p:spPr>
        <p:txBody>
          <a:bodyPr wrap="square">
            <a:spAutoFit/>
          </a:bodyPr>
          <a:lstStyle/>
          <a:p>
            <a:pPr algn="l">
              <a:spcBef>
                <a:spcPts val="0"/>
              </a:spcBef>
              <a:spcAft>
                <a:spcPts val="0"/>
              </a:spcAft>
            </a:pPr>
            <a:r>
              <a:rPr sz="1100" b="0" i="0">
                <a:solidFill>
                  <a:srgbClr val="262626"/>
                </a:solidFill>
                <a:latin typeface="Calibri"/>
              </a:rPr>
              <a:t>Major shift — halt or recalibrate bandit; escalate to compliance</a:t>
            </a:r>
          </a:p>
        </p:txBody>
      </p:sp>
      <p:sp>
        <p:nvSpPr>
          <p:cNvPr id="22" name="TextBox 21"/>
          <p:cNvSpPr txBox="1"/>
          <p:nvPr/>
        </p:nvSpPr>
        <p:spPr>
          <a:xfrm>
            <a:off x="457200" y="4900000"/>
            <a:ext cx="11277295" cy="750000"/>
          </a:xfrm>
          <a:prstGeom prst="rect">
            <a:avLst/>
          </a:prstGeom>
          <a:noFill/>
        </p:spPr>
        <p:txBody>
          <a:bodyPr wrap="square">
            <a:spAutoFit/>
          </a:bodyPr>
          <a:lstStyle/>
          <a:p>
            <a:pPr algn="l">
              <a:spcBef>
                <a:spcPts val="0"/>
              </a:spcBef>
              <a:spcAft>
                <a:spcPts val="0"/>
              </a:spcAft>
            </a:pPr>
            <a:r>
              <a:rPr sz="1100" b="0" i="1">
                <a:solidFill>
                  <a:srgbClr val="505050"/>
                </a:solidFill>
                <a:latin typeface="Calibri"/>
              </a:rPr>
              <a:t>Source: Siddiqi (2006) · Validated: Yurdakul &amp; Naranjo (2020)
EXP-006 result: LinUCB GREEN on all 8 regions + 7 occupations across 20 seeds (mean PSI 0.042 region / 0.037 occupation); criterion 6 FAILED-with-interpretation (EpsGreedy AMBER on 1 seed).</a:t>
            </a:r>
          </a:p>
        </p:txBody>
      </p:sp>
      <p:sp>
        <p:nvSpPr>
          <p:cNvPr id="23" name="Rectangle 22"/>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5" name="Rectangle 24"/>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Methodology &amp; Model Design</a:t>
            </a:r>
          </a:p>
        </p:txBody>
      </p:sp>
      <p:sp>
        <p:nvSpPr>
          <p:cNvPr id="27" name="Rectangle 26"/>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14 / 43</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HUMAN-IN-THE-LOOP (HITL) WRAPPER</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150000"/>
            <a:ext cx="5538647" cy="11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87200" y="1230000"/>
            <a:ext cx="5358647" cy="380000"/>
          </a:xfrm>
          <a:prstGeom prst="rect">
            <a:avLst/>
          </a:prstGeom>
          <a:noFill/>
        </p:spPr>
        <p:txBody>
          <a:bodyPr wrap="square">
            <a:spAutoFit/>
          </a:bodyPr>
          <a:lstStyle/>
          <a:p>
            <a:pPr algn="l">
              <a:spcBef>
                <a:spcPts val="0"/>
              </a:spcBef>
              <a:spcAft>
                <a:spcPts val="0"/>
              </a:spcAft>
            </a:pPr>
            <a:r>
              <a:rPr sz="1200" b="1" i="0">
                <a:solidFill>
                  <a:srgbClr val="FFFFFF"/>
                </a:solidFill>
                <a:latin typeface="Calibri"/>
              </a:rPr>
              <a:t>1. Bandit selects arm</a:t>
            </a:r>
          </a:p>
        </p:txBody>
      </p:sp>
      <p:sp>
        <p:nvSpPr>
          <p:cNvPr id="7" name="TextBox 6"/>
          <p:cNvSpPr txBox="1"/>
          <p:nvPr/>
        </p:nvSpPr>
        <p:spPr>
          <a:xfrm>
            <a:off x="587200" y="1650000"/>
            <a:ext cx="5358647" cy="500000"/>
          </a:xfrm>
          <a:prstGeom prst="rect">
            <a:avLst/>
          </a:prstGeom>
          <a:noFill/>
        </p:spPr>
        <p:txBody>
          <a:bodyPr wrap="square">
            <a:spAutoFit/>
          </a:bodyPr>
          <a:lstStyle/>
          <a:p>
            <a:pPr algn="l">
              <a:spcBef>
                <a:spcPts val="0"/>
              </a:spcBef>
              <a:spcAft>
                <a:spcPts val="0"/>
              </a:spcAft>
            </a:pPr>
            <a:r>
              <a:rPr sz="1000" b="0" i="1">
                <a:solidFill>
                  <a:srgbClr val="FFFFFF"/>
                </a:solidFill>
                <a:latin typeface="Calibri"/>
              </a:rPr>
              <a:t>UCB / TS score computed for each arm</a:t>
            </a:r>
          </a:p>
        </p:txBody>
      </p:sp>
      <p:sp>
        <p:nvSpPr>
          <p:cNvPr id="8" name="TextBox 7"/>
          <p:cNvSpPr txBox="1"/>
          <p:nvPr/>
        </p:nvSpPr>
        <p:spPr>
          <a:xfrm>
            <a:off x="3126523" y="2260000"/>
            <a:ext cx="300000" cy="120000"/>
          </a:xfrm>
          <a:prstGeom prst="rect">
            <a:avLst/>
          </a:prstGeom>
          <a:noFill/>
        </p:spPr>
        <p:txBody>
          <a:bodyPr wrap="square">
            <a:spAutoFit/>
          </a:bodyPr>
          <a:lstStyle/>
          <a:p>
            <a:pPr algn="ctr">
              <a:spcBef>
                <a:spcPts val="0"/>
              </a:spcBef>
              <a:spcAft>
                <a:spcPts val="0"/>
              </a:spcAft>
            </a:pPr>
            <a:r>
              <a:rPr sz="1400" b="1" i="0">
                <a:solidFill>
                  <a:srgbClr val="1B5697"/>
                </a:solidFill>
                <a:latin typeface="Calibri"/>
              </a:rPr>
              <a:t>↓</a:t>
            </a:r>
          </a:p>
        </p:txBody>
      </p:sp>
      <p:sp>
        <p:nvSpPr>
          <p:cNvPr id="9" name="Rectangle 8"/>
          <p:cNvSpPr/>
          <p:nvPr/>
        </p:nvSpPr>
        <p:spPr>
          <a:xfrm>
            <a:off x="457200" y="2330000"/>
            <a:ext cx="5538647" cy="11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87200" y="2410000"/>
            <a:ext cx="5358647" cy="380000"/>
          </a:xfrm>
          <a:prstGeom prst="rect">
            <a:avLst/>
          </a:prstGeom>
          <a:noFill/>
        </p:spPr>
        <p:txBody>
          <a:bodyPr wrap="square">
            <a:spAutoFit/>
          </a:bodyPr>
          <a:lstStyle/>
          <a:p>
            <a:pPr algn="l">
              <a:spcBef>
                <a:spcPts val="0"/>
              </a:spcBef>
              <a:spcAft>
                <a:spcPts val="0"/>
              </a:spcAft>
            </a:pPr>
            <a:r>
              <a:rPr sz="1200" b="1" i="0">
                <a:solidFill>
                  <a:srgbClr val="FFFFFF"/>
                </a:solidFill>
                <a:latin typeface="Calibri"/>
              </a:rPr>
              <a:t>2. Uncertainty check</a:t>
            </a:r>
          </a:p>
        </p:txBody>
      </p:sp>
      <p:sp>
        <p:nvSpPr>
          <p:cNvPr id="11" name="TextBox 10"/>
          <p:cNvSpPr txBox="1"/>
          <p:nvPr/>
        </p:nvSpPr>
        <p:spPr>
          <a:xfrm>
            <a:off x="587200" y="2830000"/>
            <a:ext cx="5358647" cy="500000"/>
          </a:xfrm>
          <a:prstGeom prst="rect">
            <a:avLst/>
          </a:prstGeom>
          <a:noFill/>
        </p:spPr>
        <p:txBody>
          <a:bodyPr wrap="square">
            <a:spAutoFit/>
          </a:bodyPr>
          <a:lstStyle/>
          <a:p>
            <a:pPr algn="l">
              <a:spcBef>
                <a:spcPts val="0"/>
              </a:spcBef>
              <a:spcAft>
                <a:spcPts val="0"/>
              </a:spcAft>
            </a:pPr>
            <a:r>
              <a:rPr sz="1000" b="0" i="1">
                <a:solidFill>
                  <a:srgbClr val="FFFFFF"/>
                </a:solidFill>
                <a:latin typeface="Calibri"/>
              </a:rPr>
              <a:t>If max score − 2nd score &lt; κ (0.7) → REFER</a:t>
            </a:r>
          </a:p>
        </p:txBody>
      </p:sp>
      <p:sp>
        <p:nvSpPr>
          <p:cNvPr id="12" name="TextBox 11"/>
          <p:cNvSpPr txBox="1"/>
          <p:nvPr/>
        </p:nvSpPr>
        <p:spPr>
          <a:xfrm>
            <a:off x="3126523" y="3440000"/>
            <a:ext cx="300000" cy="120000"/>
          </a:xfrm>
          <a:prstGeom prst="rect">
            <a:avLst/>
          </a:prstGeom>
          <a:noFill/>
        </p:spPr>
        <p:txBody>
          <a:bodyPr wrap="square">
            <a:spAutoFit/>
          </a:bodyPr>
          <a:lstStyle/>
          <a:p>
            <a:pPr algn="ctr">
              <a:spcBef>
                <a:spcPts val="0"/>
              </a:spcBef>
              <a:spcAft>
                <a:spcPts val="0"/>
              </a:spcAft>
            </a:pPr>
            <a:r>
              <a:rPr sz="1400" b="1" i="0">
                <a:solidFill>
                  <a:srgbClr val="1B5697"/>
                </a:solidFill>
                <a:latin typeface="Calibri"/>
              </a:rPr>
              <a:t>↓</a:t>
            </a:r>
          </a:p>
        </p:txBody>
      </p:sp>
      <p:sp>
        <p:nvSpPr>
          <p:cNvPr id="13" name="Rectangle 12"/>
          <p:cNvSpPr/>
          <p:nvPr/>
        </p:nvSpPr>
        <p:spPr>
          <a:xfrm>
            <a:off x="457200" y="3510000"/>
            <a:ext cx="5538647" cy="1100000"/>
          </a:xfrm>
          <a:prstGeom prst="rect">
            <a:avLst/>
          </a:prstGeom>
          <a:solidFill>
            <a:srgbClr val="C0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87200" y="3590000"/>
            <a:ext cx="5358647" cy="380000"/>
          </a:xfrm>
          <a:prstGeom prst="rect">
            <a:avLst/>
          </a:prstGeom>
          <a:noFill/>
        </p:spPr>
        <p:txBody>
          <a:bodyPr wrap="square">
            <a:spAutoFit/>
          </a:bodyPr>
          <a:lstStyle/>
          <a:p>
            <a:pPr algn="l">
              <a:spcBef>
                <a:spcPts val="0"/>
              </a:spcBef>
              <a:spcAft>
                <a:spcPts val="0"/>
              </a:spcAft>
            </a:pPr>
            <a:r>
              <a:rPr sz="1200" b="1" i="0">
                <a:solidFill>
                  <a:srgbClr val="FFFFFF"/>
                </a:solidFill>
                <a:latin typeface="Calibri"/>
              </a:rPr>
              <a:t>3. Human actuary reviews</a:t>
            </a:r>
          </a:p>
        </p:txBody>
      </p:sp>
      <p:sp>
        <p:nvSpPr>
          <p:cNvPr id="15" name="TextBox 14"/>
          <p:cNvSpPr txBox="1"/>
          <p:nvPr/>
        </p:nvSpPr>
        <p:spPr>
          <a:xfrm>
            <a:off x="587200" y="4010000"/>
            <a:ext cx="5358647" cy="500000"/>
          </a:xfrm>
          <a:prstGeom prst="rect">
            <a:avLst/>
          </a:prstGeom>
          <a:noFill/>
        </p:spPr>
        <p:txBody>
          <a:bodyPr wrap="square">
            <a:spAutoFit/>
          </a:bodyPr>
          <a:lstStyle/>
          <a:p>
            <a:pPr algn="l">
              <a:spcBef>
                <a:spcPts val="0"/>
              </a:spcBef>
              <a:spcAft>
                <a:spcPts val="0"/>
              </a:spcAft>
            </a:pPr>
            <a:r>
              <a:rPr sz="1000" b="0" i="1">
                <a:solidFill>
                  <a:srgbClr val="FFFFFF"/>
                </a:solidFill>
                <a:latin typeface="Calibri"/>
              </a:rPr>
              <a:t>Expert sees full context; overrides if needed</a:t>
            </a:r>
          </a:p>
        </p:txBody>
      </p:sp>
      <p:sp>
        <p:nvSpPr>
          <p:cNvPr id="16" name="TextBox 15"/>
          <p:cNvSpPr txBox="1"/>
          <p:nvPr/>
        </p:nvSpPr>
        <p:spPr>
          <a:xfrm>
            <a:off x="3126523" y="4620000"/>
            <a:ext cx="300000" cy="120000"/>
          </a:xfrm>
          <a:prstGeom prst="rect">
            <a:avLst/>
          </a:prstGeom>
          <a:noFill/>
        </p:spPr>
        <p:txBody>
          <a:bodyPr wrap="square">
            <a:spAutoFit/>
          </a:bodyPr>
          <a:lstStyle/>
          <a:p>
            <a:pPr algn="ctr">
              <a:spcBef>
                <a:spcPts val="0"/>
              </a:spcBef>
              <a:spcAft>
                <a:spcPts val="0"/>
              </a:spcAft>
            </a:pPr>
            <a:r>
              <a:rPr sz="1400" b="1" i="0">
                <a:solidFill>
                  <a:srgbClr val="1B5697"/>
                </a:solidFill>
                <a:latin typeface="Calibri"/>
              </a:rPr>
              <a:t>↓</a:t>
            </a:r>
          </a:p>
        </p:txBody>
      </p:sp>
      <p:sp>
        <p:nvSpPr>
          <p:cNvPr id="17" name="Rectangle 16"/>
          <p:cNvSpPr/>
          <p:nvPr/>
        </p:nvSpPr>
        <p:spPr>
          <a:xfrm>
            <a:off x="457200" y="4690000"/>
            <a:ext cx="5538647" cy="110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87200" y="4770000"/>
            <a:ext cx="5358647" cy="380000"/>
          </a:xfrm>
          <a:prstGeom prst="rect">
            <a:avLst/>
          </a:prstGeom>
          <a:noFill/>
        </p:spPr>
        <p:txBody>
          <a:bodyPr wrap="square">
            <a:spAutoFit/>
          </a:bodyPr>
          <a:lstStyle/>
          <a:p>
            <a:pPr algn="l">
              <a:spcBef>
                <a:spcPts val="0"/>
              </a:spcBef>
              <a:spcAft>
                <a:spcPts val="0"/>
              </a:spcAft>
            </a:pPr>
            <a:r>
              <a:rPr sz="1200" b="1" i="0">
                <a:solidFill>
                  <a:srgbClr val="FFFFFF"/>
                </a:solidFill>
                <a:latin typeface="Calibri"/>
              </a:rPr>
              <a:t>4. Dual update</a:t>
            </a:r>
          </a:p>
        </p:txBody>
      </p:sp>
      <p:sp>
        <p:nvSpPr>
          <p:cNvPr id="19" name="TextBox 18"/>
          <p:cNvSpPr txBox="1"/>
          <p:nvPr/>
        </p:nvSpPr>
        <p:spPr>
          <a:xfrm>
            <a:off x="587200" y="5190000"/>
            <a:ext cx="5358647" cy="500000"/>
          </a:xfrm>
          <a:prstGeom prst="rect">
            <a:avLst/>
          </a:prstGeom>
          <a:noFill/>
        </p:spPr>
        <p:txBody>
          <a:bodyPr wrap="square">
            <a:spAutoFit/>
          </a:bodyPr>
          <a:lstStyle/>
          <a:p>
            <a:pPr algn="l">
              <a:spcBef>
                <a:spcPts val="0"/>
              </a:spcBef>
              <a:spcAft>
                <a:spcPts val="0"/>
              </a:spcAft>
            </a:pPr>
            <a:r>
              <a:rPr sz="1000" b="0" i="1">
                <a:solidFill>
                  <a:srgbClr val="FFFFFF"/>
                </a:solidFill>
                <a:latin typeface="Calibri"/>
              </a:rPr>
              <a:t>Update selected arm reward + REFER arm penalty
Without dual update: REFER over-selects (gotcha)</a:t>
            </a:r>
          </a:p>
        </p:txBody>
      </p:sp>
      <p:sp>
        <p:nvSpPr>
          <p:cNvPr id="20" name="Rectangle 19"/>
          <p:cNvSpPr/>
          <p:nvPr/>
        </p:nvSpPr>
        <p:spPr>
          <a:xfrm>
            <a:off x="6245847" y="1150000"/>
            <a:ext cx="5488648" cy="16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245847" y="1150000"/>
            <a:ext cx="91440" cy="16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95847" y="1270000"/>
            <a:ext cx="5308648" cy="380000"/>
          </a:xfrm>
          <a:prstGeom prst="rect">
            <a:avLst/>
          </a:prstGeom>
          <a:noFill/>
        </p:spPr>
        <p:txBody>
          <a:bodyPr wrap="square">
            <a:spAutoFit/>
          </a:bodyPr>
          <a:lstStyle/>
          <a:p>
            <a:pPr algn="l">
              <a:spcBef>
                <a:spcPts val="0"/>
              </a:spcBef>
              <a:spcAft>
                <a:spcPts val="0"/>
              </a:spcAft>
            </a:pPr>
            <a:r>
              <a:rPr sz="1200" b="1" i="0">
                <a:solidFill>
                  <a:srgbClr val="1B5697"/>
                </a:solidFill>
                <a:latin typeface="Segoe UI"/>
              </a:rPr>
              <a:t>Key Parameters</a:t>
            </a:r>
          </a:p>
        </p:txBody>
      </p:sp>
      <p:sp>
        <p:nvSpPr>
          <p:cNvPr id="23" name="TextBox 22"/>
          <p:cNvSpPr txBox="1"/>
          <p:nvPr/>
        </p:nvSpPr>
        <p:spPr>
          <a:xfrm>
            <a:off x="6395847" y="1690000"/>
            <a:ext cx="5308648" cy="96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κ = 0.7   (uncertainty threshold for headline result)</a:t>
            </a:r>
          </a:p>
          <a:p>
            <a:pPr algn="l">
              <a:spcBef>
                <a:spcPts val="400"/>
              </a:spcBef>
            </a:pPr>
            <a:r>
              <a:rPr sz="1100" b="0" i="0">
                <a:solidFill>
                  <a:srgbClr val="505050"/>
                </a:solidFill>
                <a:latin typeface="Calibri"/>
              </a:rPr>
              <a:t>Review rate: 1.5% of rounds</a:t>
            </a:r>
          </a:p>
          <a:p>
            <a:pPr algn="l">
              <a:spcBef>
                <a:spcPts val="400"/>
              </a:spcBef>
            </a:pPr>
            <a:r>
              <a:rPr sz="1100" b="0" i="0">
                <a:solidFill>
                  <a:srgbClr val="505050"/>
                </a:solidFill>
                <a:latin typeface="Calibri"/>
              </a:rPr>
              <a:t>Reward gain: +6.5% vs vanilla bandit (p=0.017, d=0.87)</a:t>
            </a:r>
          </a:p>
        </p:txBody>
      </p:sp>
      <p:sp>
        <p:nvSpPr>
          <p:cNvPr id="24" name="Rectangle 23"/>
          <p:cNvSpPr/>
          <p:nvPr/>
        </p:nvSpPr>
        <p:spPr>
          <a:xfrm>
            <a:off x="6245847" y="2950000"/>
            <a:ext cx="5488648" cy="140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245847" y="2950000"/>
            <a:ext cx="91440" cy="140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395847" y="3070000"/>
            <a:ext cx="5308648" cy="380000"/>
          </a:xfrm>
          <a:prstGeom prst="rect">
            <a:avLst/>
          </a:prstGeom>
          <a:noFill/>
        </p:spPr>
        <p:txBody>
          <a:bodyPr wrap="square">
            <a:spAutoFit/>
          </a:bodyPr>
          <a:lstStyle/>
          <a:p>
            <a:pPr algn="l">
              <a:spcBef>
                <a:spcPts val="0"/>
              </a:spcBef>
              <a:spcAft>
                <a:spcPts val="0"/>
              </a:spcAft>
            </a:pPr>
            <a:r>
              <a:rPr sz="1200" b="1" i="0">
                <a:solidFill>
                  <a:srgbClr val="1B5697"/>
                </a:solidFill>
                <a:latin typeface="Segoe UI"/>
              </a:rPr>
              <a:t>Implementation Gotcha</a:t>
            </a:r>
          </a:p>
        </p:txBody>
      </p:sp>
      <p:sp>
        <p:nvSpPr>
          <p:cNvPr id="27" name="TextBox 26"/>
          <p:cNvSpPr txBox="1"/>
          <p:nvPr/>
        </p:nvSpPr>
        <p:spPr>
          <a:xfrm>
            <a:off x="6395847" y="3490000"/>
            <a:ext cx="5308648" cy="76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Without dual update (action + REFER penalty), the REFER arm </a:t>
            </a:r>
          </a:p>
          <a:p>
            <a:pPr algn="l">
              <a:spcBef>
                <a:spcPts val="400"/>
              </a:spcBef>
            </a:pPr>
            <a:r>
              <a:rPr sz="1100" b="0" i="0">
                <a:solidFill>
                  <a:srgbClr val="505050"/>
                </a:solidFill>
                <a:latin typeface="Calibri"/>
              </a:rPr>
              <a:t>accumulates reward without cost → over-selection spiral.</a:t>
            </a:r>
          </a:p>
          <a:p>
            <a:pPr algn="l">
              <a:spcBef>
                <a:spcPts val="400"/>
              </a:spcBef>
            </a:pPr>
            <a:r>
              <a:rPr sz="1100" b="0" i="0">
                <a:solidFill>
                  <a:srgbClr val="505050"/>
                </a:solidFill>
                <a:latin typeface="Calibri"/>
              </a:rPr>
              <a:t>Dual update corrects this incentive.</a:t>
            </a:r>
          </a:p>
        </p:txBody>
      </p:sp>
      <p:sp>
        <p:nvSpPr>
          <p:cNvPr id="28" name="Rectangle 27"/>
          <p:cNvSpPr/>
          <p:nvPr/>
        </p:nvSpPr>
        <p:spPr>
          <a:xfrm>
            <a:off x="6245847" y="4550000"/>
            <a:ext cx="5488648" cy="160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6245847" y="4550000"/>
            <a:ext cx="91440" cy="160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395847" y="4670000"/>
            <a:ext cx="5308648" cy="380000"/>
          </a:xfrm>
          <a:prstGeom prst="rect">
            <a:avLst/>
          </a:prstGeom>
          <a:noFill/>
        </p:spPr>
        <p:txBody>
          <a:bodyPr wrap="square">
            <a:spAutoFit/>
          </a:bodyPr>
          <a:lstStyle/>
          <a:p>
            <a:pPr algn="l">
              <a:spcBef>
                <a:spcPts val="0"/>
              </a:spcBef>
              <a:spcAft>
                <a:spcPts val="0"/>
              </a:spcAft>
            </a:pPr>
            <a:r>
              <a:rPr sz="1200" b="1" i="0">
                <a:solidFill>
                  <a:srgbClr val="1B5697"/>
                </a:solidFill>
                <a:latin typeface="Segoe UI"/>
              </a:rPr>
              <a:t>EXP-008 Result</a:t>
            </a:r>
          </a:p>
        </p:txBody>
      </p:sp>
      <p:sp>
        <p:nvSpPr>
          <p:cNvPr id="31" name="TextBox 30"/>
          <p:cNvSpPr txBox="1"/>
          <p:nvPr/>
        </p:nvSpPr>
        <p:spPr>
          <a:xfrm>
            <a:off x="6395847" y="5090000"/>
            <a:ext cx="5308648" cy="96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HITL+LinUCB:  +6.5% vs vanilla bandit</a:t>
            </a:r>
          </a:p>
          <a:p>
            <a:pPr algn="l">
              <a:spcBef>
                <a:spcPts val="400"/>
              </a:spcBef>
            </a:pPr>
            <a:r>
              <a:rPr sz="1100" b="0" i="0">
                <a:solidFill>
                  <a:srgbClr val="505050"/>
                </a:solidFill>
                <a:latin typeface="Calibri"/>
              </a:rPr>
              <a:t>κ sweep: 0.3 – 0.9 tested; κ=0.7 optimal</a:t>
            </a:r>
          </a:p>
          <a:p>
            <a:pPr algn="l">
              <a:spcBef>
                <a:spcPts val="400"/>
              </a:spcBef>
            </a:pPr>
            <a:r>
              <a:rPr sz="1100" b="0" i="0">
                <a:solidFill>
                  <a:srgbClr val="505050"/>
                </a:solidFill>
                <a:latin typeface="Calibri"/>
              </a:rPr>
              <a:t>p=0.017, Cohen’s d=0.87</a:t>
            </a:r>
          </a:p>
        </p:txBody>
      </p:sp>
      <p:sp>
        <p:nvSpPr>
          <p:cNvPr id="32" name="Rectangle 31"/>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4" name="Rectangle 33"/>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Methodology &amp; Model Design</a:t>
            </a:r>
          </a:p>
        </p:txBody>
      </p:sp>
      <p:sp>
        <p:nvSpPr>
          <p:cNvPr id="36" name="Rectangle 35"/>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15 / 43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EXPERIMENTAL DESIGN</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100000"/>
            <a:ext cx="11277295" cy="38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07200" y="1120000"/>
            <a:ext cx="11077295" cy="360000"/>
          </a:xfrm>
          <a:prstGeom prst="rect">
            <a:avLst/>
          </a:prstGeom>
          <a:noFill/>
        </p:spPr>
        <p:txBody>
          <a:bodyPr wrap="square">
            <a:spAutoFit/>
          </a:bodyPr>
          <a:lstStyle/>
          <a:p>
            <a:pPr algn="l">
              <a:spcBef>
                <a:spcPts val="0"/>
              </a:spcBef>
              <a:spcAft>
                <a:spcPts val="0"/>
              </a:spcAft>
            </a:pPr>
            <a:r>
              <a:rPr sz="1100" b="1" i="0">
                <a:solidFill>
                  <a:srgbClr val="1B5697"/>
                </a:solidFill>
                <a:latin typeface="Calibri"/>
              </a:rPr>
              <a:t>Stats Protocol: 20 seeds · Bootstrap 95% CI · Paired Wilcoxon · Bonferroni correction · Cohen’s d</a:t>
            </a:r>
          </a:p>
        </p:txBody>
      </p:sp>
      <p:graphicFrame>
        <p:nvGraphicFramePr>
          <p:cNvPr id="7" name="Table 6"/>
          <p:cNvGraphicFramePr>
            <a:graphicFrameLocks noGrp="1"/>
          </p:cNvGraphicFramePr>
          <p:nvPr/>
        </p:nvGraphicFramePr>
        <p:xfrm>
          <a:off x="457200" y="1600000"/>
          <a:ext cx="11277295" cy="4700000"/>
        </p:xfrm>
        <a:graphic>
          <a:graphicData uri="http://schemas.openxmlformats.org/drawingml/2006/table">
            <a:tbl>
              <a:tblPr firstRow="1" bandRow="1">
                <a:tableStyleId>{5C22544A-7EE6-4342-B048-85BDC9FD1C3A}</a:tableStyleId>
              </a:tblPr>
              <a:tblGrid>
                <a:gridCol w="2255459">
                  <a:extLst>
                    <a:ext uri="{9D8B030D-6E8A-4147-A177-3AD203B41FA5}">
                      <a16:colId xmlns:a16="http://schemas.microsoft.com/office/drawing/2014/main" val="20000"/>
                    </a:ext>
                  </a:extLst>
                </a:gridCol>
                <a:gridCol w="2255459">
                  <a:extLst>
                    <a:ext uri="{9D8B030D-6E8A-4147-A177-3AD203B41FA5}">
                      <a16:colId xmlns:a16="http://schemas.microsoft.com/office/drawing/2014/main" val="20001"/>
                    </a:ext>
                  </a:extLst>
                </a:gridCol>
                <a:gridCol w="2255459">
                  <a:extLst>
                    <a:ext uri="{9D8B030D-6E8A-4147-A177-3AD203B41FA5}">
                      <a16:colId xmlns:a16="http://schemas.microsoft.com/office/drawing/2014/main" val="20002"/>
                    </a:ext>
                  </a:extLst>
                </a:gridCol>
                <a:gridCol w="2255459">
                  <a:extLst>
                    <a:ext uri="{9D8B030D-6E8A-4147-A177-3AD203B41FA5}">
                      <a16:colId xmlns:a16="http://schemas.microsoft.com/office/drawing/2014/main" val="20003"/>
                    </a:ext>
                  </a:extLst>
                </a:gridCol>
                <a:gridCol w="2255459">
                  <a:extLst>
                    <a:ext uri="{9D8B030D-6E8A-4147-A177-3AD203B41FA5}">
                      <a16:colId xmlns:a16="http://schemas.microsoft.com/office/drawing/2014/main" val="20004"/>
                    </a:ext>
                  </a:extLst>
                </a:gridCol>
              </a:tblGrid>
              <a:tr h="470000">
                <a:tc>
                  <a:txBody>
                    <a:bodyPr/>
                    <a:lstStyle/>
                    <a:p>
                      <a:r>
                        <a:rPr sz="1100" b="1">
                          <a:solidFill>
                            <a:srgbClr val="FFFFFF"/>
                          </a:solidFill>
                        </a:rPr>
                        <a:t>Exp</a:t>
                      </a:r>
                    </a:p>
                  </a:txBody>
                  <a:tcPr>
                    <a:solidFill>
                      <a:srgbClr val="1B5697"/>
                    </a:solidFill>
                  </a:tcPr>
                </a:tc>
                <a:tc>
                  <a:txBody>
                    <a:bodyPr/>
                    <a:lstStyle/>
                    <a:p>
                      <a:r>
                        <a:rPr sz="1100" b="1">
                          <a:solidFill>
                            <a:srgbClr val="FFFFFF"/>
                          </a:solidFill>
                        </a:rPr>
                        <a:t>Name</a:t>
                      </a:r>
                    </a:p>
                  </a:txBody>
                  <a:tcPr>
                    <a:solidFill>
                      <a:srgbClr val="1B5697"/>
                    </a:solidFill>
                  </a:tcPr>
                </a:tc>
                <a:tc>
                  <a:txBody>
                    <a:bodyPr/>
                    <a:lstStyle/>
                    <a:p>
                      <a:r>
                        <a:rPr sz="1100" b="1">
                          <a:solidFill>
                            <a:srgbClr val="FFFFFF"/>
                          </a:solidFill>
                        </a:rPr>
                        <a:t>Seeds</a:t>
                      </a:r>
                    </a:p>
                  </a:txBody>
                  <a:tcPr>
                    <a:solidFill>
                      <a:srgbClr val="1B5697"/>
                    </a:solidFill>
                  </a:tcPr>
                </a:tc>
                <a:tc>
                  <a:txBody>
                    <a:bodyPr/>
                    <a:lstStyle/>
                    <a:p>
                      <a:r>
                        <a:rPr sz="1100" b="1">
                          <a:solidFill>
                            <a:srgbClr val="FFFFFF"/>
                          </a:solidFill>
                        </a:rPr>
                        <a:t>Rounds</a:t>
                      </a:r>
                    </a:p>
                  </a:txBody>
                  <a:tcPr>
                    <a:solidFill>
                      <a:srgbClr val="1B5697"/>
                    </a:solidFill>
                  </a:tcPr>
                </a:tc>
                <a:tc>
                  <a:txBody>
                    <a:bodyPr/>
                    <a:lstStyle/>
                    <a:p>
                      <a:r>
                        <a:rPr sz="1100" b="1">
                          <a:solidFill>
                            <a:srgbClr val="FFFFFF"/>
                          </a:solidFill>
                        </a:rPr>
                        <a:t>Focus</a:t>
                      </a:r>
                    </a:p>
                  </a:txBody>
                  <a:tcPr>
                    <a:solidFill>
                      <a:srgbClr val="1B5697"/>
                    </a:solidFill>
                  </a:tcPr>
                </a:tc>
                <a:extLst>
                  <a:ext uri="{0D108BD9-81ED-4DB2-BD59-A6C34878D82A}">
                    <a16:rowId xmlns:a16="http://schemas.microsoft.com/office/drawing/2014/main" val="10000"/>
                  </a:ext>
                </a:extLst>
              </a:tr>
              <a:tr h="470000">
                <a:tc>
                  <a:txBody>
                    <a:bodyPr/>
                    <a:lstStyle/>
                    <a:p>
                      <a:r>
                        <a:rPr sz="1000" b="1">
                          <a:solidFill>
                            <a:srgbClr val="1B5697"/>
                          </a:solidFill>
                        </a:rPr>
                        <a:t>EXP-005</a:t>
                      </a:r>
                    </a:p>
                  </a:txBody>
                  <a:tcPr>
                    <a:solidFill>
                      <a:srgbClr val="F3F6FB"/>
                    </a:solidFill>
                  </a:tcPr>
                </a:tc>
                <a:tc>
                  <a:txBody>
                    <a:bodyPr/>
                    <a:lstStyle/>
                    <a:p>
                      <a:r>
                        <a:rPr sz="1000" b="0">
                          <a:solidFill>
                            <a:srgbClr val="262626"/>
                          </a:solidFill>
                        </a:rPr>
                        <a:t>Convergence</a:t>
                      </a:r>
                    </a:p>
                  </a:txBody>
                  <a:tcPr>
                    <a:solidFill>
                      <a:srgbClr val="F3F6FB"/>
                    </a:solidFill>
                  </a:tcPr>
                </a:tc>
                <a:tc>
                  <a:txBody>
                    <a:bodyPr/>
                    <a:lstStyle/>
                    <a:p>
                      <a:r>
                        <a:rPr sz="1000" b="0">
                          <a:solidFill>
                            <a:srgbClr val="262626"/>
                          </a:solidFill>
                        </a:rPr>
                        <a:t>20</a:t>
                      </a:r>
                    </a:p>
                  </a:txBody>
                  <a:tcPr>
                    <a:solidFill>
                      <a:srgbClr val="F3F6FB"/>
                    </a:solidFill>
                  </a:tcPr>
                </a:tc>
                <a:tc>
                  <a:txBody>
                    <a:bodyPr/>
                    <a:lstStyle/>
                    <a:p>
                      <a:r>
                        <a:rPr sz="1000" b="0">
                          <a:solidFill>
                            <a:srgbClr val="262626"/>
                          </a:solidFill>
                        </a:rPr>
                        <a:t>5,000</a:t>
                      </a:r>
                    </a:p>
                  </a:txBody>
                  <a:tcPr>
                    <a:solidFill>
                      <a:srgbClr val="F3F6FB"/>
                    </a:solidFill>
                  </a:tcPr>
                </a:tc>
                <a:tc>
                  <a:txBody>
                    <a:bodyPr/>
                    <a:lstStyle/>
                    <a:p>
                      <a:r>
                        <a:rPr sz="1000" b="0">
                          <a:solidFill>
                            <a:srgbClr val="262626"/>
                          </a:solidFill>
                        </a:rPr>
                        <a:t>LinUCB vs Static XGB</a:t>
                      </a:r>
                    </a:p>
                  </a:txBody>
                  <a:tcPr>
                    <a:solidFill>
                      <a:srgbClr val="F3F6FB"/>
                    </a:solidFill>
                  </a:tcPr>
                </a:tc>
                <a:extLst>
                  <a:ext uri="{0D108BD9-81ED-4DB2-BD59-A6C34878D82A}">
                    <a16:rowId xmlns:a16="http://schemas.microsoft.com/office/drawing/2014/main" val="10001"/>
                  </a:ext>
                </a:extLst>
              </a:tr>
              <a:tr h="470000">
                <a:tc>
                  <a:txBody>
                    <a:bodyPr/>
                    <a:lstStyle/>
                    <a:p>
                      <a:r>
                        <a:rPr sz="1000" b="1">
                          <a:solidFill>
                            <a:srgbClr val="1B5697"/>
                          </a:solidFill>
                        </a:rPr>
                        <a:t>EXP-006</a:t>
                      </a:r>
                    </a:p>
                  </a:txBody>
                  <a:tcPr>
                    <a:solidFill>
                      <a:srgbClr val="FFFFFF"/>
                    </a:solidFill>
                  </a:tcPr>
                </a:tc>
                <a:tc>
                  <a:txBody>
                    <a:bodyPr/>
                    <a:lstStyle/>
                    <a:p>
                      <a:r>
                        <a:rPr sz="1000" b="0">
                          <a:solidFill>
                            <a:srgbClr val="262626"/>
                          </a:solidFill>
                        </a:rPr>
                        <a:t>Fairness Audit</a:t>
                      </a:r>
                    </a:p>
                  </a:txBody>
                  <a:tcPr>
                    <a:solidFill>
                      <a:srgbClr val="FFFFFF"/>
                    </a:solidFill>
                  </a:tcPr>
                </a:tc>
                <a:tc>
                  <a:txBody>
                    <a:bodyPr/>
                    <a:lstStyle/>
                    <a:p>
                      <a:r>
                        <a:rPr sz="1000" b="0">
                          <a:solidFill>
                            <a:srgbClr val="262626"/>
                          </a:solidFill>
                        </a:rPr>
                        <a:t>20</a:t>
                      </a:r>
                    </a:p>
                  </a:txBody>
                  <a:tcPr>
                    <a:solidFill>
                      <a:srgbClr val="FFFFFF"/>
                    </a:solidFill>
                  </a:tcPr>
                </a:tc>
                <a:tc>
                  <a:txBody>
                    <a:bodyPr/>
                    <a:lstStyle/>
                    <a:p>
                      <a:r>
                        <a:rPr sz="1000" b="0">
                          <a:solidFill>
                            <a:srgbClr val="262626"/>
                          </a:solidFill>
                        </a:rPr>
                        <a:t>5,000</a:t>
                      </a:r>
                    </a:p>
                  </a:txBody>
                  <a:tcPr>
                    <a:solidFill>
                      <a:srgbClr val="FFFFFF"/>
                    </a:solidFill>
                  </a:tcPr>
                </a:tc>
                <a:tc>
                  <a:txBody>
                    <a:bodyPr/>
                    <a:lstStyle/>
                    <a:p>
                      <a:r>
                        <a:rPr sz="1000" b="0">
                          <a:solidFill>
                            <a:srgbClr val="262626"/>
                          </a:solidFill>
                        </a:rPr>
                        <a:t>PSI + EEOC 4/5 rule</a:t>
                      </a:r>
                    </a:p>
                  </a:txBody>
                  <a:tcPr>
                    <a:solidFill>
                      <a:srgbClr val="FFFFFF"/>
                    </a:solidFill>
                  </a:tcPr>
                </a:tc>
                <a:extLst>
                  <a:ext uri="{0D108BD9-81ED-4DB2-BD59-A6C34878D82A}">
                    <a16:rowId xmlns:a16="http://schemas.microsoft.com/office/drawing/2014/main" val="10002"/>
                  </a:ext>
                </a:extLst>
              </a:tr>
              <a:tr h="470000">
                <a:tc>
                  <a:txBody>
                    <a:bodyPr/>
                    <a:lstStyle/>
                    <a:p>
                      <a:r>
                        <a:rPr sz="1000" b="1">
                          <a:solidFill>
                            <a:srgbClr val="1B5697"/>
                          </a:solidFill>
                        </a:rPr>
                        <a:t>EXP-007</a:t>
                      </a:r>
                    </a:p>
                  </a:txBody>
                  <a:tcPr>
                    <a:solidFill>
                      <a:srgbClr val="F3F6FB"/>
                    </a:solidFill>
                  </a:tcPr>
                </a:tc>
                <a:tc>
                  <a:txBody>
                    <a:bodyPr/>
                    <a:lstStyle/>
                    <a:p>
                      <a:r>
                        <a:rPr sz="1000" b="0">
                          <a:solidFill>
                            <a:srgbClr val="262626"/>
                          </a:solidFill>
                        </a:rPr>
                        <a:t>Benchmark</a:t>
                      </a:r>
                    </a:p>
                  </a:txBody>
                  <a:tcPr>
                    <a:solidFill>
                      <a:srgbClr val="F3F6FB"/>
                    </a:solidFill>
                  </a:tcPr>
                </a:tc>
                <a:tc>
                  <a:txBody>
                    <a:bodyPr/>
                    <a:lstStyle/>
                    <a:p>
                      <a:r>
                        <a:rPr sz="1000" b="0">
                          <a:solidFill>
                            <a:srgbClr val="262626"/>
                          </a:solidFill>
                        </a:rPr>
                        <a:t>20</a:t>
                      </a:r>
                    </a:p>
                  </a:txBody>
                  <a:tcPr>
                    <a:solidFill>
                      <a:srgbClr val="F3F6FB"/>
                    </a:solidFill>
                  </a:tcPr>
                </a:tc>
                <a:tc>
                  <a:txBody>
                    <a:bodyPr/>
                    <a:lstStyle/>
                    <a:p>
                      <a:r>
                        <a:rPr sz="1000" b="0">
                          <a:solidFill>
                            <a:srgbClr val="262626"/>
                          </a:solidFill>
                        </a:rPr>
                        <a:t>5,000</a:t>
                      </a:r>
                    </a:p>
                  </a:txBody>
                  <a:tcPr>
                    <a:solidFill>
                      <a:srgbClr val="F3F6FB"/>
                    </a:solidFill>
                  </a:tcPr>
                </a:tc>
                <a:tc>
                  <a:txBody>
                    <a:bodyPr/>
                    <a:lstStyle/>
                    <a:p>
                      <a:r>
                        <a:rPr sz="1000" b="0">
                          <a:solidFill>
                            <a:srgbClr val="262626"/>
                          </a:solidFill>
                        </a:rPr>
                        <a:t>Full ladder CRN</a:t>
                      </a:r>
                    </a:p>
                  </a:txBody>
                  <a:tcPr>
                    <a:solidFill>
                      <a:srgbClr val="F3F6FB"/>
                    </a:solidFill>
                  </a:tcPr>
                </a:tc>
                <a:extLst>
                  <a:ext uri="{0D108BD9-81ED-4DB2-BD59-A6C34878D82A}">
                    <a16:rowId xmlns:a16="http://schemas.microsoft.com/office/drawing/2014/main" val="10003"/>
                  </a:ext>
                </a:extLst>
              </a:tr>
              <a:tr h="470000">
                <a:tc>
                  <a:txBody>
                    <a:bodyPr/>
                    <a:lstStyle/>
                    <a:p>
                      <a:r>
                        <a:rPr sz="1000" b="1">
                          <a:solidFill>
                            <a:srgbClr val="1B5697"/>
                          </a:solidFill>
                        </a:rPr>
                        <a:t>EXP-008</a:t>
                      </a:r>
                    </a:p>
                  </a:txBody>
                  <a:tcPr>
                    <a:solidFill>
                      <a:srgbClr val="FFFFFF"/>
                    </a:solidFill>
                  </a:tcPr>
                </a:tc>
                <a:tc>
                  <a:txBody>
                    <a:bodyPr/>
                    <a:lstStyle/>
                    <a:p>
                      <a:r>
                        <a:rPr sz="1000" b="0">
                          <a:solidFill>
                            <a:srgbClr val="262626"/>
                          </a:solidFill>
                        </a:rPr>
                        <a:t>HITL</a:t>
                      </a:r>
                    </a:p>
                  </a:txBody>
                  <a:tcPr>
                    <a:solidFill>
                      <a:srgbClr val="FFFFFF"/>
                    </a:solidFill>
                  </a:tcPr>
                </a:tc>
                <a:tc>
                  <a:txBody>
                    <a:bodyPr/>
                    <a:lstStyle/>
                    <a:p>
                      <a:r>
                        <a:rPr sz="1000" b="0">
                          <a:solidFill>
                            <a:srgbClr val="262626"/>
                          </a:solidFill>
                        </a:rPr>
                        <a:t>seed=42</a:t>
                      </a:r>
                    </a:p>
                  </a:txBody>
                  <a:tcPr>
                    <a:solidFill>
                      <a:srgbClr val="FFFFFF"/>
                    </a:solidFill>
                  </a:tcPr>
                </a:tc>
                <a:tc>
                  <a:txBody>
                    <a:bodyPr/>
                    <a:lstStyle/>
                    <a:p>
                      <a:r>
                        <a:rPr sz="1000" b="0">
                          <a:solidFill>
                            <a:srgbClr val="262626"/>
                          </a:solidFill>
                        </a:rPr>
                        <a:t>5,000</a:t>
                      </a:r>
                    </a:p>
                  </a:txBody>
                  <a:tcPr>
                    <a:solidFill>
                      <a:srgbClr val="FFFFFF"/>
                    </a:solidFill>
                  </a:tcPr>
                </a:tc>
                <a:tc>
                  <a:txBody>
                    <a:bodyPr/>
                    <a:lstStyle/>
                    <a:p>
                      <a:r>
                        <a:rPr sz="1000" b="0">
                          <a:solidFill>
                            <a:srgbClr val="262626"/>
                          </a:solidFill>
                        </a:rPr>
                        <a:t>Human-in-the-loop</a:t>
                      </a:r>
                    </a:p>
                  </a:txBody>
                  <a:tcPr>
                    <a:solidFill>
                      <a:srgbClr val="FFFFFF"/>
                    </a:solidFill>
                  </a:tcPr>
                </a:tc>
                <a:extLst>
                  <a:ext uri="{0D108BD9-81ED-4DB2-BD59-A6C34878D82A}">
                    <a16:rowId xmlns:a16="http://schemas.microsoft.com/office/drawing/2014/main" val="10004"/>
                  </a:ext>
                </a:extLst>
              </a:tr>
              <a:tr h="470000">
                <a:tc>
                  <a:txBody>
                    <a:bodyPr/>
                    <a:lstStyle/>
                    <a:p>
                      <a:r>
                        <a:rPr sz="1000" b="1">
                          <a:solidFill>
                            <a:srgbClr val="1B5697"/>
                          </a:solidFill>
                        </a:rPr>
                        <a:t>EXP-009</a:t>
                      </a:r>
                    </a:p>
                  </a:txBody>
                  <a:tcPr>
                    <a:solidFill>
                      <a:srgbClr val="F3F6FB"/>
                    </a:solidFill>
                  </a:tcPr>
                </a:tc>
                <a:tc>
                  <a:txBody>
                    <a:bodyPr/>
                    <a:lstStyle/>
                    <a:p>
                      <a:r>
                        <a:rPr sz="1000" b="0">
                          <a:solidFill>
                            <a:srgbClr val="262626"/>
                          </a:solidFill>
                        </a:rPr>
                        <a:t>Drift Adaptation</a:t>
                      </a:r>
                    </a:p>
                  </a:txBody>
                  <a:tcPr>
                    <a:solidFill>
                      <a:srgbClr val="F3F6FB"/>
                    </a:solidFill>
                  </a:tcPr>
                </a:tc>
                <a:tc>
                  <a:txBody>
                    <a:bodyPr/>
                    <a:lstStyle/>
                    <a:p>
                      <a:r>
                        <a:rPr sz="1000" b="0">
                          <a:solidFill>
                            <a:srgbClr val="262626"/>
                          </a:solidFill>
                        </a:rPr>
                        <a:t>20</a:t>
                      </a:r>
                    </a:p>
                  </a:txBody>
                  <a:tcPr>
                    <a:solidFill>
                      <a:srgbClr val="F3F6FB"/>
                    </a:solidFill>
                  </a:tcPr>
                </a:tc>
                <a:tc>
                  <a:txBody>
                    <a:bodyPr/>
                    <a:lstStyle/>
                    <a:p>
                      <a:r>
                        <a:rPr sz="1000" b="0">
                          <a:solidFill>
                            <a:srgbClr val="262626"/>
                          </a:solidFill>
                        </a:rPr>
                        <a:t>5,000</a:t>
                      </a:r>
                    </a:p>
                  </a:txBody>
                  <a:tcPr>
                    <a:solidFill>
                      <a:srgbClr val="F3F6FB"/>
                    </a:solidFill>
                  </a:tcPr>
                </a:tc>
                <a:tc>
                  <a:txBody>
                    <a:bodyPr/>
                    <a:lstStyle/>
                    <a:p>
                      <a:r>
                        <a:rPr sz="1000" b="0">
                          <a:solidFill>
                            <a:srgbClr val="262626"/>
                          </a:solidFill>
                        </a:rPr>
                        <a:t>Shock at t=1,500</a:t>
                      </a:r>
                    </a:p>
                  </a:txBody>
                  <a:tcPr>
                    <a:solidFill>
                      <a:srgbClr val="F3F6FB"/>
                    </a:solidFill>
                  </a:tcPr>
                </a:tc>
                <a:extLst>
                  <a:ext uri="{0D108BD9-81ED-4DB2-BD59-A6C34878D82A}">
                    <a16:rowId xmlns:a16="http://schemas.microsoft.com/office/drawing/2014/main" val="10005"/>
                  </a:ext>
                </a:extLst>
              </a:tr>
              <a:tr h="470000">
                <a:tc>
                  <a:txBody>
                    <a:bodyPr/>
                    <a:lstStyle/>
                    <a:p>
                      <a:r>
                        <a:rPr sz="1000" b="1">
                          <a:solidFill>
                            <a:srgbClr val="1B5697"/>
                          </a:solidFill>
                        </a:rPr>
                        <a:t>EXP-010</a:t>
                      </a:r>
                    </a:p>
                  </a:txBody>
                  <a:tcPr>
                    <a:solidFill>
                      <a:srgbClr val="FFFFFF"/>
                    </a:solidFill>
                  </a:tcPr>
                </a:tc>
                <a:tc>
                  <a:txBody>
                    <a:bodyPr/>
                    <a:lstStyle/>
                    <a:p>
                      <a:r>
                        <a:rPr sz="1000" b="0">
                          <a:solidFill>
                            <a:srgbClr val="262626"/>
                          </a:solidFill>
                        </a:rPr>
                        <a:t>Cold Start</a:t>
                      </a:r>
                    </a:p>
                  </a:txBody>
                  <a:tcPr>
                    <a:solidFill>
                      <a:srgbClr val="FFFFFF"/>
                    </a:solidFill>
                  </a:tcPr>
                </a:tc>
                <a:tc>
                  <a:txBody>
                    <a:bodyPr/>
                    <a:lstStyle/>
                    <a:p>
                      <a:r>
                        <a:rPr sz="1000" b="0">
                          <a:solidFill>
                            <a:srgbClr val="262626"/>
                          </a:solidFill>
                        </a:rPr>
                        <a:t>10</a:t>
                      </a:r>
                    </a:p>
                  </a:txBody>
                  <a:tcPr>
                    <a:solidFill>
                      <a:srgbClr val="FFFFFF"/>
                    </a:solidFill>
                  </a:tcPr>
                </a:tc>
                <a:tc>
                  <a:txBody>
                    <a:bodyPr/>
                    <a:lstStyle/>
                    <a:p>
                      <a:r>
                        <a:rPr sz="1000" b="0">
                          <a:solidFill>
                            <a:srgbClr val="262626"/>
                          </a:solidFill>
                        </a:rPr>
                        <a:t>200–2,000</a:t>
                      </a:r>
                    </a:p>
                  </a:txBody>
                  <a:tcPr>
                    <a:solidFill>
                      <a:srgbClr val="FFFFFF"/>
                    </a:solidFill>
                  </a:tcPr>
                </a:tc>
                <a:tc>
                  <a:txBody>
                    <a:bodyPr/>
                    <a:lstStyle/>
                    <a:p>
                      <a:r>
                        <a:rPr sz="1000" b="0">
                          <a:solidFill>
                            <a:srgbClr val="262626"/>
                          </a:solidFill>
                        </a:rPr>
                        <a:t>Crossover horizon</a:t>
                      </a:r>
                    </a:p>
                  </a:txBody>
                  <a:tcPr>
                    <a:solidFill>
                      <a:srgbClr val="FFFFFF"/>
                    </a:solidFill>
                  </a:tcPr>
                </a:tc>
                <a:extLst>
                  <a:ext uri="{0D108BD9-81ED-4DB2-BD59-A6C34878D82A}">
                    <a16:rowId xmlns:a16="http://schemas.microsoft.com/office/drawing/2014/main" val="10006"/>
                  </a:ext>
                </a:extLst>
              </a:tr>
              <a:tr h="470000">
                <a:tc>
                  <a:txBody>
                    <a:bodyPr/>
                    <a:lstStyle/>
                    <a:p>
                      <a:r>
                        <a:rPr sz="1000" b="1">
                          <a:solidFill>
                            <a:srgbClr val="1B5697"/>
                          </a:solidFill>
                        </a:rPr>
                        <a:t>EXP-011</a:t>
                      </a:r>
                    </a:p>
                  </a:txBody>
                  <a:tcPr>
                    <a:solidFill>
                      <a:srgbClr val="F3F6FB"/>
                    </a:solidFill>
                  </a:tcPr>
                </a:tc>
                <a:tc>
                  <a:txBody>
                    <a:bodyPr/>
                    <a:lstStyle/>
                    <a:p>
                      <a:r>
                        <a:rPr sz="1000" b="0">
                          <a:solidFill>
                            <a:srgbClr val="262626"/>
                          </a:solidFill>
                        </a:rPr>
                        <a:t>Ablation</a:t>
                      </a:r>
                    </a:p>
                  </a:txBody>
                  <a:tcPr>
                    <a:solidFill>
                      <a:srgbClr val="F3F6FB"/>
                    </a:solidFill>
                  </a:tcPr>
                </a:tc>
                <a:tc>
                  <a:txBody>
                    <a:bodyPr/>
                    <a:lstStyle/>
                    <a:p>
                      <a:r>
                        <a:rPr sz="1000" b="0">
                          <a:solidFill>
                            <a:srgbClr val="262626"/>
                          </a:solidFill>
                        </a:rPr>
                        <a:t>20</a:t>
                      </a:r>
                    </a:p>
                  </a:txBody>
                  <a:tcPr>
                    <a:solidFill>
                      <a:srgbClr val="F3F6FB"/>
                    </a:solidFill>
                  </a:tcPr>
                </a:tc>
                <a:tc>
                  <a:txBody>
                    <a:bodyPr/>
                    <a:lstStyle/>
                    <a:p>
                      <a:r>
                        <a:rPr sz="1000" b="0">
                          <a:solidFill>
                            <a:srgbClr val="262626"/>
                          </a:solidFill>
                        </a:rPr>
                        <a:t>5,000</a:t>
                      </a:r>
                    </a:p>
                  </a:txBody>
                  <a:tcPr>
                    <a:solidFill>
                      <a:srgbClr val="F3F6FB"/>
                    </a:solidFill>
                  </a:tcPr>
                </a:tc>
                <a:tc>
                  <a:txBody>
                    <a:bodyPr/>
                    <a:lstStyle/>
                    <a:p>
                      <a:r>
                        <a:rPr sz="1000" b="0">
                          <a:solidFill>
                            <a:srgbClr val="262626"/>
                          </a:solidFill>
                        </a:rPr>
                        <a:t>Exploration vs updating</a:t>
                      </a:r>
                    </a:p>
                  </a:txBody>
                  <a:tcPr>
                    <a:solidFill>
                      <a:srgbClr val="F3F6FB"/>
                    </a:solidFill>
                  </a:tcPr>
                </a:tc>
                <a:extLst>
                  <a:ext uri="{0D108BD9-81ED-4DB2-BD59-A6C34878D82A}">
                    <a16:rowId xmlns:a16="http://schemas.microsoft.com/office/drawing/2014/main" val="10007"/>
                  </a:ext>
                </a:extLst>
              </a:tr>
              <a:tr h="470000">
                <a:tc>
                  <a:txBody>
                    <a:bodyPr/>
                    <a:lstStyle/>
                    <a:p>
                      <a:r>
                        <a:rPr sz="1000" b="1">
                          <a:solidFill>
                            <a:srgbClr val="1B5697"/>
                          </a:solidFill>
                        </a:rPr>
                        <a:t>EXP-013</a:t>
                      </a:r>
                    </a:p>
                  </a:txBody>
                  <a:tcPr>
                    <a:solidFill>
                      <a:srgbClr val="FFFFFF"/>
                    </a:solidFill>
                  </a:tcPr>
                </a:tc>
                <a:tc>
                  <a:txBody>
                    <a:bodyPr/>
                    <a:lstStyle/>
                    <a:p>
                      <a:r>
                        <a:rPr sz="1000" b="0">
                          <a:solidFill>
                            <a:srgbClr val="262626"/>
                          </a:solidFill>
                        </a:rPr>
                        <a:t>Regret Bound</a:t>
                      </a:r>
                    </a:p>
                  </a:txBody>
                  <a:tcPr>
                    <a:solidFill>
                      <a:srgbClr val="FFFFFF"/>
                    </a:solidFill>
                  </a:tcPr>
                </a:tc>
                <a:tc>
                  <a:txBody>
                    <a:bodyPr/>
                    <a:lstStyle/>
                    <a:p>
                      <a:r>
                        <a:rPr sz="1000" b="0">
                          <a:solidFill>
                            <a:srgbClr val="262626"/>
                          </a:solidFill>
                        </a:rPr>
                        <a:t>20</a:t>
                      </a:r>
                    </a:p>
                  </a:txBody>
                  <a:tcPr>
                    <a:solidFill>
                      <a:srgbClr val="FFFFFF"/>
                    </a:solidFill>
                  </a:tcPr>
                </a:tc>
                <a:tc>
                  <a:txBody>
                    <a:bodyPr/>
                    <a:lstStyle/>
                    <a:p>
                      <a:r>
                        <a:rPr sz="1000" b="0">
                          <a:solidFill>
                            <a:srgbClr val="262626"/>
                          </a:solidFill>
                        </a:rPr>
                        <a:t>5,000</a:t>
                      </a:r>
                    </a:p>
                  </a:txBody>
                  <a:tcPr>
                    <a:solidFill>
                      <a:srgbClr val="FFFFFF"/>
                    </a:solidFill>
                  </a:tcPr>
                </a:tc>
                <a:tc>
                  <a:txBody>
                    <a:bodyPr/>
                    <a:lstStyle/>
                    <a:p>
                      <a:r>
                        <a:rPr sz="1000" b="0">
                          <a:solidFill>
                            <a:srgbClr val="262626"/>
                          </a:solidFill>
                        </a:rPr>
                        <a:t>Log-log slope validation</a:t>
                      </a:r>
                    </a:p>
                  </a:txBody>
                  <a:tcPr>
                    <a:solidFill>
                      <a:srgbClr val="FFFFFF"/>
                    </a:solidFill>
                  </a:tcPr>
                </a:tc>
                <a:extLst>
                  <a:ext uri="{0D108BD9-81ED-4DB2-BD59-A6C34878D82A}">
                    <a16:rowId xmlns:a16="http://schemas.microsoft.com/office/drawing/2014/main" val="10008"/>
                  </a:ext>
                </a:extLst>
              </a:tr>
              <a:tr h="470000">
                <a:tc>
                  <a:txBody>
                    <a:bodyPr/>
                    <a:lstStyle/>
                    <a:p>
                      <a:r>
                        <a:rPr sz="1000" b="1">
                          <a:solidFill>
                            <a:srgbClr val="1B5697"/>
                          </a:solidFill>
                        </a:rPr>
                        <a:t>EXP-015</a:t>
                      </a:r>
                    </a:p>
                  </a:txBody>
                  <a:tcPr>
                    <a:solidFill>
                      <a:srgbClr val="F3F6FB"/>
                    </a:solidFill>
                  </a:tcPr>
                </a:tc>
                <a:tc>
                  <a:txBody>
                    <a:bodyPr/>
                    <a:lstStyle/>
                    <a:p>
                      <a:r>
                        <a:rPr sz="1000" b="0">
                          <a:solidFill>
                            <a:srgbClr val="262626"/>
                          </a:solidFill>
                        </a:rPr>
                        <a:t>Drift Rescue</a:t>
                      </a:r>
                    </a:p>
                  </a:txBody>
                  <a:tcPr>
                    <a:solidFill>
                      <a:srgbClr val="F3F6FB"/>
                    </a:solidFill>
                  </a:tcPr>
                </a:tc>
                <a:tc>
                  <a:txBody>
                    <a:bodyPr/>
                    <a:lstStyle/>
                    <a:p>
                      <a:r>
                        <a:rPr sz="1000" b="0">
                          <a:solidFill>
                            <a:srgbClr val="262626"/>
                          </a:solidFill>
                        </a:rPr>
                        <a:t>20</a:t>
                      </a:r>
                    </a:p>
                  </a:txBody>
                  <a:tcPr>
                    <a:solidFill>
                      <a:srgbClr val="F3F6FB"/>
                    </a:solidFill>
                  </a:tcPr>
                </a:tc>
                <a:tc>
                  <a:txBody>
                    <a:bodyPr/>
                    <a:lstStyle/>
                    <a:p>
                      <a:r>
                        <a:rPr sz="1000" b="0">
                          <a:solidFill>
                            <a:srgbClr val="262626"/>
                          </a:solidFill>
                        </a:rPr>
                        <a:t>5,000</a:t>
                      </a:r>
                    </a:p>
                  </a:txBody>
                  <a:tcPr>
                    <a:solidFill>
                      <a:srgbClr val="F3F6FB"/>
                    </a:solidFill>
                  </a:tcPr>
                </a:tc>
                <a:tc>
                  <a:txBody>
                    <a:bodyPr/>
                    <a:lstStyle/>
                    <a:p>
                      <a:r>
                        <a:rPr sz="1000" b="0">
                          <a:solidFill>
                            <a:srgbClr val="262626"/>
                          </a:solidFill>
                        </a:rPr>
                        <a:t>Constant vs adaptive under shock</a:t>
                      </a:r>
                    </a:p>
                  </a:txBody>
                  <a:tcPr>
                    <a:solidFill>
                      <a:srgbClr val="F3F6FB"/>
                    </a:solidFill>
                  </a:tcPr>
                </a:tc>
                <a:extLst>
                  <a:ext uri="{0D108BD9-81ED-4DB2-BD59-A6C34878D82A}">
                    <a16:rowId xmlns:a16="http://schemas.microsoft.com/office/drawing/2014/main" val="10009"/>
                  </a:ext>
                </a:extLst>
              </a:tr>
            </a:tbl>
          </a:graphicData>
        </a:graphic>
      </p:graphicFrame>
      <p:sp>
        <p:nvSpPr>
          <p:cNvPr id="8" name="Rectangle 7"/>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10" name="Rectangle 9"/>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Methodology &amp; Model Design</a:t>
            </a:r>
          </a:p>
        </p:txBody>
      </p:sp>
      <p:sp>
        <p:nvSpPr>
          <p:cNvPr id="12" name="Rectangle 11"/>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16 / 43</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9000"/>
            <a:ext cx="11277295" cy="700000"/>
          </a:xfrm>
          <a:prstGeom prst="rect">
            <a:avLst/>
          </a:prstGeom>
          <a:noFill/>
        </p:spPr>
        <p:txBody>
          <a:bodyPr wrap="square">
            <a:spAutoFit/>
          </a:bodyPr>
          <a:lstStyle/>
          <a:p>
            <a:pPr algn="l">
              <a:spcBef>
                <a:spcPts val="0"/>
              </a:spcBef>
              <a:spcAft>
                <a:spcPts val="0"/>
              </a:spcAft>
            </a:pPr>
            <a:r>
              <a:rPr sz="4800" b="1" i="0">
                <a:solidFill>
                  <a:srgbClr val="FFFFFF"/>
                </a:solidFill>
                <a:latin typeface="Segoe UI"/>
              </a:rPr>
              <a:t>IV.</a:t>
            </a:r>
          </a:p>
        </p:txBody>
      </p:sp>
      <p:sp>
        <p:nvSpPr>
          <p:cNvPr id="4" name="Rectangle 3"/>
          <p:cNvSpPr/>
          <p:nvPr/>
        </p:nvSpPr>
        <p:spPr>
          <a:xfrm>
            <a:off x="457200" y="3489000"/>
            <a:ext cx="292608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3589000"/>
            <a:ext cx="11277295" cy="800000"/>
          </a:xfrm>
          <a:prstGeom prst="rect">
            <a:avLst/>
          </a:prstGeom>
          <a:noFill/>
        </p:spPr>
        <p:txBody>
          <a:bodyPr wrap="square">
            <a:spAutoFit/>
          </a:bodyPr>
          <a:lstStyle/>
          <a:p>
            <a:pPr algn="l">
              <a:spcBef>
                <a:spcPts val="0"/>
              </a:spcBef>
              <a:spcAft>
                <a:spcPts val="0"/>
              </a:spcAft>
            </a:pPr>
            <a:r>
              <a:rPr sz="2800" b="1" i="0">
                <a:solidFill>
                  <a:srgbClr val="FFFFFF"/>
                </a:solidFill>
                <a:latin typeface="Segoe UI"/>
              </a:rPr>
              <a:t>Results &amp; Evaluation</a:t>
            </a:r>
          </a:p>
        </p:txBody>
      </p:sp>
      <p:sp>
        <p:nvSpPr>
          <p:cNvPr id="6" name="Rectangle 5"/>
          <p:cNvSpPr/>
          <p:nvPr/>
        </p:nvSpPr>
        <p:spPr>
          <a:xfrm>
            <a:off x="0" y="6437376"/>
            <a:ext cx="1219169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8" name="TextBox 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AFC4E4"/>
                </a:solidFill>
                <a:latin typeface="Calibri"/>
              </a:rPr>
              <a:t>Results &amp; Evaluation</a:t>
            </a:r>
          </a:p>
        </p:txBody>
      </p:sp>
      <p:sp>
        <p:nvSpPr>
          <p:cNvPr id="9" name="TextBox 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17 / 43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THE BASELINE LADDER</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457200" y="1100000"/>
          <a:ext cx="11277295" cy="5150000"/>
        </p:xfrm>
        <a:graphic>
          <a:graphicData uri="http://schemas.openxmlformats.org/drawingml/2006/table">
            <a:tbl>
              <a:tblPr firstRow="1" bandRow="1">
                <a:tableStyleId>{5C22544A-7EE6-4342-B048-85BDC9FD1C3A}</a:tableStyleId>
              </a:tblPr>
              <a:tblGrid>
                <a:gridCol w="2819323">
                  <a:extLst>
                    <a:ext uri="{9D8B030D-6E8A-4147-A177-3AD203B41FA5}">
                      <a16:colId xmlns:a16="http://schemas.microsoft.com/office/drawing/2014/main" val="20000"/>
                    </a:ext>
                  </a:extLst>
                </a:gridCol>
                <a:gridCol w="2819323">
                  <a:extLst>
                    <a:ext uri="{9D8B030D-6E8A-4147-A177-3AD203B41FA5}">
                      <a16:colId xmlns:a16="http://schemas.microsoft.com/office/drawing/2014/main" val="20001"/>
                    </a:ext>
                  </a:extLst>
                </a:gridCol>
                <a:gridCol w="2819323">
                  <a:extLst>
                    <a:ext uri="{9D8B030D-6E8A-4147-A177-3AD203B41FA5}">
                      <a16:colId xmlns:a16="http://schemas.microsoft.com/office/drawing/2014/main" val="20002"/>
                    </a:ext>
                  </a:extLst>
                </a:gridCol>
                <a:gridCol w="2819326">
                  <a:extLst>
                    <a:ext uri="{9D8B030D-6E8A-4147-A177-3AD203B41FA5}">
                      <a16:colId xmlns:a16="http://schemas.microsoft.com/office/drawing/2014/main" val="20003"/>
                    </a:ext>
                  </a:extLst>
                </a:gridCol>
              </a:tblGrid>
              <a:tr h="515000">
                <a:tc>
                  <a:txBody>
                    <a:bodyPr/>
                    <a:lstStyle/>
                    <a:p>
                      <a:r>
                        <a:rPr sz="1000" b="1">
                          <a:solidFill>
                            <a:srgbClr val="FFFFFF"/>
                          </a:solidFill>
                        </a:rPr>
                        <a:t>Policy</a:t>
                      </a:r>
                    </a:p>
                  </a:txBody>
                  <a:tcPr>
                    <a:solidFill>
                      <a:srgbClr val="1B5697"/>
                    </a:solidFill>
                  </a:tcPr>
                </a:tc>
                <a:tc>
                  <a:txBody>
                    <a:bodyPr/>
                    <a:lstStyle/>
                    <a:p>
                      <a:r>
                        <a:rPr sz="1000" b="1">
                          <a:solidFill>
                            <a:srgbClr val="FFFFFF"/>
                          </a:solidFill>
                        </a:rPr>
                        <a:t>Cumulative Reward (mean)</a:t>
                      </a:r>
                    </a:p>
                  </a:txBody>
                  <a:tcPr>
                    <a:solidFill>
                      <a:srgbClr val="1B5697"/>
                    </a:solidFill>
                  </a:tcPr>
                </a:tc>
                <a:tc>
                  <a:txBody>
                    <a:bodyPr/>
                    <a:lstStyle/>
                    <a:p>
                      <a:r>
                        <a:rPr sz="1000" b="1">
                          <a:solidFill>
                            <a:srgbClr val="FFFFFF"/>
                          </a:solidFill>
                        </a:rPr>
                        <a:t>95% CI</a:t>
                      </a:r>
                    </a:p>
                  </a:txBody>
                  <a:tcPr>
                    <a:solidFill>
                      <a:srgbClr val="1B5697"/>
                    </a:solidFill>
                  </a:tcPr>
                </a:tc>
                <a:tc>
                  <a:txBody>
                    <a:bodyPr/>
                    <a:lstStyle/>
                    <a:p>
                      <a:r>
                        <a:rPr sz="1000" b="1">
                          <a:solidFill>
                            <a:srgbClr val="FFFFFF"/>
                          </a:solidFill>
                        </a:rPr>
                        <a:t>% of Oracle</a:t>
                      </a:r>
                    </a:p>
                  </a:txBody>
                  <a:tcPr>
                    <a:solidFill>
                      <a:srgbClr val="1B5697"/>
                    </a:solidFill>
                  </a:tcPr>
                </a:tc>
                <a:extLst>
                  <a:ext uri="{0D108BD9-81ED-4DB2-BD59-A6C34878D82A}">
                    <a16:rowId xmlns:a16="http://schemas.microsoft.com/office/drawing/2014/main" val="10000"/>
                  </a:ext>
                </a:extLst>
              </a:tr>
              <a:tr h="515000">
                <a:tc>
                  <a:txBody>
                    <a:bodyPr/>
                    <a:lstStyle/>
                    <a:p>
                      <a:r>
                        <a:rPr sz="900" b="0">
                          <a:solidFill>
                            <a:srgbClr val="262626"/>
                          </a:solidFill>
                        </a:rPr>
                        <a:t>Oracle (upper bound)</a:t>
                      </a:r>
                    </a:p>
                  </a:txBody>
                  <a:tcPr>
                    <a:solidFill>
                      <a:srgbClr val="F3F6FB"/>
                    </a:solidFill>
                  </a:tcPr>
                </a:tc>
                <a:tc>
                  <a:txBody>
                    <a:bodyPr/>
                    <a:lstStyle/>
                    <a:p>
                      <a:r>
                        <a:rPr sz="1000" b="0">
                          <a:solidFill>
                            <a:srgbClr val="262626"/>
                          </a:solidFill>
                        </a:rPr>
                        <a:t>$126,804</a:t>
                      </a:r>
                    </a:p>
                  </a:txBody>
                  <a:tcPr>
                    <a:solidFill>
                      <a:srgbClr val="F3F6FB"/>
                    </a:solidFill>
                  </a:tcPr>
                </a:tc>
                <a:tc>
                  <a:txBody>
                    <a:bodyPr/>
                    <a:lstStyle/>
                    <a:p>
                      <a:r>
                        <a:rPr sz="1000" b="0">
                          <a:solidFill>
                            <a:srgbClr val="262626"/>
                          </a:solidFill>
                        </a:rPr>
                        <a:t>[124,187, 128,428]</a:t>
                      </a:r>
                    </a:p>
                  </a:txBody>
                  <a:tcPr>
                    <a:solidFill>
                      <a:srgbClr val="F3F6FB"/>
                    </a:solidFill>
                  </a:tcPr>
                </a:tc>
                <a:tc>
                  <a:txBody>
                    <a:bodyPr/>
                    <a:lstStyle/>
                    <a:p>
                      <a:r>
                        <a:rPr sz="1000" b="0">
                          <a:solidFill>
                            <a:srgbClr val="262626"/>
                          </a:solidFill>
                        </a:rPr>
                        <a:t>100%</a:t>
                      </a:r>
                    </a:p>
                  </a:txBody>
                  <a:tcPr>
                    <a:solidFill>
                      <a:srgbClr val="F3F6FB"/>
                    </a:solidFill>
                  </a:tcPr>
                </a:tc>
                <a:extLst>
                  <a:ext uri="{0D108BD9-81ED-4DB2-BD59-A6C34878D82A}">
                    <a16:rowId xmlns:a16="http://schemas.microsoft.com/office/drawing/2014/main" val="10001"/>
                  </a:ext>
                </a:extLst>
              </a:tr>
              <a:tr h="515000">
                <a:tc>
                  <a:txBody>
                    <a:bodyPr/>
                    <a:lstStyle/>
                    <a:p>
                      <a:r>
                        <a:rPr sz="900" b="0">
                          <a:solidFill>
                            <a:srgbClr val="262626"/>
                          </a:solidFill>
                        </a:rPr>
                        <a:t>LogisticOracle ‡ (full-supervision)</a:t>
                      </a:r>
                    </a:p>
                  </a:txBody>
                  <a:tcPr>
                    <a:solidFill>
                      <a:srgbClr val="F3F6FB"/>
                    </a:solidFill>
                  </a:tcPr>
                </a:tc>
                <a:tc>
                  <a:txBody>
                    <a:bodyPr/>
                    <a:lstStyle/>
                    <a:p>
                      <a:r>
                        <a:rPr sz="1000" b="0">
                          <a:solidFill>
                            <a:srgbClr val="262626"/>
                          </a:solidFill>
                        </a:rPr>
                        <a:t>$123,977</a:t>
                      </a:r>
                    </a:p>
                  </a:txBody>
                  <a:tcPr>
                    <a:solidFill>
                      <a:srgbClr val="F3F6FB"/>
                    </a:solidFill>
                  </a:tcPr>
                </a:tc>
                <a:tc>
                  <a:txBody>
                    <a:bodyPr/>
                    <a:lstStyle/>
                    <a:p>
                      <a:r>
                        <a:rPr sz="1000" b="0">
                          <a:solidFill>
                            <a:srgbClr val="262626"/>
                          </a:solidFill>
                        </a:rPr>
                        <a:t>[121,794, 126,126]</a:t>
                      </a:r>
                    </a:p>
                  </a:txBody>
                  <a:tcPr>
                    <a:solidFill>
                      <a:srgbClr val="F3F6FB"/>
                    </a:solidFill>
                  </a:tcPr>
                </a:tc>
                <a:tc>
                  <a:txBody>
                    <a:bodyPr/>
                    <a:lstStyle/>
                    <a:p>
                      <a:r>
                        <a:rPr sz="1000" b="0">
                          <a:solidFill>
                            <a:srgbClr val="262626"/>
                          </a:solidFill>
                        </a:rPr>
                        <a:t>98.1%</a:t>
                      </a:r>
                    </a:p>
                  </a:txBody>
                  <a:tcPr>
                    <a:solidFill>
                      <a:srgbClr val="F3F6FB"/>
                    </a:solidFill>
                  </a:tcPr>
                </a:tc>
                <a:extLst>
                  <a:ext uri="{0D108BD9-81ED-4DB2-BD59-A6C34878D82A}">
                    <a16:rowId xmlns:a16="http://schemas.microsoft.com/office/drawing/2014/main" val="10002"/>
                  </a:ext>
                </a:extLst>
              </a:tr>
              <a:tr h="515000">
                <a:tc>
                  <a:txBody>
                    <a:bodyPr/>
                    <a:lstStyle/>
                    <a:p>
                      <a:r>
                        <a:rPr sz="900" b="0">
                          <a:solidFill>
                            <a:srgbClr val="262626"/>
                          </a:solidFill>
                        </a:rPr>
                        <a:t>AlwaysRATED (trivial constant)</a:t>
                      </a:r>
                    </a:p>
                  </a:txBody>
                  <a:tcPr>
                    <a:solidFill>
                      <a:srgbClr val="FEF3CD"/>
                    </a:solidFill>
                  </a:tcPr>
                </a:tc>
                <a:tc>
                  <a:txBody>
                    <a:bodyPr/>
                    <a:lstStyle/>
                    <a:p>
                      <a:r>
                        <a:rPr sz="1000" b="0">
                          <a:solidFill>
                            <a:srgbClr val="262626"/>
                          </a:solidFill>
                        </a:rPr>
                        <a:t>$122,287</a:t>
                      </a:r>
                    </a:p>
                  </a:txBody>
                  <a:tcPr>
                    <a:solidFill>
                      <a:srgbClr val="FEF3CD"/>
                    </a:solidFill>
                  </a:tcPr>
                </a:tc>
                <a:tc>
                  <a:txBody>
                    <a:bodyPr/>
                    <a:lstStyle/>
                    <a:p>
                      <a:r>
                        <a:rPr sz="1000" b="0">
                          <a:solidFill>
                            <a:srgbClr val="262626"/>
                          </a:solidFill>
                        </a:rPr>
                        <a:t>[119,528, 124,996]</a:t>
                      </a:r>
                    </a:p>
                  </a:txBody>
                  <a:tcPr>
                    <a:solidFill>
                      <a:srgbClr val="FEF3CD"/>
                    </a:solidFill>
                  </a:tcPr>
                </a:tc>
                <a:tc>
                  <a:txBody>
                    <a:bodyPr/>
                    <a:lstStyle/>
                    <a:p>
                      <a:r>
                        <a:rPr sz="1000" b="0">
                          <a:solidFill>
                            <a:srgbClr val="262626"/>
                          </a:solidFill>
                        </a:rPr>
                        <a:t>96.8%</a:t>
                      </a:r>
                    </a:p>
                  </a:txBody>
                  <a:tcPr>
                    <a:solidFill>
                      <a:srgbClr val="FEF3CD"/>
                    </a:solidFill>
                  </a:tcPr>
                </a:tc>
                <a:extLst>
                  <a:ext uri="{0D108BD9-81ED-4DB2-BD59-A6C34878D82A}">
                    <a16:rowId xmlns:a16="http://schemas.microsoft.com/office/drawing/2014/main" val="10003"/>
                  </a:ext>
                </a:extLst>
              </a:tr>
              <a:tr h="515000">
                <a:tc>
                  <a:txBody>
                    <a:bodyPr/>
                    <a:lstStyle/>
                    <a:p>
                      <a:r>
                        <a:rPr sz="900" b="1">
                          <a:solidFill>
                            <a:srgbClr val="1B5697"/>
                          </a:solidFill>
                        </a:rPr>
                        <a:t>LinTS  ← proposed</a:t>
                      </a:r>
                    </a:p>
                  </a:txBody>
                  <a:tcPr>
                    <a:solidFill>
                      <a:srgbClr val="E7F4E8"/>
                    </a:solidFill>
                  </a:tcPr>
                </a:tc>
                <a:tc>
                  <a:txBody>
                    <a:bodyPr/>
                    <a:lstStyle/>
                    <a:p>
                      <a:r>
                        <a:rPr sz="1000" b="1">
                          <a:solidFill>
                            <a:srgbClr val="1B5697"/>
                          </a:solidFill>
                        </a:rPr>
                        <a:t>$93,723</a:t>
                      </a:r>
                    </a:p>
                  </a:txBody>
                  <a:tcPr>
                    <a:solidFill>
                      <a:srgbClr val="E7F4E8"/>
                    </a:solidFill>
                  </a:tcPr>
                </a:tc>
                <a:tc>
                  <a:txBody>
                    <a:bodyPr/>
                    <a:lstStyle/>
                    <a:p>
                      <a:r>
                        <a:rPr sz="1000" b="1">
                          <a:solidFill>
                            <a:srgbClr val="1B5697"/>
                          </a:solidFill>
                        </a:rPr>
                        <a:t>[91,105, 96,481]</a:t>
                      </a:r>
                    </a:p>
                  </a:txBody>
                  <a:tcPr>
                    <a:solidFill>
                      <a:srgbClr val="E7F4E8"/>
                    </a:solidFill>
                  </a:tcPr>
                </a:tc>
                <a:tc>
                  <a:txBody>
                    <a:bodyPr/>
                    <a:lstStyle/>
                    <a:p>
                      <a:r>
                        <a:rPr sz="1000" b="1">
                          <a:solidFill>
                            <a:srgbClr val="1B5697"/>
                          </a:solidFill>
                        </a:rPr>
                        <a:t>74.2%</a:t>
                      </a:r>
                    </a:p>
                  </a:txBody>
                  <a:tcPr>
                    <a:solidFill>
                      <a:srgbClr val="E7F4E8"/>
                    </a:solidFill>
                  </a:tcPr>
                </a:tc>
                <a:extLst>
                  <a:ext uri="{0D108BD9-81ED-4DB2-BD59-A6C34878D82A}">
                    <a16:rowId xmlns:a16="http://schemas.microsoft.com/office/drawing/2014/main" val="10004"/>
                  </a:ext>
                </a:extLst>
              </a:tr>
              <a:tr h="515000">
                <a:tc>
                  <a:txBody>
                    <a:bodyPr/>
                    <a:lstStyle/>
                    <a:p>
                      <a:r>
                        <a:rPr sz="900" b="1">
                          <a:solidFill>
                            <a:srgbClr val="1B5697"/>
                          </a:solidFill>
                        </a:rPr>
                        <a:t>LinUCB  ← proposed</a:t>
                      </a:r>
                    </a:p>
                  </a:txBody>
                  <a:tcPr>
                    <a:solidFill>
                      <a:srgbClr val="E7F4E8"/>
                    </a:solidFill>
                  </a:tcPr>
                </a:tc>
                <a:tc>
                  <a:txBody>
                    <a:bodyPr/>
                    <a:lstStyle/>
                    <a:p>
                      <a:r>
                        <a:rPr sz="1000" b="1">
                          <a:solidFill>
                            <a:srgbClr val="1B5697"/>
                          </a:solidFill>
                        </a:rPr>
                        <a:t>$91,864</a:t>
                      </a:r>
                    </a:p>
                  </a:txBody>
                  <a:tcPr>
                    <a:solidFill>
                      <a:srgbClr val="E7F4E8"/>
                    </a:solidFill>
                  </a:tcPr>
                </a:tc>
                <a:tc>
                  <a:txBody>
                    <a:bodyPr/>
                    <a:lstStyle/>
                    <a:p>
                      <a:r>
                        <a:rPr sz="1000" b="1">
                          <a:solidFill>
                            <a:srgbClr val="1B5697"/>
                          </a:solidFill>
                        </a:rPr>
                        <a:t>[89,139, 94,702]</a:t>
                      </a:r>
                    </a:p>
                  </a:txBody>
                  <a:tcPr>
                    <a:solidFill>
                      <a:srgbClr val="E7F4E8"/>
                    </a:solidFill>
                  </a:tcPr>
                </a:tc>
                <a:tc>
                  <a:txBody>
                    <a:bodyPr/>
                    <a:lstStyle/>
                    <a:p>
                      <a:r>
                        <a:rPr sz="1000" b="1">
                          <a:solidFill>
                            <a:srgbClr val="1B5697"/>
                          </a:solidFill>
                        </a:rPr>
                        <a:t>72.7%</a:t>
                      </a:r>
                    </a:p>
                  </a:txBody>
                  <a:tcPr>
                    <a:solidFill>
                      <a:srgbClr val="E7F4E8"/>
                    </a:solidFill>
                  </a:tcPr>
                </a:tc>
                <a:extLst>
                  <a:ext uri="{0D108BD9-81ED-4DB2-BD59-A6C34878D82A}">
                    <a16:rowId xmlns:a16="http://schemas.microsoft.com/office/drawing/2014/main" val="10005"/>
                  </a:ext>
                </a:extLst>
              </a:tr>
              <a:tr h="515000">
                <a:tc>
                  <a:txBody>
                    <a:bodyPr/>
                    <a:lstStyle/>
                    <a:p>
                      <a:r>
                        <a:rPr sz="900" b="0">
                          <a:solidFill>
                            <a:srgbClr val="262626"/>
                          </a:solidFill>
                        </a:rPr>
                        <a:t>Epsilon-Greedy</a:t>
                      </a:r>
                    </a:p>
                  </a:txBody>
                  <a:tcPr>
                    <a:solidFill>
                      <a:srgbClr val="FFFFFF"/>
                    </a:solidFill>
                  </a:tcPr>
                </a:tc>
                <a:tc>
                  <a:txBody>
                    <a:bodyPr/>
                    <a:lstStyle/>
                    <a:p>
                      <a:r>
                        <a:rPr sz="1000" b="0">
                          <a:solidFill>
                            <a:srgbClr val="262626"/>
                          </a:solidFill>
                        </a:rPr>
                        <a:t>$76,441</a:t>
                      </a:r>
                    </a:p>
                  </a:txBody>
                  <a:tcPr>
                    <a:solidFill>
                      <a:srgbClr val="FFFFFF"/>
                    </a:solidFill>
                  </a:tcPr>
                </a:tc>
                <a:tc>
                  <a:txBody>
                    <a:bodyPr/>
                    <a:lstStyle/>
                    <a:p>
                      <a:r>
                        <a:rPr sz="1000" b="0">
                          <a:solidFill>
                            <a:srgbClr val="262626"/>
                          </a:solidFill>
                        </a:rPr>
                        <a:t>[73,767, 79,107]</a:t>
                      </a:r>
                    </a:p>
                  </a:txBody>
                  <a:tcPr>
                    <a:solidFill>
                      <a:srgbClr val="FFFFFF"/>
                    </a:solidFill>
                  </a:tcPr>
                </a:tc>
                <a:tc>
                  <a:txBody>
                    <a:bodyPr/>
                    <a:lstStyle/>
                    <a:p>
                      <a:r>
                        <a:rPr sz="1000" b="0">
                          <a:solidFill>
                            <a:srgbClr val="262626"/>
                          </a:solidFill>
                        </a:rPr>
                        <a:t>60.5%</a:t>
                      </a:r>
                    </a:p>
                  </a:txBody>
                  <a:tcPr>
                    <a:solidFill>
                      <a:srgbClr val="FFFFFF"/>
                    </a:solidFill>
                  </a:tcPr>
                </a:tc>
                <a:extLst>
                  <a:ext uri="{0D108BD9-81ED-4DB2-BD59-A6C34878D82A}">
                    <a16:rowId xmlns:a16="http://schemas.microsoft.com/office/drawing/2014/main" val="10006"/>
                  </a:ext>
                </a:extLst>
              </a:tr>
              <a:tr h="515000">
                <a:tc>
                  <a:txBody>
                    <a:bodyPr/>
                    <a:lstStyle/>
                    <a:p>
                      <a:r>
                        <a:rPr sz="900" b="0">
                          <a:solidFill>
                            <a:srgbClr val="262626"/>
                          </a:solidFill>
                        </a:rPr>
                        <a:t>Static XGB (incumbent)</a:t>
                      </a:r>
                    </a:p>
                  </a:txBody>
                  <a:tcPr>
                    <a:solidFill>
                      <a:srgbClr val="FFFFFF"/>
                    </a:solidFill>
                  </a:tcPr>
                </a:tc>
                <a:tc>
                  <a:txBody>
                    <a:bodyPr/>
                    <a:lstStyle/>
                    <a:p>
                      <a:r>
                        <a:rPr sz="1000" b="0">
                          <a:solidFill>
                            <a:srgbClr val="262626"/>
                          </a:solidFill>
                        </a:rPr>
                        <a:t>$72,206</a:t>
                      </a:r>
                    </a:p>
                  </a:txBody>
                  <a:tcPr>
                    <a:solidFill>
                      <a:srgbClr val="FFFFFF"/>
                    </a:solidFill>
                  </a:tcPr>
                </a:tc>
                <a:tc>
                  <a:txBody>
                    <a:bodyPr/>
                    <a:lstStyle/>
                    <a:p>
                      <a:r>
                        <a:rPr sz="1000" b="0">
                          <a:solidFill>
                            <a:srgbClr val="262626"/>
                          </a:solidFill>
                        </a:rPr>
                        <a:t>[70,125, 74,352]</a:t>
                      </a:r>
                    </a:p>
                  </a:txBody>
                  <a:tcPr>
                    <a:solidFill>
                      <a:srgbClr val="FFFFFF"/>
                    </a:solidFill>
                  </a:tcPr>
                </a:tc>
                <a:tc>
                  <a:txBody>
                    <a:bodyPr/>
                    <a:lstStyle/>
                    <a:p>
                      <a:r>
                        <a:rPr sz="1000" b="0">
                          <a:solidFill>
                            <a:srgbClr val="262626"/>
                          </a:solidFill>
                        </a:rPr>
                        <a:t>57.1%</a:t>
                      </a:r>
                    </a:p>
                  </a:txBody>
                  <a:tcPr>
                    <a:solidFill>
                      <a:srgbClr val="FFFFFF"/>
                    </a:solidFill>
                  </a:tcPr>
                </a:tc>
                <a:extLst>
                  <a:ext uri="{0D108BD9-81ED-4DB2-BD59-A6C34878D82A}">
                    <a16:rowId xmlns:a16="http://schemas.microsoft.com/office/drawing/2014/main" val="10007"/>
                  </a:ext>
                </a:extLst>
              </a:tr>
              <a:tr h="515000">
                <a:tc>
                  <a:txBody>
                    <a:bodyPr/>
                    <a:lstStyle/>
                    <a:p>
                      <a:r>
                        <a:rPr sz="900" b="0">
                          <a:solidFill>
                            <a:srgbClr val="262626"/>
                          </a:solidFill>
                        </a:rPr>
                        <a:t>AlwaysSTANDARD</a:t>
                      </a:r>
                    </a:p>
                  </a:txBody>
                  <a:tcPr>
                    <a:solidFill>
                      <a:srgbClr val="FFFFFF"/>
                    </a:solidFill>
                  </a:tcPr>
                </a:tc>
                <a:tc>
                  <a:txBody>
                    <a:bodyPr/>
                    <a:lstStyle/>
                    <a:p>
                      <a:r>
                        <a:rPr sz="1000" b="0">
                          <a:solidFill>
                            <a:srgbClr val="262626"/>
                          </a:solidFill>
                        </a:rPr>
                        <a:t>$34,684</a:t>
                      </a:r>
                    </a:p>
                  </a:txBody>
                  <a:tcPr>
                    <a:solidFill>
                      <a:srgbClr val="FFFFFF"/>
                    </a:solidFill>
                  </a:tcPr>
                </a:tc>
                <a:tc>
                  <a:txBody>
                    <a:bodyPr/>
                    <a:lstStyle/>
                    <a:p>
                      <a:r>
                        <a:rPr sz="1000" b="0">
                          <a:solidFill>
                            <a:srgbClr val="262626"/>
                          </a:solidFill>
                        </a:rPr>
                        <a:t>[33,694, 35,871]</a:t>
                      </a:r>
                    </a:p>
                  </a:txBody>
                  <a:tcPr>
                    <a:solidFill>
                      <a:srgbClr val="FFFFFF"/>
                    </a:solidFill>
                  </a:tcPr>
                </a:tc>
                <a:tc>
                  <a:txBody>
                    <a:bodyPr/>
                    <a:lstStyle/>
                    <a:p>
                      <a:r>
                        <a:rPr sz="1000" b="0">
                          <a:solidFill>
                            <a:srgbClr val="262626"/>
                          </a:solidFill>
                        </a:rPr>
                        <a:t>27.5%</a:t>
                      </a:r>
                    </a:p>
                  </a:txBody>
                  <a:tcPr>
                    <a:solidFill>
                      <a:srgbClr val="FFFFFF"/>
                    </a:solidFill>
                  </a:tcPr>
                </a:tc>
                <a:extLst>
                  <a:ext uri="{0D108BD9-81ED-4DB2-BD59-A6C34878D82A}">
                    <a16:rowId xmlns:a16="http://schemas.microsoft.com/office/drawing/2014/main" val="10008"/>
                  </a:ext>
                </a:extLst>
              </a:tr>
              <a:tr h="515000">
                <a:tc>
                  <a:txBody>
                    <a:bodyPr/>
                    <a:lstStyle/>
                    <a:p>
                      <a:r>
                        <a:rPr sz="900" b="0">
                          <a:solidFill>
                            <a:srgbClr val="262626"/>
                          </a:solidFill>
                        </a:rPr>
                        <a:t>Random</a:t>
                      </a:r>
                    </a:p>
                  </a:txBody>
                  <a:tcPr>
                    <a:solidFill>
                      <a:srgbClr val="FFFFFF"/>
                    </a:solidFill>
                  </a:tcPr>
                </a:tc>
                <a:tc>
                  <a:txBody>
                    <a:bodyPr/>
                    <a:lstStyle/>
                    <a:p>
                      <a:r>
                        <a:rPr sz="1000" b="0">
                          <a:solidFill>
                            <a:srgbClr val="262626"/>
                          </a:solidFill>
                        </a:rPr>
                        <a:t>$1,980</a:t>
                      </a:r>
                    </a:p>
                  </a:txBody>
                  <a:tcPr>
                    <a:solidFill>
                      <a:srgbClr val="FFFFFF"/>
                    </a:solidFill>
                  </a:tcPr>
                </a:tc>
                <a:tc>
                  <a:txBody>
                    <a:bodyPr/>
                    <a:lstStyle/>
                    <a:p>
                      <a:r>
                        <a:rPr sz="1000" b="0">
                          <a:solidFill>
                            <a:srgbClr val="262626"/>
                          </a:solidFill>
                        </a:rPr>
                        <a:t>[739, 3,209]</a:t>
                      </a:r>
                    </a:p>
                  </a:txBody>
                  <a:tcPr>
                    <a:solidFill>
                      <a:srgbClr val="FFFFFF"/>
                    </a:solidFill>
                  </a:tcPr>
                </a:tc>
                <a:tc>
                  <a:txBody>
                    <a:bodyPr/>
                    <a:lstStyle/>
                    <a:p>
                      <a:r>
                        <a:rPr sz="1000" b="0">
                          <a:solidFill>
                            <a:srgbClr val="262626"/>
                          </a:solidFill>
                        </a:rPr>
                        <a:t>1.6%</a:t>
                      </a:r>
                    </a:p>
                  </a:txBody>
                  <a:tcPr>
                    <a:solidFill>
                      <a:srgbClr val="FFFFFF"/>
                    </a:solidFill>
                  </a:tcPr>
                </a:tc>
                <a:extLst>
                  <a:ext uri="{0D108BD9-81ED-4DB2-BD59-A6C34878D82A}">
                    <a16:rowId xmlns:a16="http://schemas.microsoft.com/office/drawing/2014/main" val="10009"/>
                  </a:ext>
                </a:extLst>
              </a:tr>
            </a:tbl>
          </a:graphicData>
        </a:graphic>
      </p:graphicFrame>
      <p:sp>
        <p:nvSpPr>
          <p:cNvPr id="6" name="TextBox 5"/>
          <p:cNvSpPr txBox="1"/>
          <p:nvPr/>
        </p:nvSpPr>
        <p:spPr>
          <a:xfrm>
            <a:off x="457200" y="6200000"/>
            <a:ext cx="11277295" cy="300000"/>
          </a:xfrm>
          <a:prstGeom prst="rect">
            <a:avLst/>
          </a:prstGeom>
          <a:noFill/>
        </p:spPr>
        <p:txBody>
          <a:bodyPr wrap="square">
            <a:spAutoFit/>
          </a:bodyPr>
          <a:lstStyle/>
          <a:p>
            <a:pPr algn="l">
              <a:spcBef>
                <a:spcPts val="0"/>
              </a:spcBef>
              <a:spcAft>
                <a:spcPts val="0"/>
              </a:spcAft>
            </a:pPr>
            <a:r>
              <a:rPr sz="900" b="0" i="1">
                <a:solidFill>
                  <a:srgbClr val="505050"/>
                </a:solidFill>
                <a:latin typeface="Calibri"/>
              </a:rPr>
              <a:t>‡ LogisticOracle fit in-sample on oracle labels — not deployable (diagnostic only). AlwaysRATED is commercially &amp; regulatorily inadmissible. Bandits lead every admissible alternative.</a:t>
            </a:r>
          </a:p>
        </p:txBody>
      </p:sp>
      <p:sp>
        <p:nvSpPr>
          <p:cNvPr id="7" name="Rectangle 6"/>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9" name="Rectangle 8"/>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Results &amp; Evaluation</a:t>
            </a:r>
          </a:p>
        </p:txBody>
      </p:sp>
      <p:sp>
        <p:nvSpPr>
          <p:cNvPr id="11" name="Rectangle 10"/>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18 / 43</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EXP-005: CONVERGENCE VALIDATION</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150000"/>
            <a:ext cx="6766377" cy="7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150000"/>
            <a:ext cx="91440" cy="72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07200" y="1250000"/>
            <a:ext cx="4000000" cy="35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LinUCB cumulative reward</a:t>
            </a:r>
          </a:p>
        </p:txBody>
      </p:sp>
      <p:sp>
        <p:nvSpPr>
          <p:cNvPr id="8" name="TextBox 7"/>
          <p:cNvSpPr txBox="1"/>
          <p:nvPr/>
        </p:nvSpPr>
        <p:spPr>
          <a:xfrm>
            <a:off x="607200" y="1500000"/>
            <a:ext cx="4000000" cy="33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$90,540 ± 5,382</a:t>
            </a:r>
          </a:p>
        </p:txBody>
      </p:sp>
      <p:sp>
        <p:nvSpPr>
          <p:cNvPr id="9" name="TextBox 8"/>
          <p:cNvSpPr txBox="1"/>
          <p:nvPr/>
        </p:nvSpPr>
        <p:spPr>
          <a:xfrm>
            <a:off x="4857200" y="140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latin typeface="Calibri"/>
              </a:rPr>
              <a:t>[88,287 – 92,886]</a:t>
            </a:r>
          </a:p>
        </p:txBody>
      </p:sp>
      <p:sp>
        <p:nvSpPr>
          <p:cNvPr id="10" name="Rectangle 9"/>
          <p:cNvSpPr/>
          <p:nvPr/>
        </p:nvSpPr>
        <p:spPr>
          <a:xfrm>
            <a:off x="457200" y="1930000"/>
            <a:ext cx="6766377" cy="7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1930000"/>
            <a:ext cx="91440" cy="72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07200" y="2030000"/>
            <a:ext cx="4000000" cy="35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Static XGB reward</a:t>
            </a:r>
          </a:p>
        </p:txBody>
      </p:sp>
      <p:sp>
        <p:nvSpPr>
          <p:cNvPr id="13" name="TextBox 12"/>
          <p:cNvSpPr txBox="1"/>
          <p:nvPr/>
        </p:nvSpPr>
        <p:spPr>
          <a:xfrm>
            <a:off x="607200" y="2280000"/>
            <a:ext cx="4000000" cy="33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$72,292 ± 4,120</a:t>
            </a:r>
          </a:p>
        </p:txBody>
      </p:sp>
      <p:sp>
        <p:nvSpPr>
          <p:cNvPr id="14" name="TextBox 13"/>
          <p:cNvSpPr txBox="1"/>
          <p:nvPr/>
        </p:nvSpPr>
        <p:spPr>
          <a:xfrm>
            <a:off x="4857200" y="218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latin typeface="Calibri"/>
              </a:rPr>
              <a:t>[70,646 – 74,136]</a:t>
            </a:r>
          </a:p>
        </p:txBody>
      </p:sp>
      <p:sp>
        <p:nvSpPr>
          <p:cNvPr id="15" name="Rectangle 14"/>
          <p:cNvSpPr/>
          <p:nvPr/>
        </p:nvSpPr>
        <p:spPr>
          <a:xfrm>
            <a:off x="457200" y="2710000"/>
            <a:ext cx="6766377" cy="7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2710000"/>
            <a:ext cx="91440" cy="72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07200" y="2810000"/>
            <a:ext cx="4000000" cy="35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Improvement</a:t>
            </a:r>
          </a:p>
        </p:txBody>
      </p:sp>
      <p:sp>
        <p:nvSpPr>
          <p:cNvPr id="18" name="TextBox 17"/>
          <p:cNvSpPr txBox="1"/>
          <p:nvPr/>
        </p:nvSpPr>
        <p:spPr>
          <a:xfrm>
            <a:off x="607200" y="3060000"/>
            <a:ext cx="4000000" cy="33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+$18,248  (+25.2%)</a:t>
            </a:r>
          </a:p>
        </p:txBody>
      </p:sp>
      <p:sp>
        <p:nvSpPr>
          <p:cNvPr id="19" name="TextBox 18"/>
          <p:cNvSpPr txBox="1"/>
          <p:nvPr/>
        </p:nvSpPr>
        <p:spPr>
          <a:xfrm>
            <a:off x="4857200" y="296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latin typeface="Calibri"/>
              </a:rPr>
              <a:t>p &lt; 0.001, d = 2.98</a:t>
            </a:r>
          </a:p>
        </p:txBody>
      </p:sp>
      <p:sp>
        <p:nvSpPr>
          <p:cNvPr id="20" name="Rectangle 19"/>
          <p:cNvSpPr/>
          <p:nvPr/>
        </p:nvSpPr>
        <p:spPr>
          <a:xfrm>
            <a:off x="457200" y="3490000"/>
            <a:ext cx="6766377" cy="7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3490000"/>
            <a:ext cx="91440" cy="72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07200" y="3590000"/>
            <a:ext cx="4000000" cy="35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Oracle ceiling</a:t>
            </a:r>
          </a:p>
        </p:txBody>
      </p:sp>
      <p:sp>
        <p:nvSpPr>
          <p:cNvPr id="23" name="TextBox 22"/>
          <p:cNvSpPr txBox="1"/>
          <p:nvPr/>
        </p:nvSpPr>
        <p:spPr>
          <a:xfrm>
            <a:off x="607200" y="3840000"/>
            <a:ext cx="4000000" cy="33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$126,804</a:t>
            </a:r>
          </a:p>
        </p:txBody>
      </p:sp>
      <p:sp>
        <p:nvSpPr>
          <p:cNvPr id="24" name="TextBox 23"/>
          <p:cNvSpPr txBox="1"/>
          <p:nvPr/>
        </p:nvSpPr>
        <p:spPr>
          <a:xfrm>
            <a:off x="4857200" y="374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latin typeface="Calibri"/>
              </a:rPr>
              <a:t>LinUCB recovers 72%</a:t>
            </a:r>
          </a:p>
        </p:txBody>
      </p:sp>
      <p:sp>
        <p:nvSpPr>
          <p:cNvPr id="25" name="Rectangle 24"/>
          <p:cNvSpPr/>
          <p:nvPr/>
        </p:nvSpPr>
        <p:spPr>
          <a:xfrm>
            <a:off x="457200" y="4270000"/>
            <a:ext cx="6766377" cy="7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57200" y="4270000"/>
            <a:ext cx="91440" cy="72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07200" y="4370000"/>
            <a:ext cx="4000000" cy="35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Late regret — LinUCB</a:t>
            </a:r>
          </a:p>
        </p:txBody>
      </p:sp>
      <p:sp>
        <p:nvSpPr>
          <p:cNvPr id="28" name="TextBox 27"/>
          <p:cNvSpPr txBox="1"/>
          <p:nvPr/>
        </p:nvSpPr>
        <p:spPr>
          <a:xfrm>
            <a:off x="607200" y="4620000"/>
            <a:ext cx="4000000" cy="33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$2.20/round</a:t>
            </a:r>
          </a:p>
        </p:txBody>
      </p:sp>
      <p:sp>
        <p:nvSpPr>
          <p:cNvPr id="29" name="TextBox 28"/>
          <p:cNvSpPr txBox="1"/>
          <p:nvPr/>
        </p:nvSpPr>
        <p:spPr>
          <a:xfrm>
            <a:off x="4857200" y="452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latin typeface="Calibri"/>
              </a:rPr>
              <a:t>Last 500 rounds</a:t>
            </a:r>
          </a:p>
        </p:txBody>
      </p:sp>
      <p:sp>
        <p:nvSpPr>
          <p:cNvPr id="30" name="Rectangle 29"/>
          <p:cNvSpPr/>
          <p:nvPr/>
        </p:nvSpPr>
        <p:spPr>
          <a:xfrm>
            <a:off x="457200" y="5050000"/>
            <a:ext cx="6766377" cy="7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457200" y="5050000"/>
            <a:ext cx="91440" cy="72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07200" y="5150000"/>
            <a:ext cx="4000000" cy="35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Late regret — Static XGB</a:t>
            </a:r>
          </a:p>
        </p:txBody>
      </p:sp>
      <p:sp>
        <p:nvSpPr>
          <p:cNvPr id="33" name="TextBox 32"/>
          <p:cNvSpPr txBox="1"/>
          <p:nvPr/>
        </p:nvSpPr>
        <p:spPr>
          <a:xfrm>
            <a:off x="607200" y="5400000"/>
            <a:ext cx="4000000" cy="33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$9.01/round</a:t>
            </a:r>
          </a:p>
        </p:txBody>
      </p:sp>
      <p:sp>
        <p:nvSpPr>
          <p:cNvPr id="34" name="TextBox 33"/>
          <p:cNvSpPr txBox="1"/>
          <p:nvPr/>
        </p:nvSpPr>
        <p:spPr>
          <a:xfrm>
            <a:off x="4857200" y="530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latin typeface="Calibri"/>
              </a:rPr>
              <a:t>Last 500 rounds</a:t>
            </a:r>
          </a:p>
        </p:txBody>
      </p:sp>
      <p:sp>
        <p:nvSpPr>
          <p:cNvPr id="35" name="TextBox 34"/>
          <p:cNvSpPr txBox="1"/>
          <p:nvPr/>
        </p:nvSpPr>
        <p:spPr>
          <a:xfrm>
            <a:off x="457200" y="5600000"/>
            <a:ext cx="11277295" cy="400000"/>
          </a:xfrm>
          <a:prstGeom prst="rect">
            <a:avLst/>
          </a:prstGeom>
          <a:noFill/>
        </p:spPr>
        <p:txBody>
          <a:bodyPr wrap="square">
            <a:spAutoFit/>
          </a:bodyPr>
          <a:lstStyle/>
          <a:p>
            <a:pPr algn="ctr">
              <a:spcBef>
                <a:spcPts val="0"/>
              </a:spcBef>
              <a:spcAft>
                <a:spcPts val="0"/>
              </a:spcAft>
            </a:pPr>
            <a:r>
              <a:rPr sz="1300" b="1" i="0">
                <a:solidFill>
                  <a:srgbClr val="1B5697"/>
                </a:solidFill>
                <a:latin typeface="Calibri"/>
              </a:rPr>
              <a:t>+25.2% = the gap between 2023 Sophea (DECLINE) and 2026 Sophea (STANDARD).</a:t>
            </a:r>
          </a:p>
        </p:txBody>
      </p:sp>
      <p:sp>
        <p:nvSpPr>
          <p:cNvPr id="36" name="Rectangle 35"/>
          <p:cNvSpPr/>
          <p:nvPr/>
        </p:nvSpPr>
        <p:spPr>
          <a:xfrm>
            <a:off x="7423577" y="1150000"/>
            <a:ext cx="4310918" cy="4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7573577" y="1250000"/>
            <a:ext cx="4110918" cy="4100000"/>
          </a:xfrm>
          <a:prstGeom prst="rect">
            <a:avLst/>
          </a:prstGeom>
          <a:noFill/>
        </p:spPr>
        <p:txBody>
          <a:bodyPr wrap="square">
            <a:spAutoFit/>
          </a:bodyPr>
          <a:lstStyle/>
          <a:p>
            <a:pPr algn="l">
              <a:spcBef>
                <a:spcPts val="0"/>
              </a:spcBef>
              <a:spcAft>
                <a:spcPts val="0"/>
              </a:spcAft>
            </a:pPr>
            <a:r>
              <a:rPr sz="1100" b="1" i="0">
                <a:solidFill>
                  <a:srgbClr val="1B5697"/>
                </a:solidFill>
                <a:latin typeface="Calibri"/>
              </a:rPr>
              <a:t>CONVERGENCE INDICATORS</a:t>
            </a:r>
          </a:p>
          <a:p>
            <a:pPr algn="l">
              <a:spcBef>
                <a:spcPts val="600"/>
              </a:spcBef>
            </a:pPr>
            <a:r>
              <a:rPr sz="1000" b="0" i="0">
                <a:solidFill>
                  <a:srgbClr val="505050"/>
                </a:solidFill>
                <a:latin typeface="Calibri"/>
              </a:rPr>
              <a:t>Action entropy: 1.314 → 1.105 nats</a:t>
            </a:r>
          </a:p>
          <a:p>
            <a:pPr algn="l">
              <a:spcBef>
                <a:spcPts val="600"/>
              </a:spcBef>
            </a:pPr>
            <a:r>
              <a:rPr sz="1000" b="0" i="0">
                <a:solidFill>
                  <a:srgbClr val="505050"/>
                </a:solidFill>
                <a:latin typeface="Calibri"/>
              </a:rPr>
              <a:t>(exploration → exploitation)</a:t>
            </a:r>
          </a:p>
          <a:p>
            <a:pPr algn="l">
              <a:spcBef>
                <a:spcPts val="600"/>
              </a:spcBef>
            </a:pPr>
            <a:endParaRPr sz="1000" b="0" i="0">
              <a:solidFill>
                <a:srgbClr val="505050"/>
              </a:solidFill>
              <a:latin typeface="Calibri"/>
            </a:endParaRPr>
          </a:p>
          <a:p>
            <a:pPr algn="l">
              <a:spcBef>
                <a:spcPts val="600"/>
              </a:spcBef>
            </a:pPr>
            <a:r>
              <a:rPr sz="1000" b="0" i="0">
                <a:solidFill>
                  <a:srgbClr val="505050"/>
                </a:solidFill>
                <a:latin typeface="Calibri"/>
              </a:rPr>
              <a:t>Oracle-agreement (last 500 rounds): 37.8%</a:t>
            </a:r>
          </a:p>
          <a:p>
            <a:pPr algn="l">
              <a:spcBef>
                <a:spcPts val="600"/>
              </a:spcBef>
            </a:pPr>
            <a:r>
              <a:rPr sz="1000" b="0" i="0">
                <a:solidFill>
                  <a:srgbClr val="505050"/>
                </a:solidFill>
                <a:latin typeface="Calibri"/>
              </a:rPr>
              <a:t>(learns different but profitable policy)</a:t>
            </a:r>
          </a:p>
          <a:p>
            <a:pPr algn="l">
              <a:spcBef>
                <a:spcPts val="600"/>
              </a:spcBef>
            </a:pPr>
            <a:endParaRPr sz="1000" b="0" i="0">
              <a:solidFill>
                <a:srgbClr val="505050"/>
              </a:solidFill>
              <a:latin typeface="Calibri"/>
            </a:endParaRPr>
          </a:p>
          <a:p>
            <a:pPr algn="l">
              <a:spcBef>
                <a:spcPts val="600"/>
              </a:spcBef>
            </a:pPr>
            <a:r>
              <a:rPr sz="1000" b="0" i="0">
                <a:solidFill>
                  <a:srgbClr val="505050"/>
                </a:solidFill>
                <a:latin typeface="Calibri"/>
              </a:rPr>
              <a:t>Regret curve follows O(√T)</a:t>
            </a:r>
          </a:p>
          <a:p>
            <a:pPr algn="l">
              <a:spcBef>
                <a:spcPts val="600"/>
              </a:spcBef>
            </a:pPr>
            <a:r>
              <a:rPr sz="1000" b="0" i="0">
                <a:solidFill>
                  <a:srgbClr val="505050"/>
                </a:solidFill>
                <a:latin typeface="Calibri"/>
              </a:rPr>
              <a:t>Log-log slope: 0.572 (theory: 0.5)</a:t>
            </a:r>
          </a:p>
          <a:p>
            <a:pPr algn="l">
              <a:spcBef>
                <a:spcPts val="600"/>
              </a:spcBef>
            </a:pPr>
            <a:r>
              <a:rPr sz="1000" b="0" i="0">
                <a:solidFill>
                  <a:srgbClr val="505050"/>
                </a:solidFill>
                <a:latin typeface="Calibri"/>
              </a:rPr>
              <a:t>R² = 0.9915</a:t>
            </a:r>
          </a:p>
          <a:p>
            <a:pPr algn="l">
              <a:spcBef>
                <a:spcPts val="600"/>
              </a:spcBef>
            </a:pPr>
            <a:endParaRPr sz="1000" b="0" i="0">
              <a:solidFill>
                <a:srgbClr val="505050"/>
              </a:solidFill>
              <a:latin typeface="Calibri"/>
            </a:endParaRPr>
          </a:p>
          <a:p>
            <a:pPr algn="l">
              <a:spcBef>
                <a:spcPts val="600"/>
              </a:spcBef>
            </a:pPr>
            <a:r>
              <a:rPr sz="1000" b="1" i="0">
                <a:solidFill>
                  <a:srgbClr val="2E8B57"/>
                </a:solidFill>
                <a:latin typeface="Calibri"/>
              </a:rPr>
              <a:t>All 5 EXP-005 criteria: PASSED</a:t>
            </a:r>
          </a:p>
        </p:txBody>
      </p:sp>
      <p:sp>
        <p:nvSpPr>
          <p:cNvPr id="38" name="Rectangle 37"/>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40" name="Rectangle 39"/>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Results &amp; Evaluation</a:t>
            </a:r>
          </a:p>
        </p:txBody>
      </p:sp>
      <p:sp>
        <p:nvSpPr>
          <p:cNvPr id="42" name="Rectangle 41"/>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19 / 43</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EXP-006: FAIRNESS AUDIT</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150000"/>
            <a:ext cx="5488647" cy="76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150000"/>
            <a:ext cx="91440" cy="76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07200" y="1250000"/>
            <a:ext cx="5288647" cy="30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Region PSI max</a:t>
            </a:r>
          </a:p>
        </p:txBody>
      </p:sp>
      <p:sp>
        <p:nvSpPr>
          <p:cNvPr id="8" name="TextBox 7"/>
          <p:cNvSpPr txBox="1"/>
          <p:nvPr/>
        </p:nvSpPr>
        <p:spPr>
          <a:xfrm>
            <a:off x="607200" y="1510000"/>
            <a:ext cx="5288647" cy="28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0.082</a:t>
            </a:r>
          </a:p>
        </p:txBody>
      </p:sp>
      <p:sp>
        <p:nvSpPr>
          <p:cNvPr id="9" name="TextBox 8"/>
          <p:cNvSpPr txBox="1"/>
          <p:nvPr/>
        </p:nvSpPr>
        <p:spPr>
          <a:xfrm>
            <a:off x="607200" y="1730000"/>
            <a:ext cx="5288647" cy="200000"/>
          </a:xfrm>
          <a:prstGeom prst="rect">
            <a:avLst/>
          </a:prstGeom>
          <a:noFill/>
        </p:spPr>
        <p:txBody>
          <a:bodyPr wrap="square">
            <a:spAutoFit/>
          </a:bodyPr>
          <a:lstStyle/>
          <a:p>
            <a:pPr algn="l">
              <a:spcBef>
                <a:spcPts val="0"/>
              </a:spcBef>
              <a:spcAft>
                <a:spcPts val="0"/>
              </a:spcAft>
            </a:pPr>
            <a:r>
              <a:rPr sz="900" b="1" i="0">
                <a:solidFill>
                  <a:srgbClr val="2E8B57"/>
                </a:solidFill>
                <a:latin typeface="Calibri"/>
              </a:rPr>
              <a:t>GREEN</a:t>
            </a:r>
          </a:p>
        </p:txBody>
      </p:sp>
      <p:sp>
        <p:nvSpPr>
          <p:cNvPr id="10" name="Rectangle 9"/>
          <p:cNvSpPr/>
          <p:nvPr/>
        </p:nvSpPr>
        <p:spPr>
          <a:xfrm>
            <a:off x="6245847" y="1150000"/>
            <a:ext cx="5488647" cy="76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245847" y="1150000"/>
            <a:ext cx="91440" cy="76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95847" y="1250000"/>
            <a:ext cx="5288647" cy="30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Occupation PSI max</a:t>
            </a:r>
          </a:p>
        </p:txBody>
      </p:sp>
      <p:sp>
        <p:nvSpPr>
          <p:cNvPr id="13" name="TextBox 12"/>
          <p:cNvSpPr txBox="1"/>
          <p:nvPr/>
        </p:nvSpPr>
        <p:spPr>
          <a:xfrm>
            <a:off x="6395847" y="1510000"/>
            <a:ext cx="5288647" cy="28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0.123</a:t>
            </a:r>
          </a:p>
        </p:txBody>
      </p:sp>
      <p:sp>
        <p:nvSpPr>
          <p:cNvPr id="14" name="TextBox 13"/>
          <p:cNvSpPr txBox="1"/>
          <p:nvPr/>
        </p:nvSpPr>
        <p:spPr>
          <a:xfrm>
            <a:off x="6395847" y="1730000"/>
            <a:ext cx="5288647" cy="200000"/>
          </a:xfrm>
          <a:prstGeom prst="rect">
            <a:avLst/>
          </a:prstGeom>
          <a:noFill/>
        </p:spPr>
        <p:txBody>
          <a:bodyPr wrap="square">
            <a:spAutoFit/>
          </a:bodyPr>
          <a:lstStyle/>
          <a:p>
            <a:pPr algn="l">
              <a:spcBef>
                <a:spcPts val="0"/>
              </a:spcBef>
              <a:spcAft>
                <a:spcPts val="0"/>
              </a:spcAft>
            </a:pPr>
            <a:r>
              <a:rPr sz="900" b="1" i="0">
                <a:solidFill>
                  <a:srgbClr val="E6A62E"/>
                </a:solidFill>
                <a:latin typeface="Calibri"/>
              </a:rPr>
              <a:t>AMBER</a:t>
            </a:r>
          </a:p>
        </p:txBody>
      </p:sp>
      <p:sp>
        <p:nvSpPr>
          <p:cNvPr id="15" name="Rectangle 14"/>
          <p:cNvSpPr/>
          <p:nvPr/>
        </p:nvSpPr>
        <p:spPr>
          <a:xfrm>
            <a:off x="457200" y="1990000"/>
            <a:ext cx="5488647" cy="76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1990000"/>
            <a:ext cx="91440" cy="76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07200" y="2090000"/>
            <a:ext cx="5288647" cy="30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Region parity</a:t>
            </a:r>
          </a:p>
        </p:txBody>
      </p:sp>
      <p:sp>
        <p:nvSpPr>
          <p:cNvPr id="18" name="TextBox 17"/>
          <p:cNvSpPr txBox="1"/>
          <p:nvPr/>
        </p:nvSpPr>
        <p:spPr>
          <a:xfrm>
            <a:off x="607200" y="2350000"/>
            <a:ext cx="5288647" cy="28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85.72%</a:t>
            </a:r>
          </a:p>
        </p:txBody>
      </p:sp>
      <p:sp>
        <p:nvSpPr>
          <p:cNvPr id="19" name="TextBox 18"/>
          <p:cNvSpPr txBox="1"/>
          <p:nvPr/>
        </p:nvSpPr>
        <p:spPr>
          <a:xfrm>
            <a:off x="607200" y="2570000"/>
            <a:ext cx="5288647" cy="200000"/>
          </a:xfrm>
          <a:prstGeom prst="rect">
            <a:avLst/>
          </a:prstGeom>
          <a:noFill/>
        </p:spPr>
        <p:txBody>
          <a:bodyPr wrap="square">
            <a:spAutoFit/>
          </a:bodyPr>
          <a:lstStyle/>
          <a:p>
            <a:pPr algn="l">
              <a:spcBef>
                <a:spcPts val="0"/>
              </a:spcBef>
              <a:spcAft>
                <a:spcPts val="0"/>
              </a:spcAft>
            </a:pPr>
            <a:r>
              <a:rPr sz="900" b="1" i="0">
                <a:solidFill>
                  <a:srgbClr val="2E8B57"/>
                </a:solidFill>
                <a:latin typeface="Calibri"/>
              </a:rPr>
              <a:t>PASS</a:t>
            </a:r>
          </a:p>
        </p:txBody>
      </p:sp>
      <p:sp>
        <p:nvSpPr>
          <p:cNvPr id="20" name="Rectangle 19"/>
          <p:cNvSpPr/>
          <p:nvPr/>
        </p:nvSpPr>
        <p:spPr>
          <a:xfrm>
            <a:off x="6245847" y="1990000"/>
            <a:ext cx="5488647" cy="76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245847" y="1990000"/>
            <a:ext cx="91440" cy="76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95847" y="2090000"/>
            <a:ext cx="5288647" cy="30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Occupation parity</a:t>
            </a:r>
          </a:p>
        </p:txBody>
      </p:sp>
      <p:sp>
        <p:nvSpPr>
          <p:cNvPr id="23" name="TextBox 22"/>
          <p:cNvSpPr txBox="1"/>
          <p:nvPr/>
        </p:nvSpPr>
        <p:spPr>
          <a:xfrm>
            <a:off x="6395847" y="2350000"/>
            <a:ext cx="5288647" cy="28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90.12%</a:t>
            </a:r>
          </a:p>
        </p:txBody>
      </p:sp>
      <p:sp>
        <p:nvSpPr>
          <p:cNvPr id="24" name="TextBox 23"/>
          <p:cNvSpPr txBox="1"/>
          <p:nvPr/>
        </p:nvSpPr>
        <p:spPr>
          <a:xfrm>
            <a:off x="6395847" y="2570000"/>
            <a:ext cx="5288647" cy="200000"/>
          </a:xfrm>
          <a:prstGeom prst="rect">
            <a:avLst/>
          </a:prstGeom>
          <a:noFill/>
        </p:spPr>
        <p:txBody>
          <a:bodyPr wrap="square">
            <a:spAutoFit/>
          </a:bodyPr>
          <a:lstStyle/>
          <a:p>
            <a:pPr algn="l">
              <a:spcBef>
                <a:spcPts val="0"/>
              </a:spcBef>
              <a:spcAft>
                <a:spcPts val="0"/>
              </a:spcAft>
            </a:pPr>
            <a:r>
              <a:rPr sz="900" b="1" i="0">
                <a:solidFill>
                  <a:srgbClr val="2E8B57"/>
                </a:solidFill>
                <a:latin typeface="Calibri"/>
              </a:rPr>
              <a:t>PASS</a:t>
            </a:r>
          </a:p>
        </p:txBody>
      </p:sp>
      <p:sp>
        <p:nvSpPr>
          <p:cNvPr id="25" name="Rectangle 24"/>
          <p:cNvSpPr/>
          <p:nvPr/>
        </p:nvSpPr>
        <p:spPr>
          <a:xfrm>
            <a:off x="457200" y="2830000"/>
            <a:ext cx="5488647" cy="76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57200" y="2830000"/>
            <a:ext cx="91440" cy="76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07200" y="2930000"/>
            <a:ext cx="5288647" cy="30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Region permutation</a:t>
            </a:r>
          </a:p>
        </p:txBody>
      </p:sp>
      <p:sp>
        <p:nvSpPr>
          <p:cNvPr id="28" name="TextBox 27"/>
          <p:cNvSpPr txBox="1"/>
          <p:nvPr/>
        </p:nvSpPr>
        <p:spPr>
          <a:xfrm>
            <a:off x="607200" y="3190000"/>
            <a:ext cx="5288647" cy="28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p = 0.132</a:t>
            </a:r>
          </a:p>
        </p:txBody>
      </p:sp>
      <p:sp>
        <p:nvSpPr>
          <p:cNvPr id="29" name="TextBox 28"/>
          <p:cNvSpPr txBox="1"/>
          <p:nvPr/>
        </p:nvSpPr>
        <p:spPr>
          <a:xfrm>
            <a:off x="607200" y="3410000"/>
            <a:ext cx="5288647" cy="200000"/>
          </a:xfrm>
          <a:prstGeom prst="rect">
            <a:avLst/>
          </a:prstGeom>
          <a:noFill/>
        </p:spPr>
        <p:txBody>
          <a:bodyPr wrap="square">
            <a:spAutoFit/>
          </a:bodyPr>
          <a:lstStyle/>
          <a:p>
            <a:pPr algn="l">
              <a:spcBef>
                <a:spcPts val="0"/>
              </a:spcBef>
              <a:spcAft>
                <a:spcPts val="0"/>
              </a:spcAft>
            </a:pPr>
            <a:r>
              <a:rPr sz="900" b="1" i="0">
                <a:solidFill>
                  <a:srgbClr val="2E8B57"/>
                </a:solidFill>
                <a:latin typeface="Calibri"/>
              </a:rPr>
              <a:t>PASS</a:t>
            </a:r>
          </a:p>
        </p:txBody>
      </p:sp>
      <p:sp>
        <p:nvSpPr>
          <p:cNvPr id="30" name="Rectangle 29"/>
          <p:cNvSpPr/>
          <p:nvPr/>
        </p:nvSpPr>
        <p:spPr>
          <a:xfrm>
            <a:off x="6245847" y="2830000"/>
            <a:ext cx="5488647" cy="76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245847" y="2830000"/>
            <a:ext cx="91440" cy="76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395847" y="2930000"/>
            <a:ext cx="5288647" cy="30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Occupation permutation</a:t>
            </a:r>
          </a:p>
        </p:txBody>
      </p:sp>
      <p:sp>
        <p:nvSpPr>
          <p:cNvPr id="33" name="TextBox 32"/>
          <p:cNvSpPr txBox="1"/>
          <p:nvPr/>
        </p:nvSpPr>
        <p:spPr>
          <a:xfrm>
            <a:off x="6395847" y="3190000"/>
            <a:ext cx="5288647" cy="28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p &lt; 0.001</a:t>
            </a:r>
          </a:p>
        </p:txBody>
      </p:sp>
      <p:sp>
        <p:nvSpPr>
          <p:cNvPr id="34" name="TextBox 33"/>
          <p:cNvSpPr txBox="1"/>
          <p:nvPr/>
        </p:nvSpPr>
        <p:spPr>
          <a:xfrm>
            <a:off x="6395847" y="3410000"/>
            <a:ext cx="5288647" cy="200000"/>
          </a:xfrm>
          <a:prstGeom prst="rect">
            <a:avLst/>
          </a:prstGeom>
          <a:noFill/>
        </p:spPr>
        <p:txBody>
          <a:bodyPr wrap="square">
            <a:spAutoFit/>
          </a:bodyPr>
          <a:lstStyle/>
          <a:p>
            <a:pPr algn="l">
              <a:spcBef>
                <a:spcPts val="0"/>
              </a:spcBef>
              <a:spcAft>
                <a:spcPts val="0"/>
              </a:spcAft>
            </a:pPr>
            <a:r>
              <a:rPr sz="900" b="1" i="0">
                <a:solidFill>
                  <a:srgbClr val="E6A62E"/>
                </a:solidFill>
                <a:latin typeface="Calibri"/>
              </a:rPr>
              <a:t>FAILED-with-interpretation</a:t>
            </a:r>
          </a:p>
        </p:txBody>
      </p:sp>
      <p:sp>
        <p:nvSpPr>
          <p:cNvPr id="35" name="TextBox 34"/>
          <p:cNvSpPr txBox="1"/>
          <p:nvPr/>
        </p:nvSpPr>
        <p:spPr>
          <a:xfrm>
            <a:off x="457200" y="5900000"/>
            <a:ext cx="11277295" cy="350000"/>
          </a:xfrm>
          <a:prstGeom prst="rect">
            <a:avLst/>
          </a:prstGeom>
          <a:noFill/>
        </p:spPr>
        <p:txBody>
          <a:bodyPr wrap="square">
            <a:spAutoFit/>
          </a:bodyPr>
          <a:lstStyle/>
          <a:p>
            <a:pPr algn="ctr">
              <a:spcBef>
                <a:spcPts val="0"/>
              </a:spcBef>
              <a:spcAft>
                <a:spcPts val="0"/>
              </a:spcAft>
            </a:pPr>
            <a:r>
              <a:rPr sz="1000" b="0" i="1">
                <a:solidFill>
                  <a:srgbClr val="505050"/>
                </a:solidFill>
                <a:latin typeface="Calibri"/>
              </a:rPr>
              <a:t>PSI is a MONITOR not an ENFORCER — constrained-action layer is future work.</a:t>
            </a:r>
          </a:p>
        </p:txBody>
      </p:sp>
      <p:sp>
        <p:nvSpPr>
          <p:cNvPr id="36" name="Rectangle 35"/>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8" name="Rectangle 37"/>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Results &amp; Evaluation</a:t>
            </a:r>
          </a:p>
        </p:txBody>
      </p:sp>
      <p:sp>
        <p:nvSpPr>
          <p:cNvPr id="40" name="Rectangle 39"/>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20 / 43</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EXP-007: BENCHMARK COMPARISON (CRN)</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457200" y="1200000"/>
          <a:ext cx="6766377" cy="3800000"/>
        </p:xfrm>
        <a:graphic>
          <a:graphicData uri="http://schemas.openxmlformats.org/drawingml/2006/table">
            <a:tbl>
              <a:tblPr firstRow="1" bandRow="1">
                <a:tableStyleId>{5C22544A-7EE6-4342-B048-85BDC9FD1C3A}</a:tableStyleId>
              </a:tblPr>
              <a:tblGrid>
                <a:gridCol w="3383188">
                  <a:extLst>
                    <a:ext uri="{9D8B030D-6E8A-4147-A177-3AD203B41FA5}">
                      <a16:colId xmlns:a16="http://schemas.microsoft.com/office/drawing/2014/main" val="20000"/>
                    </a:ext>
                  </a:extLst>
                </a:gridCol>
                <a:gridCol w="3383189">
                  <a:extLst>
                    <a:ext uri="{9D8B030D-6E8A-4147-A177-3AD203B41FA5}">
                      <a16:colId xmlns:a16="http://schemas.microsoft.com/office/drawing/2014/main" val="20001"/>
                    </a:ext>
                  </a:extLst>
                </a:gridCol>
              </a:tblGrid>
              <a:tr h="633333">
                <a:tc>
                  <a:txBody>
                    <a:bodyPr/>
                    <a:lstStyle/>
                    <a:p>
                      <a:r>
                        <a:rPr sz="1100" b="1">
                          <a:solidFill>
                            <a:srgbClr val="FFFFFF"/>
                          </a:solidFill>
                        </a:rPr>
                        <a:t>Policy</a:t>
                      </a:r>
                    </a:p>
                  </a:txBody>
                  <a:tcPr>
                    <a:solidFill>
                      <a:srgbClr val="1B5697"/>
                    </a:solidFill>
                  </a:tcPr>
                </a:tc>
                <a:tc>
                  <a:txBody>
                    <a:bodyPr/>
                    <a:lstStyle/>
                    <a:p>
                      <a:r>
                        <a:rPr sz="1100" b="1">
                          <a:solidFill>
                            <a:srgbClr val="FFFFFF"/>
                          </a:solidFill>
                        </a:rPr>
                        <a:t>Cumul. Reward (mean, 20 seeds)</a:t>
                      </a:r>
                    </a:p>
                  </a:txBody>
                  <a:tcPr>
                    <a:solidFill>
                      <a:srgbClr val="1B5697"/>
                    </a:solidFill>
                  </a:tcPr>
                </a:tc>
                <a:extLst>
                  <a:ext uri="{0D108BD9-81ED-4DB2-BD59-A6C34878D82A}">
                    <a16:rowId xmlns:a16="http://schemas.microsoft.com/office/drawing/2014/main" val="10000"/>
                  </a:ext>
                </a:extLst>
              </a:tr>
              <a:tr h="633333">
                <a:tc>
                  <a:txBody>
                    <a:bodyPr/>
                    <a:lstStyle/>
                    <a:p>
                      <a:r>
                        <a:rPr sz="1100" b="1">
                          <a:solidFill>
                            <a:srgbClr val="1B5697"/>
                          </a:solidFill>
                        </a:rPr>
                        <a:t>AlwaysRATED</a:t>
                      </a:r>
                    </a:p>
                  </a:txBody>
                  <a:tcPr>
                    <a:solidFill>
                      <a:srgbClr val="FEF3CD"/>
                    </a:solidFill>
                  </a:tcPr>
                </a:tc>
                <a:tc>
                  <a:txBody>
                    <a:bodyPr/>
                    <a:lstStyle/>
                    <a:p>
                      <a:r>
                        <a:rPr sz="1100" b="0">
                          <a:solidFill>
                            <a:srgbClr val="1B5697"/>
                          </a:solidFill>
                        </a:rPr>
                        <a:t>$122,287</a:t>
                      </a:r>
                    </a:p>
                  </a:txBody>
                  <a:tcPr>
                    <a:solidFill>
                      <a:srgbClr val="FEF3CD"/>
                    </a:solidFill>
                  </a:tcPr>
                </a:tc>
                <a:extLst>
                  <a:ext uri="{0D108BD9-81ED-4DB2-BD59-A6C34878D82A}">
                    <a16:rowId xmlns:a16="http://schemas.microsoft.com/office/drawing/2014/main" val="10001"/>
                  </a:ext>
                </a:extLst>
              </a:tr>
              <a:tr h="633333">
                <a:tc>
                  <a:txBody>
                    <a:bodyPr/>
                    <a:lstStyle/>
                    <a:p>
                      <a:r>
                        <a:rPr sz="1100" b="1">
                          <a:solidFill>
                            <a:srgbClr val="1B5697"/>
                          </a:solidFill>
                        </a:rPr>
                        <a:t>LinTS</a:t>
                      </a:r>
                    </a:p>
                  </a:txBody>
                  <a:tcPr>
                    <a:solidFill>
                      <a:srgbClr val="E7F4E8"/>
                    </a:solidFill>
                  </a:tcPr>
                </a:tc>
                <a:tc>
                  <a:txBody>
                    <a:bodyPr/>
                    <a:lstStyle/>
                    <a:p>
                      <a:r>
                        <a:rPr sz="1100" b="0">
                          <a:solidFill>
                            <a:srgbClr val="1B5697"/>
                          </a:solidFill>
                        </a:rPr>
                        <a:t>$93,723</a:t>
                      </a:r>
                    </a:p>
                  </a:txBody>
                  <a:tcPr>
                    <a:solidFill>
                      <a:srgbClr val="E7F4E8"/>
                    </a:solidFill>
                  </a:tcPr>
                </a:tc>
                <a:extLst>
                  <a:ext uri="{0D108BD9-81ED-4DB2-BD59-A6C34878D82A}">
                    <a16:rowId xmlns:a16="http://schemas.microsoft.com/office/drawing/2014/main" val="10002"/>
                  </a:ext>
                </a:extLst>
              </a:tr>
              <a:tr h="633333">
                <a:tc>
                  <a:txBody>
                    <a:bodyPr/>
                    <a:lstStyle/>
                    <a:p>
                      <a:r>
                        <a:rPr sz="1100" b="1">
                          <a:solidFill>
                            <a:srgbClr val="1B5697"/>
                          </a:solidFill>
                        </a:rPr>
                        <a:t>LinUCB</a:t>
                      </a:r>
                    </a:p>
                  </a:txBody>
                  <a:tcPr>
                    <a:solidFill>
                      <a:srgbClr val="E7F4E8"/>
                    </a:solidFill>
                  </a:tcPr>
                </a:tc>
                <a:tc>
                  <a:txBody>
                    <a:bodyPr/>
                    <a:lstStyle/>
                    <a:p>
                      <a:r>
                        <a:rPr sz="1100" b="0">
                          <a:solidFill>
                            <a:srgbClr val="1B5697"/>
                          </a:solidFill>
                        </a:rPr>
                        <a:t>$91,864</a:t>
                      </a:r>
                    </a:p>
                  </a:txBody>
                  <a:tcPr>
                    <a:solidFill>
                      <a:srgbClr val="E7F4E8"/>
                    </a:solidFill>
                  </a:tcPr>
                </a:tc>
                <a:extLst>
                  <a:ext uri="{0D108BD9-81ED-4DB2-BD59-A6C34878D82A}">
                    <a16:rowId xmlns:a16="http://schemas.microsoft.com/office/drawing/2014/main" val="10003"/>
                  </a:ext>
                </a:extLst>
              </a:tr>
              <a:tr h="633333">
                <a:tc>
                  <a:txBody>
                    <a:bodyPr/>
                    <a:lstStyle/>
                    <a:p>
                      <a:r>
                        <a:rPr sz="1100" b="1">
                          <a:solidFill>
                            <a:srgbClr val="1B5697"/>
                          </a:solidFill>
                        </a:rPr>
                        <a:t>Epsilon-Greedy</a:t>
                      </a:r>
                    </a:p>
                  </a:txBody>
                  <a:tcPr>
                    <a:solidFill>
                      <a:srgbClr val="F3F6FB"/>
                    </a:solidFill>
                  </a:tcPr>
                </a:tc>
                <a:tc>
                  <a:txBody>
                    <a:bodyPr/>
                    <a:lstStyle/>
                    <a:p>
                      <a:r>
                        <a:rPr sz="1100" b="0">
                          <a:solidFill>
                            <a:srgbClr val="1B5697"/>
                          </a:solidFill>
                        </a:rPr>
                        <a:t>$76,441</a:t>
                      </a:r>
                    </a:p>
                  </a:txBody>
                  <a:tcPr>
                    <a:solidFill>
                      <a:srgbClr val="F3F6FB"/>
                    </a:solidFill>
                  </a:tcPr>
                </a:tc>
                <a:extLst>
                  <a:ext uri="{0D108BD9-81ED-4DB2-BD59-A6C34878D82A}">
                    <a16:rowId xmlns:a16="http://schemas.microsoft.com/office/drawing/2014/main" val="10004"/>
                  </a:ext>
                </a:extLst>
              </a:tr>
              <a:tr h="633335">
                <a:tc>
                  <a:txBody>
                    <a:bodyPr/>
                    <a:lstStyle/>
                    <a:p>
                      <a:r>
                        <a:rPr sz="1100" b="1">
                          <a:solidFill>
                            <a:srgbClr val="1B5697"/>
                          </a:solidFill>
                        </a:rPr>
                        <a:t>Static XGB</a:t>
                      </a:r>
                    </a:p>
                  </a:txBody>
                  <a:tcPr>
                    <a:solidFill>
                      <a:srgbClr val="F3F6FB"/>
                    </a:solidFill>
                  </a:tcPr>
                </a:tc>
                <a:tc>
                  <a:txBody>
                    <a:bodyPr/>
                    <a:lstStyle/>
                    <a:p>
                      <a:r>
                        <a:rPr sz="1100" b="0">
                          <a:solidFill>
                            <a:srgbClr val="1B5697"/>
                          </a:solidFill>
                        </a:rPr>
                        <a:t>$72,206</a:t>
                      </a:r>
                    </a:p>
                  </a:txBody>
                  <a:tcPr>
                    <a:solidFill>
                      <a:srgbClr val="F3F6FB"/>
                    </a:solidFill>
                  </a:tcPr>
                </a:tc>
                <a:extLst>
                  <a:ext uri="{0D108BD9-81ED-4DB2-BD59-A6C34878D82A}">
                    <a16:rowId xmlns:a16="http://schemas.microsoft.com/office/drawing/2014/main" val="10005"/>
                  </a:ext>
                </a:extLst>
              </a:tr>
            </a:tbl>
          </a:graphicData>
        </a:graphic>
      </p:graphicFrame>
      <p:sp>
        <p:nvSpPr>
          <p:cNvPr id="6" name="Rectangle 5"/>
          <p:cNvSpPr/>
          <p:nvPr/>
        </p:nvSpPr>
        <p:spPr>
          <a:xfrm>
            <a:off x="7423577" y="1200000"/>
            <a:ext cx="4310918" cy="120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423577" y="1200000"/>
            <a:ext cx="91440" cy="120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573577" y="1280000"/>
            <a:ext cx="4110918" cy="280000"/>
          </a:xfrm>
          <a:prstGeom prst="rect">
            <a:avLst/>
          </a:prstGeom>
          <a:noFill/>
        </p:spPr>
        <p:txBody>
          <a:bodyPr wrap="square">
            <a:spAutoFit/>
          </a:bodyPr>
          <a:lstStyle/>
          <a:p>
            <a:pPr algn="l">
              <a:spcBef>
                <a:spcPts val="0"/>
              </a:spcBef>
              <a:spcAft>
                <a:spcPts val="0"/>
              </a:spcAft>
            </a:pPr>
            <a:r>
              <a:rPr sz="1000" b="1" i="0">
                <a:solidFill>
                  <a:srgbClr val="1B5697"/>
                </a:solidFill>
                <a:latin typeface="Calibri"/>
              </a:rPr>
              <a:t>LinTS vs LinUCB</a:t>
            </a:r>
          </a:p>
        </p:txBody>
      </p:sp>
      <p:sp>
        <p:nvSpPr>
          <p:cNvPr id="9" name="TextBox 8"/>
          <p:cNvSpPr txBox="1"/>
          <p:nvPr/>
        </p:nvSpPr>
        <p:spPr>
          <a:xfrm>
            <a:off x="7573577" y="1580000"/>
            <a:ext cx="4110918" cy="280000"/>
          </a:xfrm>
          <a:prstGeom prst="rect">
            <a:avLst/>
          </a:prstGeom>
          <a:noFill/>
        </p:spPr>
        <p:txBody>
          <a:bodyPr wrap="square">
            <a:spAutoFit/>
          </a:bodyPr>
          <a:lstStyle/>
          <a:p>
            <a:pPr algn="l">
              <a:spcBef>
                <a:spcPts val="0"/>
              </a:spcBef>
              <a:spcAft>
                <a:spcPts val="0"/>
              </a:spcAft>
            </a:pPr>
            <a:r>
              <a:rPr sz="900" b="0" i="0">
                <a:solidFill>
                  <a:srgbClr val="505050"/>
                </a:solidFill>
                <a:latin typeface="Calibri"/>
              </a:rPr>
              <a:t>p = 0.87, d = 0.26</a:t>
            </a:r>
          </a:p>
        </p:txBody>
      </p:sp>
      <p:sp>
        <p:nvSpPr>
          <p:cNvPr id="10" name="TextBox 9"/>
          <p:cNvSpPr txBox="1"/>
          <p:nvPr/>
        </p:nvSpPr>
        <p:spPr>
          <a:xfrm>
            <a:off x="7573577" y="1900000"/>
            <a:ext cx="4110918" cy="280000"/>
          </a:xfrm>
          <a:prstGeom prst="rect">
            <a:avLst/>
          </a:prstGeom>
          <a:noFill/>
        </p:spPr>
        <p:txBody>
          <a:bodyPr wrap="square">
            <a:spAutoFit/>
          </a:bodyPr>
          <a:lstStyle/>
          <a:p>
            <a:pPr algn="l">
              <a:spcBef>
                <a:spcPts val="0"/>
              </a:spcBef>
              <a:spcAft>
                <a:spcPts val="0"/>
              </a:spcAft>
            </a:pPr>
            <a:r>
              <a:rPr sz="1100" b="1" i="0">
                <a:solidFill>
                  <a:srgbClr val="E6A62E"/>
                </a:solidFill>
                <a:latin typeface="Calibri"/>
              </a:rPr>
              <a:t>TIED</a:t>
            </a:r>
          </a:p>
        </p:txBody>
      </p:sp>
      <p:sp>
        <p:nvSpPr>
          <p:cNvPr id="11" name="Rectangle 10"/>
          <p:cNvSpPr/>
          <p:nvPr/>
        </p:nvSpPr>
        <p:spPr>
          <a:xfrm>
            <a:off x="7423577" y="2500000"/>
            <a:ext cx="4310918" cy="120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7423577" y="2500000"/>
            <a:ext cx="91440" cy="120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573577" y="2580000"/>
            <a:ext cx="4110918" cy="280000"/>
          </a:xfrm>
          <a:prstGeom prst="rect">
            <a:avLst/>
          </a:prstGeom>
          <a:noFill/>
        </p:spPr>
        <p:txBody>
          <a:bodyPr wrap="square">
            <a:spAutoFit/>
          </a:bodyPr>
          <a:lstStyle/>
          <a:p>
            <a:pPr algn="l">
              <a:spcBef>
                <a:spcPts val="0"/>
              </a:spcBef>
              <a:spcAft>
                <a:spcPts val="0"/>
              </a:spcAft>
            </a:pPr>
            <a:r>
              <a:rPr sz="1000" b="1" i="0">
                <a:solidFill>
                  <a:srgbClr val="1B5697"/>
                </a:solidFill>
                <a:latin typeface="Calibri"/>
              </a:rPr>
              <a:t>LinUCB vs Static XGB</a:t>
            </a:r>
          </a:p>
        </p:txBody>
      </p:sp>
      <p:sp>
        <p:nvSpPr>
          <p:cNvPr id="14" name="TextBox 13"/>
          <p:cNvSpPr txBox="1"/>
          <p:nvPr/>
        </p:nvSpPr>
        <p:spPr>
          <a:xfrm>
            <a:off x="7573577" y="2880000"/>
            <a:ext cx="4110918" cy="280000"/>
          </a:xfrm>
          <a:prstGeom prst="rect">
            <a:avLst/>
          </a:prstGeom>
          <a:noFill/>
        </p:spPr>
        <p:txBody>
          <a:bodyPr wrap="square">
            <a:spAutoFit/>
          </a:bodyPr>
          <a:lstStyle/>
          <a:p>
            <a:pPr algn="l">
              <a:spcBef>
                <a:spcPts val="0"/>
              </a:spcBef>
              <a:spcAft>
                <a:spcPts val="0"/>
              </a:spcAft>
            </a:pPr>
            <a:r>
              <a:rPr sz="900" b="0" i="0">
                <a:solidFill>
                  <a:srgbClr val="505050"/>
                </a:solidFill>
                <a:latin typeface="Calibri"/>
              </a:rPr>
              <a:t>−19,774 regret  p &lt; 0.001  d = −3.41</a:t>
            </a:r>
          </a:p>
        </p:txBody>
      </p:sp>
      <p:sp>
        <p:nvSpPr>
          <p:cNvPr id="15" name="TextBox 14"/>
          <p:cNvSpPr txBox="1"/>
          <p:nvPr/>
        </p:nvSpPr>
        <p:spPr>
          <a:xfrm>
            <a:off x="7573577" y="3200000"/>
            <a:ext cx="4110918" cy="280000"/>
          </a:xfrm>
          <a:prstGeom prst="rect">
            <a:avLst/>
          </a:prstGeom>
          <a:noFill/>
        </p:spPr>
        <p:txBody>
          <a:bodyPr wrap="square">
            <a:spAutoFit/>
          </a:bodyPr>
          <a:lstStyle/>
          <a:p>
            <a:pPr algn="l">
              <a:spcBef>
                <a:spcPts val="0"/>
              </a:spcBef>
              <a:spcAft>
                <a:spcPts val="0"/>
              </a:spcAft>
            </a:pPr>
            <a:r>
              <a:rPr sz="1100" b="1" i="0">
                <a:solidFill>
                  <a:srgbClr val="2E8B57"/>
                </a:solidFill>
                <a:latin typeface="Calibri"/>
              </a:rPr>
              <a:t>WIN</a:t>
            </a:r>
          </a:p>
        </p:txBody>
      </p:sp>
      <p:sp>
        <p:nvSpPr>
          <p:cNvPr id="16" name="Rectangle 15"/>
          <p:cNvSpPr/>
          <p:nvPr/>
        </p:nvSpPr>
        <p:spPr>
          <a:xfrm>
            <a:off x="7423577" y="3800000"/>
            <a:ext cx="4310918" cy="120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423577" y="3800000"/>
            <a:ext cx="91440" cy="120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573577" y="3880000"/>
            <a:ext cx="4110918" cy="280000"/>
          </a:xfrm>
          <a:prstGeom prst="rect">
            <a:avLst/>
          </a:prstGeom>
          <a:noFill/>
        </p:spPr>
        <p:txBody>
          <a:bodyPr wrap="square">
            <a:spAutoFit/>
          </a:bodyPr>
          <a:lstStyle/>
          <a:p>
            <a:pPr algn="l">
              <a:spcBef>
                <a:spcPts val="0"/>
              </a:spcBef>
              <a:spcAft>
                <a:spcPts val="0"/>
              </a:spcAft>
            </a:pPr>
            <a:r>
              <a:rPr sz="1000" b="1" i="0">
                <a:solidFill>
                  <a:srgbClr val="1B5697"/>
                </a:solidFill>
                <a:latin typeface="Calibri"/>
              </a:rPr>
              <a:t>LinTS vs Static XGB</a:t>
            </a:r>
          </a:p>
        </p:txBody>
      </p:sp>
      <p:sp>
        <p:nvSpPr>
          <p:cNvPr id="19" name="TextBox 18"/>
          <p:cNvSpPr txBox="1"/>
          <p:nvPr/>
        </p:nvSpPr>
        <p:spPr>
          <a:xfrm>
            <a:off x="7573577" y="4180000"/>
            <a:ext cx="4110918" cy="280000"/>
          </a:xfrm>
          <a:prstGeom prst="rect">
            <a:avLst/>
          </a:prstGeom>
          <a:noFill/>
        </p:spPr>
        <p:txBody>
          <a:bodyPr wrap="square">
            <a:spAutoFit/>
          </a:bodyPr>
          <a:lstStyle/>
          <a:p>
            <a:pPr algn="l">
              <a:spcBef>
                <a:spcPts val="0"/>
              </a:spcBef>
              <a:spcAft>
                <a:spcPts val="0"/>
              </a:spcAft>
            </a:pPr>
            <a:r>
              <a:rPr sz="900" b="0" i="0">
                <a:solidFill>
                  <a:srgbClr val="505050"/>
                </a:solidFill>
                <a:latin typeface="Calibri"/>
              </a:rPr>
              <a:t>−21,400 regret  p &lt; 0.001  d = −3.89</a:t>
            </a:r>
          </a:p>
        </p:txBody>
      </p:sp>
      <p:sp>
        <p:nvSpPr>
          <p:cNvPr id="20" name="TextBox 19"/>
          <p:cNvSpPr txBox="1"/>
          <p:nvPr/>
        </p:nvSpPr>
        <p:spPr>
          <a:xfrm>
            <a:off x="7573577" y="4500000"/>
            <a:ext cx="4110918" cy="280000"/>
          </a:xfrm>
          <a:prstGeom prst="rect">
            <a:avLst/>
          </a:prstGeom>
          <a:noFill/>
        </p:spPr>
        <p:txBody>
          <a:bodyPr wrap="square">
            <a:spAutoFit/>
          </a:bodyPr>
          <a:lstStyle/>
          <a:p>
            <a:pPr algn="l">
              <a:spcBef>
                <a:spcPts val="0"/>
              </a:spcBef>
              <a:spcAft>
                <a:spcPts val="0"/>
              </a:spcAft>
            </a:pPr>
            <a:r>
              <a:rPr sz="1100" b="1" i="0">
                <a:solidFill>
                  <a:srgbClr val="2E8B57"/>
                </a:solidFill>
                <a:latin typeface="Calibri"/>
              </a:rPr>
              <a:t>WIN</a:t>
            </a:r>
          </a:p>
        </p:txBody>
      </p:sp>
      <p:sp>
        <p:nvSpPr>
          <p:cNvPr id="21" name="TextBox 20"/>
          <p:cNvSpPr txBox="1"/>
          <p:nvPr/>
        </p:nvSpPr>
        <p:spPr>
          <a:xfrm>
            <a:off x="457200" y="5200000"/>
            <a:ext cx="11277295" cy="600000"/>
          </a:xfrm>
          <a:prstGeom prst="rect">
            <a:avLst/>
          </a:prstGeom>
          <a:noFill/>
        </p:spPr>
        <p:txBody>
          <a:bodyPr wrap="square">
            <a:spAutoFit/>
          </a:bodyPr>
          <a:lstStyle/>
          <a:p>
            <a:pPr algn="l">
              <a:spcBef>
                <a:spcPts val="0"/>
              </a:spcBef>
              <a:spcAft>
                <a:spcPts val="0"/>
              </a:spcAft>
            </a:pPr>
            <a:r>
              <a:rPr sz="1100" b="1" i="0">
                <a:solidFill>
                  <a:srgbClr val="1B5697"/>
                </a:solidFill>
                <a:latin typeface="Calibri"/>
              </a:rPr>
              <a:t>Two coexisting findings:</a:t>
            </a:r>
          </a:p>
          <a:p>
            <a:pPr algn="l">
              <a:spcBef>
                <a:spcPts val="600"/>
              </a:spcBef>
            </a:pPr>
            <a:r>
              <a:rPr sz="1000" b="0" i="0">
                <a:solidFill>
                  <a:srgbClr val="262626"/>
                </a:solidFill>
                <a:latin typeface="Calibri"/>
              </a:rPr>
              <a:t>(1) Adaptive bandits decisively beat the frozen Static XGB rule  (p &lt; 0.001)</a:t>
            </a:r>
          </a:p>
          <a:p>
            <a:pPr algn="l">
              <a:spcBef>
                <a:spcPts val="400"/>
              </a:spcBef>
            </a:pPr>
            <a:r>
              <a:rPr sz="1000" b="0" i="0">
                <a:solidFill>
                  <a:srgbClr val="7D4E00"/>
                </a:solidFill>
                <a:latin typeface="Calibri"/>
              </a:rPr>
              <a:t>(2) Trivial constant AlwaysRATED still beats all bandits — honestly reported</a:t>
            </a:r>
          </a:p>
        </p:txBody>
      </p:sp>
      <p:sp>
        <p:nvSpPr>
          <p:cNvPr id="22" name="Rectangle 21"/>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4" name="Rectangle 23"/>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Results &amp; Evaluation</a:t>
            </a:r>
          </a:p>
        </p:txBody>
      </p:sp>
      <p:sp>
        <p:nvSpPr>
          <p:cNvPr id="26" name="Rectangle 25"/>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21 / 43</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EXP-008: HUMAN-IN-THE-LOOP</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150000"/>
            <a:ext cx="6766377" cy="75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150000"/>
            <a:ext cx="91440" cy="75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07200" y="1250000"/>
            <a:ext cx="4000000" cy="30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HITL reward (c = 0.7)</a:t>
            </a:r>
          </a:p>
        </p:txBody>
      </p:sp>
      <p:sp>
        <p:nvSpPr>
          <p:cNvPr id="8" name="TextBox 7"/>
          <p:cNvSpPr txBox="1"/>
          <p:nvPr/>
        </p:nvSpPr>
        <p:spPr>
          <a:xfrm>
            <a:off x="607200" y="1530000"/>
            <a:ext cx="4000000" cy="33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$102,100</a:t>
            </a:r>
          </a:p>
        </p:txBody>
      </p:sp>
      <p:sp>
        <p:nvSpPr>
          <p:cNvPr id="9" name="TextBox 8"/>
          <p:cNvSpPr txBox="1"/>
          <p:nvPr/>
        </p:nvSpPr>
        <p:spPr>
          <a:xfrm>
            <a:off x="4857200" y="143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latin typeface="Calibri"/>
              </a:rPr>
              <a:t>vs vanilla $95,872</a:t>
            </a:r>
          </a:p>
        </p:txBody>
      </p:sp>
      <p:sp>
        <p:nvSpPr>
          <p:cNvPr id="10" name="Rectangle 9"/>
          <p:cNvSpPr/>
          <p:nvPr/>
        </p:nvSpPr>
        <p:spPr>
          <a:xfrm>
            <a:off x="457200" y="1950000"/>
            <a:ext cx="6766377" cy="75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1950000"/>
            <a:ext cx="91440" cy="75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07200" y="2050000"/>
            <a:ext cx="4000000" cy="30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Improvement</a:t>
            </a:r>
          </a:p>
        </p:txBody>
      </p:sp>
      <p:sp>
        <p:nvSpPr>
          <p:cNvPr id="13" name="TextBox 12"/>
          <p:cNvSpPr txBox="1"/>
          <p:nvPr/>
        </p:nvSpPr>
        <p:spPr>
          <a:xfrm>
            <a:off x="607200" y="2330000"/>
            <a:ext cx="4000000" cy="33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+$6,228  (+6.5%)</a:t>
            </a:r>
          </a:p>
        </p:txBody>
      </p:sp>
      <p:sp>
        <p:nvSpPr>
          <p:cNvPr id="14" name="TextBox 13"/>
          <p:cNvSpPr txBox="1"/>
          <p:nvPr/>
        </p:nvSpPr>
        <p:spPr>
          <a:xfrm>
            <a:off x="4857200" y="223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latin typeface="Calibri"/>
              </a:rPr>
              <a:t>vs vanilla bandit</a:t>
            </a:r>
          </a:p>
        </p:txBody>
      </p:sp>
      <p:sp>
        <p:nvSpPr>
          <p:cNvPr id="15" name="Rectangle 14"/>
          <p:cNvSpPr/>
          <p:nvPr/>
        </p:nvSpPr>
        <p:spPr>
          <a:xfrm>
            <a:off x="457200" y="2750000"/>
            <a:ext cx="6766377" cy="75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2750000"/>
            <a:ext cx="91440" cy="75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07200" y="2850000"/>
            <a:ext cx="4000000" cy="30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Review cost</a:t>
            </a:r>
          </a:p>
        </p:txBody>
      </p:sp>
      <p:sp>
        <p:nvSpPr>
          <p:cNvPr id="18" name="TextBox 17"/>
          <p:cNvSpPr txBox="1"/>
          <p:nvPr/>
        </p:nvSpPr>
        <p:spPr>
          <a:xfrm>
            <a:off x="607200" y="3130000"/>
            <a:ext cx="4000000" cy="33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$2,625</a:t>
            </a:r>
          </a:p>
        </p:txBody>
      </p:sp>
      <p:sp>
        <p:nvSpPr>
          <p:cNvPr id="19" name="TextBox 18"/>
          <p:cNvSpPr txBox="1"/>
          <p:nvPr/>
        </p:nvSpPr>
        <p:spPr>
          <a:xfrm>
            <a:off x="4857200" y="303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latin typeface="Calibri"/>
              </a:rPr>
              <a:t>2.6% of reward</a:t>
            </a:r>
          </a:p>
        </p:txBody>
      </p:sp>
      <p:sp>
        <p:nvSpPr>
          <p:cNvPr id="20" name="Rectangle 19"/>
          <p:cNvSpPr/>
          <p:nvPr/>
        </p:nvSpPr>
        <p:spPr>
          <a:xfrm>
            <a:off x="457200" y="3550000"/>
            <a:ext cx="6766377" cy="75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3550000"/>
            <a:ext cx="91440" cy="75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07200" y="3650000"/>
            <a:ext cx="4000000" cy="30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Human overrides</a:t>
            </a:r>
          </a:p>
        </p:txBody>
      </p:sp>
      <p:sp>
        <p:nvSpPr>
          <p:cNvPr id="23" name="TextBox 22"/>
          <p:cNvSpPr txBox="1"/>
          <p:nvPr/>
        </p:nvSpPr>
        <p:spPr>
          <a:xfrm>
            <a:off x="607200" y="3930000"/>
            <a:ext cx="4000000" cy="33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75 of 5,000</a:t>
            </a:r>
          </a:p>
        </p:txBody>
      </p:sp>
      <p:sp>
        <p:nvSpPr>
          <p:cNvPr id="24" name="TextBox 23"/>
          <p:cNvSpPr txBox="1"/>
          <p:nvPr/>
        </p:nvSpPr>
        <p:spPr>
          <a:xfrm>
            <a:off x="4857200" y="383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latin typeface="Calibri"/>
              </a:rPr>
              <a:t>1.5% review rate</a:t>
            </a:r>
          </a:p>
        </p:txBody>
      </p:sp>
      <p:sp>
        <p:nvSpPr>
          <p:cNvPr id="25" name="Rectangle 24"/>
          <p:cNvSpPr/>
          <p:nvPr/>
        </p:nvSpPr>
        <p:spPr>
          <a:xfrm>
            <a:off x="457200" y="4350000"/>
            <a:ext cx="6766377" cy="75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57200" y="4350000"/>
            <a:ext cx="91440" cy="75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07200" y="4450000"/>
            <a:ext cx="4000000" cy="30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Alignment score</a:t>
            </a:r>
          </a:p>
        </p:txBody>
      </p:sp>
      <p:sp>
        <p:nvSpPr>
          <p:cNvPr id="28" name="TextBox 27"/>
          <p:cNvSpPr txBox="1"/>
          <p:nvPr/>
        </p:nvSpPr>
        <p:spPr>
          <a:xfrm>
            <a:off x="607200" y="4730000"/>
            <a:ext cx="4000000" cy="33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60.0%</a:t>
            </a:r>
          </a:p>
        </p:txBody>
      </p:sp>
      <p:sp>
        <p:nvSpPr>
          <p:cNvPr id="29" name="TextBox 28"/>
          <p:cNvSpPr txBox="1"/>
          <p:nvPr/>
        </p:nvSpPr>
        <p:spPr>
          <a:xfrm>
            <a:off x="4857200" y="463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latin typeface="Calibri"/>
              </a:rPr>
              <a:t>human–model agreement</a:t>
            </a:r>
          </a:p>
        </p:txBody>
      </p:sp>
      <p:sp>
        <p:nvSpPr>
          <p:cNvPr id="30" name="Rectangle 29"/>
          <p:cNvSpPr/>
          <p:nvPr/>
        </p:nvSpPr>
        <p:spPr>
          <a:xfrm>
            <a:off x="457200" y="5150000"/>
            <a:ext cx="6766377" cy="75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457200" y="5150000"/>
            <a:ext cx="91440" cy="75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07200" y="5250000"/>
            <a:ext cx="4000000" cy="300000"/>
          </a:xfrm>
          <a:prstGeom prst="rect">
            <a:avLst/>
          </a:prstGeom>
          <a:noFill/>
        </p:spPr>
        <p:txBody>
          <a:bodyPr wrap="square">
            <a:spAutoFit/>
          </a:bodyPr>
          <a:lstStyle/>
          <a:p>
            <a:pPr algn="l">
              <a:spcBef>
                <a:spcPts val="0"/>
              </a:spcBef>
              <a:spcAft>
                <a:spcPts val="0"/>
              </a:spcAft>
            </a:pPr>
            <a:r>
              <a:rPr sz="1100" b="0" i="0">
                <a:solidFill>
                  <a:srgbClr val="505050"/>
                </a:solidFill>
                <a:latin typeface="Calibri"/>
              </a:rPr>
              <a:t>Queue depth</a:t>
            </a:r>
          </a:p>
        </p:txBody>
      </p:sp>
      <p:sp>
        <p:nvSpPr>
          <p:cNvPr id="33" name="TextBox 32"/>
          <p:cNvSpPr txBox="1"/>
          <p:nvPr/>
        </p:nvSpPr>
        <p:spPr>
          <a:xfrm>
            <a:off x="607200" y="5530000"/>
            <a:ext cx="4000000" cy="33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0 throughout</a:t>
            </a:r>
          </a:p>
        </p:txBody>
      </p:sp>
      <p:sp>
        <p:nvSpPr>
          <p:cNvPr id="34" name="TextBox 33"/>
          <p:cNvSpPr txBox="1"/>
          <p:nvPr/>
        </p:nvSpPr>
        <p:spPr>
          <a:xfrm>
            <a:off x="4857200" y="5430000"/>
            <a:ext cx="2500000" cy="300000"/>
          </a:xfrm>
          <a:prstGeom prst="rect">
            <a:avLst/>
          </a:prstGeom>
          <a:noFill/>
        </p:spPr>
        <p:txBody>
          <a:bodyPr wrap="square">
            <a:spAutoFit/>
          </a:bodyPr>
          <a:lstStyle/>
          <a:p>
            <a:pPr algn="l">
              <a:spcBef>
                <a:spcPts val="0"/>
              </a:spcBef>
              <a:spcAft>
                <a:spcPts val="0"/>
              </a:spcAft>
            </a:pPr>
            <a:r>
              <a:rPr sz="1000" b="0" i="1">
                <a:solidFill>
                  <a:srgbClr val="505050"/>
                </a:solidFill>
                <a:latin typeface="Calibri"/>
              </a:rPr>
              <a:t>no backlog</a:t>
            </a:r>
          </a:p>
        </p:txBody>
      </p:sp>
      <p:sp>
        <p:nvSpPr>
          <p:cNvPr id="35" name="TextBox 34"/>
          <p:cNvSpPr txBox="1"/>
          <p:nvPr/>
        </p:nvSpPr>
        <p:spPr>
          <a:xfrm>
            <a:off x="457200" y="5900000"/>
            <a:ext cx="11277295" cy="350000"/>
          </a:xfrm>
          <a:prstGeom prst="rect">
            <a:avLst/>
          </a:prstGeom>
          <a:noFill/>
        </p:spPr>
        <p:txBody>
          <a:bodyPr wrap="square">
            <a:spAutoFit/>
          </a:bodyPr>
          <a:lstStyle/>
          <a:p>
            <a:pPr algn="ctr">
              <a:spcBef>
                <a:spcPts val="0"/>
              </a:spcBef>
              <a:spcAft>
                <a:spcPts val="0"/>
              </a:spcAft>
            </a:pPr>
            <a:r>
              <a:rPr sz="1000" b="0" i="1">
                <a:solidFill>
                  <a:srgbClr val="505050"/>
                </a:solidFill>
                <a:latin typeface="Calibri"/>
              </a:rPr>
              <a:t>Scope: +6.5% is vs vanilla bandit (NOT vs AlwaysRATED). HITL adds genuine value at low review cost.</a:t>
            </a:r>
          </a:p>
        </p:txBody>
      </p:sp>
      <p:sp>
        <p:nvSpPr>
          <p:cNvPr id="36" name="Rectangle 35"/>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8" name="Rectangle 37"/>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Results &amp; Evaluation</a:t>
            </a:r>
          </a:p>
        </p:txBody>
      </p:sp>
      <p:sp>
        <p:nvSpPr>
          <p:cNvPr id="40" name="Rectangle 39"/>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22 / 43</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WHAT DRIVES THE VALUE? (EXP-011 + EXP-015)</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200000"/>
            <a:ext cx="5488647" cy="46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200000"/>
            <a:ext cx="91440" cy="46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07200" y="1300000"/>
            <a:ext cx="5288647" cy="3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EXP-011: ABLATION</a:t>
            </a:r>
          </a:p>
        </p:txBody>
      </p:sp>
      <p:sp>
        <p:nvSpPr>
          <p:cNvPr id="8" name="TextBox 7"/>
          <p:cNvSpPr txBox="1"/>
          <p:nvPr/>
        </p:nvSpPr>
        <p:spPr>
          <a:xfrm>
            <a:off x="607200" y="1720000"/>
            <a:ext cx="5288647" cy="3900000"/>
          </a:xfrm>
          <a:prstGeom prst="rect">
            <a:avLst/>
          </a:prstGeom>
          <a:noFill/>
        </p:spPr>
        <p:txBody>
          <a:bodyPr wrap="square">
            <a:spAutoFit/>
          </a:bodyPr>
          <a:lstStyle/>
          <a:p>
            <a:pPr algn="l">
              <a:spcBef>
                <a:spcPts val="0"/>
              </a:spcBef>
              <a:spcAft>
                <a:spcPts val="0"/>
              </a:spcAft>
            </a:pPr>
            <a:r>
              <a:rPr sz="1100" b="1" i="0">
                <a:solidFill>
                  <a:srgbClr val="262626"/>
                </a:solidFill>
                <a:latin typeface="Calibri"/>
              </a:rPr>
              <a:t>Full LinUCB vs Greedy-only (α = 0):</a:t>
            </a:r>
          </a:p>
          <a:p>
            <a:pPr algn="l">
              <a:spcBef>
                <a:spcPts val="800"/>
              </a:spcBef>
            </a:pPr>
            <a:r>
              <a:rPr sz="1300" b="1" i="0">
                <a:solidFill>
                  <a:srgbClr val="1B5697"/>
                </a:solidFill>
                <a:latin typeface="Calibri"/>
              </a:rPr>
              <a:t>p = 0.580, d = 0.13</a:t>
            </a:r>
          </a:p>
          <a:p>
            <a:pPr algn="l">
              <a:spcBef>
                <a:spcPts val="600"/>
              </a:spcBef>
            </a:pPr>
            <a:r>
              <a:rPr sz="1100" b="0" i="0">
                <a:solidFill>
                  <a:srgbClr val="505050"/>
                </a:solidFill>
                <a:latin typeface="Calibri"/>
              </a:rPr>
              <a:t>Exploration is NOT load-bearing.</a:t>
            </a:r>
          </a:p>
          <a:p>
            <a:pPr algn="l">
              <a:spcBef>
                <a:spcPts val="0"/>
              </a:spcBef>
            </a:pPr>
            <a:endParaRPr sz="1100" b="0" i="0">
              <a:solidFill>
                <a:srgbClr val="505050"/>
              </a:solidFill>
              <a:latin typeface="Calibri"/>
            </a:endParaRPr>
          </a:p>
          <a:p>
            <a:pPr algn="l">
              <a:spcBef>
                <a:spcPts val="400"/>
              </a:spcBef>
            </a:pPr>
            <a:r>
              <a:rPr sz="1100" b="1" i="0">
                <a:solidFill>
                  <a:srgbClr val="262626"/>
                </a:solidFill>
                <a:latin typeface="Calibri"/>
              </a:rPr>
              <a:t>Greedy-only vs Static XGB:</a:t>
            </a:r>
          </a:p>
          <a:p>
            <a:pPr algn="l">
              <a:spcBef>
                <a:spcPts val="800"/>
              </a:spcBef>
            </a:pPr>
            <a:r>
              <a:rPr sz="1300" b="1" i="0">
                <a:solidFill>
                  <a:srgbClr val="2E8B57"/>
                </a:solidFill>
                <a:latin typeface="Calibri"/>
              </a:rPr>
              <a:t>+$18,969  p &lt; 0.001  d = 3.01</a:t>
            </a:r>
          </a:p>
          <a:p>
            <a:pPr algn="l">
              <a:spcBef>
                <a:spcPts val="600"/>
              </a:spcBef>
            </a:pPr>
            <a:r>
              <a:rPr sz="1100" b="0" i="0">
                <a:solidFill>
                  <a:srgbClr val="262626"/>
                </a:solidFill>
                <a:latin typeface="Calibri"/>
              </a:rPr>
              <a:t>Online ridge updating IS the mechanism.</a:t>
            </a:r>
          </a:p>
        </p:txBody>
      </p:sp>
      <p:sp>
        <p:nvSpPr>
          <p:cNvPr id="9" name="Rectangle 8"/>
          <p:cNvSpPr/>
          <p:nvPr/>
        </p:nvSpPr>
        <p:spPr>
          <a:xfrm>
            <a:off x="6245847" y="1200000"/>
            <a:ext cx="5488647" cy="46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245847" y="1200000"/>
            <a:ext cx="91440" cy="460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95847" y="1300000"/>
            <a:ext cx="5288647" cy="380000"/>
          </a:xfrm>
          <a:prstGeom prst="rect">
            <a:avLst/>
          </a:prstGeom>
          <a:noFill/>
        </p:spPr>
        <p:txBody>
          <a:bodyPr wrap="square">
            <a:spAutoFit/>
          </a:bodyPr>
          <a:lstStyle/>
          <a:p>
            <a:pPr algn="l">
              <a:spcBef>
                <a:spcPts val="0"/>
              </a:spcBef>
              <a:spcAft>
                <a:spcPts val="0"/>
              </a:spcAft>
            </a:pPr>
            <a:r>
              <a:rPr sz="1300" b="1" i="0">
                <a:solidFill>
                  <a:srgbClr val="7D4E00"/>
                </a:solidFill>
                <a:latin typeface="Calibri"/>
              </a:rPr>
              <a:t>EXP-015: DRIFT RESCUE?</a:t>
            </a:r>
          </a:p>
        </p:txBody>
      </p:sp>
      <p:sp>
        <p:nvSpPr>
          <p:cNvPr id="12" name="TextBox 11"/>
          <p:cNvSpPr txBox="1"/>
          <p:nvPr/>
        </p:nvSpPr>
        <p:spPr>
          <a:xfrm>
            <a:off x="6395847" y="1720000"/>
            <a:ext cx="5288647" cy="3900000"/>
          </a:xfrm>
          <a:prstGeom prst="rect">
            <a:avLst/>
          </a:prstGeom>
          <a:noFill/>
        </p:spPr>
        <p:txBody>
          <a:bodyPr wrap="square">
            <a:spAutoFit/>
          </a:bodyPr>
          <a:lstStyle/>
          <a:p>
            <a:pPr algn="l">
              <a:spcBef>
                <a:spcPts val="0"/>
              </a:spcBef>
              <a:spcAft>
                <a:spcPts val="0"/>
              </a:spcAft>
            </a:pPr>
            <a:r>
              <a:rPr sz="1100" b="1" i="0">
                <a:solidFill>
                  <a:srgbClr val="262626"/>
                </a:solidFill>
                <a:latin typeface="Calibri"/>
              </a:rPr>
              <a:t>Under realistic drift shock:</a:t>
            </a:r>
          </a:p>
          <a:p>
            <a:pPr algn="l">
              <a:spcBef>
                <a:spcPts val="1000"/>
              </a:spcBef>
            </a:pPr>
            <a:r>
              <a:rPr sz="1000" b="0" i="0">
                <a:solidFill>
                  <a:srgbClr val="505050"/>
                </a:solidFill>
                <a:latin typeface="Calibri"/>
              </a:rPr>
              <a:t>AlwaysRATED:</a:t>
            </a:r>
          </a:p>
          <a:p>
            <a:pPr algn="l">
              <a:spcBef>
                <a:spcPts val="200"/>
              </a:spcBef>
            </a:pPr>
            <a:r>
              <a:rPr sz="1200" b="1" i="0">
                <a:solidFill>
                  <a:srgbClr val="1B5697"/>
                </a:solidFill>
                <a:latin typeface="Calibri"/>
              </a:rPr>
              <a:t>$99,321</a:t>
            </a:r>
          </a:p>
          <a:p>
            <a:pPr algn="l">
              <a:spcBef>
                <a:spcPts val="1000"/>
              </a:spcBef>
            </a:pPr>
            <a:r>
              <a:rPr sz="1000" b="0" i="0">
                <a:solidFill>
                  <a:srgbClr val="505050"/>
                </a:solidFill>
                <a:latin typeface="Calibri"/>
              </a:rPr>
              <a:t>LinTS:</a:t>
            </a:r>
          </a:p>
          <a:p>
            <a:pPr algn="l">
              <a:spcBef>
                <a:spcPts val="200"/>
              </a:spcBef>
            </a:pPr>
            <a:r>
              <a:rPr sz="1200" b="1" i="0">
                <a:solidFill>
                  <a:srgbClr val="1B5697"/>
                </a:solidFill>
                <a:latin typeface="Calibri"/>
              </a:rPr>
              <a:t>$71,429  (−39.0%)</a:t>
            </a:r>
          </a:p>
          <a:p>
            <a:pPr algn="l">
              <a:spcBef>
                <a:spcPts val="1000"/>
              </a:spcBef>
            </a:pPr>
            <a:r>
              <a:rPr sz="1000" b="0" i="0">
                <a:solidFill>
                  <a:srgbClr val="505050"/>
                </a:solidFill>
                <a:latin typeface="Calibri"/>
              </a:rPr>
              <a:t>LinUCB:</a:t>
            </a:r>
          </a:p>
          <a:p>
            <a:pPr algn="l">
              <a:spcBef>
                <a:spcPts val="200"/>
              </a:spcBef>
            </a:pPr>
            <a:r>
              <a:rPr sz="1200" b="1" i="0">
                <a:solidFill>
                  <a:srgbClr val="1B5697"/>
                </a:solidFill>
                <a:latin typeface="Calibri"/>
              </a:rPr>
              <a:t>$71,373  (−39.2%)</a:t>
            </a:r>
          </a:p>
          <a:p>
            <a:pPr algn="l">
              <a:spcBef>
                <a:spcPts val="1000"/>
              </a:spcBef>
            </a:pPr>
            <a:r>
              <a:rPr sz="1000" b="0" i="0">
                <a:solidFill>
                  <a:srgbClr val="505050"/>
                </a:solidFill>
                <a:latin typeface="Calibri"/>
              </a:rPr>
              <a:t>DiscountedLinUCB γ=0.999:</a:t>
            </a:r>
          </a:p>
          <a:p>
            <a:pPr algn="l">
              <a:spcBef>
                <a:spcPts val="200"/>
              </a:spcBef>
            </a:pPr>
            <a:r>
              <a:rPr sz="1200" b="1" i="0">
                <a:solidFill>
                  <a:srgbClr val="1B5697"/>
                </a:solidFill>
                <a:latin typeface="Calibri"/>
              </a:rPr>
              <a:t>$70,995  (no help)</a:t>
            </a:r>
          </a:p>
          <a:p>
            <a:pPr algn="l">
              <a:spcBef>
                <a:spcPts val="1200"/>
              </a:spcBef>
            </a:pPr>
            <a:r>
              <a:rPr sz="1000" b="1" i="0">
                <a:solidFill>
                  <a:srgbClr val="7D4E00"/>
                </a:solidFill>
                <a:latin typeface="Calibri"/>
              </a:rPr>
              <a:t>Non-stationarity does NOT rescue the bandit.</a:t>
            </a:r>
          </a:p>
        </p:txBody>
      </p:sp>
      <p:sp>
        <p:nvSpPr>
          <p:cNvPr id="13" name="Rectangle 12"/>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15" name="Rectangle 14"/>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Results &amp; Evaluation</a:t>
            </a:r>
          </a:p>
        </p:txBody>
      </p:sp>
      <p:sp>
        <p:nvSpPr>
          <p:cNvPr id="17" name="Rectangle 16"/>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23 / 43</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COLD START &amp; REGRET BOUND (EXP-010 + EXP-013)</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457200" y="1200000"/>
          <a:ext cx="6202512" cy="3200000"/>
        </p:xfrm>
        <a:graphic>
          <a:graphicData uri="http://schemas.openxmlformats.org/drawingml/2006/table">
            <a:tbl>
              <a:tblPr firstRow="1" bandRow="1">
                <a:tableStyleId>{5C22544A-7EE6-4342-B048-85BDC9FD1C3A}</a:tableStyleId>
              </a:tblPr>
              <a:tblGrid>
                <a:gridCol w="2067504">
                  <a:extLst>
                    <a:ext uri="{9D8B030D-6E8A-4147-A177-3AD203B41FA5}">
                      <a16:colId xmlns:a16="http://schemas.microsoft.com/office/drawing/2014/main" val="20000"/>
                    </a:ext>
                  </a:extLst>
                </a:gridCol>
                <a:gridCol w="2067504">
                  <a:extLst>
                    <a:ext uri="{9D8B030D-6E8A-4147-A177-3AD203B41FA5}">
                      <a16:colId xmlns:a16="http://schemas.microsoft.com/office/drawing/2014/main" val="20001"/>
                    </a:ext>
                  </a:extLst>
                </a:gridCol>
                <a:gridCol w="2067504">
                  <a:extLst>
                    <a:ext uri="{9D8B030D-6E8A-4147-A177-3AD203B41FA5}">
                      <a16:colId xmlns:a16="http://schemas.microsoft.com/office/drawing/2014/main" val="20002"/>
                    </a:ext>
                  </a:extLst>
                </a:gridCol>
              </a:tblGrid>
              <a:tr h="640000">
                <a:tc>
                  <a:txBody>
                    <a:bodyPr/>
                    <a:lstStyle/>
                    <a:p>
                      <a:r>
                        <a:rPr sz="1000" b="1">
                          <a:solidFill>
                            <a:srgbClr val="FFFFFF"/>
                          </a:solidFill>
                        </a:rPr>
                        <a:t>Horizon T</a:t>
                      </a:r>
                    </a:p>
                  </a:txBody>
                  <a:tcPr>
                    <a:solidFill>
                      <a:srgbClr val="1B5697"/>
                    </a:solidFill>
                  </a:tcPr>
                </a:tc>
                <a:tc>
                  <a:txBody>
                    <a:bodyPr/>
                    <a:lstStyle/>
                    <a:p>
                      <a:r>
                        <a:rPr sz="1000" b="1">
                          <a:solidFill>
                            <a:srgbClr val="FFFFFF"/>
                          </a:solidFill>
                        </a:rPr>
                        <a:t>Relative Performance</a:t>
                      </a:r>
                    </a:p>
                  </a:txBody>
                  <a:tcPr>
                    <a:solidFill>
                      <a:srgbClr val="1B5697"/>
                    </a:solidFill>
                  </a:tcPr>
                </a:tc>
                <a:tc>
                  <a:txBody>
                    <a:bodyPr/>
                    <a:lstStyle/>
                    <a:p>
                      <a:r>
                        <a:rPr sz="1000" b="1">
                          <a:solidFill>
                            <a:srgbClr val="FFFFFF"/>
                          </a:solidFill>
                        </a:rPr>
                        <a:t>Interpretation</a:t>
                      </a:r>
                    </a:p>
                  </a:txBody>
                  <a:tcPr>
                    <a:solidFill>
                      <a:srgbClr val="1B5697"/>
                    </a:solidFill>
                  </a:tcPr>
                </a:tc>
                <a:extLst>
                  <a:ext uri="{0D108BD9-81ED-4DB2-BD59-A6C34878D82A}">
                    <a16:rowId xmlns:a16="http://schemas.microsoft.com/office/drawing/2014/main" val="10000"/>
                  </a:ext>
                </a:extLst>
              </a:tr>
              <a:tr h="640000">
                <a:tc>
                  <a:txBody>
                    <a:bodyPr/>
                    <a:lstStyle/>
                    <a:p>
                      <a:r>
                        <a:rPr sz="1000">
                          <a:solidFill>
                            <a:srgbClr val="262626"/>
                          </a:solidFill>
                        </a:rPr>
                        <a:t>T = 200</a:t>
                      </a:r>
                    </a:p>
                  </a:txBody>
                  <a:tcPr>
                    <a:solidFill>
                      <a:srgbClr val="FEF3CD"/>
                    </a:solidFill>
                  </a:tcPr>
                </a:tc>
                <a:tc>
                  <a:txBody>
                    <a:bodyPr/>
                    <a:lstStyle/>
                    <a:p>
                      <a:r>
                        <a:rPr sz="1000">
                          <a:solidFill>
                            <a:srgbClr val="262626"/>
                          </a:solidFill>
                        </a:rPr>
                        <a:t>FreshXGB 2.1× bandits</a:t>
                      </a:r>
                    </a:p>
                  </a:txBody>
                  <a:tcPr>
                    <a:solidFill>
                      <a:srgbClr val="FEF3CD"/>
                    </a:solidFill>
                  </a:tcPr>
                </a:tc>
                <a:tc>
                  <a:txBody>
                    <a:bodyPr/>
                    <a:lstStyle/>
                    <a:p>
                      <a:r>
                        <a:rPr sz="1000">
                          <a:solidFill>
                            <a:srgbClr val="262626"/>
                          </a:solidFill>
                        </a:rPr>
                        <a:t>XGB leads</a:t>
                      </a:r>
                    </a:p>
                  </a:txBody>
                  <a:tcPr>
                    <a:solidFill>
                      <a:srgbClr val="FEF3CD"/>
                    </a:solidFill>
                  </a:tcPr>
                </a:tc>
                <a:extLst>
                  <a:ext uri="{0D108BD9-81ED-4DB2-BD59-A6C34878D82A}">
                    <a16:rowId xmlns:a16="http://schemas.microsoft.com/office/drawing/2014/main" val="10001"/>
                  </a:ext>
                </a:extLst>
              </a:tr>
              <a:tr h="640000">
                <a:tc>
                  <a:txBody>
                    <a:bodyPr/>
                    <a:lstStyle/>
                    <a:p>
                      <a:r>
                        <a:rPr sz="1000">
                          <a:solidFill>
                            <a:srgbClr val="262626"/>
                          </a:solidFill>
                        </a:rPr>
                        <a:t>T = 500</a:t>
                      </a:r>
                    </a:p>
                  </a:txBody>
                  <a:tcPr>
                    <a:solidFill>
                      <a:srgbClr val="FEF3CD"/>
                    </a:solidFill>
                  </a:tcPr>
                </a:tc>
                <a:tc>
                  <a:txBody>
                    <a:bodyPr/>
                    <a:lstStyle/>
                    <a:p>
                      <a:r>
                        <a:rPr sz="1000">
                          <a:solidFill>
                            <a:srgbClr val="262626"/>
                          </a:solidFill>
                        </a:rPr>
                        <a:t>FreshXGB 1.26× bandits</a:t>
                      </a:r>
                    </a:p>
                  </a:txBody>
                  <a:tcPr>
                    <a:solidFill>
                      <a:srgbClr val="FEF3CD"/>
                    </a:solidFill>
                  </a:tcPr>
                </a:tc>
                <a:tc>
                  <a:txBody>
                    <a:bodyPr/>
                    <a:lstStyle/>
                    <a:p>
                      <a:r>
                        <a:rPr sz="1000">
                          <a:solidFill>
                            <a:srgbClr val="262626"/>
                          </a:solidFill>
                        </a:rPr>
                        <a:t>XGB leads</a:t>
                      </a:r>
                    </a:p>
                  </a:txBody>
                  <a:tcPr>
                    <a:solidFill>
                      <a:srgbClr val="FEF3CD"/>
                    </a:solidFill>
                  </a:tcPr>
                </a:tc>
                <a:extLst>
                  <a:ext uri="{0D108BD9-81ED-4DB2-BD59-A6C34878D82A}">
                    <a16:rowId xmlns:a16="http://schemas.microsoft.com/office/drawing/2014/main" val="10002"/>
                  </a:ext>
                </a:extLst>
              </a:tr>
              <a:tr h="640000">
                <a:tc>
                  <a:txBody>
                    <a:bodyPr/>
                    <a:lstStyle/>
                    <a:p>
                      <a:r>
                        <a:rPr sz="1000">
                          <a:solidFill>
                            <a:srgbClr val="262626"/>
                          </a:solidFill>
                        </a:rPr>
                        <a:t>T = 1,000</a:t>
                      </a:r>
                    </a:p>
                  </a:txBody>
                  <a:tcPr>
                    <a:solidFill>
                      <a:srgbClr val="F3F6FB"/>
                    </a:solidFill>
                  </a:tcPr>
                </a:tc>
                <a:tc>
                  <a:txBody>
                    <a:bodyPr/>
                    <a:lstStyle/>
                    <a:p>
                      <a:r>
                        <a:rPr sz="1000">
                          <a:solidFill>
                            <a:srgbClr val="262626"/>
                          </a:solidFill>
                        </a:rPr>
                        <a:t>TIE</a:t>
                      </a:r>
                    </a:p>
                  </a:txBody>
                  <a:tcPr>
                    <a:solidFill>
                      <a:srgbClr val="F3F6FB"/>
                    </a:solidFill>
                  </a:tcPr>
                </a:tc>
                <a:tc>
                  <a:txBody>
                    <a:bodyPr/>
                    <a:lstStyle/>
                    <a:p>
                      <a:r>
                        <a:rPr sz="1000">
                          <a:solidFill>
                            <a:srgbClr val="262626"/>
                          </a:solidFill>
                        </a:rPr>
                        <a:t>Crossover zone</a:t>
                      </a:r>
                    </a:p>
                  </a:txBody>
                  <a:tcPr>
                    <a:solidFill>
                      <a:srgbClr val="F3F6FB"/>
                    </a:solidFill>
                  </a:tcPr>
                </a:tc>
                <a:extLst>
                  <a:ext uri="{0D108BD9-81ED-4DB2-BD59-A6C34878D82A}">
                    <a16:rowId xmlns:a16="http://schemas.microsoft.com/office/drawing/2014/main" val="10003"/>
                  </a:ext>
                </a:extLst>
              </a:tr>
              <a:tr h="640000">
                <a:tc>
                  <a:txBody>
                    <a:bodyPr/>
                    <a:lstStyle/>
                    <a:p>
                      <a:r>
                        <a:rPr sz="1000">
                          <a:solidFill>
                            <a:srgbClr val="262626"/>
                          </a:solidFill>
                        </a:rPr>
                        <a:t>T = 2,000</a:t>
                      </a:r>
                    </a:p>
                  </a:txBody>
                  <a:tcPr>
                    <a:solidFill>
                      <a:srgbClr val="E7F4E8"/>
                    </a:solidFill>
                  </a:tcPr>
                </a:tc>
                <a:tc>
                  <a:txBody>
                    <a:bodyPr/>
                    <a:lstStyle/>
                    <a:p>
                      <a:r>
                        <a:rPr sz="1000">
                          <a:solidFill>
                            <a:srgbClr val="262626"/>
                          </a:solidFill>
                        </a:rPr>
                        <a:t>Bandits cross over</a:t>
                      </a:r>
                    </a:p>
                  </a:txBody>
                  <a:tcPr>
                    <a:solidFill>
                      <a:srgbClr val="E7F4E8"/>
                    </a:solidFill>
                  </a:tcPr>
                </a:tc>
                <a:tc>
                  <a:txBody>
                    <a:bodyPr/>
                    <a:lstStyle/>
                    <a:p>
                      <a:r>
                        <a:rPr sz="1000">
                          <a:solidFill>
                            <a:srgbClr val="262626"/>
                          </a:solidFill>
                        </a:rPr>
                        <a:t>Bandits lead</a:t>
                      </a:r>
                    </a:p>
                  </a:txBody>
                  <a:tcPr>
                    <a:solidFill>
                      <a:srgbClr val="E7F4E8"/>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457200" y="4600000"/>
            <a:ext cx="6202512" cy="600000"/>
          </a:xfrm>
          <a:prstGeom prst="rect">
            <a:avLst/>
          </a:prstGeom>
          <a:noFill/>
        </p:spPr>
        <p:txBody>
          <a:bodyPr wrap="square">
            <a:spAutoFit/>
          </a:bodyPr>
          <a:lstStyle/>
          <a:p>
            <a:pPr algn="l">
              <a:spcBef>
                <a:spcPts val="0"/>
              </a:spcBef>
              <a:spcAft>
                <a:spcPts val="0"/>
              </a:spcAft>
            </a:pPr>
            <a:r>
              <a:rPr sz="1000" b="1" i="0">
                <a:solidFill>
                  <a:srgbClr val="1B5697"/>
                </a:solidFill>
                <a:latin typeface="Calibri"/>
              </a:rPr>
              <a:t>Operational implication: warm-start required for first 1,000–2,000 applications.</a:t>
            </a:r>
          </a:p>
        </p:txBody>
      </p:sp>
      <p:sp>
        <p:nvSpPr>
          <p:cNvPr id="7" name="Rectangle 6"/>
          <p:cNvSpPr/>
          <p:nvPr/>
        </p:nvSpPr>
        <p:spPr>
          <a:xfrm>
            <a:off x="6909712" y="1200000"/>
            <a:ext cx="4824782" cy="36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909712" y="1200000"/>
            <a:ext cx="91440" cy="36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059712" y="1300000"/>
            <a:ext cx="4624782" cy="3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EXP-013: REGRET BOUND</a:t>
            </a:r>
          </a:p>
        </p:txBody>
      </p:sp>
      <p:sp>
        <p:nvSpPr>
          <p:cNvPr id="10" name="TextBox 9"/>
          <p:cNvSpPr txBox="1"/>
          <p:nvPr/>
        </p:nvSpPr>
        <p:spPr>
          <a:xfrm>
            <a:off x="7059712" y="1720000"/>
            <a:ext cx="4624782" cy="290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Log-log slope: 0.572</a:t>
            </a:r>
          </a:p>
          <a:p>
            <a:pPr algn="l">
              <a:spcBef>
                <a:spcPts val="400"/>
              </a:spcBef>
            </a:pPr>
            <a:r>
              <a:rPr sz="1000" b="0" i="1">
                <a:solidFill>
                  <a:srgbClr val="505050"/>
                </a:solidFill>
                <a:latin typeface="Calibri"/>
              </a:rPr>
              <a:t>(theory: 0.5 — near-optimal)</a:t>
            </a:r>
          </a:p>
          <a:p>
            <a:pPr algn="l">
              <a:spcBef>
                <a:spcPts val="0"/>
              </a:spcBef>
            </a:pPr>
            <a:endParaRPr sz="1000" b="0" i="1">
              <a:solidFill>
                <a:srgbClr val="505050"/>
              </a:solidFill>
              <a:latin typeface="Calibri"/>
            </a:endParaRPr>
          </a:p>
          <a:p>
            <a:pPr algn="l">
              <a:spcBef>
                <a:spcPts val="600"/>
              </a:spcBef>
            </a:pPr>
            <a:r>
              <a:rPr sz="1300" b="1" i="0">
                <a:solidFill>
                  <a:srgbClr val="1B5697"/>
                </a:solidFill>
                <a:latin typeface="Calibri"/>
              </a:rPr>
              <a:t>R² = 0.9915</a:t>
            </a:r>
          </a:p>
          <a:p>
            <a:pPr algn="l">
              <a:spcBef>
                <a:spcPts val="400"/>
              </a:spcBef>
            </a:pPr>
            <a:r>
              <a:rPr sz="1000" b="0" i="1">
                <a:solidFill>
                  <a:srgbClr val="505050"/>
                </a:solidFill>
                <a:latin typeface="Calibri"/>
              </a:rPr>
              <a:t>Excellent linear fit on log-log axes</a:t>
            </a:r>
          </a:p>
          <a:p>
            <a:pPr algn="l">
              <a:spcBef>
                <a:spcPts val="0"/>
              </a:spcBef>
            </a:pPr>
            <a:endParaRPr sz="1000" b="0" i="1">
              <a:solidFill>
                <a:srgbClr val="505050"/>
              </a:solidFill>
              <a:latin typeface="Calibri"/>
            </a:endParaRPr>
          </a:p>
          <a:p>
            <a:pPr algn="l">
              <a:spcBef>
                <a:spcPts val="600"/>
              </a:spcBef>
            </a:pPr>
            <a:r>
              <a:rPr sz="1000" b="0" i="0">
                <a:solidFill>
                  <a:srgbClr val="262626"/>
                </a:solidFill>
                <a:latin typeface="Calibri"/>
              </a:rPr>
              <a:t>85% of seeds in [0.30, 0.80]</a:t>
            </a:r>
          </a:p>
          <a:p>
            <a:pPr algn="l">
              <a:spcBef>
                <a:spcPts val="400"/>
              </a:spcBef>
            </a:pPr>
            <a:r>
              <a:rPr sz="1000" b="1" i="0">
                <a:solidFill>
                  <a:srgbClr val="2E8B57"/>
                </a:solidFill>
                <a:latin typeface="Calibri"/>
              </a:rPr>
              <a:t>Sublinear regret confirmed</a:t>
            </a:r>
          </a:p>
        </p:txBody>
      </p:sp>
      <p:sp>
        <p:nvSpPr>
          <p:cNvPr id="11" name="Rectangle 10"/>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13" name="Rectangle 12"/>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Results &amp; Evaluation</a:t>
            </a:r>
          </a:p>
        </p:txBody>
      </p:sp>
      <p:sp>
        <p:nvSpPr>
          <p:cNvPr id="15" name="Rectangle 14"/>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24 / 43</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LIVE DEMONSTRATION</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200000"/>
            <a:ext cx="11277295" cy="4800000"/>
          </a:xfrm>
          <a:prstGeom prst="rect">
            <a:avLst/>
          </a:prstGeom>
          <a:noFill/>
        </p:spPr>
        <p:txBody>
          <a:bodyPr wrap="square">
            <a:spAutoFit/>
          </a:bodyPr>
          <a:lstStyle/>
          <a:p>
            <a:pPr algn="l">
              <a:spcBef>
                <a:spcPts val="0"/>
              </a:spcBef>
              <a:spcAft>
                <a:spcPts val="0"/>
              </a:spcAft>
            </a:pPr>
            <a:r>
              <a:rPr sz="1200" b="0" i="1">
                <a:solidFill>
                  <a:srgbClr val="505050"/>
                </a:solidFill>
                <a:latin typeface="Calibri"/>
              </a:rPr>
              <a:t>[Open browser at localhost:8000 before this slide]</a:t>
            </a:r>
          </a:p>
          <a:p>
            <a:pPr algn="l">
              <a:spcBef>
                <a:spcPts val="200"/>
              </a:spcBef>
            </a:pPr>
            <a:endParaRPr sz="1200" b="0" i="1">
              <a:solidFill>
                <a:srgbClr val="505050"/>
              </a:solidFill>
              <a:latin typeface="Calibri"/>
            </a:endParaRPr>
          </a:p>
          <a:p>
            <a:pPr algn="l">
              <a:spcBef>
                <a:spcPts val="800"/>
              </a:spcBef>
            </a:pPr>
            <a:r>
              <a:rPr sz="1200" b="1" i="0">
                <a:solidFill>
                  <a:srgbClr val="1B5697"/>
                </a:solidFill>
                <a:latin typeface="Calibri"/>
              </a:rPr>
              <a:t>STEP 1: Enter Sophea's profile</a:t>
            </a:r>
          </a:p>
          <a:p>
            <a:pPr algn="l">
              <a:spcBef>
                <a:spcPts val="200"/>
              </a:spcBef>
            </a:pPr>
            <a:r>
              <a:rPr sz="1200" b="0" i="0">
                <a:solidFill>
                  <a:srgbClr val="262626"/>
                </a:solidFill>
                <a:latin typeface="Calibri"/>
              </a:rPr>
              <a:t>  Age 42  ·  Female  ·  BMI 24.1  ·  Smoker: No  ·  Hypertension: Yes</a:t>
            </a:r>
          </a:p>
          <a:p>
            <a:pPr algn="l">
              <a:spcBef>
                <a:spcPts val="200"/>
              </a:spcBef>
            </a:pPr>
            <a:r>
              <a:rPr sz="1200" b="0" i="0">
                <a:solidFill>
                  <a:srgbClr val="262626"/>
                </a:solidFill>
                <a:latin typeface="Calibri"/>
              </a:rPr>
              <a:t>  Region: Kampong Cham  ·  Occupation: Agriculture</a:t>
            </a:r>
          </a:p>
          <a:p>
            <a:pPr algn="l">
              <a:spcBef>
                <a:spcPts val="200"/>
              </a:spcBef>
            </a:pPr>
            <a:endParaRPr sz="1200" b="0" i="0">
              <a:solidFill>
                <a:srgbClr val="262626"/>
              </a:solidFill>
              <a:latin typeface="Calibri"/>
            </a:endParaRPr>
          </a:p>
          <a:p>
            <a:pPr algn="l">
              <a:spcBef>
                <a:spcPts val="800"/>
              </a:spcBef>
            </a:pPr>
            <a:r>
              <a:rPr sz="1200" b="1" i="0">
                <a:solidFill>
                  <a:srgbClr val="1B5697"/>
                </a:solidFill>
                <a:latin typeface="Calibri"/>
              </a:rPr>
              <a:t>STEP 2: Submit — show STANDARD decision</a:t>
            </a:r>
          </a:p>
          <a:p>
            <a:pPr algn="l">
              <a:spcBef>
                <a:spcPts val="200"/>
              </a:spcBef>
            </a:pPr>
            <a:r>
              <a:rPr sz="1200" b="0" i="0">
                <a:solidFill>
                  <a:srgbClr val="262626"/>
                </a:solidFill>
                <a:latin typeface="Calibri"/>
              </a:rPr>
              <a:t>  The bandit sees her 34 features and selects STANDARD premium</a:t>
            </a:r>
          </a:p>
          <a:p>
            <a:pPr algn="l">
              <a:spcBef>
                <a:spcPts val="200"/>
              </a:spcBef>
            </a:pPr>
            <a:r>
              <a:rPr sz="1200" b="0" i="0">
                <a:solidFill>
                  <a:srgbClr val="262626"/>
                </a:solidFill>
                <a:latin typeface="Calibri"/>
              </a:rPr>
              <a:t>  The correct actuarial answer — the one she was denied in 2023</a:t>
            </a:r>
          </a:p>
          <a:p>
            <a:pPr algn="l">
              <a:spcBef>
                <a:spcPts val="200"/>
              </a:spcBef>
            </a:pPr>
            <a:endParaRPr sz="1200" b="0" i="0">
              <a:solidFill>
                <a:srgbClr val="262626"/>
              </a:solidFill>
              <a:latin typeface="Calibri"/>
            </a:endParaRPr>
          </a:p>
          <a:p>
            <a:pPr algn="l">
              <a:spcBef>
                <a:spcPts val="800"/>
              </a:spcBef>
            </a:pPr>
            <a:r>
              <a:rPr sz="1200" b="1" i="0">
                <a:solidFill>
                  <a:srgbClr val="1B5697"/>
                </a:solidFill>
                <a:latin typeface="Calibri"/>
              </a:rPr>
              <a:t>STEP 3: Submit a high-risk applicant</a:t>
            </a:r>
          </a:p>
          <a:p>
            <a:pPr algn="l">
              <a:spcBef>
                <a:spcPts val="200"/>
              </a:spcBef>
            </a:pPr>
            <a:r>
              <a:rPr sz="1200" b="0" i="0">
                <a:solidFill>
                  <a:srgbClr val="262626"/>
                </a:solidFill>
                <a:latin typeface="Calibri"/>
              </a:rPr>
              <a:t>  Older  ·  Smoker  ·  High BMI  ·  Multiple clinical flags</a:t>
            </a:r>
          </a:p>
          <a:p>
            <a:pPr algn="l">
              <a:spcBef>
                <a:spcPts val="200"/>
              </a:spcBef>
            </a:pPr>
            <a:r>
              <a:rPr sz="1200" b="0" i="0">
                <a:solidFill>
                  <a:srgbClr val="262626"/>
                </a:solidFill>
                <a:latin typeface="Calibri"/>
              </a:rPr>
              <a:t>  Show REFER or RATED decision; explain HITL queue</a:t>
            </a:r>
          </a:p>
          <a:p>
            <a:pPr algn="l">
              <a:spcBef>
                <a:spcPts val="200"/>
              </a:spcBef>
            </a:pPr>
            <a:endParaRPr sz="1200" b="0" i="0">
              <a:solidFill>
                <a:srgbClr val="262626"/>
              </a:solidFill>
              <a:latin typeface="Calibri"/>
            </a:endParaRPr>
          </a:p>
          <a:p>
            <a:pPr algn="l">
              <a:spcBef>
                <a:spcPts val="800"/>
              </a:spcBef>
            </a:pPr>
            <a:r>
              <a:rPr sz="1200" b="1" i="0">
                <a:solidFill>
                  <a:srgbClr val="1B5697"/>
                </a:solidFill>
                <a:latin typeface="Calibri"/>
              </a:rPr>
              <a:t>STEP 4: Show HITL tab</a:t>
            </a:r>
          </a:p>
          <a:p>
            <a:pPr algn="l">
              <a:spcBef>
                <a:spcPts val="200"/>
              </a:spcBef>
            </a:pPr>
            <a:r>
              <a:rPr sz="1200" b="0" i="0">
                <a:solidFill>
                  <a:srgbClr val="262626"/>
                </a:solidFill>
                <a:latin typeface="Calibri"/>
              </a:rPr>
              <a:t>  Running referral rate  ·  cumulative review cost  ·  alignment score</a:t>
            </a:r>
          </a:p>
          <a:p>
            <a:pPr algn="l">
              <a:spcBef>
                <a:spcPts val="200"/>
              </a:spcBef>
            </a:pPr>
            <a:endParaRPr sz="1200" b="0" i="0">
              <a:solidFill>
                <a:srgbClr val="262626"/>
              </a:solidFill>
              <a:latin typeface="Calibri"/>
            </a:endParaRPr>
          </a:p>
          <a:p>
            <a:pPr algn="l">
              <a:spcBef>
                <a:spcPts val="200"/>
              </a:spcBef>
            </a:pPr>
            <a:r>
              <a:rPr sz="1200" b="0" i="1">
                <a:solidFill>
                  <a:srgbClr val="505050"/>
                </a:solidFill>
                <a:latin typeface="Calibri"/>
              </a:rPr>
              <a:t>[This is the FastAPI prototype deployed on Render — not a mockup]</a:t>
            </a:r>
          </a:p>
        </p:txBody>
      </p:sp>
      <p:sp>
        <p:nvSpPr>
          <p:cNvPr id="6" name="Rectangle 5"/>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8" name="Rectangle 7"/>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Results &amp; Evaluation</a:t>
            </a:r>
          </a:p>
        </p:txBody>
      </p:sp>
      <p:sp>
        <p:nvSpPr>
          <p:cNvPr id="10" name="Rectangle 9"/>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25 / 43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9000"/>
            <a:ext cx="11277295" cy="700000"/>
          </a:xfrm>
          <a:prstGeom prst="rect">
            <a:avLst/>
          </a:prstGeom>
          <a:noFill/>
        </p:spPr>
        <p:txBody>
          <a:bodyPr wrap="square">
            <a:spAutoFit/>
          </a:bodyPr>
          <a:lstStyle/>
          <a:p>
            <a:pPr algn="l">
              <a:spcBef>
                <a:spcPts val="0"/>
              </a:spcBef>
              <a:spcAft>
                <a:spcPts val="0"/>
              </a:spcAft>
            </a:pPr>
            <a:r>
              <a:rPr sz="4800" b="1" i="0">
                <a:solidFill>
                  <a:srgbClr val="FFFFFF"/>
                </a:solidFill>
                <a:latin typeface="Segoe UI"/>
              </a:rPr>
              <a:t>V.</a:t>
            </a:r>
          </a:p>
        </p:txBody>
      </p:sp>
      <p:sp>
        <p:nvSpPr>
          <p:cNvPr id="4" name="Rectangle 3"/>
          <p:cNvSpPr/>
          <p:nvPr/>
        </p:nvSpPr>
        <p:spPr>
          <a:xfrm>
            <a:off x="457200" y="3489000"/>
            <a:ext cx="292608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3589000"/>
            <a:ext cx="11277295" cy="800000"/>
          </a:xfrm>
          <a:prstGeom prst="rect">
            <a:avLst/>
          </a:prstGeom>
          <a:noFill/>
        </p:spPr>
        <p:txBody>
          <a:bodyPr wrap="square">
            <a:spAutoFit/>
          </a:bodyPr>
          <a:lstStyle/>
          <a:p>
            <a:pPr algn="l">
              <a:spcBef>
                <a:spcPts val="0"/>
              </a:spcBef>
              <a:spcAft>
                <a:spcPts val="0"/>
              </a:spcAft>
            </a:pPr>
            <a:r>
              <a:rPr sz="2800" b="1" i="0">
                <a:solidFill>
                  <a:srgbClr val="FFFFFF"/>
                </a:solidFill>
                <a:latin typeface="Segoe UI"/>
              </a:rPr>
              <a:t>Conclusion &amp; Future Work</a:t>
            </a:r>
          </a:p>
        </p:txBody>
      </p:sp>
      <p:sp>
        <p:nvSpPr>
          <p:cNvPr id="6" name="Rectangle 5"/>
          <p:cNvSpPr/>
          <p:nvPr/>
        </p:nvSpPr>
        <p:spPr>
          <a:xfrm>
            <a:off x="0" y="6437376"/>
            <a:ext cx="1219169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8" name="TextBox 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AFC4E4"/>
                </a:solidFill>
                <a:latin typeface="Calibri"/>
              </a:rPr>
              <a:t>Conclusion &amp; Future Work</a:t>
            </a:r>
          </a:p>
        </p:txBody>
      </p:sp>
      <p:sp>
        <p:nvSpPr>
          <p:cNvPr id="9" name="TextBox 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26 / 43</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4 KEY FINDINGS</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200000"/>
            <a:ext cx="5488647" cy="21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200000"/>
            <a:ext cx="91440" cy="21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07200" y="1300000"/>
            <a:ext cx="5288647" cy="320000"/>
          </a:xfrm>
          <a:prstGeom prst="rect">
            <a:avLst/>
          </a:prstGeom>
          <a:noFill/>
        </p:spPr>
        <p:txBody>
          <a:bodyPr wrap="square">
            <a:spAutoFit/>
          </a:bodyPr>
          <a:lstStyle/>
          <a:p>
            <a:pPr algn="l">
              <a:spcBef>
                <a:spcPts val="0"/>
              </a:spcBef>
              <a:spcAft>
                <a:spcPts val="0"/>
              </a:spcAft>
            </a:pPr>
            <a:r>
              <a:rPr sz="1000" b="1" i="0">
                <a:solidFill>
                  <a:srgbClr val="505050"/>
                </a:solidFill>
                <a:latin typeface="Calibri"/>
              </a:rPr>
              <a:t>FINDING 1 — EXP-005</a:t>
            </a:r>
          </a:p>
        </p:txBody>
      </p:sp>
      <p:sp>
        <p:nvSpPr>
          <p:cNvPr id="8" name="TextBox 7"/>
          <p:cNvSpPr txBox="1"/>
          <p:nvPr/>
        </p:nvSpPr>
        <p:spPr>
          <a:xfrm>
            <a:off x="607200" y="1620000"/>
            <a:ext cx="5288647" cy="3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Online adaptation beats static rules</a:t>
            </a:r>
          </a:p>
        </p:txBody>
      </p:sp>
      <p:sp>
        <p:nvSpPr>
          <p:cNvPr id="9" name="TextBox 8"/>
          <p:cNvSpPr txBox="1"/>
          <p:nvPr/>
        </p:nvSpPr>
        <p:spPr>
          <a:xfrm>
            <a:off x="607200" y="2020000"/>
            <a:ext cx="5288647" cy="1150000"/>
          </a:xfrm>
          <a:prstGeom prst="rect">
            <a:avLst/>
          </a:prstGeom>
          <a:noFill/>
        </p:spPr>
        <p:txBody>
          <a:bodyPr wrap="square">
            <a:spAutoFit/>
          </a:bodyPr>
          <a:lstStyle/>
          <a:p>
            <a:pPr algn="l">
              <a:spcBef>
                <a:spcPts val="0"/>
              </a:spcBef>
              <a:spcAft>
                <a:spcPts val="0"/>
              </a:spcAft>
            </a:pPr>
            <a:r>
              <a:rPr sz="1100" b="0" i="0">
                <a:solidFill>
                  <a:srgbClr val="262626"/>
                </a:solidFill>
                <a:latin typeface="Calibri"/>
              </a:rPr>
              <a:t>+25.2%, p &lt; 0.001, d = 2.98</a:t>
            </a:r>
          </a:p>
          <a:p>
            <a:pPr algn="l">
              <a:spcBef>
                <a:spcPts val="600"/>
              </a:spcBef>
            </a:pPr>
            <a:r>
              <a:rPr sz="1100" b="0" i="0">
                <a:solidFill>
                  <a:srgbClr val="505050"/>
                </a:solidFill>
                <a:latin typeface="Calibri"/>
              </a:rPr>
              <a:t>LinUCB +$18,248 over Static XGB across 20 seeds</a:t>
            </a:r>
          </a:p>
        </p:txBody>
      </p:sp>
      <p:sp>
        <p:nvSpPr>
          <p:cNvPr id="10" name="Rectangle 9"/>
          <p:cNvSpPr/>
          <p:nvPr/>
        </p:nvSpPr>
        <p:spPr>
          <a:xfrm>
            <a:off x="6245847" y="1200000"/>
            <a:ext cx="5488647" cy="21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245847" y="1200000"/>
            <a:ext cx="91440" cy="21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95847" y="1300000"/>
            <a:ext cx="5288647" cy="320000"/>
          </a:xfrm>
          <a:prstGeom prst="rect">
            <a:avLst/>
          </a:prstGeom>
          <a:noFill/>
        </p:spPr>
        <p:txBody>
          <a:bodyPr wrap="square">
            <a:spAutoFit/>
          </a:bodyPr>
          <a:lstStyle/>
          <a:p>
            <a:pPr algn="l">
              <a:spcBef>
                <a:spcPts val="0"/>
              </a:spcBef>
              <a:spcAft>
                <a:spcPts val="0"/>
              </a:spcAft>
            </a:pPr>
            <a:r>
              <a:rPr sz="1000" b="1" i="0">
                <a:solidFill>
                  <a:srgbClr val="505050"/>
                </a:solidFill>
                <a:latin typeface="Calibri"/>
              </a:rPr>
              <a:t>FINDING 2 — EXP-006</a:t>
            </a:r>
          </a:p>
        </p:txBody>
      </p:sp>
      <p:sp>
        <p:nvSpPr>
          <p:cNvPr id="13" name="TextBox 12"/>
          <p:cNvSpPr txBox="1"/>
          <p:nvPr/>
        </p:nvSpPr>
        <p:spPr>
          <a:xfrm>
            <a:off x="6395847" y="1620000"/>
            <a:ext cx="5288647" cy="3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No demographic bias introduced</a:t>
            </a:r>
          </a:p>
        </p:txBody>
      </p:sp>
      <p:sp>
        <p:nvSpPr>
          <p:cNvPr id="14" name="TextBox 13"/>
          <p:cNvSpPr txBox="1"/>
          <p:nvPr/>
        </p:nvSpPr>
        <p:spPr>
          <a:xfrm>
            <a:off x="6395847" y="2020000"/>
            <a:ext cx="5288647" cy="1150000"/>
          </a:xfrm>
          <a:prstGeom prst="rect">
            <a:avLst/>
          </a:prstGeom>
          <a:noFill/>
        </p:spPr>
        <p:txBody>
          <a:bodyPr wrap="square">
            <a:spAutoFit/>
          </a:bodyPr>
          <a:lstStyle/>
          <a:p>
            <a:pPr algn="l">
              <a:spcBef>
                <a:spcPts val="0"/>
              </a:spcBef>
              <a:spcAft>
                <a:spcPts val="0"/>
              </a:spcAft>
            </a:pPr>
            <a:r>
              <a:rPr sz="1100" b="0" i="0">
                <a:solidFill>
                  <a:srgbClr val="262626"/>
                </a:solidFill>
                <a:latin typeface="Calibri"/>
              </a:rPr>
              <a:t>85.72% &amp; 90.12% parity (Region &amp; Occupation)</a:t>
            </a:r>
          </a:p>
          <a:p>
            <a:pPr algn="l">
              <a:spcBef>
                <a:spcPts val="600"/>
              </a:spcBef>
            </a:pPr>
            <a:r>
              <a:rPr sz="1100" b="0" i="0">
                <a:solidFill>
                  <a:srgbClr val="505050"/>
                </a:solidFill>
                <a:latin typeface="Calibri"/>
              </a:rPr>
              <a:t>PSI GREEN/AMBER throughout</a:t>
            </a:r>
          </a:p>
        </p:txBody>
      </p:sp>
      <p:sp>
        <p:nvSpPr>
          <p:cNvPr id="15" name="Rectangle 14"/>
          <p:cNvSpPr/>
          <p:nvPr/>
        </p:nvSpPr>
        <p:spPr>
          <a:xfrm>
            <a:off x="457200" y="3500000"/>
            <a:ext cx="5488647" cy="21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3500000"/>
            <a:ext cx="91440" cy="21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07200" y="3600000"/>
            <a:ext cx="5288647" cy="320000"/>
          </a:xfrm>
          <a:prstGeom prst="rect">
            <a:avLst/>
          </a:prstGeom>
          <a:noFill/>
        </p:spPr>
        <p:txBody>
          <a:bodyPr wrap="square">
            <a:spAutoFit/>
          </a:bodyPr>
          <a:lstStyle/>
          <a:p>
            <a:pPr algn="l">
              <a:spcBef>
                <a:spcPts val="0"/>
              </a:spcBef>
              <a:spcAft>
                <a:spcPts val="0"/>
              </a:spcAft>
            </a:pPr>
            <a:r>
              <a:rPr sz="1000" b="1" i="0">
                <a:solidFill>
                  <a:srgbClr val="505050"/>
                </a:solidFill>
                <a:latin typeface="Calibri"/>
              </a:rPr>
              <a:t>FINDING 3 — EXP-011</a:t>
            </a:r>
          </a:p>
        </p:txBody>
      </p:sp>
      <p:sp>
        <p:nvSpPr>
          <p:cNvPr id="18" name="TextBox 17"/>
          <p:cNvSpPr txBox="1"/>
          <p:nvPr/>
        </p:nvSpPr>
        <p:spPr>
          <a:xfrm>
            <a:off x="607200" y="3920000"/>
            <a:ext cx="5288647" cy="3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Mechanism: online ridge updating, not exploration</a:t>
            </a:r>
          </a:p>
        </p:txBody>
      </p:sp>
      <p:sp>
        <p:nvSpPr>
          <p:cNvPr id="19" name="TextBox 18"/>
          <p:cNvSpPr txBox="1"/>
          <p:nvPr/>
        </p:nvSpPr>
        <p:spPr>
          <a:xfrm>
            <a:off x="607200" y="4320000"/>
            <a:ext cx="5288647" cy="1150000"/>
          </a:xfrm>
          <a:prstGeom prst="rect">
            <a:avLst/>
          </a:prstGeom>
          <a:noFill/>
        </p:spPr>
        <p:txBody>
          <a:bodyPr wrap="square">
            <a:spAutoFit/>
          </a:bodyPr>
          <a:lstStyle/>
          <a:p>
            <a:pPr algn="l">
              <a:spcBef>
                <a:spcPts val="0"/>
              </a:spcBef>
              <a:spcAft>
                <a:spcPts val="0"/>
              </a:spcAft>
            </a:pPr>
            <a:r>
              <a:rPr sz="1100" b="0" i="0">
                <a:solidFill>
                  <a:srgbClr val="262626"/>
                </a:solidFill>
                <a:latin typeface="Calibri"/>
              </a:rPr>
              <a:t>Greedy-only (α = 0) ties full LinUCB (p = 0.58)</a:t>
            </a:r>
          </a:p>
          <a:p>
            <a:pPr algn="l">
              <a:spcBef>
                <a:spcPts val="600"/>
              </a:spcBef>
            </a:pPr>
            <a:r>
              <a:rPr sz="1100" b="0" i="0">
                <a:solidFill>
                  <a:srgbClr val="505050"/>
                </a:solidFill>
                <a:latin typeface="Calibri"/>
              </a:rPr>
              <a:t>Online learning beats frozen model regardless of exploration</a:t>
            </a:r>
          </a:p>
        </p:txBody>
      </p:sp>
      <p:sp>
        <p:nvSpPr>
          <p:cNvPr id="20" name="Rectangle 19"/>
          <p:cNvSpPr/>
          <p:nvPr/>
        </p:nvSpPr>
        <p:spPr>
          <a:xfrm>
            <a:off x="6245847" y="3500000"/>
            <a:ext cx="5488647" cy="21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245847" y="3500000"/>
            <a:ext cx="91440" cy="21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95847" y="3600000"/>
            <a:ext cx="5288647" cy="320000"/>
          </a:xfrm>
          <a:prstGeom prst="rect">
            <a:avLst/>
          </a:prstGeom>
          <a:noFill/>
        </p:spPr>
        <p:txBody>
          <a:bodyPr wrap="square">
            <a:spAutoFit/>
          </a:bodyPr>
          <a:lstStyle/>
          <a:p>
            <a:pPr algn="l">
              <a:spcBef>
                <a:spcPts val="0"/>
              </a:spcBef>
              <a:spcAft>
                <a:spcPts val="0"/>
              </a:spcAft>
            </a:pPr>
            <a:r>
              <a:rPr sz="1000" b="1" i="0">
                <a:solidFill>
                  <a:srgbClr val="505050"/>
                </a:solidFill>
                <a:latin typeface="Calibri"/>
              </a:rPr>
              <a:t>FINDING 4 — EXP-008</a:t>
            </a:r>
          </a:p>
        </p:txBody>
      </p:sp>
      <p:sp>
        <p:nvSpPr>
          <p:cNvPr id="23" name="TextBox 22"/>
          <p:cNvSpPr txBox="1"/>
          <p:nvPr/>
        </p:nvSpPr>
        <p:spPr>
          <a:xfrm>
            <a:off x="6395847" y="3920000"/>
            <a:ext cx="5288647" cy="3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HITL adds value at low cost</a:t>
            </a:r>
          </a:p>
        </p:txBody>
      </p:sp>
      <p:sp>
        <p:nvSpPr>
          <p:cNvPr id="24" name="TextBox 23"/>
          <p:cNvSpPr txBox="1"/>
          <p:nvPr/>
        </p:nvSpPr>
        <p:spPr>
          <a:xfrm>
            <a:off x="6395847" y="4320000"/>
            <a:ext cx="5288647" cy="1150000"/>
          </a:xfrm>
          <a:prstGeom prst="rect">
            <a:avLst/>
          </a:prstGeom>
          <a:noFill/>
        </p:spPr>
        <p:txBody>
          <a:bodyPr wrap="square">
            <a:spAutoFit/>
          </a:bodyPr>
          <a:lstStyle/>
          <a:p>
            <a:pPr algn="l">
              <a:spcBef>
                <a:spcPts val="0"/>
              </a:spcBef>
              <a:spcAft>
                <a:spcPts val="0"/>
              </a:spcAft>
            </a:pPr>
            <a:r>
              <a:rPr sz="1100" b="0" i="0">
                <a:solidFill>
                  <a:srgbClr val="262626"/>
                </a:solidFill>
                <a:latin typeface="Calibri"/>
              </a:rPr>
              <a:t>+6.5% at 1.5% review rate, 2.6% cost</a:t>
            </a:r>
          </a:p>
          <a:p>
            <a:pPr algn="l">
              <a:spcBef>
                <a:spcPts val="600"/>
              </a:spcBef>
            </a:pPr>
            <a:r>
              <a:rPr sz="1100" b="0" i="0">
                <a:solidFill>
                  <a:srgbClr val="505050"/>
                </a:solidFill>
                <a:latin typeface="Calibri"/>
              </a:rPr>
              <a:t>Alignment score 60.0% — human oversight meaningful</a:t>
            </a:r>
          </a:p>
        </p:txBody>
      </p:sp>
      <p:sp>
        <p:nvSpPr>
          <p:cNvPr id="25" name="Rectangle 24"/>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7" name="Rectangle 26"/>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Conclusion &amp; Future Work</a:t>
            </a:r>
          </a:p>
        </p:txBody>
      </p:sp>
      <p:sp>
        <p:nvSpPr>
          <p:cNvPr id="29" name="Rectangle 28"/>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27 / 43</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LIMITATIONS</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200000"/>
            <a:ext cx="5488647" cy="20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200000"/>
            <a:ext cx="91440" cy="200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07200" y="1300000"/>
            <a:ext cx="5288647" cy="380000"/>
          </a:xfrm>
          <a:prstGeom prst="rect">
            <a:avLst/>
          </a:prstGeom>
          <a:noFill/>
        </p:spPr>
        <p:txBody>
          <a:bodyPr wrap="square">
            <a:spAutoFit/>
          </a:bodyPr>
          <a:lstStyle/>
          <a:p>
            <a:pPr algn="l">
              <a:spcBef>
                <a:spcPts val="0"/>
              </a:spcBef>
              <a:spcAft>
                <a:spcPts val="0"/>
              </a:spcAft>
            </a:pPr>
            <a:r>
              <a:rPr sz="1300" b="1" i="0">
                <a:solidFill>
                  <a:srgbClr val="7D4E00"/>
                </a:solidFill>
                <a:latin typeface="Calibri"/>
              </a:rPr>
              <a:t>Synthetic data</a:t>
            </a:r>
          </a:p>
        </p:txBody>
      </p:sp>
      <p:sp>
        <p:nvSpPr>
          <p:cNvPr id="8" name="TextBox 7"/>
          <p:cNvSpPr txBox="1"/>
          <p:nvPr/>
        </p:nvSpPr>
        <p:spPr>
          <a:xfrm>
            <a:off x="607200" y="1700000"/>
            <a:ext cx="5288647" cy="1380000"/>
          </a:xfrm>
          <a:prstGeom prst="rect">
            <a:avLst/>
          </a:prstGeom>
          <a:noFill/>
        </p:spPr>
        <p:txBody>
          <a:bodyPr wrap="square">
            <a:spAutoFit/>
          </a:bodyPr>
          <a:lstStyle/>
          <a:p>
            <a:pPr algn="l">
              <a:spcBef>
                <a:spcPts val="0"/>
              </a:spcBef>
              <a:spcAft>
                <a:spcPts val="0"/>
              </a:spcAft>
            </a:pPr>
            <a:r>
              <a:rPr sz="1100" b="0" i="0">
                <a:solidFill>
                  <a:srgbClr val="262626"/>
                </a:solidFill>
                <a:latin typeface="Calibri"/>
              </a:rPr>
              <a:t>2,000 records — cannot capture rare comorbidities, fraud</a:t>
            </a:r>
          </a:p>
          <a:p>
            <a:pPr algn="l">
              <a:spcBef>
                <a:spcPts val="500"/>
              </a:spcBef>
            </a:pPr>
            <a:r>
              <a:rPr sz="1100" b="0" i="0">
                <a:solidFill>
                  <a:srgbClr val="505050"/>
                </a:solidFill>
                <a:latin typeface="Calibri"/>
              </a:rPr>
              <a:t>CDHS/STEPS-anchored but not real insurance claims</a:t>
            </a:r>
          </a:p>
        </p:txBody>
      </p:sp>
      <p:sp>
        <p:nvSpPr>
          <p:cNvPr id="9" name="Rectangle 8"/>
          <p:cNvSpPr/>
          <p:nvPr/>
        </p:nvSpPr>
        <p:spPr>
          <a:xfrm>
            <a:off x="6245847" y="1200000"/>
            <a:ext cx="5488647" cy="20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245847" y="1200000"/>
            <a:ext cx="91440" cy="200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95847" y="1300000"/>
            <a:ext cx="5288647" cy="380000"/>
          </a:xfrm>
          <a:prstGeom prst="rect">
            <a:avLst/>
          </a:prstGeom>
          <a:noFill/>
        </p:spPr>
        <p:txBody>
          <a:bodyPr wrap="square">
            <a:spAutoFit/>
          </a:bodyPr>
          <a:lstStyle/>
          <a:p>
            <a:pPr algn="l">
              <a:spcBef>
                <a:spcPts val="0"/>
              </a:spcBef>
              <a:spcAft>
                <a:spcPts val="0"/>
              </a:spcAft>
            </a:pPr>
            <a:r>
              <a:rPr sz="1300" b="1" i="0">
                <a:solidFill>
                  <a:srgbClr val="7D4E00"/>
                </a:solidFill>
                <a:latin typeface="Calibri"/>
              </a:rPr>
              <a:t>Single-period rewards</a:t>
            </a:r>
          </a:p>
        </p:txBody>
      </p:sp>
      <p:sp>
        <p:nvSpPr>
          <p:cNvPr id="12" name="TextBox 11"/>
          <p:cNvSpPr txBox="1"/>
          <p:nvPr/>
        </p:nvSpPr>
        <p:spPr>
          <a:xfrm>
            <a:off x="6395847" y="1700000"/>
            <a:ext cx="5288647" cy="1380000"/>
          </a:xfrm>
          <a:prstGeom prst="rect">
            <a:avLst/>
          </a:prstGeom>
          <a:noFill/>
        </p:spPr>
        <p:txBody>
          <a:bodyPr wrap="square">
            <a:spAutoFit/>
          </a:bodyPr>
          <a:lstStyle/>
          <a:p>
            <a:pPr algn="l">
              <a:spcBef>
                <a:spcPts val="0"/>
              </a:spcBef>
              <a:spcAft>
                <a:spcPts val="0"/>
              </a:spcAft>
            </a:pPr>
            <a:r>
              <a:rPr sz="1100" b="0" i="0">
                <a:solidFill>
                  <a:srgbClr val="262626"/>
                </a:solidFill>
                <a:latin typeface="Calibri"/>
              </a:rPr>
              <a:t>No multi-year claims, retention, or renewal cycle</a:t>
            </a:r>
          </a:p>
          <a:p>
            <a:pPr algn="l">
              <a:spcBef>
                <a:spcPts val="500"/>
              </a:spcBef>
            </a:pPr>
            <a:r>
              <a:rPr sz="1100" b="0" i="0">
                <a:solidFill>
                  <a:srgbClr val="505050"/>
                </a:solidFill>
                <a:latin typeface="Calibri"/>
              </a:rPr>
              <a:t>Reward is a one-shot proxy for profitability</a:t>
            </a:r>
          </a:p>
        </p:txBody>
      </p:sp>
      <p:sp>
        <p:nvSpPr>
          <p:cNvPr id="13" name="Rectangle 12"/>
          <p:cNvSpPr/>
          <p:nvPr/>
        </p:nvSpPr>
        <p:spPr>
          <a:xfrm>
            <a:off x="457200" y="3400000"/>
            <a:ext cx="5488647" cy="20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3400000"/>
            <a:ext cx="91440" cy="200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07200" y="3500000"/>
            <a:ext cx="5288647" cy="380000"/>
          </a:xfrm>
          <a:prstGeom prst="rect">
            <a:avLst/>
          </a:prstGeom>
          <a:noFill/>
        </p:spPr>
        <p:txBody>
          <a:bodyPr wrap="square">
            <a:spAutoFit/>
          </a:bodyPr>
          <a:lstStyle/>
          <a:p>
            <a:pPr algn="l">
              <a:spcBef>
                <a:spcPts val="0"/>
              </a:spcBef>
              <a:spcAft>
                <a:spcPts val="0"/>
              </a:spcAft>
            </a:pPr>
            <a:r>
              <a:rPr sz="1300" b="1" i="0">
                <a:solidFill>
                  <a:srgbClr val="7D4E00"/>
                </a:solidFill>
                <a:latin typeface="Calibri"/>
              </a:rPr>
              <a:t>Stationarity assumption</a:t>
            </a:r>
          </a:p>
        </p:txBody>
      </p:sp>
      <p:sp>
        <p:nvSpPr>
          <p:cNvPr id="16" name="TextBox 15"/>
          <p:cNvSpPr txBox="1"/>
          <p:nvPr/>
        </p:nvSpPr>
        <p:spPr>
          <a:xfrm>
            <a:off x="607200" y="3900000"/>
            <a:ext cx="5288647" cy="1380000"/>
          </a:xfrm>
          <a:prstGeom prst="rect">
            <a:avLst/>
          </a:prstGeom>
          <a:noFill/>
        </p:spPr>
        <p:txBody>
          <a:bodyPr wrap="square">
            <a:spAutoFit/>
          </a:bodyPr>
          <a:lstStyle/>
          <a:p>
            <a:pPr algn="l">
              <a:spcBef>
                <a:spcPts val="0"/>
              </a:spcBef>
              <a:spcAft>
                <a:spcPts val="0"/>
              </a:spcAft>
            </a:pPr>
            <a:r>
              <a:rPr sz="1100" b="0" i="0">
                <a:solidFill>
                  <a:srgbClr val="262626"/>
                </a:solidFill>
                <a:latin typeface="Calibri"/>
              </a:rPr>
              <a:t>Violated in practice (EXP-009/015 partially address)</a:t>
            </a:r>
          </a:p>
          <a:p>
            <a:pPr algn="l">
              <a:spcBef>
                <a:spcPts val="500"/>
              </a:spcBef>
            </a:pPr>
            <a:r>
              <a:rPr sz="1100" b="0" i="0">
                <a:solidFill>
                  <a:srgbClr val="505050"/>
                </a:solidFill>
                <a:latin typeface="Calibri"/>
              </a:rPr>
              <a:t>DiscountedLinUCB helps only marginally under shock</a:t>
            </a:r>
          </a:p>
        </p:txBody>
      </p:sp>
      <p:sp>
        <p:nvSpPr>
          <p:cNvPr id="17" name="Rectangle 16"/>
          <p:cNvSpPr/>
          <p:nvPr/>
        </p:nvSpPr>
        <p:spPr>
          <a:xfrm>
            <a:off x="6245847" y="3400000"/>
            <a:ext cx="5488647" cy="20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245847" y="3400000"/>
            <a:ext cx="91440" cy="200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95847" y="3500000"/>
            <a:ext cx="5288647" cy="380000"/>
          </a:xfrm>
          <a:prstGeom prst="rect">
            <a:avLst/>
          </a:prstGeom>
          <a:noFill/>
        </p:spPr>
        <p:txBody>
          <a:bodyPr wrap="square">
            <a:spAutoFit/>
          </a:bodyPr>
          <a:lstStyle/>
          <a:p>
            <a:pPr algn="l">
              <a:spcBef>
                <a:spcPts val="0"/>
              </a:spcBef>
              <a:spcAft>
                <a:spcPts val="0"/>
              </a:spcAft>
            </a:pPr>
            <a:r>
              <a:rPr sz="1300" b="1" i="0">
                <a:solidFill>
                  <a:srgbClr val="7D4E00"/>
                </a:solidFill>
                <a:latin typeface="Calibri"/>
              </a:rPr>
              <a:t>Constant-policy ceiling</a:t>
            </a:r>
          </a:p>
        </p:txBody>
      </p:sp>
      <p:sp>
        <p:nvSpPr>
          <p:cNvPr id="20" name="TextBox 19"/>
          <p:cNvSpPr txBox="1"/>
          <p:nvPr/>
        </p:nvSpPr>
        <p:spPr>
          <a:xfrm>
            <a:off x="6395847" y="3900000"/>
            <a:ext cx="5288647" cy="1380000"/>
          </a:xfrm>
          <a:prstGeom prst="rect">
            <a:avLst/>
          </a:prstGeom>
          <a:noFill/>
        </p:spPr>
        <p:txBody>
          <a:bodyPr wrap="square">
            <a:spAutoFit/>
          </a:bodyPr>
          <a:lstStyle/>
          <a:p>
            <a:pPr algn="l">
              <a:spcBef>
                <a:spcPts val="0"/>
              </a:spcBef>
              <a:spcAft>
                <a:spcPts val="0"/>
              </a:spcAft>
            </a:pPr>
            <a:r>
              <a:rPr sz="1100" b="0" i="0">
                <a:solidFill>
                  <a:srgbClr val="262626"/>
                </a:solidFill>
                <a:latin typeface="Calibri"/>
              </a:rPr>
              <a:t>AlwaysRATED beats bandits by ~30%</a:t>
            </a:r>
          </a:p>
          <a:p>
            <a:pPr algn="l">
              <a:spcBef>
                <a:spcPts val="500"/>
              </a:spcBef>
            </a:pPr>
            <a:r>
              <a:rPr sz="1100" b="0" i="0">
                <a:solidFill>
                  <a:srgbClr val="505050"/>
                </a:solidFill>
                <a:latin typeface="Calibri"/>
              </a:rPr>
              <a:t>Bandits lead every admissible deployable alternative,</a:t>
            </a:r>
          </a:p>
          <a:p>
            <a:pPr algn="l">
              <a:spcBef>
                <a:spcPts val="500"/>
              </a:spcBef>
            </a:pPr>
            <a:r>
              <a:rPr sz="1100" b="0" i="0">
                <a:solidFill>
                  <a:srgbClr val="505050"/>
                </a:solidFill>
                <a:latin typeface="Calibri"/>
              </a:rPr>
              <a:t>but headroom to Oracle remains large</a:t>
            </a:r>
          </a:p>
        </p:txBody>
      </p:sp>
      <p:sp>
        <p:nvSpPr>
          <p:cNvPr id="21" name="Rectangle 20"/>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3" name="Rectangle 22"/>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Conclusion &amp; Future Work</a:t>
            </a:r>
          </a:p>
        </p:txBody>
      </p:sp>
      <p:sp>
        <p:nvSpPr>
          <p:cNvPr id="25" name="Rectangle 24"/>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28 / 43</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FUTURE WORK</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200000"/>
            <a:ext cx="5488647" cy="20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200000"/>
            <a:ext cx="91440" cy="20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07200" y="1300000"/>
            <a:ext cx="5288647" cy="3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Non-stationary drift</a:t>
            </a:r>
          </a:p>
        </p:txBody>
      </p:sp>
      <p:sp>
        <p:nvSpPr>
          <p:cNvPr id="8" name="TextBox 7"/>
          <p:cNvSpPr txBox="1"/>
          <p:nvPr/>
        </p:nvSpPr>
        <p:spPr>
          <a:xfrm>
            <a:off x="607200" y="1700000"/>
            <a:ext cx="5288647" cy="1380000"/>
          </a:xfrm>
          <a:prstGeom prst="rect">
            <a:avLst/>
          </a:prstGeom>
          <a:noFill/>
        </p:spPr>
        <p:txBody>
          <a:bodyPr wrap="square">
            <a:spAutoFit/>
          </a:bodyPr>
          <a:lstStyle/>
          <a:p>
            <a:pPr algn="l">
              <a:spcBef>
                <a:spcPts val="0"/>
              </a:spcBef>
              <a:spcAft>
                <a:spcPts val="0"/>
              </a:spcAft>
            </a:pPr>
            <a:r>
              <a:rPr sz="1100" b="0" i="0">
                <a:solidFill>
                  <a:srgbClr val="262626"/>
                </a:solidFill>
                <a:latin typeface="Calibri"/>
              </a:rPr>
              <a:t>DiscountedLinUCB + PSI early-warning pipeline</a:t>
            </a:r>
          </a:p>
          <a:p>
            <a:pPr algn="l">
              <a:spcBef>
                <a:spcPts val="500"/>
              </a:spcBef>
            </a:pPr>
            <a:r>
              <a:rPr sz="1100" b="0" i="0">
                <a:solidFill>
                  <a:srgbClr val="505050"/>
                </a:solidFill>
                <a:latin typeface="Calibri"/>
              </a:rPr>
              <a:t>Threshold-adaptive forgetting factor</a:t>
            </a:r>
          </a:p>
        </p:txBody>
      </p:sp>
      <p:sp>
        <p:nvSpPr>
          <p:cNvPr id="9" name="Rectangle 8"/>
          <p:cNvSpPr/>
          <p:nvPr/>
        </p:nvSpPr>
        <p:spPr>
          <a:xfrm>
            <a:off x="6245847" y="1200000"/>
            <a:ext cx="5488647" cy="20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245847" y="1200000"/>
            <a:ext cx="91440" cy="20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95847" y="1300000"/>
            <a:ext cx="5288647" cy="3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Neural bandit extensions</a:t>
            </a:r>
          </a:p>
        </p:txBody>
      </p:sp>
      <p:sp>
        <p:nvSpPr>
          <p:cNvPr id="12" name="TextBox 11"/>
          <p:cNvSpPr txBox="1"/>
          <p:nvPr/>
        </p:nvSpPr>
        <p:spPr>
          <a:xfrm>
            <a:off x="6395847" y="1700000"/>
            <a:ext cx="5288647" cy="1380000"/>
          </a:xfrm>
          <a:prstGeom prst="rect">
            <a:avLst/>
          </a:prstGeom>
          <a:noFill/>
        </p:spPr>
        <p:txBody>
          <a:bodyPr wrap="square">
            <a:spAutoFit/>
          </a:bodyPr>
          <a:lstStyle/>
          <a:p>
            <a:pPr algn="l">
              <a:spcBef>
                <a:spcPts val="0"/>
              </a:spcBef>
              <a:spcAft>
                <a:spcPts val="0"/>
              </a:spcAft>
            </a:pPr>
            <a:r>
              <a:rPr sz="1100" b="0" i="0">
                <a:solidFill>
                  <a:srgbClr val="262626"/>
                </a:solidFill>
                <a:latin typeface="Calibri"/>
              </a:rPr>
              <a:t>NeuralUCB + Neural-Linear hybrid</a:t>
            </a:r>
          </a:p>
          <a:p>
            <a:pPr algn="l">
              <a:spcBef>
                <a:spcPts val="500"/>
              </a:spcBef>
            </a:pPr>
            <a:r>
              <a:rPr sz="1100" b="0" i="0">
                <a:solidFill>
                  <a:srgbClr val="505050"/>
                </a:solidFill>
                <a:latin typeface="Calibri"/>
              </a:rPr>
              <a:t>Richer feature representations beyond 34 dimensions</a:t>
            </a:r>
          </a:p>
        </p:txBody>
      </p:sp>
      <p:sp>
        <p:nvSpPr>
          <p:cNvPr id="13" name="Rectangle 12"/>
          <p:cNvSpPr/>
          <p:nvPr/>
        </p:nvSpPr>
        <p:spPr>
          <a:xfrm>
            <a:off x="457200" y="3400000"/>
            <a:ext cx="5488647" cy="20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3400000"/>
            <a:ext cx="91440" cy="20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07200" y="3500000"/>
            <a:ext cx="5288647" cy="3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Live A/B deployment</a:t>
            </a:r>
          </a:p>
        </p:txBody>
      </p:sp>
      <p:sp>
        <p:nvSpPr>
          <p:cNvPr id="16" name="TextBox 15"/>
          <p:cNvSpPr txBox="1"/>
          <p:nvPr/>
        </p:nvSpPr>
        <p:spPr>
          <a:xfrm>
            <a:off x="607200" y="3900000"/>
            <a:ext cx="5288647" cy="1380000"/>
          </a:xfrm>
          <a:prstGeom prst="rect">
            <a:avLst/>
          </a:prstGeom>
          <a:noFill/>
        </p:spPr>
        <p:txBody>
          <a:bodyPr wrap="square">
            <a:spAutoFit/>
          </a:bodyPr>
          <a:lstStyle/>
          <a:p>
            <a:pPr algn="l">
              <a:spcBef>
                <a:spcPts val="0"/>
              </a:spcBef>
              <a:spcAft>
                <a:spcPts val="0"/>
              </a:spcAft>
            </a:pPr>
            <a:r>
              <a:rPr sz="1100" b="0" i="0">
                <a:solidFill>
                  <a:srgbClr val="262626"/>
                </a:solidFill>
                <a:latin typeface="Calibri"/>
              </a:rPr>
              <a:t>Delayed reward via survival proxy (6–24 month claims lag)</a:t>
            </a:r>
          </a:p>
          <a:p>
            <a:pPr algn="l">
              <a:spcBef>
                <a:spcPts val="500"/>
              </a:spcBef>
            </a:pPr>
            <a:r>
              <a:rPr sz="1100" b="0" i="0">
                <a:solidFill>
                  <a:srgbClr val="505050"/>
                </a:solidFill>
                <a:latin typeface="Calibri"/>
              </a:rPr>
              <a:t>Online evaluation with real Cambodian insurers</a:t>
            </a:r>
          </a:p>
        </p:txBody>
      </p:sp>
      <p:sp>
        <p:nvSpPr>
          <p:cNvPr id="17" name="Rectangle 16"/>
          <p:cNvSpPr/>
          <p:nvPr/>
        </p:nvSpPr>
        <p:spPr>
          <a:xfrm>
            <a:off x="6245847" y="3400000"/>
            <a:ext cx="5488647" cy="20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245847" y="3400000"/>
            <a:ext cx="91440" cy="20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95847" y="3500000"/>
            <a:ext cx="5288647" cy="3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Multi-period customer value</a:t>
            </a:r>
          </a:p>
        </p:txBody>
      </p:sp>
      <p:sp>
        <p:nvSpPr>
          <p:cNvPr id="20" name="TextBox 19"/>
          <p:cNvSpPr txBox="1"/>
          <p:nvPr/>
        </p:nvSpPr>
        <p:spPr>
          <a:xfrm>
            <a:off x="6395847" y="3900000"/>
            <a:ext cx="5288647" cy="1380000"/>
          </a:xfrm>
          <a:prstGeom prst="rect">
            <a:avLst/>
          </a:prstGeom>
          <a:noFill/>
        </p:spPr>
        <p:txBody>
          <a:bodyPr wrap="square">
            <a:spAutoFit/>
          </a:bodyPr>
          <a:lstStyle/>
          <a:p>
            <a:pPr algn="l">
              <a:spcBef>
                <a:spcPts val="0"/>
              </a:spcBef>
              <a:spcAft>
                <a:spcPts val="0"/>
              </a:spcAft>
            </a:pPr>
            <a:r>
              <a:rPr sz="1100" b="0" i="0">
                <a:solidFill>
                  <a:srgbClr val="262626"/>
                </a:solidFill>
                <a:latin typeface="Calibri"/>
              </a:rPr>
              <a:t>CLV, retention, cross-selling</a:t>
            </a:r>
          </a:p>
          <a:p>
            <a:pPr algn="l">
              <a:spcBef>
                <a:spcPts val="500"/>
              </a:spcBef>
            </a:pPr>
            <a:r>
              <a:rPr sz="1100" b="0" i="0">
                <a:solidFill>
                  <a:srgbClr val="505050"/>
                </a:solidFill>
                <a:latin typeface="Calibri"/>
              </a:rPr>
              <a:t>Move beyond single-decision reward framing</a:t>
            </a:r>
          </a:p>
        </p:txBody>
      </p:sp>
      <p:sp>
        <p:nvSpPr>
          <p:cNvPr id="21" name="Rectangle 20"/>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3" name="Rectangle 22"/>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Conclusion &amp; Future Work</a:t>
            </a:r>
          </a:p>
        </p:txBody>
      </p:sp>
      <p:sp>
        <p:nvSpPr>
          <p:cNvPr id="25" name="Rectangle 24"/>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29 / 43</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000000"/>
            <a:ext cx="11277295" cy="1200000"/>
          </a:xfrm>
          <a:prstGeom prst="rect">
            <a:avLst/>
          </a:prstGeom>
          <a:noFill/>
        </p:spPr>
        <p:txBody>
          <a:bodyPr wrap="square">
            <a:spAutoFit/>
          </a:bodyPr>
          <a:lstStyle/>
          <a:p>
            <a:pPr algn="ctr">
              <a:spcBef>
                <a:spcPts val="0"/>
              </a:spcBef>
              <a:spcAft>
                <a:spcPts val="0"/>
              </a:spcAft>
            </a:pPr>
            <a:r>
              <a:rPr sz="4000" b="1" i="0">
                <a:solidFill>
                  <a:srgbClr val="F4A11D"/>
                </a:solidFill>
                <a:latin typeface="Calibri"/>
              </a:rPr>
              <a:t>2023: DECLINE.</a:t>
            </a:r>
          </a:p>
          <a:p>
            <a:pPr algn="ctr">
              <a:spcBef>
                <a:spcPts val="1800"/>
              </a:spcBef>
            </a:pPr>
            <a:r>
              <a:rPr sz="4000" b="1" i="0">
                <a:solidFill>
                  <a:srgbClr val="FFFFFF"/>
                </a:solidFill>
                <a:latin typeface="Calibri"/>
              </a:rPr>
              <a:t>2026: STANDARD.</a:t>
            </a:r>
          </a:p>
        </p:txBody>
      </p:sp>
      <p:sp>
        <p:nvSpPr>
          <p:cNvPr id="4" name="TextBox 3"/>
          <p:cNvSpPr txBox="1"/>
          <p:nvPr/>
        </p:nvSpPr>
        <p:spPr>
          <a:xfrm>
            <a:off x="457200" y="2500000"/>
            <a:ext cx="11277295" cy="800000"/>
          </a:xfrm>
          <a:prstGeom prst="rect">
            <a:avLst/>
          </a:prstGeom>
          <a:noFill/>
        </p:spPr>
        <p:txBody>
          <a:bodyPr wrap="square">
            <a:spAutoFit/>
          </a:bodyPr>
          <a:lstStyle/>
          <a:p>
            <a:pPr algn="ctr">
              <a:spcBef>
                <a:spcPts val="0"/>
              </a:spcBef>
              <a:spcAft>
                <a:spcPts val="0"/>
              </a:spcAft>
            </a:pPr>
            <a:r>
              <a:rPr sz="1600" b="0" i="1">
                <a:solidFill>
                  <a:srgbClr val="BDCEE4"/>
                </a:solidFill>
                <a:latin typeface="Calibri"/>
              </a:rPr>
              <a:t>Cambodia has hundreds of thousands of applicants like her.</a:t>
            </a:r>
          </a:p>
          <a:p>
            <a:pPr algn="ctr">
              <a:spcBef>
                <a:spcPts val="1800"/>
              </a:spcBef>
            </a:pPr>
            <a:r>
              <a:rPr sz="2000" b="1" i="0">
                <a:solidFill>
                  <a:srgbClr val="FFFFFF"/>
                </a:solidFill>
                <a:latin typeface="Calibri"/>
              </a:rPr>
              <a:t>Thank you.</a:t>
            </a:r>
          </a:p>
        </p:txBody>
      </p:sp>
      <p:sp>
        <p:nvSpPr>
          <p:cNvPr id="5" name="Rectangle 4"/>
          <p:cNvSpPr/>
          <p:nvPr/>
        </p:nvSpPr>
        <p:spPr>
          <a:xfrm>
            <a:off x="457200" y="3600000"/>
            <a:ext cx="11277295" cy="54864"/>
          </a:xfrm>
          <a:prstGeom prst="rect">
            <a:avLst/>
          </a:prstGeom>
          <a:solidFill>
            <a:srgbClr val="162D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3700000"/>
            <a:ext cx="11277295" cy="800000"/>
          </a:xfrm>
          <a:prstGeom prst="rect">
            <a:avLst/>
          </a:prstGeom>
          <a:noFill/>
        </p:spPr>
        <p:txBody>
          <a:bodyPr wrap="square">
            <a:spAutoFit/>
          </a:bodyPr>
          <a:lstStyle/>
          <a:p>
            <a:pPr algn="ctr">
              <a:spcBef>
                <a:spcPts val="0"/>
              </a:spcBef>
              <a:spcAft>
                <a:spcPts val="0"/>
              </a:spcAft>
            </a:pPr>
            <a:r>
              <a:rPr sz="1100" b="1" i="0">
                <a:solidFill>
                  <a:srgbClr val="BDCEE4"/>
                </a:solidFill>
                <a:latin typeface="Calibri"/>
              </a:rPr>
              <a:t>APPENDIX SLIDES</a:t>
            </a:r>
          </a:p>
        </p:txBody>
      </p:sp>
      <p:sp>
        <p:nvSpPr>
          <p:cNvPr id="7" name="TextBox 6"/>
          <p:cNvSpPr txBox="1"/>
          <p:nvPr/>
        </p:nvSpPr>
        <p:spPr>
          <a:xfrm>
            <a:off x="2457200" y="4600000"/>
            <a:ext cx="7277295" cy="1500000"/>
          </a:xfrm>
          <a:prstGeom prst="rect">
            <a:avLst/>
          </a:prstGeom>
          <a:noFill/>
        </p:spPr>
        <p:txBody>
          <a:bodyPr wrap="square">
            <a:spAutoFit/>
          </a:bodyPr>
          <a:lstStyle/>
          <a:p>
            <a:pPr algn="ctr">
              <a:spcBef>
                <a:spcPts val="0"/>
              </a:spcBef>
              <a:spcAft>
                <a:spcPts val="0"/>
              </a:spcAft>
            </a:pPr>
            <a:r>
              <a:rPr sz="1000" b="0" i="0">
                <a:solidFill>
                  <a:srgbClr val="BDCEE4"/>
                </a:solidFill>
                <a:latin typeface="Calibri"/>
              </a:rPr>
              <a:t>A1: Complete Baseline Ladder</a:t>
            </a:r>
          </a:p>
          <a:p>
            <a:pPr algn="ctr">
              <a:spcBef>
                <a:spcPts val="500"/>
              </a:spcBef>
            </a:pPr>
            <a:r>
              <a:rPr sz="1000" b="0" i="0">
                <a:solidFill>
                  <a:srgbClr val="BDCEE4"/>
                </a:solidFill>
                <a:latin typeface="Calibri"/>
              </a:rPr>
              <a:t>A2: Number Reconciliation (+25.2% / +29.8% / +6.5%)</a:t>
            </a:r>
          </a:p>
          <a:p>
            <a:pPr algn="ctr">
              <a:spcBef>
                <a:spcPts val="500"/>
              </a:spcBef>
            </a:pPr>
            <a:r>
              <a:rPr sz="1000" b="0" i="0">
                <a:solidFill>
                  <a:srgbClr val="BDCEE4"/>
                </a:solidFill>
                <a:latin typeface="Calibri"/>
              </a:rPr>
              <a:t>A3: All 6 Fairness Criteria</a:t>
            </a:r>
          </a:p>
          <a:p>
            <a:pPr algn="ctr">
              <a:spcBef>
                <a:spcPts val="500"/>
              </a:spcBef>
            </a:pPr>
            <a:r>
              <a:rPr sz="1000" b="0" i="0">
                <a:solidFill>
                  <a:srgbClr val="BDCEE4"/>
                </a:solidFill>
                <a:latin typeface="Calibri"/>
              </a:rPr>
              <a:t>A4: Math Details (LinUCB update rule, PSI formula, HITL dual-update)</a:t>
            </a:r>
          </a:p>
          <a:p>
            <a:pPr algn="ctr">
              <a:spcBef>
                <a:spcPts val="500"/>
              </a:spcBef>
            </a:pPr>
            <a:r>
              <a:rPr sz="1000" b="0" i="0">
                <a:solidFill>
                  <a:srgbClr val="BDCEE4"/>
                </a:solidFill>
                <a:latin typeface="Calibri"/>
              </a:rPr>
              <a:t>A5: Full Sensitivity Tables</a:t>
            </a:r>
          </a:p>
        </p:txBody>
      </p:sp>
      <p:sp>
        <p:nvSpPr>
          <p:cNvPr id="8" name="Rectangle 7"/>
          <p:cNvSpPr/>
          <p:nvPr/>
        </p:nvSpPr>
        <p:spPr>
          <a:xfrm>
            <a:off x="0" y="6437376"/>
            <a:ext cx="12191695" cy="420624"/>
          </a:xfrm>
          <a:prstGeom prst="rect">
            <a:avLst/>
          </a:prstGeom>
          <a:solidFill>
            <a:srgbClr val="162D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10" name="TextBox 9"/>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BDCEE4"/>
                </a:solidFill>
                <a:latin typeface="Calibri"/>
              </a:rPr>
              <a:t>Q &amp; A</a:t>
            </a:r>
          </a:p>
        </p:txBody>
      </p:sp>
      <p:sp>
        <p:nvSpPr>
          <p:cNvPr id="11" name="TextBox 1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34 / 43</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A1: COMPLETE BASELINE LADDER</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457200" y="1100000"/>
          <a:ext cx="11277295" cy="5000000"/>
        </p:xfrm>
        <a:graphic>
          <a:graphicData uri="http://schemas.openxmlformats.org/drawingml/2006/table">
            <a:tbl>
              <a:tblPr firstRow="1" bandRow="1">
                <a:tableStyleId>{5C22544A-7EE6-4342-B048-85BDC9FD1C3A}</a:tableStyleId>
              </a:tblPr>
              <a:tblGrid>
                <a:gridCol w="2819323">
                  <a:extLst>
                    <a:ext uri="{9D8B030D-6E8A-4147-A177-3AD203B41FA5}">
                      <a16:colId xmlns:a16="http://schemas.microsoft.com/office/drawing/2014/main" val="20000"/>
                    </a:ext>
                  </a:extLst>
                </a:gridCol>
                <a:gridCol w="2819323">
                  <a:extLst>
                    <a:ext uri="{9D8B030D-6E8A-4147-A177-3AD203B41FA5}">
                      <a16:colId xmlns:a16="http://schemas.microsoft.com/office/drawing/2014/main" val="20001"/>
                    </a:ext>
                  </a:extLst>
                </a:gridCol>
                <a:gridCol w="2819323">
                  <a:extLst>
                    <a:ext uri="{9D8B030D-6E8A-4147-A177-3AD203B41FA5}">
                      <a16:colId xmlns:a16="http://schemas.microsoft.com/office/drawing/2014/main" val="20002"/>
                    </a:ext>
                  </a:extLst>
                </a:gridCol>
                <a:gridCol w="2819326">
                  <a:extLst>
                    <a:ext uri="{9D8B030D-6E8A-4147-A177-3AD203B41FA5}">
                      <a16:colId xmlns:a16="http://schemas.microsoft.com/office/drawing/2014/main" val="20003"/>
                    </a:ext>
                  </a:extLst>
                </a:gridCol>
              </a:tblGrid>
              <a:tr h="500000">
                <a:tc>
                  <a:txBody>
                    <a:bodyPr/>
                    <a:lstStyle/>
                    <a:p>
                      <a:r>
                        <a:rPr sz="1000" b="1">
                          <a:solidFill>
                            <a:srgbClr val="FFFFFF"/>
                          </a:solidFill>
                        </a:rPr>
                        <a:t>Policy</a:t>
                      </a:r>
                    </a:p>
                  </a:txBody>
                  <a:tcPr>
                    <a:solidFill>
                      <a:srgbClr val="1B5697"/>
                    </a:solidFill>
                  </a:tcPr>
                </a:tc>
                <a:tc>
                  <a:txBody>
                    <a:bodyPr/>
                    <a:lstStyle/>
                    <a:p>
                      <a:r>
                        <a:rPr sz="1000" b="1">
                          <a:solidFill>
                            <a:srgbClr val="FFFFFF"/>
                          </a:solidFill>
                        </a:rPr>
                        <a:t>Cumulative Reward (mean)</a:t>
                      </a:r>
                    </a:p>
                  </a:txBody>
                  <a:tcPr>
                    <a:solidFill>
                      <a:srgbClr val="1B5697"/>
                    </a:solidFill>
                  </a:tcPr>
                </a:tc>
                <a:tc>
                  <a:txBody>
                    <a:bodyPr/>
                    <a:lstStyle/>
                    <a:p>
                      <a:r>
                        <a:rPr sz="1000" b="1">
                          <a:solidFill>
                            <a:srgbClr val="FFFFFF"/>
                          </a:solidFill>
                        </a:rPr>
                        <a:t>95% CI</a:t>
                      </a:r>
                    </a:p>
                  </a:txBody>
                  <a:tcPr>
                    <a:solidFill>
                      <a:srgbClr val="1B5697"/>
                    </a:solidFill>
                  </a:tcPr>
                </a:tc>
                <a:tc>
                  <a:txBody>
                    <a:bodyPr/>
                    <a:lstStyle/>
                    <a:p>
                      <a:r>
                        <a:rPr sz="1000" b="1">
                          <a:solidFill>
                            <a:srgbClr val="FFFFFF"/>
                          </a:solidFill>
                        </a:rPr>
                        <a:t>% of Oracle</a:t>
                      </a:r>
                    </a:p>
                  </a:txBody>
                  <a:tcPr>
                    <a:solidFill>
                      <a:srgbClr val="1B5697"/>
                    </a:solidFill>
                  </a:tcPr>
                </a:tc>
                <a:extLst>
                  <a:ext uri="{0D108BD9-81ED-4DB2-BD59-A6C34878D82A}">
                    <a16:rowId xmlns:a16="http://schemas.microsoft.com/office/drawing/2014/main" val="10000"/>
                  </a:ext>
                </a:extLst>
              </a:tr>
              <a:tr h="500000">
                <a:tc>
                  <a:txBody>
                    <a:bodyPr/>
                    <a:lstStyle/>
                    <a:p>
                      <a:r>
                        <a:rPr sz="900" b="0">
                          <a:solidFill>
                            <a:srgbClr val="262626"/>
                          </a:solidFill>
                        </a:rPr>
                        <a:t>Oracle (upper bound)</a:t>
                      </a:r>
                    </a:p>
                  </a:txBody>
                  <a:tcPr>
                    <a:solidFill>
                      <a:srgbClr val="F3F6FB"/>
                    </a:solidFill>
                  </a:tcPr>
                </a:tc>
                <a:tc>
                  <a:txBody>
                    <a:bodyPr/>
                    <a:lstStyle/>
                    <a:p>
                      <a:r>
                        <a:rPr sz="1000" b="0">
                          <a:solidFill>
                            <a:srgbClr val="262626"/>
                          </a:solidFill>
                        </a:rPr>
                        <a:t>$126,804</a:t>
                      </a:r>
                    </a:p>
                  </a:txBody>
                  <a:tcPr>
                    <a:solidFill>
                      <a:srgbClr val="F3F6FB"/>
                    </a:solidFill>
                  </a:tcPr>
                </a:tc>
                <a:tc>
                  <a:txBody>
                    <a:bodyPr/>
                    <a:lstStyle/>
                    <a:p>
                      <a:r>
                        <a:rPr sz="1000" b="0">
                          <a:solidFill>
                            <a:srgbClr val="262626"/>
                          </a:solidFill>
                        </a:rPr>
                        <a:t>[124,187, 128,428]</a:t>
                      </a:r>
                    </a:p>
                  </a:txBody>
                  <a:tcPr>
                    <a:solidFill>
                      <a:srgbClr val="F3F6FB"/>
                    </a:solidFill>
                  </a:tcPr>
                </a:tc>
                <a:tc>
                  <a:txBody>
                    <a:bodyPr/>
                    <a:lstStyle/>
                    <a:p>
                      <a:r>
                        <a:rPr sz="1000" b="0">
                          <a:solidFill>
                            <a:srgbClr val="262626"/>
                          </a:solidFill>
                        </a:rPr>
                        <a:t>100%</a:t>
                      </a:r>
                    </a:p>
                  </a:txBody>
                  <a:tcPr>
                    <a:solidFill>
                      <a:srgbClr val="F3F6FB"/>
                    </a:solidFill>
                  </a:tcPr>
                </a:tc>
                <a:extLst>
                  <a:ext uri="{0D108BD9-81ED-4DB2-BD59-A6C34878D82A}">
                    <a16:rowId xmlns:a16="http://schemas.microsoft.com/office/drawing/2014/main" val="10001"/>
                  </a:ext>
                </a:extLst>
              </a:tr>
              <a:tr h="500000">
                <a:tc>
                  <a:txBody>
                    <a:bodyPr/>
                    <a:lstStyle/>
                    <a:p>
                      <a:r>
                        <a:rPr sz="900" b="0">
                          <a:solidFill>
                            <a:srgbClr val="262626"/>
                          </a:solidFill>
                        </a:rPr>
                        <a:t>LogisticOracle ‡</a:t>
                      </a:r>
                    </a:p>
                  </a:txBody>
                  <a:tcPr>
                    <a:solidFill>
                      <a:srgbClr val="F3F6FB"/>
                    </a:solidFill>
                  </a:tcPr>
                </a:tc>
                <a:tc>
                  <a:txBody>
                    <a:bodyPr/>
                    <a:lstStyle/>
                    <a:p>
                      <a:r>
                        <a:rPr sz="1000" b="0">
                          <a:solidFill>
                            <a:srgbClr val="262626"/>
                          </a:solidFill>
                        </a:rPr>
                        <a:t>$123,977</a:t>
                      </a:r>
                    </a:p>
                  </a:txBody>
                  <a:tcPr>
                    <a:solidFill>
                      <a:srgbClr val="F3F6FB"/>
                    </a:solidFill>
                  </a:tcPr>
                </a:tc>
                <a:tc>
                  <a:txBody>
                    <a:bodyPr/>
                    <a:lstStyle/>
                    <a:p>
                      <a:r>
                        <a:rPr sz="1000" b="0">
                          <a:solidFill>
                            <a:srgbClr val="262626"/>
                          </a:solidFill>
                        </a:rPr>
                        <a:t>[121,794, 126,126]</a:t>
                      </a:r>
                    </a:p>
                  </a:txBody>
                  <a:tcPr>
                    <a:solidFill>
                      <a:srgbClr val="F3F6FB"/>
                    </a:solidFill>
                  </a:tcPr>
                </a:tc>
                <a:tc>
                  <a:txBody>
                    <a:bodyPr/>
                    <a:lstStyle/>
                    <a:p>
                      <a:r>
                        <a:rPr sz="1000" b="0">
                          <a:solidFill>
                            <a:srgbClr val="262626"/>
                          </a:solidFill>
                        </a:rPr>
                        <a:t>98.1%</a:t>
                      </a:r>
                    </a:p>
                  </a:txBody>
                  <a:tcPr>
                    <a:solidFill>
                      <a:srgbClr val="F3F6FB"/>
                    </a:solidFill>
                  </a:tcPr>
                </a:tc>
                <a:extLst>
                  <a:ext uri="{0D108BD9-81ED-4DB2-BD59-A6C34878D82A}">
                    <a16:rowId xmlns:a16="http://schemas.microsoft.com/office/drawing/2014/main" val="10002"/>
                  </a:ext>
                </a:extLst>
              </a:tr>
              <a:tr h="500000">
                <a:tc>
                  <a:txBody>
                    <a:bodyPr/>
                    <a:lstStyle/>
                    <a:p>
                      <a:r>
                        <a:rPr sz="900" b="0">
                          <a:solidFill>
                            <a:srgbClr val="262626"/>
                          </a:solidFill>
                        </a:rPr>
                        <a:t>AlwaysRATED (trivial constant)</a:t>
                      </a:r>
                    </a:p>
                  </a:txBody>
                  <a:tcPr>
                    <a:solidFill>
                      <a:srgbClr val="FEF3CD"/>
                    </a:solidFill>
                  </a:tcPr>
                </a:tc>
                <a:tc>
                  <a:txBody>
                    <a:bodyPr/>
                    <a:lstStyle/>
                    <a:p>
                      <a:r>
                        <a:rPr sz="1000" b="0">
                          <a:solidFill>
                            <a:srgbClr val="262626"/>
                          </a:solidFill>
                        </a:rPr>
                        <a:t>$122,287</a:t>
                      </a:r>
                    </a:p>
                  </a:txBody>
                  <a:tcPr>
                    <a:solidFill>
                      <a:srgbClr val="FEF3CD"/>
                    </a:solidFill>
                  </a:tcPr>
                </a:tc>
                <a:tc>
                  <a:txBody>
                    <a:bodyPr/>
                    <a:lstStyle/>
                    <a:p>
                      <a:r>
                        <a:rPr sz="1000" b="0">
                          <a:solidFill>
                            <a:srgbClr val="262626"/>
                          </a:solidFill>
                        </a:rPr>
                        <a:t>[119,528, 124,996]</a:t>
                      </a:r>
                    </a:p>
                  </a:txBody>
                  <a:tcPr>
                    <a:solidFill>
                      <a:srgbClr val="FEF3CD"/>
                    </a:solidFill>
                  </a:tcPr>
                </a:tc>
                <a:tc>
                  <a:txBody>
                    <a:bodyPr/>
                    <a:lstStyle/>
                    <a:p>
                      <a:r>
                        <a:rPr sz="1000" b="0">
                          <a:solidFill>
                            <a:srgbClr val="262626"/>
                          </a:solidFill>
                        </a:rPr>
                        <a:t>96.8%</a:t>
                      </a:r>
                    </a:p>
                  </a:txBody>
                  <a:tcPr>
                    <a:solidFill>
                      <a:srgbClr val="FEF3CD"/>
                    </a:solidFill>
                  </a:tcPr>
                </a:tc>
                <a:extLst>
                  <a:ext uri="{0D108BD9-81ED-4DB2-BD59-A6C34878D82A}">
                    <a16:rowId xmlns:a16="http://schemas.microsoft.com/office/drawing/2014/main" val="10003"/>
                  </a:ext>
                </a:extLst>
              </a:tr>
              <a:tr h="500000">
                <a:tc>
                  <a:txBody>
                    <a:bodyPr/>
                    <a:lstStyle/>
                    <a:p>
                      <a:r>
                        <a:rPr sz="900" b="1">
                          <a:solidFill>
                            <a:srgbClr val="1B5697"/>
                          </a:solidFill>
                        </a:rPr>
                        <a:t>LinTS  ← proposed</a:t>
                      </a:r>
                    </a:p>
                  </a:txBody>
                  <a:tcPr>
                    <a:solidFill>
                      <a:srgbClr val="E7F4E8"/>
                    </a:solidFill>
                  </a:tcPr>
                </a:tc>
                <a:tc>
                  <a:txBody>
                    <a:bodyPr/>
                    <a:lstStyle/>
                    <a:p>
                      <a:r>
                        <a:rPr sz="1000" b="1">
                          <a:solidFill>
                            <a:srgbClr val="1B5697"/>
                          </a:solidFill>
                        </a:rPr>
                        <a:t>$93,723</a:t>
                      </a:r>
                    </a:p>
                  </a:txBody>
                  <a:tcPr>
                    <a:solidFill>
                      <a:srgbClr val="E7F4E8"/>
                    </a:solidFill>
                  </a:tcPr>
                </a:tc>
                <a:tc>
                  <a:txBody>
                    <a:bodyPr/>
                    <a:lstStyle/>
                    <a:p>
                      <a:r>
                        <a:rPr sz="1000" b="1">
                          <a:solidFill>
                            <a:srgbClr val="1B5697"/>
                          </a:solidFill>
                        </a:rPr>
                        <a:t>[91,105, 96,481]</a:t>
                      </a:r>
                    </a:p>
                  </a:txBody>
                  <a:tcPr>
                    <a:solidFill>
                      <a:srgbClr val="E7F4E8"/>
                    </a:solidFill>
                  </a:tcPr>
                </a:tc>
                <a:tc>
                  <a:txBody>
                    <a:bodyPr/>
                    <a:lstStyle/>
                    <a:p>
                      <a:r>
                        <a:rPr sz="1000" b="1">
                          <a:solidFill>
                            <a:srgbClr val="1B5697"/>
                          </a:solidFill>
                        </a:rPr>
                        <a:t>74.2%</a:t>
                      </a:r>
                    </a:p>
                  </a:txBody>
                  <a:tcPr>
                    <a:solidFill>
                      <a:srgbClr val="E7F4E8"/>
                    </a:solidFill>
                  </a:tcPr>
                </a:tc>
                <a:extLst>
                  <a:ext uri="{0D108BD9-81ED-4DB2-BD59-A6C34878D82A}">
                    <a16:rowId xmlns:a16="http://schemas.microsoft.com/office/drawing/2014/main" val="10004"/>
                  </a:ext>
                </a:extLst>
              </a:tr>
              <a:tr h="500000">
                <a:tc>
                  <a:txBody>
                    <a:bodyPr/>
                    <a:lstStyle/>
                    <a:p>
                      <a:r>
                        <a:rPr sz="900" b="1">
                          <a:solidFill>
                            <a:srgbClr val="1B5697"/>
                          </a:solidFill>
                        </a:rPr>
                        <a:t>LinUCB  ← proposed</a:t>
                      </a:r>
                    </a:p>
                  </a:txBody>
                  <a:tcPr>
                    <a:solidFill>
                      <a:srgbClr val="E7F4E8"/>
                    </a:solidFill>
                  </a:tcPr>
                </a:tc>
                <a:tc>
                  <a:txBody>
                    <a:bodyPr/>
                    <a:lstStyle/>
                    <a:p>
                      <a:r>
                        <a:rPr sz="1000" b="1">
                          <a:solidFill>
                            <a:srgbClr val="1B5697"/>
                          </a:solidFill>
                        </a:rPr>
                        <a:t>$91,864</a:t>
                      </a:r>
                    </a:p>
                  </a:txBody>
                  <a:tcPr>
                    <a:solidFill>
                      <a:srgbClr val="E7F4E8"/>
                    </a:solidFill>
                  </a:tcPr>
                </a:tc>
                <a:tc>
                  <a:txBody>
                    <a:bodyPr/>
                    <a:lstStyle/>
                    <a:p>
                      <a:r>
                        <a:rPr sz="1000" b="1">
                          <a:solidFill>
                            <a:srgbClr val="1B5697"/>
                          </a:solidFill>
                        </a:rPr>
                        <a:t>[89,139, 94,702]</a:t>
                      </a:r>
                    </a:p>
                  </a:txBody>
                  <a:tcPr>
                    <a:solidFill>
                      <a:srgbClr val="E7F4E8"/>
                    </a:solidFill>
                  </a:tcPr>
                </a:tc>
                <a:tc>
                  <a:txBody>
                    <a:bodyPr/>
                    <a:lstStyle/>
                    <a:p>
                      <a:r>
                        <a:rPr sz="1000" b="1">
                          <a:solidFill>
                            <a:srgbClr val="1B5697"/>
                          </a:solidFill>
                        </a:rPr>
                        <a:t>72.7%</a:t>
                      </a:r>
                    </a:p>
                  </a:txBody>
                  <a:tcPr>
                    <a:solidFill>
                      <a:srgbClr val="E7F4E8"/>
                    </a:solidFill>
                  </a:tcPr>
                </a:tc>
                <a:extLst>
                  <a:ext uri="{0D108BD9-81ED-4DB2-BD59-A6C34878D82A}">
                    <a16:rowId xmlns:a16="http://schemas.microsoft.com/office/drawing/2014/main" val="10005"/>
                  </a:ext>
                </a:extLst>
              </a:tr>
              <a:tr h="500000">
                <a:tc>
                  <a:txBody>
                    <a:bodyPr/>
                    <a:lstStyle/>
                    <a:p>
                      <a:r>
                        <a:rPr sz="900" b="0">
                          <a:solidFill>
                            <a:srgbClr val="262626"/>
                          </a:solidFill>
                        </a:rPr>
                        <a:t>Epsilon-Greedy</a:t>
                      </a:r>
                    </a:p>
                  </a:txBody>
                  <a:tcPr>
                    <a:solidFill>
                      <a:srgbClr val="FFFFFF"/>
                    </a:solidFill>
                  </a:tcPr>
                </a:tc>
                <a:tc>
                  <a:txBody>
                    <a:bodyPr/>
                    <a:lstStyle/>
                    <a:p>
                      <a:r>
                        <a:rPr sz="1000" b="0">
                          <a:solidFill>
                            <a:srgbClr val="262626"/>
                          </a:solidFill>
                        </a:rPr>
                        <a:t>$76,441</a:t>
                      </a:r>
                    </a:p>
                  </a:txBody>
                  <a:tcPr>
                    <a:solidFill>
                      <a:srgbClr val="FFFFFF"/>
                    </a:solidFill>
                  </a:tcPr>
                </a:tc>
                <a:tc>
                  <a:txBody>
                    <a:bodyPr/>
                    <a:lstStyle/>
                    <a:p>
                      <a:r>
                        <a:rPr sz="1000" b="0">
                          <a:solidFill>
                            <a:srgbClr val="262626"/>
                          </a:solidFill>
                        </a:rPr>
                        <a:t>[73,767, 79,107]</a:t>
                      </a:r>
                    </a:p>
                  </a:txBody>
                  <a:tcPr>
                    <a:solidFill>
                      <a:srgbClr val="FFFFFF"/>
                    </a:solidFill>
                  </a:tcPr>
                </a:tc>
                <a:tc>
                  <a:txBody>
                    <a:bodyPr/>
                    <a:lstStyle/>
                    <a:p>
                      <a:r>
                        <a:rPr sz="1000" b="0">
                          <a:solidFill>
                            <a:srgbClr val="262626"/>
                          </a:solidFill>
                        </a:rPr>
                        <a:t>60.5%</a:t>
                      </a:r>
                    </a:p>
                  </a:txBody>
                  <a:tcPr>
                    <a:solidFill>
                      <a:srgbClr val="FFFFFF"/>
                    </a:solidFill>
                  </a:tcPr>
                </a:tc>
                <a:extLst>
                  <a:ext uri="{0D108BD9-81ED-4DB2-BD59-A6C34878D82A}">
                    <a16:rowId xmlns:a16="http://schemas.microsoft.com/office/drawing/2014/main" val="10006"/>
                  </a:ext>
                </a:extLst>
              </a:tr>
              <a:tr h="500000">
                <a:tc>
                  <a:txBody>
                    <a:bodyPr/>
                    <a:lstStyle/>
                    <a:p>
                      <a:r>
                        <a:rPr sz="900" b="0">
                          <a:solidFill>
                            <a:srgbClr val="262626"/>
                          </a:solidFill>
                        </a:rPr>
                        <a:t>Static XGB (incumbent)</a:t>
                      </a:r>
                    </a:p>
                  </a:txBody>
                  <a:tcPr>
                    <a:solidFill>
                      <a:srgbClr val="FFFFFF"/>
                    </a:solidFill>
                  </a:tcPr>
                </a:tc>
                <a:tc>
                  <a:txBody>
                    <a:bodyPr/>
                    <a:lstStyle/>
                    <a:p>
                      <a:r>
                        <a:rPr sz="1000" b="0">
                          <a:solidFill>
                            <a:srgbClr val="262626"/>
                          </a:solidFill>
                        </a:rPr>
                        <a:t>$72,206</a:t>
                      </a:r>
                    </a:p>
                  </a:txBody>
                  <a:tcPr>
                    <a:solidFill>
                      <a:srgbClr val="FFFFFF"/>
                    </a:solidFill>
                  </a:tcPr>
                </a:tc>
                <a:tc>
                  <a:txBody>
                    <a:bodyPr/>
                    <a:lstStyle/>
                    <a:p>
                      <a:r>
                        <a:rPr sz="1000" b="0">
                          <a:solidFill>
                            <a:srgbClr val="262626"/>
                          </a:solidFill>
                        </a:rPr>
                        <a:t>[70,125, 74,352]</a:t>
                      </a:r>
                    </a:p>
                  </a:txBody>
                  <a:tcPr>
                    <a:solidFill>
                      <a:srgbClr val="FFFFFF"/>
                    </a:solidFill>
                  </a:tcPr>
                </a:tc>
                <a:tc>
                  <a:txBody>
                    <a:bodyPr/>
                    <a:lstStyle/>
                    <a:p>
                      <a:r>
                        <a:rPr sz="1000" b="0">
                          <a:solidFill>
                            <a:srgbClr val="262626"/>
                          </a:solidFill>
                        </a:rPr>
                        <a:t>57.1%</a:t>
                      </a:r>
                    </a:p>
                  </a:txBody>
                  <a:tcPr>
                    <a:solidFill>
                      <a:srgbClr val="FFFFFF"/>
                    </a:solidFill>
                  </a:tcPr>
                </a:tc>
                <a:extLst>
                  <a:ext uri="{0D108BD9-81ED-4DB2-BD59-A6C34878D82A}">
                    <a16:rowId xmlns:a16="http://schemas.microsoft.com/office/drawing/2014/main" val="10007"/>
                  </a:ext>
                </a:extLst>
              </a:tr>
              <a:tr h="500000">
                <a:tc>
                  <a:txBody>
                    <a:bodyPr/>
                    <a:lstStyle/>
                    <a:p>
                      <a:r>
                        <a:rPr sz="900" b="0">
                          <a:solidFill>
                            <a:srgbClr val="262626"/>
                          </a:solidFill>
                        </a:rPr>
                        <a:t>AlwaysSTANDARD</a:t>
                      </a:r>
                    </a:p>
                  </a:txBody>
                  <a:tcPr>
                    <a:solidFill>
                      <a:srgbClr val="FFFFFF"/>
                    </a:solidFill>
                  </a:tcPr>
                </a:tc>
                <a:tc>
                  <a:txBody>
                    <a:bodyPr/>
                    <a:lstStyle/>
                    <a:p>
                      <a:r>
                        <a:rPr sz="1000" b="0">
                          <a:solidFill>
                            <a:srgbClr val="262626"/>
                          </a:solidFill>
                        </a:rPr>
                        <a:t>$34,684</a:t>
                      </a:r>
                    </a:p>
                  </a:txBody>
                  <a:tcPr>
                    <a:solidFill>
                      <a:srgbClr val="FFFFFF"/>
                    </a:solidFill>
                  </a:tcPr>
                </a:tc>
                <a:tc>
                  <a:txBody>
                    <a:bodyPr/>
                    <a:lstStyle/>
                    <a:p>
                      <a:r>
                        <a:rPr sz="1000" b="0">
                          <a:solidFill>
                            <a:srgbClr val="262626"/>
                          </a:solidFill>
                        </a:rPr>
                        <a:t>[33,694, 35,871]</a:t>
                      </a:r>
                    </a:p>
                  </a:txBody>
                  <a:tcPr>
                    <a:solidFill>
                      <a:srgbClr val="FFFFFF"/>
                    </a:solidFill>
                  </a:tcPr>
                </a:tc>
                <a:tc>
                  <a:txBody>
                    <a:bodyPr/>
                    <a:lstStyle/>
                    <a:p>
                      <a:r>
                        <a:rPr sz="1000" b="0">
                          <a:solidFill>
                            <a:srgbClr val="262626"/>
                          </a:solidFill>
                        </a:rPr>
                        <a:t>27.5%</a:t>
                      </a:r>
                    </a:p>
                  </a:txBody>
                  <a:tcPr>
                    <a:solidFill>
                      <a:srgbClr val="FFFFFF"/>
                    </a:solidFill>
                  </a:tcPr>
                </a:tc>
                <a:extLst>
                  <a:ext uri="{0D108BD9-81ED-4DB2-BD59-A6C34878D82A}">
                    <a16:rowId xmlns:a16="http://schemas.microsoft.com/office/drawing/2014/main" val="10008"/>
                  </a:ext>
                </a:extLst>
              </a:tr>
              <a:tr h="500000">
                <a:tc>
                  <a:txBody>
                    <a:bodyPr/>
                    <a:lstStyle/>
                    <a:p>
                      <a:r>
                        <a:rPr sz="900" b="0">
                          <a:solidFill>
                            <a:srgbClr val="262626"/>
                          </a:solidFill>
                        </a:rPr>
                        <a:t>Random</a:t>
                      </a:r>
                    </a:p>
                  </a:txBody>
                  <a:tcPr>
                    <a:solidFill>
                      <a:srgbClr val="FFFFFF"/>
                    </a:solidFill>
                  </a:tcPr>
                </a:tc>
                <a:tc>
                  <a:txBody>
                    <a:bodyPr/>
                    <a:lstStyle/>
                    <a:p>
                      <a:r>
                        <a:rPr sz="1000" b="0">
                          <a:solidFill>
                            <a:srgbClr val="262626"/>
                          </a:solidFill>
                        </a:rPr>
                        <a:t>$1,980</a:t>
                      </a:r>
                    </a:p>
                  </a:txBody>
                  <a:tcPr>
                    <a:solidFill>
                      <a:srgbClr val="FFFFFF"/>
                    </a:solidFill>
                  </a:tcPr>
                </a:tc>
                <a:tc>
                  <a:txBody>
                    <a:bodyPr/>
                    <a:lstStyle/>
                    <a:p>
                      <a:r>
                        <a:rPr sz="1000" b="0">
                          <a:solidFill>
                            <a:srgbClr val="262626"/>
                          </a:solidFill>
                        </a:rPr>
                        <a:t>[739, 3,209]</a:t>
                      </a:r>
                    </a:p>
                  </a:txBody>
                  <a:tcPr>
                    <a:solidFill>
                      <a:srgbClr val="FFFFFF"/>
                    </a:solidFill>
                  </a:tcPr>
                </a:tc>
                <a:tc>
                  <a:txBody>
                    <a:bodyPr/>
                    <a:lstStyle/>
                    <a:p>
                      <a:r>
                        <a:rPr sz="1000" b="0">
                          <a:solidFill>
                            <a:srgbClr val="262626"/>
                          </a:solidFill>
                        </a:rPr>
                        <a:t>1.6%</a:t>
                      </a:r>
                    </a:p>
                  </a:txBody>
                  <a:tcPr>
                    <a:solidFill>
                      <a:srgbClr val="FFFFFF"/>
                    </a:solidFill>
                  </a:tcPr>
                </a:tc>
                <a:extLst>
                  <a:ext uri="{0D108BD9-81ED-4DB2-BD59-A6C34878D82A}">
                    <a16:rowId xmlns:a16="http://schemas.microsoft.com/office/drawing/2014/main" val="10009"/>
                  </a:ext>
                </a:extLst>
              </a:tr>
            </a:tbl>
          </a:graphicData>
        </a:graphic>
      </p:graphicFrame>
      <p:sp>
        <p:nvSpPr>
          <p:cNvPr id="6" name="TextBox 5"/>
          <p:cNvSpPr txBox="1"/>
          <p:nvPr/>
        </p:nvSpPr>
        <p:spPr>
          <a:xfrm>
            <a:off x="457200" y="6200000"/>
            <a:ext cx="11277295" cy="300000"/>
          </a:xfrm>
          <a:prstGeom prst="rect">
            <a:avLst/>
          </a:prstGeom>
          <a:noFill/>
        </p:spPr>
        <p:txBody>
          <a:bodyPr wrap="square">
            <a:spAutoFit/>
          </a:bodyPr>
          <a:lstStyle/>
          <a:p>
            <a:pPr algn="l">
              <a:spcBef>
                <a:spcPts val="0"/>
              </a:spcBef>
              <a:spcAft>
                <a:spcPts val="0"/>
              </a:spcAft>
            </a:pPr>
            <a:r>
              <a:rPr sz="900" b="0" i="1">
                <a:solidFill>
                  <a:srgbClr val="505050"/>
                </a:solidFill>
                <a:latin typeface="Calibri"/>
              </a:rPr>
              <a:t>‡ LogisticOracle: fit in-sample — not deployable. Oracle: full information upper bound. AlwaysRATED is commercially &amp; regulatorily inadmissible. Bandits lead every admissible alternative.</a:t>
            </a:r>
          </a:p>
        </p:txBody>
      </p:sp>
      <p:sp>
        <p:nvSpPr>
          <p:cNvPr id="7" name="Rectangle 6"/>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9" name="Rectangle 8"/>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Appendix</a:t>
            </a:r>
          </a:p>
        </p:txBody>
      </p:sp>
      <p:sp>
        <p:nvSpPr>
          <p:cNvPr id="11" name="Rectangle 10"/>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A1 / 43</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A2: NUMBER RECONCILIATION</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200000"/>
            <a:ext cx="11277295" cy="16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200000"/>
            <a:ext cx="91440" cy="16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07200" y="1280000"/>
            <a:ext cx="1200000" cy="1500000"/>
          </a:xfrm>
          <a:prstGeom prst="rect">
            <a:avLst/>
          </a:prstGeom>
          <a:noFill/>
        </p:spPr>
        <p:txBody>
          <a:bodyPr wrap="square">
            <a:spAutoFit/>
          </a:bodyPr>
          <a:lstStyle/>
          <a:p>
            <a:pPr algn="ctr">
              <a:spcBef>
                <a:spcPts val="0"/>
              </a:spcBef>
              <a:spcAft>
                <a:spcPts val="0"/>
              </a:spcAft>
            </a:pPr>
            <a:r>
              <a:rPr sz="3200" b="1" i="0">
                <a:solidFill>
                  <a:srgbClr val="1B5697"/>
                </a:solidFill>
                <a:latin typeface="Calibri"/>
              </a:rPr>
              <a:t>+25.2%</a:t>
            </a:r>
          </a:p>
        </p:txBody>
      </p:sp>
      <p:sp>
        <p:nvSpPr>
          <p:cNvPr id="8" name="TextBox 7"/>
          <p:cNvSpPr txBox="1"/>
          <p:nvPr/>
        </p:nvSpPr>
        <p:spPr>
          <a:xfrm>
            <a:off x="1957200" y="1280000"/>
            <a:ext cx="9677295" cy="380000"/>
          </a:xfrm>
          <a:prstGeom prst="rect">
            <a:avLst/>
          </a:prstGeom>
          <a:noFill/>
        </p:spPr>
        <p:txBody>
          <a:bodyPr wrap="square">
            <a:spAutoFit/>
          </a:bodyPr>
          <a:lstStyle/>
          <a:p>
            <a:pPr algn="l">
              <a:spcBef>
                <a:spcPts val="0"/>
              </a:spcBef>
              <a:spcAft>
                <a:spcPts val="0"/>
              </a:spcAft>
            </a:pPr>
            <a:r>
              <a:rPr sz="1100" b="1" i="0">
                <a:solidFill>
                  <a:srgbClr val="1B5697"/>
                </a:solidFill>
                <a:latin typeface="Calibri"/>
              </a:rPr>
              <a:t>EXP-005: LinUCB vs Static XGB (primary pre-registered result)</a:t>
            </a:r>
          </a:p>
        </p:txBody>
      </p:sp>
      <p:sp>
        <p:nvSpPr>
          <p:cNvPr id="9" name="TextBox 8"/>
          <p:cNvSpPr txBox="1"/>
          <p:nvPr/>
        </p:nvSpPr>
        <p:spPr>
          <a:xfrm>
            <a:off x="1957200" y="1700000"/>
            <a:ext cx="9677295" cy="1020000"/>
          </a:xfrm>
          <a:prstGeom prst="rect">
            <a:avLst/>
          </a:prstGeom>
          <a:noFill/>
        </p:spPr>
        <p:txBody>
          <a:bodyPr wrap="square">
            <a:spAutoFit/>
          </a:bodyPr>
          <a:lstStyle/>
          <a:p>
            <a:pPr algn="l">
              <a:spcBef>
                <a:spcPts val="0"/>
              </a:spcBef>
              <a:spcAft>
                <a:spcPts val="0"/>
              </a:spcAft>
            </a:pPr>
            <a:r>
              <a:rPr sz="1000" b="0" i="0">
                <a:solidFill>
                  <a:srgbClr val="262626"/>
                </a:solidFill>
                <a:latin typeface="Calibri"/>
              </a:rPr>
              <a:t>LinUCB mean $90,540 vs Static XGB mean $72,292</a:t>
            </a:r>
          </a:p>
          <a:p>
            <a:pPr algn="l">
              <a:spcBef>
                <a:spcPts val="500"/>
              </a:spcBef>
            </a:pPr>
            <a:r>
              <a:rPr sz="1000" b="0" i="0">
                <a:solidFill>
                  <a:srgbClr val="505050"/>
                </a:solidFill>
                <a:latin typeface="Calibri"/>
              </a:rPr>
              <a:t>Paired Wilcoxon p &lt; 0.001, Cohen's d = 2.98, 20 seeds</a:t>
            </a:r>
          </a:p>
          <a:p>
            <a:pPr algn="l">
              <a:spcBef>
                <a:spcPts val="500"/>
              </a:spcBef>
            </a:pPr>
            <a:r>
              <a:rPr sz="1000" b="0" i="0">
                <a:solidFill>
                  <a:srgbClr val="505050"/>
                </a:solidFill>
                <a:latin typeface="Calibri"/>
              </a:rPr>
              <a:t>This is the headline figure cited throughout the thesis</a:t>
            </a:r>
          </a:p>
        </p:txBody>
      </p:sp>
      <p:sp>
        <p:nvSpPr>
          <p:cNvPr id="10" name="Rectangle 9"/>
          <p:cNvSpPr/>
          <p:nvPr/>
        </p:nvSpPr>
        <p:spPr>
          <a:xfrm>
            <a:off x="457200" y="2950000"/>
            <a:ext cx="11277295" cy="16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2950000"/>
            <a:ext cx="91440" cy="16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07200" y="3030000"/>
            <a:ext cx="1200000" cy="1500000"/>
          </a:xfrm>
          <a:prstGeom prst="rect">
            <a:avLst/>
          </a:prstGeom>
          <a:noFill/>
        </p:spPr>
        <p:txBody>
          <a:bodyPr wrap="square">
            <a:spAutoFit/>
          </a:bodyPr>
          <a:lstStyle/>
          <a:p>
            <a:pPr algn="ctr">
              <a:spcBef>
                <a:spcPts val="0"/>
              </a:spcBef>
              <a:spcAft>
                <a:spcPts val="0"/>
              </a:spcAft>
            </a:pPr>
            <a:r>
              <a:rPr sz="3200" b="1" i="0">
                <a:solidFill>
                  <a:srgbClr val="1B5697"/>
                </a:solidFill>
                <a:latin typeface="Calibri"/>
              </a:rPr>
              <a:t>+29.8%</a:t>
            </a:r>
          </a:p>
        </p:txBody>
      </p:sp>
      <p:sp>
        <p:nvSpPr>
          <p:cNvPr id="13" name="TextBox 12"/>
          <p:cNvSpPr txBox="1"/>
          <p:nvPr/>
        </p:nvSpPr>
        <p:spPr>
          <a:xfrm>
            <a:off x="1957200" y="3030000"/>
            <a:ext cx="9677295" cy="380000"/>
          </a:xfrm>
          <a:prstGeom prst="rect">
            <a:avLst/>
          </a:prstGeom>
          <a:noFill/>
        </p:spPr>
        <p:txBody>
          <a:bodyPr wrap="square">
            <a:spAutoFit/>
          </a:bodyPr>
          <a:lstStyle/>
          <a:p>
            <a:pPr algn="l">
              <a:spcBef>
                <a:spcPts val="0"/>
              </a:spcBef>
              <a:spcAft>
                <a:spcPts val="0"/>
              </a:spcAft>
            </a:pPr>
            <a:r>
              <a:rPr sz="1100" b="1" i="0">
                <a:solidFill>
                  <a:srgbClr val="1B5697"/>
                </a:solidFill>
                <a:latin typeface="Calibri"/>
              </a:rPr>
              <a:t>EXP-007: LinTS vs Static XGB (CRN benchmark harness)</a:t>
            </a:r>
          </a:p>
        </p:txBody>
      </p:sp>
      <p:sp>
        <p:nvSpPr>
          <p:cNvPr id="14" name="TextBox 13"/>
          <p:cNvSpPr txBox="1"/>
          <p:nvPr/>
        </p:nvSpPr>
        <p:spPr>
          <a:xfrm>
            <a:off x="1957200" y="3450000"/>
            <a:ext cx="9677295" cy="1020000"/>
          </a:xfrm>
          <a:prstGeom prst="rect">
            <a:avLst/>
          </a:prstGeom>
          <a:noFill/>
        </p:spPr>
        <p:txBody>
          <a:bodyPr wrap="square">
            <a:spAutoFit/>
          </a:bodyPr>
          <a:lstStyle/>
          <a:p>
            <a:pPr algn="l">
              <a:spcBef>
                <a:spcPts val="0"/>
              </a:spcBef>
              <a:spcAft>
                <a:spcPts val="0"/>
              </a:spcAft>
            </a:pPr>
            <a:r>
              <a:rPr sz="1000" b="0" i="0">
                <a:solidFill>
                  <a:srgbClr val="262626"/>
                </a:solidFill>
                <a:latin typeface="Calibri"/>
              </a:rPr>
              <a:t>LinTS mean $93,723 vs Static XGB mean $72,206</a:t>
            </a:r>
          </a:p>
          <a:p>
            <a:pPr algn="l">
              <a:spcBef>
                <a:spcPts val="500"/>
              </a:spcBef>
            </a:pPr>
            <a:r>
              <a:rPr sz="1000" b="0" i="0">
                <a:solidFill>
                  <a:srgbClr val="505050"/>
                </a:solidFill>
                <a:latin typeface="Calibri"/>
              </a:rPr>
              <a:t>Different harness (CRN — common random numbers) — not the pre-registered test</a:t>
            </a:r>
          </a:p>
          <a:p>
            <a:pPr algn="l">
              <a:spcBef>
                <a:spcPts val="500"/>
              </a:spcBef>
            </a:pPr>
            <a:r>
              <a:rPr sz="1000" b="0" i="0">
                <a:solidFill>
                  <a:srgbClr val="505050"/>
                </a:solidFill>
                <a:latin typeface="Calibri"/>
              </a:rPr>
              <a:t>Reported for completeness; primary comparison is EXP-005</a:t>
            </a:r>
          </a:p>
        </p:txBody>
      </p:sp>
      <p:sp>
        <p:nvSpPr>
          <p:cNvPr id="15" name="Rectangle 14"/>
          <p:cNvSpPr/>
          <p:nvPr/>
        </p:nvSpPr>
        <p:spPr>
          <a:xfrm>
            <a:off x="457200" y="4700000"/>
            <a:ext cx="11277295" cy="16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4700000"/>
            <a:ext cx="91440" cy="16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07200" y="4780000"/>
            <a:ext cx="1200000" cy="1500000"/>
          </a:xfrm>
          <a:prstGeom prst="rect">
            <a:avLst/>
          </a:prstGeom>
          <a:noFill/>
        </p:spPr>
        <p:txBody>
          <a:bodyPr wrap="square">
            <a:spAutoFit/>
          </a:bodyPr>
          <a:lstStyle/>
          <a:p>
            <a:pPr algn="ctr">
              <a:spcBef>
                <a:spcPts val="0"/>
              </a:spcBef>
              <a:spcAft>
                <a:spcPts val="0"/>
              </a:spcAft>
            </a:pPr>
            <a:r>
              <a:rPr sz="3200" b="1" i="0">
                <a:solidFill>
                  <a:srgbClr val="1B5697"/>
                </a:solidFill>
                <a:latin typeface="Calibri"/>
              </a:rPr>
              <a:t>+6.5%</a:t>
            </a:r>
          </a:p>
        </p:txBody>
      </p:sp>
      <p:sp>
        <p:nvSpPr>
          <p:cNvPr id="18" name="TextBox 17"/>
          <p:cNvSpPr txBox="1"/>
          <p:nvPr/>
        </p:nvSpPr>
        <p:spPr>
          <a:xfrm>
            <a:off x="1957200" y="4780000"/>
            <a:ext cx="9677295" cy="380000"/>
          </a:xfrm>
          <a:prstGeom prst="rect">
            <a:avLst/>
          </a:prstGeom>
          <a:noFill/>
        </p:spPr>
        <p:txBody>
          <a:bodyPr wrap="square">
            <a:spAutoFit/>
          </a:bodyPr>
          <a:lstStyle/>
          <a:p>
            <a:pPr algn="l">
              <a:spcBef>
                <a:spcPts val="0"/>
              </a:spcBef>
              <a:spcAft>
                <a:spcPts val="0"/>
              </a:spcAft>
            </a:pPr>
            <a:r>
              <a:rPr sz="1100" b="1" i="0">
                <a:solidFill>
                  <a:srgbClr val="1B5697"/>
                </a:solidFill>
                <a:latin typeface="Calibri"/>
              </a:rPr>
              <a:t>EXP-008: HITL reward vs vanilla bandit</a:t>
            </a:r>
          </a:p>
        </p:txBody>
      </p:sp>
      <p:sp>
        <p:nvSpPr>
          <p:cNvPr id="19" name="TextBox 18"/>
          <p:cNvSpPr txBox="1"/>
          <p:nvPr/>
        </p:nvSpPr>
        <p:spPr>
          <a:xfrm>
            <a:off x="1957200" y="5200000"/>
            <a:ext cx="9677295" cy="1020000"/>
          </a:xfrm>
          <a:prstGeom prst="rect">
            <a:avLst/>
          </a:prstGeom>
          <a:noFill/>
        </p:spPr>
        <p:txBody>
          <a:bodyPr wrap="square">
            <a:spAutoFit/>
          </a:bodyPr>
          <a:lstStyle/>
          <a:p>
            <a:pPr algn="l">
              <a:spcBef>
                <a:spcPts val="0"/>
              </a:spcBef>
              <a:spcAft>
                <a:spcPts val="0"/>
              </a:spcAft>
            </a:pPr>
            <a:r>
              <a:rPr sz="1000" b="0" i="0">
                <a:solidFill>
                  <a:srgbClr val="262626"/>
                </a:solidFill>
                <a:latin typeface="Calibri"/>
              </a:rPr>
              <a:t>HITL $102,100 vs vanilla $95,872 (same seed=42)</a:t>
            </a:r>
          </a:p>
          <a:p>
            <a:pPr algn="l">
              <a:spcBef>
                <a:spcPts val="500"/>
              </a:spcBef>
            </a:pPr>
            <a:r>
              <a:rPr sz="1000" b="0" i="0">
                <a:solidFill>
                  <a:srgbClr val="505050"/>
                </a:solidFill>
                <a:latin typeface="Calibri"/>
              </a:rPr>
              <a:t>Different baseline (vanilla bandit, NOT Static XGB or AlwaysRATED)</a:t>
            </a:r>
          </a:p>
          <a:p>
            <a:pPr algn="l">
              <a:spcBef>
                <a:spcPts val="500"/>
              </a:spcBef>
            </a:pPr>
            <a:r>
              <a:rPr sz="1000" b="0" i="0">
                <a:solidFill>
                  <a:srgbClr val="505050"/>
                </a:solidFill>
                <a:latin typeface="Calibri"/>
              </a:rPr>
              <a:t>Measures incremental value of human oversight</a:t>
            </a:r>
          </a:p>
        </p:txBody>
      </p:sp>
      <p:sp>
        <p:nvSpPr>
          <p:cNvPr id="20" name="Rectangle 19"/>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2" name="Rectangle 21"/>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Appendix</a:t>
            </a:r>
          </a:p>
        </p:txBody>
      </p:sp>
      <p:sp>
        <p:nvSpPr>
          <p:cNvPr id="24" name="Rectangle 23"/>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A2 / 43</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A3: ALL 6 FAIRNESS CRITERIA (EXP-006)</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200000"/>
            <a:ext cx="5488647" cy="75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200000"/>
            <a:ext cx="91440" cy="75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07200" y="1280000"/>
            <a:ext cx="5288647" cy="280000"/>
          </a:xfrm>
          <a:prstGeom prst="rect">
            <a:avLst/>
          </a:prstGeom>
          <a:noFill/>
        </p:spPr>
        <p:txBody>
          <a:bodyPr wrap="square">
            <a:spAutoFit/>
          </a:bodyPr>
          <a:lstStyle/>
          <a:p>
            <a:pPr algn="l">
              <a:spcBef>
                <a:spcPts val="0"/>
              </a:spcBef>
              <a:spcAft>
                <a:spcPts val="0"/>
              </a:spcAft>
            </a:pPr>
            <a:r>
              <a:rPr sz="1000" b="1" i="0">
                <a:solidFill>
                  <a:srgbClr val="1B5697"/>
                </a:solidFill>
                <a:latin typeface="Calibri"/>
              </a:rPr>
              <a:t>Criterion 1: PSI Region ≤ 0.25</a:t>
            </a:r>
          </a:p>
        </p:txBody>
      </p:sp>
      <p:sp>
        <p:nvSpPr>
          <p:cNvPr id="8" name="TextBox 7"/>
          <p:cNvSpPr txBox="1"/>
          <p:nvPr/>
        </p:nvSpPr>
        <p:spPr>
          <a:xfrm>
            <a:off x="607200" y="1580000"/>
            <a:ext cx="5288647" cy="2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PSI = 0.082</a:t>
            </a:r>
          </a:p>
        </p:txBody>
      </p:sp>
      <p:sp>
        <p:nvSpPr>
          <p:cNvPr id="9" name="TextBox 8"/>
          <p:cNvSpPr txBox="1"/>
          <p:nvPr/>
        </p:nvSpPr>
        <p:spPr>
          <a:xfrm>
            <a:off x="607200" y="1800000"/>
            <a:ext cx="5288647" cy="200000"/>
          </a:xfrm>
          <a:prstGeom prst="rect">
            <a:avLst/>
          </a:prstGeom>
          <a:noFill/>
        </p:spPr>
        <p:txBody>
          <a:bodyPr wrap="square">
            <a:spAutoFit/>
          </a:bodyPr>
          <a:lstStyle/>
          <a:p>
            <a:pPr algn="l">
              <a:spcBef>
                <a:spcPts val="0"/>
              </a:spcBef>
              <a:spcAft>
                <a:spcPts val="0"/>
              </a:spcAft>
            </a:pPr>
            <a:r>
              <a:rPr sz="900" b="1" i="0">
                <a:solidFill>
                  <a:srgbClr val="2E8B57"/>
                </a:solidFill>
                <a:latin typeface="Calibri"/>
              </a:rPr>
              <a:t>GREEN</a:t>
            </a:r>
          </a:p>
        </p:txBody>
      </p:sp>
      <p:sp>
        <p:nvSpPr>
          <p:cNvPr id="10" name="Rectangle 9"/>
          <p:cNvSpPr/>
          <p:nvPr/>
        </p:nvSpPr>
        <p:spPr>
          <a:xfrm>
            <a:off x="6245847" y="1200000"/>
            <a:ext cx="5488647" cy="75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245847" y="1200000"/>
            <a:ext cx="91440" cy="75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95847" y="1280000"/>
            <a:ext cx="5288647" cy="280000"/>
          </a:xfrm>
          <a:prstGeom prst="rect">
            <a:avLst/>
          </a:prstGeom>
          <a:noFill/>
        </p:spPr>
        <p:txBody>
          <a:bodyPr wrap="square">
            <a:spAutoFit/>
          </a:bodyPr>
          <a:lstStyle/>
          <a:p>
            <a:pPr algn="l">
              <a:spcBef>
                <a:spcPts val="0"/>
              </a:spcBef>
              <a:spcAft>
                <a:spcPts val="0"/>
              </a:spcAft>
            </a:pPr>
            <a:r>
              <a:rPr sz="1000" b="1" i="0">
                <a:solidFill>
                  <a:srgbClr val="1B5697"/>
                </a:solidFill>
                <a:latin typeface="Calibri"/>
              </a:rPr>
              <a:t>Criterion 2: PSI Occupation ≤ 0.25</a:t>
            </a:r>
          </a:p>
        </p:txBody>
      </p:sp>
      <p:sp>
        <p:nvSpPr>
          <p:cNvPr id="13" name="TextBox 12"/>
          <p:cNvSpPr txBox="1"/>
          <p:nvPr/>
        </p:nvSpPr>
        <p:spPr>
          <a:xfrm>
            <a:off x="6395847" y="1580000"/>
            <a:ext cx="5288647" cy="2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PSI = 0.123</a:t>
            </a:r>
          </a:p>
        </p:txBody>
      </p:sp>
      <p:sp>
        <p:nvSpPr>
          <p:cNvPr id="14" name="TextBox 13"/>
          <p:cNvSpPr txBox="1"/>
          <p:nvPr/>
        </p:nvSpPr>
        <p:spPr>
          <a:xfrm>
            <a:off x="6395847" y="1800000"/>
            <a:ext cx="5288647" cy="200000"/>
          </a:xfrm>
          <a:prstGeom prst="rect">
            <a:avLst/>
          </a:prstGeom>
          <a:noFill/>
        </p:spPr>
        <p:txBody>
          <a:bodyPr wrap="square">
            <a:spAutoFit/>
          </a:bodyPr>
          <a:lstStyle/>
          <a:p>
            <a:pPr algn="l">
              <a:spcBef>
                <a:spcPts val="0"/>
              </a:spcBef>
              <a:spcAft>
                <a:spcPts val="0"/>
              </a:spcAft>
            </a:pPr>
            <a:r>
              <a:rPr sz="900" b="1" i="0">
                <a:solidFill>
                  <a:srgbClr val="E6A62E"/>
                </a:solidFill>
                <a:latin typeface="Calibri"/>
              </a:rPr>
              <a:t>AMBER</a:t>
            </a:r>
          </a:p>
        </p:txBody>
      </p:sp>
      <p:sp>
        <p:nvSpPr>
          <p:cNvPr id="15" name="Rectangle 14"/>
          <p:cNvSpPr/>
          <p:nvPr/>
        </p:nvSpPr>
        <p:spPr>
          <a:xfrm>
            <a:off x="457200" y="2050000"/>
            <a:ext cx="5488647" cy="75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2050000"/>
            <a:ext cx="91440" cy="75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07200" y="2130000"/>
            <a:ext cx="5288647" cy="280000"/>
          </a:xfrm>
          <a:prstGeom prst="rect">
            <a:avLst/>
          </a:prstGeom>
          <a:noFill/>
        </p:spPr>
        <p:txBody>
          <a:bodyPr wrap="square">
            <a:spAutoFit/>
          </a:bodyPr>
          <a:lstStyle/>
          <a:p>
            <a:pPr algn="l">
              <a:spcBef>
                <a:spcPts val="0"/>
              </a:spcBef>
              <a:spcAft>
                <a:spcPts val="0"/>
              </a:spcAft>
            </a:pPr>
            <a:r>
              <a:rPr sz="1000" b="1" i="0">
                <a:solidFill>
                  <a:srgbClr val="1B5697"/>
                </a:solidFill>
                <a:latin typeface="Calibri"/>
              </a:rPr>
              <a:t>Criterion 3: EEOC 4/5 rule — Region</a:t>
            </a:r>
          </a:p>
        </p:txBody>
      </p:sp>
      <p:sp>
        <p:nvSpPr>
          <p:cNvPr id="18" name="TextBox 17"/>
          <p:cNvSpPr txBox="1"/>
          <p:nvPr/>
        </p:nvSpPr>
        <p:spPr>
          <a:xfrm>
            <a:off x="607200" y="2430000"/>
            <a:ext cx="5288647" cy="2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85.72% ≥ 80%</a:t>
            </a:r>
          </a:p>
        </p:txBody>
      </p:sp>
      <p:sp>
        <p:nvSpPr>
          <p:cNvPr id="19" name="TextBox 18"/>
          <p:cNvSpPr txBox="1"/>
          <p:nvPr/>
        </p:nvSpPr>
        <p:spPr>
          <a:xfrm>
            <a:off x="607200" y="2650000"/>
            <a:ext cx="5288647" cy="200000"/>
          </a:xfrm>
          <a:prstGeom prst="rect">
            <a:avLst/>
          </a:prstGeom>
          <a:noFill/>
        </p:spPr>
        <p:txBody>
          <a:bodyPr wrap="square">
            <a:spAutoFit/>
          </a:bodyPr>
          <a:lstStyle/>
          <a:p>
            <a:pPr algn="l">
              <a:spcBef>
                <a:spcPts val="0"/>
              </a:spcBef>
              <a:spcAft>
                <a:spcPts val="0"/>
              </a:spcAft>
            </a:pPr>
            <a:r>
              <a:rPr sz="900" b="1" i="0">
                <a:solidFill>
                  <a:srgbClr val="2E8B57"/>
                </a:solidFill>
                <a:latin typeface="Calibri"/>
              </a:rPr>
              <a:t>PASS</a:t>
            </a:r>
          </a:p>
        </p:txBody>
      </p:sp>
      <p:sp>
        <p:nvSpPr>
          <p:cNvPr id="20" name="Rectangle 19"/>
          <p:cNvSpPr/>
          <p:nvPr/>
        </p:nvSpPr>
        <p:spPr>
          <a:xfrm>
            <a:off x="6245847" y="2050000"/>
            <a:ext cx="5488647" cy="75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245847" y="2050000"/>
            <a:ext cx="91440" cy="75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95847" y="2130000"/>
            <a:ext cx="5288647" cy="280000"/>
          </a:xfrm>
          <a:prstGeom prst="rect">
            <a:avLst/>
          </a:prstGeom>
          <a:noFill/>
        </p:spPr>
        <p:txBody>
          <a:bodyPr wrap="square">
            <a:spAutoFit/>
          </a:bodyPr>
          <a:lstStyle/>
          <a:p>
            <a:pPr algn="l">
              <a:spcBef>
                <a:spcPts val="0"/>
              </a:spcBef>
              <a:spcAft>
                <a:spcPts val="0"/>
              </a:spcAft>
            </a:pPr>
            <a:r>
              <a:rPr sz="1000" b="1" i="0">
                <a:solidFill>
                  <a:srgbClr val="1B5697"/>
                </a:solidFill>
                <a:latin typeface="Calibri"/>
              </a:rPr>
              <a:t>Criterion 4: EEOC 4/5 rule — Occupation</a:t>
            </a:r>
          </a:p>
        </p:txBody>
      </p:sp>
      <p:sp>
        <p:nvSpPr>
          <p:cNvPr id="23" name="TextBox 22"/>
          <p:cNvSpPr txBox="1"/>
          <p:nvPr/>
        </p:nvSpPr>
        <p:spPr>
          <a:xfrm>
            <a:off x="6395847" y="2430000"/>
            <a:ext cx="5288647" cy="2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90.12% ≥ 80%</a:t>
            </a:r>
          </a:p>
        </p:txBody>
      </p:sp>
      <p:sp>
        <p:nvSpPr>
          <p:cNvPr id="24" name="TextBox 23"/>
          <p:cNvSpPr txBox="1"/>
          <p:nvPr/>
        </p:nvSpPr>
        <p:spPr>
          <a:xfrm>
            <a:off x="6395847" y="2650000"/>
            <a:ext cx="5288647" cy="200000"/>
          </a:xfrm>
          <a:prstGeom prst="rect">
            <a:avLst/>
          </a:prstGeom>
          <a:noFill/>
        </p:spPr>
        <p:txBody>
          <a:bodyPr wrap="square">
            <a:spAutoFit/>
          </a:bodyPr>
          <a:lstStyle/>
          <a:p>
            <a:pPr algn="l">
              <a:spcBef>
                <a:spcPts val="0"/>
              </a:spcBef>
              <a:spcAft>
                <a:spcPts val="0"/>
              </a:spcAft>
            </a:pPr>
            <a:r>
              <a:rPr sz="900" b="1" i="0">
                <a:solidFill>
                  <a:srgbClr val="2E8B57"/>
                </a:solidFill>
                <a:latin typeface="Calibri"/>
              </a:rPr>
              <a:t>PASS</a:t>
            </a:r>
          </a:p>
        </p:txBody>
      </p:sp>
      <p:sp>
        <p:nvSpPr>
          <p:cNvPr id="25" name="Rectangle 24"/>
          <p:cNvSpPr/>
          <p:nvPr/>
        </p:nvSpPr>
        <p:spPr>
          <a:xfrm>
            <a:off x="457200" y="2900000"/>
            <a:ext cx="5488647" cy="75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57200" y="2900000"/>
            <a:ext cx="91440" cy="75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07200" y="2980000"/>
            <a:ext cx="5288647" cy="280000"/>
          </a:xfrm>
          <a:prstGeom prst="rect">
            <a:avLst/>
          </a:prstGeom>
          <a:noFill/>
        </p:spPr>
        <p:txBody>
          <a:bodyPr wrap="square">
            <a:spAutoFit/>
          </a:bodyPr>
          <a:lstStyle/>
          <a:p>
            <a:pPr algn="l">
              <a:spcBef>
                <a:spcPts val="0"/>
              </a:spcBef>
              <a:spcAft>
                <a:spcPts val="0"/>
              </a:spcAft>
            </a:pPr>
            <a:r>
              <a:rPr sz="1000" b="1" i="0">
                <a:solidFill>
                  <a:srgbClr val="1B5697"/>
                </a:solidFill>
                <a:latin typeface="Calibri"/>
              </a:rPr>
              <a:t>Criterion 5: Permutation test — Region</a:t>
            </a:r>
          </a:p>
        </p:txBody>
      </p:sp>
      <p:sp>
        <p:nvSpPr>
          <p:cNvPr id="28" name="TextBox 27"/>
          <p:cNvSpPr txBox="1"/>
          <p:nvPr/>
        </p:nvSpPr>
        <p:spPr>
          <a:xfrm>
            <a:off x="607200" y="3280000"/>
            <a:ext cx="5288647" cy="2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p = 0.132</a:t>
            </a:r>
          </a:p>
        </p:txBody>
      </p:sp>
      <p:sp>
        <p:nvSpPr>
          <p:cNvPr id="29" name="TextBox 28"/>
          <p:cNvSpPr txBox="1"/>
          <p:nvPr/>
        </p:nvSpPr>
        <p:spPr>
          <a:xfrm>
            <a:off x="607200" y="3500000"/>
            <a:ext cx="5288647" cy="200000"/>
          </a:xfrm>
          <a:prstGeom prst="rect">
            <a:avLst/>
          </a:prstGeom>
          <a:noFill/>
        </p:spPr>
        <p:txBody>
          <a:bodyPr wrap="square">
            <a:spAutoFit/>
          </a:bodyPr>
          <a:lstStyle/>
          <a:p>
            <a:pPr algn="l">
              <a:spcBef>
                <a:spcPts val="0"/>
              </a:spcBef>
              <a:spcAft>
                <a:spcPts val="0"/>
              </a:spcAft>
            </a:pPr>
            <a:r>
              <a:rPr sz="900" b="1" i="0">
                <a:solidFill>
                  <a:srgbClr val="2E8B57"/>
                </a:solidFill>
                <a:latin typeface="Calibri"/>
              </a:rPr>
              <a:t>PASS</a:t>
            </a:r>
          </a:p>
        </p:txBody>
      </p:sp>
      <p:sp>
        <p:nvSpPr>
          <p:cNvPr id="30" name="Rectangle 29"/>
          <p:cNvSpPr/>
          <p:nvPr/>
        </p:nvSpPr>
        <p:spPr>
          <a:xfrm>
            <a:off x="6245847" y="2900000"/>
            <a:ext cx="5488647" cy="75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245847" y="2900000"/>
            <a:ext cx="91440" cy="75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395847" y="2980000"/>
            <a:ext cx="5288647" cy="280000"/>
          </a:xfrm>
          <a:prstGeom prst="rect">
            <a:avLst/>
          </a:prstGeom>
          <a:noFill/>
        </p:spPr>
        <p:txBody>
          <a:bodyPr wrap="square">
            <a:spAutoFit/>
          </a:bodyPr>
          <a:lstStyle/>
          <a:p>
            <a:pPr algn="l">
              <a:spcBef>
                <a:spcPts val="0"/>
              </a:spcBef>
              <a:spcAft>
                <a:spcPts val="0"/>
              </a:spcAft>
            </a:pPr>
            <a:r>
              <a:rPr sz="1000" b="1" i="0">
                <a:solidFill>
                  <a:srgbClr val="1B5697"/>
                </a:solidFill>
                <a:latin typeface="Calibri"/>
              </a:rPr>
              <a:t>Criterion 6: Permutation test — Occupation</a:t>
            </a:r>
          </a:p>
        </p:txBody>
      </p:sp>
      <p:sp>
        <p:nvSpPr>
          <p:cNvPr id="33" name="TextBox 32"/>
          <p:cNvSpPr txBox="1"/>
          <p:nvPr/>
        </p:nvSpPr>
        <p:spPr>
          <a:xfrm>
            <a:off x="6395847" y="3280000"/>
            <a:ext cx="5288647" cy="2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p &lt; 0.001</a:t>
            </a:r>
          </a:p>
        </p:txBody>
      </p:sp>
      <p:sp>
        <p:nvSpPr>
          <p:cNvPr id="34" name="TextBox 33"/>
          <p:cNvSpPr txBox="1"/>
          <p:nvPr/>
        </p:nvSpPr>
        <p:spPr>
          <a:xfrm>
            <a:off x="6395847" y="3500000"/>
            <a:ext cx="5288647" cy="200000"/>
          </a:xfrm>
          <a:prstGeom prst="rect">
            <a:avLst/>
          </a:prstGeom>
          <a:noFill/>
        </p:spPr>
        <p:txBody>
          <a:bodyPr wrap="square">
            <a:spAutoFit/>
          </a:bodyPr>
          <a:lstStyle/>
          <a:p>
            <a:pPr algn="l">
              <a:spcBef>
                <a:spcPts val="0"/>
              </a:spcBef>
              <a:spcAft>
                <a:spcPts val="0"/>
              </a:spcAft>
            </a:pPr>
            <a:r>
              <a:rPr sz="900" b="1" i="0">
                <a:solidFill>
                  <a:srgbClr val="E6A62E"/>
                </a:solidFill>
                <a:latin typeface="Calibri"/>
              </a:rPr>
              <a:t>FAILED-with-interpretation</a:t>
            </a:r>
          </a:p>
        </p:txBody>
      </p:sp>
      <p:sp>
        <p:nvSpPr>
          <p:cNvPr id="35" name="TextBox 34"/>
          <p:cNvSpPr txBox="1"/>
          <p:nvPr/>
        </p:nvSpPr>
        <p:spPr>
          <a:xfrm>
            <a:off x="457200" y="5900000"/>
            <a:ext cx="11277295" cy="350000"/>
          </a:xfrm>
          <a:prstGeom prst="rect">
            <a:avLst/>
          </a:prstGeom>
          <a:noFill/>
        </p:spPr>
        <p:txBody>
          <a:bodyPr wrap="square">
            <a:spAutoFit/>
          </a:bodyPr>
          <a:lstStyle/>
          <a:p>
            <a:pPr algn="l">
              <a:spcBef>
                <a:spcPts val="0"/>
              </a:spcBef>
              <a:spcAft>
                <a:spcPts val="0"/>
              </a:spcAft>
            </a:pPr>
            <a:r>
              <a:rPr sz="1000" b="0" i="1">
                <a:solidFill>
                  <a:srgbClr val="505050"/>
                </a:solidFill>
                <a:latin typeface="Calibri"/>
              </a:rPr>
              <a:t>Criterion 6: statistically significant disparity detected under permutation test. PSI = 0.123 (AMBER — monitor only). Criterion 6 is FAILED-with-interpretation, not a hard stop.</a:t>
            </a:r>
          </a:p>
        </p:txBody>
      </p:sp>
      <p:sp>
        <p:nvSpPr>
          <p:cNvPr id="36" name="Rectangle 35"/>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8" name="Rectangle 37"/>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Appendix</a:t>
            </a:r>
          </a:p>
        </p:txBody>
      </p:sp>
      <p:sp>
        <p:nvSpPr>
          <p:cNvPr id="40" name="Rectangle 39"/>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A3 / 43</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A4: MATHEMATICAL DETAILS</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200000"/>
            <a:ext cx="5488647" cy="48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200000"/>
            <a:ext cx="91440" cy="48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07200" y="1300000"/>
            <a:ext cx="5288647" cy="380000"/>
          </a:xfrm>
          <a:prstGeom prst="rect">
            <a:avLst/>
          </a:prstGeom>
          <a:noFill/>
        </p:spPr>
        <p:txBody>
          <a:bodyPr wrap="square">
            <a:spAutoFit/>
          </a:bodyPr>
          <a:lstStyle/>
          <a:p>
            <a:pPr algn="l">
              <a:spcBef>
                <a:spcPts val="0"/>
              </a:spcBef>
              <a:spcAft>
                <a:spcPts val="0"/>
              </a:spcAft>
            </a:pPr>
            <a:r>
              <a:rPr sz="1200" b="1" i="0">
                <a:solidFill>
                  <a:srgbClr val="1B5697"/>
                </a:solidFill>
                <a:latin typeface="Calibri"/>
              </a:rPr>
              <a:t>LinUCB UPDATE RULE</a:t>
            </a:r>
          </a:p>
        </p:txBody>
      </p:sp>
      <p:sp>
        <p:nvSpPr>
          <p:cNvPr id="8" name="TextBox 7"/>
          <p:cNvSpPr txBox="1"/>
          <p:nvPr/>
        </p:nvSpPr>
        <p:spPr>
          <a:xfrm>
            <a:off x="607200" y="1720000"/>
            <a:ext cx="5288647" cy="4100000"/>
          </a:xfrm>
          <a:prstGeom prst="rect">
            <a:avLst/>
          </a:prstGeom>
          <a:noFill/>
        </p:spPr>
        <p:txBody>
          <a:bodyPr wrap="square">
            <a:spAutoFit/>
          </a:bodyPr>
          <a:lstStyle/>
          <a:p>
            <a:pPr algn="l">
              <a:spcBef>
                <a:spcPts val="0"/>
              </a:spcBef>
              <a:spcAft>
                <a:spcPts val="0"/>
              </a:spcAft>
            </a:pPr>
            <a:r>
              <a:rPr sz="1000" b="0" i="0">
                <a:solidFill>
                  <a:srgbClr val="262626"/>
                </a:solidFill>
                <a:latin typeface="Calibri"/>
              </a:rPr>
              <a:t>Design matrix:  A ← A + xₜ xₜᵀ</a:t>
            </a:r>
          </a:p>
          <a:p>
            <a:pPr algn="l">
              <a:spcBef>
                <a:spcPts val="600"/>
              </a:spcBef>
            </a:pPr>
            <a:r>
              <a:rPr sz="1000" b="0" i="0">
                <a:solidFill>
                  <a:srgbClr val="262626"/>
                </a:solidFill>
                <a:latin typeface="Calibri"/>
              </a:rPr>
              <a:t>Reward vector:  b ← b + rₜ xₜ</a:t>
            </a:r>
          </a:p>
          <a:p>
            <a:pPr algn="l">
              <a:spcBef>
                <a:spcPts val="600"/>
              </a:spcBef>
            </a:pPr>
            <a:r>
              <a:rPr sz="1000" b="0" i="0">
                <a:solidFill>
                  <a:srgbClr val="262626"/>
                </a:solidFill>
                <a:latin typeface="Calibri"/>
              </a:rPr>
              <a:t>Ridge estimate: θ̂ = A⁻¹ b</a:t>
            </a:r>
          </a:p>
          <a:p>
            <a:pPr algn="l">
              <a:spcBef>
                <a:spcPts val="600"/>
              </a:spcBef>
            </a:pPr>
            <a:endParaRPr sz="1000" b="0" i="0">
              <a:solidFill>
                <a:srgbClr val="262626"/>
              </a:solidFill>
              <a:latin typeface="Calibri"/>
            </a:endParaRPr>
          </a:p>
          <a:p>
            <a:pPr algn="l">
              <a:spcBef>
                <a:spcPts val="600"/>
              </a:spcBef>
            </a:pPr>
            <a:r>
              <a:rPr sz="1000" b="0" i="0">
                <a:solidFill>
                  <a:srgbClr val="262626"/>
                </a:solidFill>
                <a:latin typeface="Calibri"/>
              </a:rPr>
              <a:t>UCB score:</a:t>
            </a:r>
          </a:p>
          <a:p>
            <a:pPr algn="l">
              <a:spcBef>
                <a:spcPts val="600"/>
              </a:spcBef>
            </a:pPr>
            <a:r>
              <a:rPr sz="1000" b="0" i="0">
                <a:solidFill>
                  <a:srgbClr val="262626"/>
                </a:solidFill>
                <a:latin typeface="Calibri"/>
              </a:rPr>
              <a:t>  p(x) = θ̂ᵀ x + α √(xᵀ A⁻¹ x)</a:t>
            </a:r>
          </a:p>
          <a:p>
            <a:pPr algn="l">
              <a:spcBef>
                <a:spcPts val="600"/>
              </a:spcBef>
            </a:pPr>
            <a:endParaRPr sz="1000" b="0" i="0">
              <a:solidFill>
                <a:srgbClr val="262626"/>
              </a:solidFill>
              <a:latin typeface="Calibri"/>
            </a:endParaRPr>
          </a:p>
          <a:p>
            <a:pPr algn="l">
              <a:spcBef>
                <a:spcPts val="600"/>
              </a:spcBef>
            </a:pPr>
            <a:r>
              <a:rPr sz="1000" b="0" i="0">
                <a:solidFill>
                  <a:srgbClr val="262626"/>
                </a:solidFill>
                <a:latin typeface="Calibri"/>
              </a:rPr>
              <a:t>PSI formula:</a:t>
            </a:r>
          </a:p>
          <a:p>
            <a:pPr algn="l">
              <a:spcBef>
                <a:spcPts val="600"/>
              </a:spcBef>
            </a:pPr>
            <a:r>
              <a:rPr sz="1000" b="0" i="0">
                <a:solidFill>
                  <a:srgbClr val="262626"/>
                </a:solidFill>
                <a:latin typeface="Calibri"/>
              </a:rPr>
              <a:t>  PSI = Σ (P_new − P_old) × ln(P_new / P_old)</a:t>
            </a:r>
          </a:p>
          <a:p>
            <a:pPr algn="l">
              <a:spcBef>
                <a:spcPts val="600"/>
              </a:spcBef>
            </a:pPr>
            <a:endParaRPr sz="1000" b="0" i="0">
              <a:solidFill>
                <a:srgbClr val="262626"/>
              </a:solidFill>
              <a:latin typeface="Calibri"/>
            </a:endParaRPr>
          </a:p>
          <a:p>
            <a:pPr algn="l">
              <a:spcBef>
                <a:spcPts val="600"/>
              </a:spcBef>
            </a:pPr>
            <a:r>
              <a:rPr sz="1000" b="0" i="0">
                <a:solidFill>
                  <a:srgbClr val="262626"/>
                </a:solidFill>
                <a:latin typeface="Calibri"/>
              </a:rPr>
              <a:t>HITL dual-update:</a:t>
            </a:r>
          </a:p>
          <a:p>
            <a:pPr algn="l">
              <a:spcBef>
                <a:spcPts val="600"/>
              </a:spcBef>
            </a:pPr>
            <a:r>
              <a:rPr sz="1000" b="0" i="0">
                <a:solidFill>
                  <a:srgbClr val="262626"/>
                </a:solidFill>
                <a:latin typeface="Calibri"/>
              </a:rPr>
              <a:t>  If human overrides → update on human label</a:t>
            </a:r>
          </a:p>
          <a:p>
            <a:pPr algn="l">
              <a:spcBef>
                <a:spcPts val="600"/>
              </a:spcBef>
            </a:pPr>
            <a:r>
              <a:rPr sz="1000" b="0" i="0">
                <a:solidFill>
                  <a:srgbClr val="262626"/>
                </a:solidFill>
                <a:latin typeface="Calibri"/>
              </a:rPr>
              <a:t>  Else update on bandit label</a:t>
            </a:r>
          </a:p>
        </p:txBody>
      </p:sp>
      <p:sp>
        <p:nvSpPr>
          <p:cNvPr id="9" name="Rectangle 8"/>
          <p:cNvSpPr/>
          <p:nvPr/>
        </p:nvSpPr>
        <p:spPr>
          <a:xfrm>
            <a:off x="6245847" y="1200000"/>
            <a:ext cx="5488647" cy="48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245847" y="1200000"/>
            <a:ext cx="91440" cy="48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95847" y="1300000"/>
            <a:ext cx="5288647" cy="380000"/>
          </a:xfrm>
          <a:prstGeom prst="rect">
            <a:avLst/>
          </a:prstGeom>
          <a:noFill/>
        </p:spPr>
        <p:txBody>
          <a:bodyPr wrap="square">
            <a:spAutoFit/>
          </a:bodyPr>
          <a:lstStyle/>
          <a:p>
            <a:pPr algn="l">
              <a:spcBef>
                <a:spcPts val="0"/>
              </a:spcBef>
              <a:spcAft>
                <a:spcPts val="0"/>
              </a:spcAft>
            </a:pPr>
            <a:r>
              <a:rPr sz="1200" b="1" i="0">
                <a:solidFill>
                  <a:srgbClr val="1B5697"/>
                </a:solidFill>
                <a:latin typeface="Calibri"/>
              </a:rPr>
              <a:t>KEY HYPERPARAMETERS</a:t>
            </a:r>
          </a:p>
        </p:txBody>
      </p:sp>
      <p:graphicFrame>
        <p:nvGraphicFramePr>
          <p:cNvPr id="12" name="Table 11"/>
          <p:cNvGraphicFramePr>
            <a:graphicFrameLocks noGrp="1"/>
          </p:cNvGraphicFramePr>
          <p:nvPr/>
        </p:nvGraphicFramePr>
        <p:xfrm>
          <a:off x="6395847" y="1750000"/>
          <a:ext cx="5288647" cy="4100000"/>
        </p:xfrm>
        <a:graphic>
          <a:graphicData uri="http://schemas.openxmlformats.org/drawingml/2006/table">
            <a:tbl>
              <a:tblPr firstRow="1" bandRow="1">
                <a:tableStyleId>{5C22544A-7EE6-4342-B048-85BDC9FD1C3A}</a:tableStyleId>
              </a:tblPr>
              <a:tblGrid>
                <a:gridCol w="2644323">
                  <a:extLst>
                    <a:ext uri="{9D8B030D-6E8A-4147-A177-3AD203B41FA5}">
                      <a16:colId xmlns:a16="http://schemas.microsoft.com/office/drawing/2014/main" val="20000"/>
                    </a:ext>
                  </a:extLst>
                </a:gridCol>
                <a:gridCol w="2644324">
                  <a:extLst>
                    <a:ext uri="{9D8B030D-6E8A-4147-A177-3AD203B41FA5}">
                      <a16:colId xmlns:a16="http://schemas.microsoft.com/office/drawing/2014/main" val="20001"/>
                    </a:ext>
                  </a:extLst>
                </a:gridCol>
              </a:tblGrid>
              <a:tr h="410000">
                <a:tc>
                  <a:txBody>
                    <a:bodyPr/>
                    <a:lstStyle/>
                    <a:p>
                      <a:r>
                        <a:rPr sz="1000" b="1">
                          <a:solidFill>
                            <a:srgbClr val="FFFFFF"/>
                          </a:solidFill>
                        </a:rPr>
                        <a:t>Parameter</a:t>
                      </a:r>
                    </a:p>
                  </a:txBody>
                  <a:tcPr>
                    <a:solidFill>
                      <a:srgbClr val="1B5697"/>
                    </a:solidFill>
                  </a:tcPr>
                </a:tc>
                <a:tc>
                  <a:txBody>
                    <a:bodyPr/>
                    <a:lstStyle/>
                    <a:p>
                      <a:r>
                        <a:rPr sz="1000" b="1">
                          <a:solidFill>
                            <a:srgbClr val="FFFFFF"/>
                          </a:solidFill>
                        </a:rPr>
                        <a:t>Value</a:t>
                      </a:r>
                    </a:p>
                  </a:txBody>
                  <a:tcPr>
                    <a:solidFill>
                      <a:srgbClr val="1B5697"/>
                    </a:solidFill>
                  </a:tcPr>
                </a:tc>
                <a:extLst>
                  <a:ext uri="{0D108BD9-81ED-4DB2-BD59-A6C34878D82A}">
                    <a16:rowId xmlns:a16="http://schemas.microsoft.com/office/drawing/2014/main" val="10000"/>
                  </a:ext>
                </a:extLst>
              </a:tr>
              <a:tr h="410000">
                <a:tc>
                  <a:txBody>
                    <a:bodyPr/>
                    <a:lstStyle/>
                    <a:p>
                      <a:r>
                        <a:rPr sz="900">
                          <a:solidFill>
                            <a:srgbClr val="262626"/>
                          </a:solidFill>
                        </a:rPr>
                        <a:t>LinUCB α</a:t>
                      </a:r>
                    </a:p>
                  </a:txBody>
                  <a:tcPr>
                    <a:solidFill>
                      <a:srgbClr val="F3F6FB"/>
                    </a:solidFill>
                  </a:tcPr>
                </a:tc>
                <a:tc>
                  <a:txBody>
                    <a:bodyPr/>
                    <a:lstStyle/>
                    <a:p>
                      <a:r>
                        <a:rPr sz="900">
                          <a:solidFill>
                            <a:srgbClr val="262626"/>
                          </a:solidFill>
                        </a:rPr>
                        <a:t>1.0</a:t>
                      </a:r>
                    </a:p>
                  </a:txBody>
                  <a:tcPr>
                    <a:solidFill>
                      <a:srgbClr val="F3F6FB"/>
                    </a:solidFill>
                  </a:tcPr>
                </a:tc>
                <a:extLst>
                  <a:ext uri="{0D108BD9-81ED-4DB2-BD59-A6C34878D82A}">
                    <a16:rowId xmlns:a16="http://schemas.microsoft.com/office/drawing/2014/main" val="10001"/>
                  </a:ext>
                </a:extLst>
              </a:tr>
              <a:tr h="410000">
                <a:tc>
                  <a:txBody>
                    <a:bodyPr/>
                    <a:lstStyle/>
                    <a:p>
                      <a:r>
                        <a:rPr sz="900">
                          <a:solidFill>
                            <a:srgbClr val="262626"/>
                          </a:solidFill>
                        </a:rPr>
                        <a:t>LinTS v²</a:t>
                      </a:r>
                    </a:p>
                  </a:txBody>
                  <a:tcPr>
                    <a:solidFill>
                      <a:srgbClr val="FFFFFF"/>
                    </a:solidFill>
                  </a:tcPr>
                </a:tc>
                <a:tc>
                  <a:txBody>
                    <a:bodyPr/>
                    <a:lstStyle/>
                    <a:p>
                      <a:r>
                        <a:rPr sz="900">
                          <a:solidFill>
                            <a:srgbClr val="262626"/>
                          </a:solidFill>
                        </a:rPr>
                        <a:t>0.01</a:t>
                      </a:r>
                    </a:p>
                  </a:txBody>
                  <a:tcPr>
                    <a:solidFill>
                      <a:srgbClr val="FFFFFF"/>
                    </a:solidFill>
                  </a:tcPr>
                </a:tc>
                <a:extLst>
                  <a:ext uri="{0D108BD9-81ED-4DB2-BD59-A6C34878D82A}">
                    <a16:rowId xmlns:a16="http://schemas.microsoft.com/office/drawing/2014/main" val="10002"/>
                  </a:ext>
                </a:extLst>
              </a:tr>
              <a:tr h="410000">
                <a:tc>
                  <a:txBody>
                    <a:bodyPr/>
                    <a:lstStyle/>
                    <a:p>
                      <a:r>
                        <a:rPr sz="900">
                          <a:solidFill>
                            <a:srgbClr val="262626"/>
                          </a:solidFill>
                        </a:rPr>
                        <a:t>Ridge λ</a:t>
                      </a:r>
                    </a:p>
                  </a:txBody>
                  <a:tcPr>
                    <a:solidFill>
                      <a:srgbClr val="F3F6FB"/>
                    </a:solidFill>
                  </a:tcPr>
                </a:tc>
                <a:tc>
                  <a:txBody>
                    <a:bodyPr/>
                    <a:lstStyle/>
                    <a:p>
                      <a:r>
                        <a:rPr sz="900">
                          <a:solidFill>
                            <a:srgbClr val="262626"/>
                          </a:solidFill>
                        </a:rPr>
                        <a:t>1.0</a:t>
                      </a:r>
                    </a:p>
                  </a:txBody>
                  <a:tcPr>
                    <a:solidFill>
                      <a:srgbClr val="F3F6FB"/>
                    </a:solidFill>
                  </a:tcPr>
                </a:tc>
                <a:extLst>
                  <a:ext uri="{0D108BD9-81ED-4DB2-BD59-A6C34878D82A}">
                    <a16:rowId xmlns:a16="http://schemas.microsoft.com/office/drawing/2014/main" val="10003"/>
                  </a:ext>
                </a:extLst>
              </a:tr>
              <a:tr h="410000">
                <a:tc>
                  <a:txBody>
                    <a:bodyPr/>
                    <a:lstStyle/>
                    <a:p>
                      <a:r>
                        <a:rPr sz="900">
                          <a:solidFill>
                            <a:srgbClr val="262626"/>
                          </a:solidFill>
                        </a:rPr>
                        <a:t>Horizon T</a:t>
                      </a:r>
                    </a:p>
                  </a:txBody>
                  <a:tcPr>
                    <a:solidFill>
                      <a:srgbClr val="FFFFFF"/>
                    </a:solidFill>
                  </a:tcPr>
                </a:tc>
                <a:tc>
                  <a:txBody>
                    <a:bodyPr/>
                    <a:lstStyle/>
                    <a:p>
                      <a:r>
                        <a:rPr sz="900">
                          <a:solidFill>
                            <a:srgbClr val="262626"/>
                          </a:solidFill>
                        </a:rPr>
                        <a:t>5,000</a:t>
                      </a:r>
                    </a:p>
                  </a:txBody>
                  <a:tcPr>
                    <a:solidFill>
                      <a:srgbClr val="FFFFFF"/>
                    </a:solidFill>
                  </a:tcPr>
                </a:tc>
                <a:extLst>
                  <a:ext uri="{0D108BD9-81ED-4DB2-BD59-A6C34878D82A}">
                    <a16:rowId xmlns:a16="http://schemas.microsoft.com/office/drawing/2014/main" val="10004"/>
                  </a:ext>
                </a:extLst>
              </a:tr>
              <a:tr h="410000">
                <a:tc>
                  <a:txBody>
                    <a:bodyPr/>
                    <a:lstStyle/>
                    <a:p>
                      <a:r>
                        <a:rPr sz="900">
                          <a:solidFill>
                            <a:srgbClr val="262626"/>
                          </a:solidFill>
                        </a:rPr>
                        <a:t>Seeds</a:t>
                      </a:r>
                    </a:p>
                  </a:txBody>
                  <a:tcPr>
                    <a:solidFill>
                      <a:srgbClr val="F3F6FB"/>
                    </a:solidFill>
                  </a:tcPr>
                </a:tc>
                <a:tc>
                  <a:txBody>
                    <a:bodyPr/>
                    <a:lstStyle/>
                    <a:p>
                      <a:r>
                        <a:rPr sz="900">
                          <a:solidFill>
                            <a:srgbClr val="262626"/>
                          </a:solidFill>
                        </a:rPr>
                        <a:t>20</a:t>
                      </a:r>
                    </a:p>
                  </a:txBody>
                  <a:tcPr>
                    <a:solidFill>
                      <a:srgbClr val="F3F6FB"/>
                    </a:solidFill>
                  </a:tcPr>
                </a:tc>
                <a:extLst>
                  <a:ext uri="{0D108BD9-81ED-4DB2-BD59-A6C34878D82A}">
                    <a16:rowId xmlns:a16="http://schemas.microsoft.com/office/drawing/2014/main" val="10005"/>
                  </a:ext>
                </a:extLst>
              </a:tr>
              <a:tr h="410000">
                <a:tc>
                  <a:txBody>
                    <a:bodyPr/>
                    <a:lstStyle/>
                    <a:p>
                      <a:r>
                        <a:rPr sz="900">
                          <a:solidFill>
                            <a:srgbClr val="262626"/>
                          </a:solidFill>
                        </a:rPr>
                        <a:t>HITL threshold c</a:t>
                      </a:r>
                    </a:p>
                  </a:txBody>
                  <a:tcPr>
                    <a:solidFill>
                      <a:srgbClr val="FFFFFF"/>
                    </a:solidFill>
                  </a:tcPr>
                </a:tc>
                <a:tc>
                  <a:txBody>
                    <a:bodyPr/>
                    <a:lstStyle/>
                    <a:p>
                      <a:r>
                        <a:rPr sz="900">
                          <a:solidFill>
                            <a:srgbClr val="262626"/>
                          </a:solidFill>
                        </a:rPr>
                        <a:t>0.7</a:t>
                      </a:r>
                    </a:p>
                  </a:txBody>
                  <a:tcPr>
                    <a:solidFill>
                      <a:srgbClr val="FFFFFF"/>
                    </a:solidFill>
                  </a:tcPr>
                </a:tc>
                <a:extLst>
                  <a:ext uri="{0D108BD9-81ED-4DB2-BD59-A6C34878D82A}">
                    <a16:rowId xmlns:a16="http://schemas.microsoft.com/office/drawing/2014/main" val="10006"/>
                  </a:ext>
                </a:extLst>
              </a:tr>
              <a:tr h="410000">
                <a:tc>
                  <a:txBody>
                    <a:bodyPr/>
                    <a:lstStyle/>
                    <a:p>
                      <a:r>
                        <a:rPr sz="900">
                          <a:solidFill>
                            <a:srgbClr val="262626"/>
                          </a:solidFill>
                        </a:rPr>
                        <a:t>Discount γ (EXP-015)</a:t>
                      </a:r>
                    </a:p>
                  </a:txBody>
                  <a:tcPr>
                    <a:solidFill>
                      <a:srgbClr val="F3F6FB"/>
                    </a:solidFill>
                  </a:tcPr>
                </a:tc>
                <a:tc>
                  <a:txBody>
                    <a:bodyPr/>
                    <a:lstStyle/>
                    <a:p>
                      <a:r>
                        <a:rPr sz="900">
                          <a:solidFill>
                            <a:srgbClr val="262626"/>
                          </a:solidFill>
                        </a:rPr>
                        <a:t>0.999</a:t>
                      </a:r>
                    </a:p>
                  </a:txBody>
                  <a:tcPr>
                    <a:solidFill>
                      <a:srgbClr val="F3F6FB"/>
                    </a:solidFill>
                  </a:tcPr>
                </a:tc>
                <a:extLst>
                  <a:ext uri="{0D108BD9-81ED-4DB2-BD59-A6C34878D82A}">
                    <a16:rowId xmlns:a16="http://schemas.microsoft.com/office/drawing/2014/main" val="10007"/>
                  </a:ext>
                </a:extLst>
              </a:tr>
              <a:tr h="410000">
                <a:tc>
                  <a:txBody>
                    <a:bodyPr/>
                    <a:lstStyle/>
                    <a:p>
                      <a:r>
                        <a:rPr sz="900">
                          <a:solidFill>
                            <a:srgbClr val="262626"/>
                          </a:solidFill>
                        </a:rPr>
                        <a:t>PSI AMBER threshold</a:t>
                      </a:r>
                    </a:p>
                  </a:txBody>
                  <a:tcPr>
                    <a:solidFill>
                      <a:srgbClr val="FFFFFF"/>
                    </a:solidFill>
                  </a:tcPr>
                </a:tc>
                <a:tc>
                  <a:txBody>
                    <a:bodyPr/>
                    <a:lstStyle/>
                    <a:p>
                      <a:r>
                        <a:rPr sz="900">
                          <a:solidFill>
                            <a:srgbClr val="262626"/>
                          </a:solidFill>
                        </a:rPr>
                        <a:t>0.10</a:t>
                      </a:r>
                    </a:p>
                  </a:txBody>
                  <a:tcPr>
                    <a:solidFill>
                      <a:srgbClr val="FFFFFF"/>
                    </a:solidFill>
                  </a:tcPr>
                </a:tc>
                <a:extLst>
                  <a:ext uri="{0D108BD9-81ED-4DB2-BD59-A6C34878D82A}">
                    <a16:rowId xmlns:a16="http://schemas.microsoft.com/office/drawing/2014/main" val="10008"/>
                  </a:ext>
                </a:extLst>
              </a:tr>
              <a:tr h="410000">
                <a:tc>
                  <a:txBody>
                    <a:bodyPr/>
                    <a:lstStyle/>
                    <a:p>
                      <a:r>
                        <a:rPr sz="900">
                          <a:solidFill>
                            <a:srgbClr val="262626"/>
                          </a:solidFill>
                        </a:rPr>
                        <a:t>PSI RED threshold</a:t>
                      </a:r>
                    </a:p>
                  </a:txBody>
                  <a:tcPr>
                    <a:solidFill>
                      <a:srgbClr val="F3F6FB"/>
                    </a:solidFill>
                  </a:tcPr>
                </a:tc>
                <a:tc>
                  <a:txBody>
                    <a:bodyPr/>
                    <a:lstStyle/>
                    <a:p>
                      <a:r>
                        <a:rPr sz="900">
                          <a:solidFill>
                            <a:srgbClr val="262626"/>
                          </a:solidFill>
                        </a:rPr>
                        <a:t>0.25</a:t>
                      </a:r>
                    </a:p>
                  </a:txBody>
                  <a:tcPr>
                    <a:solidFill>
                      <a:srgbClr val="F3F6FB"/>
                    </a:solidFill>
                  </a:tcPr>
                </a:tc>
                <a:extLst>
                  <a:ext uri="{0D108BD9-81ED-4DB2-BD59-A6C34878D82A}">
                    <a16:rowId xmlns:a16="http://schemas.microsoft.com/office/drawing/2014/main" val="10009"/>
                  </a:ext>
                </a:extLst>
              </a:tr>
            </a:tbl>
          </a:graphicData>
        </a:graphic>
      </p:graphicFrame>
      <p:sp>
        <p:nvSpPr>
          <p:cNvPr id="13" name="Rectangle 12"/>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15" name="Rectangle 14"/>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Appendix</a:t>
            </a:r>
          </a:p>
        </p:txBody>
      </p:sp>
      <p:sp>
        <p:nvSpPr>
          <p:cNvPr id="17" name="Rectangle 16"/>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A4 / 43</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A5: SENSITIVITY ANALYSIS (EXP-012)</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457200" y="1300000"/>
          <a:ext cx="5074782" cy="3600000"/>
        </p:xfrm>
        <a:graphic>
          <a:graphicData uri="http://schemas.openxmlformats.org/drawingml/2006/table">
            <a:tbl>
              <a:tblPr firstRow="1" bandRow="1">
                <a:tableStyleId>{5C22544A-7EE6-4342-B048-85BDC9FD1C3A}</a:tableStyleId>
              </a:tblPr>
              <a:tblGrid>
                <a:gridCol w="1691594">
                  <a:extLst>
                    <a:ext uri="{9D8B030D-6E8A-4147-A177-3AD203B41FA5}">
                      <a16:colId xmlns:a16="http://schemas.microsoft.com/office/drawing/2014/main" val="20000"/>
                    </a:ext>
                  </a:extLst>
                </a:gridCol>
                <a:gridCol w="1691594">
                  <a:extLst>
                    <a:ext uri="{9D8B030D-6E8A-4147-A177-3AD203B41FA5}">
                      <a16:colId xmlns:a16="http://schemas.microsoft.com/office/drawing/2014/main" val="20001"/>
                    </a:ext>
                  </a:extLst>
                </a:gridCol>
                <a:gridCol w="1691594">
                  <a:extLst>
                    <a:ext uri="{9D8B030D-6E8A-4147-A177-3AD203B41FA5}">
                      <a16:colId xmlns:a16="http://schemas.microsoft.com/office/drawing/2014/main" val="20002"/>
                    </a:ext>
                  </a:extLst>
                </a:gridCol>
              </a:tblGrid>
              <a:tr h="600000">
                <a:tc>
                  <a:txBody>
                    <a:bodyPr/>
                    <a:lstStyle/>
                    <a:p>
                      <a:r>
                        <a:rPr sz="1000" b="1">
                          <a:solidFill>
                            <a:srgbClr val="FFFFFF"/>
                          </a:solidFill>
                        </a:rPr>
                        <a:t>α</a:t>
                      </a:r>
                    </a:p>
                  </a:txBody>
                  <a:tcPr>
                    <a:solidFill>
                      <a:srgbClr val="1B5697"/>
                    </a:solidFill>
                  </a:tcPr>
                </a:tc>
                <a:tc>
                  <a:txBody>
                    <a:bodyPr/>
                    <a:lstStyle/>
                    <a:p>
                      <a:r>
                        <a:rPr sz="1000" b="1">
                          <a:solidFill>
                            <a:srgbClr val="FFFFFF"/>
                          </a:solidFill>
                        </a:rPr>
                        <a:t>Cumul. Reward</a:t>
                      </a:r>
                    </a:p>
                  </a:txBody>
                  <a:tcPr>
                    <a:solidFill>
                      <a:srgbClr val="1B5697"/>
                    </a:solidFill>
                  </a:tcPr>
                </a:tc>
                <a:tc>
                  <a:txBody>
                    <a:bodyPr/>
                    <a:lstStyle/>
                    <a:p>
                      <a:r>
                        <a:rPr sz="1000" b="1">
                          <a:solidFill>
                            <a:srgbClr val="FFFFFF"/>
                          </a:solidFill>
                        </a:rPr>
                        <a:t>Result</a:t>
                      </a:r>
                    </a:p>
                  </a:txBody>
                  <a:tcPr>
                    <a:solidFill>
                      <a:srgbClr val="1B5697"/>
                    </a:solidFill>
                  </a:tcPr>
                </a:tc>
                <a:extLst>
                  <a:ext uri="{0D108BD9-81ED-4DB2-BD59-A6C34878D82A}">
                    <a16:rowId xmlns:a16="http://schemas.microsoft.com/office/drawing/2014/main" val="10000"/>
                  </a:ext>
                </a:extLst>
              </a:tr>
              <a:tr h="600000">
                <a:tc>
                  <a:txBody>
                    <a:bodyPr/>
                    <a:lstStyle/>
                    <a:p>
                      <a:r>
                        <a:rPr sz="1000">
                          <a:solidFill>
                            <a:srgbClr val="262626"/>
                          </a:solidFill>
                        </a:rPr>
                        <a:t>0.25</a:t>
                      </a:r>
                    </a:p>
                  </a:txBody>
                  <a:tcPr>
                    <a:solidFill>
                      <a:srgbClr val="F3F6FB"/>
                    </a:solidFill>
                  </a:tcPr>
                </a:tc>
                <a:tc>
                  <a:txBody>
                    <a:bodyPr/>
                    <a:lstStyle/>
                    <a:p>
                      <a:r>
                        <a:rPr sz="1000">
                          <a:solidFill>
                            <a:srgbClr val="262626"/>
                          </a:solidFill>
                        </a:rPr>
                        <a:t>$88,192</a:t>
                      </a:r>
                    </a:p>
                  </a:txBody>
                  <a:tcPr>
                    <a:solidFill>
                      <a:srgbClr val="F3F6FB"/>
                    </a:solidFill>
                  </a:tcPr>
                </a:tc>
                <a:tc>
                  <a:txBody>
                    <a:bodyPr/>
                    <a:lstStyle/>
                    <a:p>
                      <a:r>
                        <a:rPr sz="1000">
                          <a:solidFill>
                            <a:srgbClr val="262626"/>
                          </a:solidFill>
                        </a:rPr>
                        <a:t>sub-optimal</a:t>
                      </a:r>
                    </a:p>
                  </a:txBody>
                  <a:tcPr>
                    <a:solidFill>
                      <a:srgbClr val="F3F6FB"/>
                    </a:solidFill>
                  </a:tcPr>
                </a:tc>
                <a:extLst>
                  <a:ext uri="{0D108BD9-81ED-4DB2-BD59-A6C34878D82A}">
                    <a16:rowId xmlns:a16="http://schemas.microsoft.com/office/drawing/2014/main" val="10001"/>
                  </a:ext>
                </a:extLst>
              </a:tr>
              <a:tr h="600000">
                <a:tc>
                  <a:txBody>
                    <a:bodyPr/>
                    <a:lstStyle/>
                    <a:p>
                      <a:r>
                        <a:rPr sz="1000">
                          <a:solidFill>
                            <a:srgbClr val="262626"/>
                          </a:solidFill>
                        </a:rPr>
                        <a:t>0.50</a:t>
                      </a:r>
                    </a:p>
                  </a:txBody>
                  <a:tcPr>
                    <a:solidFill>
                      <a:srgbClr val="F3F6FB"/>
                    </a:solidFill>
                  </a:tcPr>
                </a:tc>
                <a:tc>
                  <a:txBody>
                    <a:bodyPr/>
                    <a:lstStyle/>
                    <a:p>
                      <a:r>
                        <a:rPr sz="1000">
                          <a:solidFill>
                            <a:srgbClr val="262626"/>
                          </a:solidFill>
                        </a:rPr>
                        <a:t>$89,703</a:t>
                      </a:r>
                    </a:p>
                  </a:txBody>
                  <a:tcPr>
                    <a:solidFill>
                      <a:srgbClr val="F3F6FB"/>
                    </a:solidFill>
                  </a:tcPr>
                </a:tc>
                <a:tc>
                  <a:txBody>
                    <a:bodyPr/>
                    <a:lstStyle/>
                    <a:p>
                      <a:r>
                        <a:rPr sz="1000">
                          <a:solidFill>
                            <a:srgbClr val="262626"/>
                          </a:solidFill>
                        </a:rPr>
                        <a:t>sub-optimal</a:t>
                      </a:r>
                    </a:p>
                  </a:txBody>
                  <a:tcPr>
                    <a:solidFill>
                      <a:srgbClr val="F3F6FB"/>
                    </a:solidFill>
                  </a:tcPr>
                </a:tc>
                <a:extLst>
                  <a:ext uri="{0D108BD9-81ED-4DB2-BD59-A6C34878D82A}">
                    <a16:rowId xmlns:a16="http://schemas.microsoft.com/office/drawing/2014/main" val="10002"/>
                  </a:ext>
                </a:extLst>
              </a:tr>
              <a:tr h="600000">
                <a:tc>
                  <a:txBody>
                    <a:bodyPr/>
                    <a:lstStyle/>
                    <a:p>
                      <a:r>
                        <a:rPr sz="1000">
                          <a:solidFill>
                            <a:srgbClr val="2E8B57"/>
                          </a:solidFill>
                        </a:rPr>
                        <a:t>1.00 (default)</a:t>
                      </a:r>
                    </a:p>
                  </a:txBody>
                  <a:tcPr>
                    <a:solidFill>
                      <a:srgbClr val="E7F4E8"/>
                    </a:solidFill>
                  </a:tcPr>
                </a:tc>
                <a:tc>
                  <a:txBody>
                    <a:bodyPr/>
                    <a:lstStyle/>
                    <a:p>
                      <a:r>
                        <a:rPr sz="1000">
                          <a:solidFill>
                            <a:srgbClr val="2E8B57"/>
                          </a:solidFill>
                        </a:rPr>
                        <a:t>$90,540</a:t>
                      </a:r>
                    </a:p>
                  </a:txBody>
                  <a:tcPr>
                    <a:solidFill>
                      <a:srgbClr val="E7F4E8"/>
                    </a:solidFill>
                  </a:tcPr>
                </a:tc>
                <a:tc>
                  <a:txBody>
                    <a:bodyPr/>
                    <a:lstStyle/>
                    <a:p>
                      <a:r>
                        <a:rPr sz="1000">
                          <a:solidFill>
                            <a:srgbClr val="2E8B57"/>
                          </a:solidFill>
                        </a:rPr>
                        <a:t>BEST</a:t>
                      </a:r>
                    </a:p>
                  </a:txBody>
                  <a:tcPr>
                    <a:solidFill>
                      <a:srgbClr val="E7F4E8"/>
                    </a:solidFill>
                  </a:tcPr>
                </a:tc>
                <a:extLst>
                  <a:ext uri="{0D108BD9-81ED-4DB2-BD59-A6C34878D82A}">
                    <a16:rowId xmlns:a16="http://schemas.microsoft.com/office/drawing/2014/main" val="10003"/>
                  </a:ext>
                </a:extLst>
              </a:tr>
              <a:tr h="600000">
                <a:tc>
                  <a:txBody>
                    <a:bodyPr/>
                    <a:lstStyle/>
                    <a:p>
                      <a:r>
                        <a:rPr sz="1000">
                          <a:solidFill>
                            <a:srgbClr val="262626"/>
                          </a:solidFill>
                        </a:rPr>
                        <a:t>2.00</a:t>
                      </a:r>
                    </a:p>
                  </a:txBody>
                  <a:tcPr>
                    <a:solidFill>
                      <a:srgbClr val="F3F6FB"/>
                    </a:solidFill>
                  </a:tcPr>
                </a:tc>
                <a:tc>
                  <a:txBody>
                    <a:bodyPr/>
                    <a:lstStyle/>
                    <a:p>
                      <a:r>
                        <a:rPr sz="1000">
                          <a:solidFill>
                            <a:srgbClr val="262626"/>
                          </a:solidFill>
                        </a:rPr>
                        <a:t>$89,118</a:t>
                      </a:r>
                    </a:p>
                  </a:txBody>
                  <a:tcPr>
                    <a:solidFill>
                      <a:srgbClr val="F3F6FB"/>
                    </a:solidFill>
                  </a:tcPr>
                </a:tc>
                <a:tc>
                  <a:txBody>
                    <a:bodyPr/>
                    <a:lstStyle/>
                    <a:p>
                      <a:r>
                        <a:rPr sz="1000">
                          <a:solidFill>
                            <a:srgbClr val="262626"/>
                          </a:solidFill>
                        </a:rPr>
                        <a:t>sub-optimal</a:t>
                      </a:r>
                    </a:p>
                  </a:txBody>
                  <a:tcPr>
                    <a:solidFill>
                      <a:srgbClr val="F3F6FB"/>
                    </a:solidFill>
                  </a:tcPr>
                </a:tc>
                <a:extLst>
                  <a:ext uri="{0D108BD9-81ED-4DB2-BD59-A6C34878D82A}">
                    <a16:rowId xmlns:a16="http://schemas.microsoft.com/office/drawing/2014/main" val="10004"/>
                  </a:ext>
                </a:extLst>
              </a:tr>
              <a:tr h="600000">
                <a:tc>
                  <a:txBody>
                    <a:bodyPr/>
                    <a:lstStyle/>
                    <a:p>
                      <a:r>
                        <a:rPr sz="1000">
                          <a:solidFill>
                            <a:srgbClr val="262626"/>
                          </a:solidFill>
                        </a:rPr>
                        <a:t>4.00</a:t>
                      </a:r>
                    </a:p>
                  </a:txBody>
                  <a:tcPr>
                    <a:solidFill>
                      <a:srgbClr val="F3F6FB"/>
                    </a:solidFill>
                  </a:tcPr>
                </a:tc>
                <a:tc>
                  <a:txBody>
                    <a:bodyPr/>
                    <a:lstStyle/>
                    <a:p>
                      <a:r>
                        <a:rPr sz="1000">
                          <a:solidFill>
                            <a:srgbClr val="262626"/>
                          </a:solidFill>
                        </a:rPr>
                        <a:t>$87,645</a:t>
                      </a:r>
                    </a:p>
                  </a:txBody>
                  <a:tcPr>
                    <a:solidFill>
                      <a:srgbClr val="F3F6FB"/>
                    </a:solidFill>
                  </a:tcPr>
                </a:tc>
                <a:tc>
                  <a:txBody>
                    <a:bodyPr/>
                    <a:lstStyle/>
                    <a:p>
                      <a:r>
                        <a:rPr sz="1000">
                          <a:solidFill>
                            <a:srgbClr val="262626"/>
                          </a:solidFill>
                        </a:rPr>
                        <a:t>sub-optimal</a:t>
                      </a:r>
                    </a:p>
                  </a:txBody>
                  <a:tcPr>
                    <a:solidFill>
                      <a:srgbClr val="F3F6FB"/>
                    </a:solidFill>
                  </a:tcPr>
                </a:tc>
                <a:extLst>
                  <a:ext uri="{0D108BD9-81ED-4DB2-BD59-A6C34878D82A}">
                    <a16:rowId xmlns:a16="http://schemas.microsoft.com/office/drawing/2014/main" val="10005"/>
                  </a:ext>
                </a:extLst>
              </a:tr>
            </a:tbl>
          </a:graphicData>
        </a:graphic>
      </p:graphicFrame>
      <p:sp>
        <p:nvSpPr>
          <p:cNvPr id="6" name="TextBox 5"/>
          <p:cNvSpPr txBox="1"/>
          <p:nvPr/>
        </p:nvSpPr>
        <p:spPr>
          <a:xfrm>
            <a:off x="457200" y="1150000"/>
            <a:ext cx="5074782" cy="300000"/>
          </a:xfrm>
          <a:prstGeom prst="rect">
            <a:avLst/>
          </a:prstGeom>
          <a:noFill/>
        </p:spPr>
        <p:txBody>
          <a:bodyPr wrap="square">
            <a:spAutoFit/>
          </a:bodyPr>
          <a:lstStyle/>
          <a:p>
            <a:pPr algn="l">
              <a:spcBef>
                <a:spcPts val="0"/>
              </a:spcBef>
              <a:spcAft>
                <a:spcPts val="0"/>
              </a:spcAft>
            </a:pPr>
            <a:r>
              <a:rPr sz="1100" b="1" i="0">
                <a:solidFill>
                  <a:srgbClr val="1B5697"/>
                </a:solidFill>
                <a:latin typeface="Calibri"/>
              </a:rPr>
              <a:t>α (exploration coefficient) sweep — LinUCB</a:t>
            </a:r>
          </a:p>
        </p:txBody>
      </p:sp>
      <p:graphicFrame>
        <p:nvGraphicFramePr>
          <p:cNvPr id="7" name="Table 6"/>
          <p:cNvGraphicFramePr>
            <a:graphicFrameLocks noGrp="1"/>
          </p:cNvGraphicFramePr>
          <p:nvPr/>
        </p:nvGraphicFramePr>
        <p:xfrm>
          <a:off x="5731982" y="1300000"/>
          <a:ext cx="6002512" cy="3600000"/>
        </p:xfrm>
        <a:graphic>
          <a:graphicData uri="http://schemas.openxmlformats.org/drawingml/2006/table">
            <a:tbl>
              <a:tblPr firstRow="1" bandRow="1">
                <a:tableStyleId>{5C22544A-7EE6-4342-B048-85BDC9FD1C3A}</a:tableStyleId>
              </a:tblPr>
              <a:tblGrid>
                <a:gridCol w="2000837">
                  <a:extLst>
                    <a:ext uri="{9D8B030D-6E8A-4147-A177-3AD203B41FA5}">
                      <a16:colId xmlns:a16="http://schemas.microsoft.com/office/drawing/2014/main" val="20000"/>
                    </a:ext>
                  </a:extLst>
                </a:gridCol>
                <a:gridCol w="2000837">
                  <a:extLst>
                    <a:ext uri="{9D8B030D-6E8A-4147-A177-3AD203B41FA5}">
                      <a16:colId xmlns:a16="http://schemas.microsoft.com/office/drawing/2014/main" val="20001"/>
                    </a:ext>
                  </a:extLst>
                </a:gridCol>
                <a:gridCol w="2000838">
                  <a:extLst>
                    <a:ext uri="{9D8B030D-6E8A-4147-A177-3AD203B41FA5}">
                      <a16:colId xmlns:a16="http://schemas.microsoft.com/office/drawing/2014/main" val="20002"/>
                    </a:ext>
                  </a:extLst>
                </a:gridCol>
              </a:tblGrid>
              <a:tr h="600000">
                <a:tc>
                  <a:txBody>
                    <a:bodyPr/>
                    <a:lstStyle/>
                    <a:p>
                      <a:r>
                        <a:rPr sz="1000" b="1">
                          <a:solidFill>
                            <a:srgbClr val="FFFFFF"/>
                          </a:solidFill>
                        </a:rPr>
                        <a:t>Adverse-selection</a:t>
                      </a:r>
                    </a:p>
                  </a:txBody>
                  <a:tcPr>
                    <a:solidFill>
                      <a:srgbClr val="1B5697"/>
                    </a:solidFill>
                  </a:tcPr>
                </a:tc>
                <a:tc>
                  <a:txBody>
                    <a:bodyPr/>
                    <a:lstStyle/>
                    <a:p>
                      <a:r>
                        <a:rPr sz="1000" b="1">
                          <a:solidFill>
                            <a:srgbClr val="FFFFFF"/>
                          </a:solidFill>
                        </a:rPr>
                        <a:t>Cumul. Reward</a:t>
                      </a:r>
                    </a:p>
                  </a:txBody>
                  <a:tcPr>
                    <a:solidFill>
                      <a:srgbClr val="1B5697"/>
                    </a:solidFill>
                  </a:tcPr>
                </a:tc>
                <a:tc>
                  <a:txBody>
                    <a:bodyPr/>
                    <a:lstStyle/>
                    <a:p>
                      <a:r>
                        <a:rPr sz="1000" b="1">
                          <a:solidFill>
                            <a:srgbClr val="FFFFFF"/>
                          </a:solidFill>
                        </a:rPr>
                        <a:t>Δ vs baseline</a:t>
                      </a:r>
                    </a:p>
                  </a:txBody>
                  <a:tcPr>
                    <a:solidFill>
                      <a:srgbClr val="1B5697"/>
                    </a:solidFill>
                  </a:tcPr>
                </a:tc>
                <a:extLst>
                  <a:ext uri="{0D108BD9-81ED-4DB2-BD59-A6C34878D82A}">
                    <a16:rowId xmlns:a16="http://schemas.microsoft.com/office/drawing/2014/main" val="10000"/>
                  </a:ext>
                </a:extLst>
              </a:tr>
              <a:tr h="600000">
                <a:tc>
                  <a:txBody>
                    <a:bodyPr/>
                    <a:lstStyle/>
                    <a:p>
                      <a:r>
                        <a:rPr sz="1000">
                          <a:solidFill>
                            <a:srgbClr val="262626"/>
                          </a:solidFill>
                        </a:rPr>
                        <a:t>0%  (none)</a:t>
                      </a:r>
                    </a:p>
                  </a:txBody>
                  <a:tcPr>
                    <a:solidFill>
                      <a:srgbClr val="E7F4E8"/>
                    </a:solidFill>
                  </a:tcPr>
                </a:tc>
                <a:tc>
                  <a:txBody>
                    <a:bodyPr/>
                    <a:lstStyle/>
                    <a:p>
                      <a:r>
                        <a:rPr sz="1000">
                          <a:solidFill>
                            <a:srgbClr val="262626"/>
                          </a:solidFill>
                        </a:rPr>
                        <a:t>$90,540</a:t>
                      </a:r>
                    </a:p>
                  </a:txBody>
                  <a:tcPr>
                    <a:solidFill>
                      <a:srgbClr val="E7F4E8"/>
                    </a:solidFill>
                  </a:tcPr>
                </a:tc>
                <a:tc>
                  <a:txBody>
                    <a:bodyPr/>
                    <a:lstStyle/>
                    <a:p>
                      <a:r>
                        <a:rPr sz="1000">
                          <a:solidFill>
                            <a:srgbClr val="262626"/>
                          </a:solidFill>
                        </a:rPr>
                        <a:t>+0%</a:t>
                      </a:r>
                    </a:p>
                  </a:txBody>
                  <a:tcPr>
                    <a:solidFill>
                      <a:srgbClr val="E7F4E8"/>
                    </a:solidFill>
                  </a:tcPr>
                </a:tc>
                <a:extLst>
                  <a:ext uri="{0D108BD9-81ED-4DB2-BD59-A6C34878D82A}">
                    <a16:rowId xmlns:a16="http://schemas.microsoft.com/office/drawing/2014/main" val="10001"/>
                  </a:ext>
                </a:extLst>
              </a:tr>
              <a:tr h="600000">
                <a:tc>
                  <a:txBody>
                    <a:bodyPr/>
                    <a:lstStyle/>
                    <a:p>
                      <a:r>
                        <a:rPr sz="1000">
                          <a:solidFill>
                            <a:srgbClr val="262626"/>
                          </a:solidFill>
                        </a:rPr>
                        <a:t>5%  (low)</a:t>
                      </a:r>
                    </a:p>
                  </a:txBody>
                  <a:tcPr>
                    <a:solidFill>
                      <a:srgbClr val="F3F6FB"/>
                    </a:solidFill>
                  </a:tcPr>
                </a:tc>
                <a:tc>
                  <a:txBody>
                    <a:bodyPr/>
                    <a:lstStyle/>
                    <a:p>
                      <a:r>
                        <a:rPr sz="1000">
                          <a:solidFill>
                            <a:srgbClr val="262626"/>
                          </a:solidFill>
                        </a:rPr>
                        <a:t>$88,612</a:t>
                      </a:r>
                    </a:p>
                  </a:txBody>
                  <a:tcPr>
                    <a:solidFill>
                      <a:srgbClr val="F3F6FB"/>
                    </a:solidFill>
                  </a:tcPr>
                </a:tc>
                <a:tc>
                  <a:txBody>
                    <a:bodyPr/>
                    <a:lstStyle/>
                    <a:p>
                      <a:r>
                        <a:rPr sz="1000">
                          <a:solidFill>
                            <a:srgbClr val="262626"/>
                          </a:solidFill>
                        </a:rPr>
                        <a:t>−2.1%</a:t>
                      </a:r>
                    </a:p>
                  </a:txBody>
                  <a:tcPr>
                    <a:solidFill>
                      <a:srgbClr val="F3F6FB"/>
                    </a:solidFill>
                  </a:tcPr>
                </a:tc>
                <a:extLst>
                  <a:ext uri="{0D108BD9-81ED-4DB2-BD59-A6C34878D82A}">
                    <a16:rowId xmlns:a16="http://schemas.microsoft.com/office/drawing/2014/main" val="10002"/>
                  </a:ext>
                </a:extLst>
              </a:tr>
              <a:tr h="600000">
                <a:tc>
                  <a:txBody>
                    <a:bodyPr/>
                    <a:lstStyle/>
                    <a:p>
                      <a:r>
                        <a:rPr sz="1000">
                          <a:solidFill>
                            <a:srgbClr val="262626"/>
                          </a:solidFill>
                        </a:rPr>
                        <a:t>10% (moderate)</a:t>
                      </a:r>
                    </a:p>
                  </a:txBody>
                  <a:tcPr>
                    <a:solidFill>
                      <a:srgbClr val="F3F6FB"/>
                    </a:solidFill>
                  </a:tcPr>
                </a:tc>
                <a:tc>
                  <a:txBody>
                    <a:bodyPr/>
                    <a:lstStyle/>
                    <a:p>
                      <a:r>
                        <a:rPr sz="1000">
                          <a:solidFill>
                            <a:srgbClr val="262626"/>
                          </a:solidFill>
                        </a:rPr>
                        <a:t>$85,933</a:t>
                      </a:r>
                    </a:p>
                  </a:txBody>
                  <a:tcPr>
                    <a:solidFill>
                      <a:srgbClr val="F3F6FB"/>
                    </a:solidFill>
                  </a:tcPr>
                </a:tc>
                <a:tc>
                  <a:txBody>
                    <a:bodyPr/>
                    <a:lstStyle/>
                    <a:p>
                      <a:r>
                        <a:rPr sz="1000">
                          <a:solidFill>
                            <a:srgbClr val="262626"/>
                          </a:solidFill>
                        </a:rPr>
                        <a:t>−5.1%</a:t>
                      </a:r>
                    </a:p>
                  </a:txBody>
                  <a:tcPr>
                    <a:solidFill>
                      <a:srgbClr val="F3F6FB"/>
                    </a:solidFill>
                  </a:tcPr>
                </a:tc>
                <a:extLst>
                  <a:ext uri="{0D108BD9-81ED-4DB2-BD59-A6C34878D82A}">
                    <a16:rowId xmlns:a16="http://schemas.microsoft.com/office/drawing/2014/main" val="10003"/>
                  </a:ext>
                </a:extLst>
              </a:tr>
              <a:tr h="600000">
                <a:tc>
                  <a:txBody>
                    <a:bodyPr/>
                    <a:lstStyle/>
                    <a:p>
                      <a:r>
                        <a:rPr sz="1000">
                          <a:solidFill>
                            <a:srgbClr val="262626"/>
                          </a:solidFill>
                        </a:rPr>
                        <a:t>20% (high)</a:t>
                      </a:r>
                    </a:p>
                  </a:txBody>
                  <a:tcPr>
                    <a:solidFill>
                      <a:srgbClr val="F3F6FB"/>
                    </a:solidFill>
                  </a:tcPr>
                </a:tc>
                <a:tc>
                  <a:txBody>
                    <a:bodyPr/>
                    <a:lstStyle/>
                    <a:p>
                      <a:r>
                        <a:rPr sz="1000">
                          <a:solidFill>
                            <a:srgbClr val="262626"/>
                          </a:solidFill>
                        </a:rPr>
                        <a:t>$79,847</a:t>
                      </a:r>
                    </a:p>
                  </a:txBody>
                  <a:tcPr>
                    <a:solidFill>
                      <a:srgbClr val="F3F6FB"/>
                    </a:solidFill>
                  </a:tcPr>
                </a:tc>
                <a:tc>
                  <a:txBody>
                    <a:bodyPr/>
                    <a:lstStyle/>
                    <a:p>
                      <a:r>
                        <a:rPr sz="1000">
                          <a:solidFill>
                            <a:srgbClr val="262626"/>
                          </a:solidFill>
                        </a:rPr>
                        <a:t>−11.8%</a:t>
                      </a:r>
                    </a:p>
                  </a:txBody>
                  <a:tcPr>
                    <a:solidFill>
                      <a:srgbClr val="F3F6FB"/>
                    </a:solidFill>
                  </a:tcPr>
                </a:tc>
                <a:extLst>
                  <a:ext uri="{0D108BD9-81ED-4DB2-BD59-A6C34878D82A}">
                    <a16:rowId xmlns:a16="http://schemas.microsoft.com/office/drawing/2014/main" val="10004"/>
                  </a:ext>
                </a:extLst>
              </a:tr>
              <a:tr h="600000">
                <a:tc>
                  <a:txBody>
                    <a:bodyPr/>
                    <a:lstStyle/>
                    <a:p>
                      <a:r>
                        <a:rPr sz="1000">
                          <a:solidFill>
                            <a:srgbClr val="262626"/>
                          </a:solidFill>
                        </a:rPr>
                        <a:t>30% (extreme)</a:t>
                      </a:r>
                    </a:p>
                  </a:txBody>
                  <a:tcPr>
                    <a:solidFill>
                      <a:srgbClr val="F3F6FB"/>
                    </a:solidFill>
                  </a:tcPr>
                </a:tc>
                <a:tc>
                  <a:txBody>
                    <a:bodyPr/>
                    <a:lstStyle/>
                    <a:p>
                      <a:r>
                        <a:rPr sz="1000">
                          <a:solidFill>
                            <a:srgbClr val="262626"/>
                          </a:solidFill>
                        </a:rPr>
                        <a:t>$73,201</a:t>
                      </a:r>
                    </a:p>
                  </a:txBody>
                  <a:tcPr>
                    <a:solidFill>
                      <a:srgbClr val="F3F6FB"/>
                    </a:solidFill>
                  </a:tcPr>
                </a:tc>
                <a:tc>
                  <a:txBody>
                    <a:bodyPr/>
                    <a:lstStyle/>
                    <a:p>
                      <a:r>
                        <a:rPr sz="1000">
                          <a:solidFill>
                            <a:srgbClr val="262626"/>
                          </a:solidFill>
                        </a:rPr>
                        <a:t>−19.2%</a:t>
                      </a:r>
                    </a:p>
                  </a:txBody>
                  <a:tcPr>
                    <a:solidFill>
                      <a:srgbClr val="F3F6FB"/>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5731982" y="1150000"/>
            <a:ext cx="6002512" cy="300000"/>
          </a:xfrm>
          <a:prstGeom prst="rect">
            <a:avLst/>
          </a:prstGeom>
          <a:noFill/>
        </p:spPr>
        <p:txBody>
          <a:bodyPr wrap="square">
            <a:spAutoFit/>
          </a:bodyPr>
          <a:lstStyle/>
          <a:p>
            <a:pPr algn="l">
              <a:spcBef>
                <a:spcPts val="0"/>
              </a:spcBef>
              <a:spcAft>
                <a:spcPts val="0"/>
              </a:spcAft>
            </a:pPr>
            <a:r>
              <a:rPr sz="1100" b="1" i="0">
                <a:solidFill>
                  <a:srgbClr val="1B5697"/>
                </a:solidFill>
                <a:latin typeface="Calibri"/>
              </a:rPr>
              <a:t>Adverse-selection rate sweep — LinUCB reward impact</a:t>
            </a:r>
          </a:p>
        </p:txBody>
      </p:sp>
      <p:graphicFrame>
        <p:nvGraphicFramePr>
          <p:cNvPr id="9" name="Table 8"/>
          <p:cNvGraphicFramePr>
            <a:graphicFrameLocks noGrp="1"/>
          </p:cNvGraphicFramePr>
          <p:nvPr/>
        </p:nvGraphicFramePr>
        <p:xfrm>
          <a:off x="457200" y="5000000"/>
          <a:ext cx="11277295" cy="2300000"/>
        </p:xfrm>
        <a:graphic>
          <a:graphicData uri="http://schemas.openxmlformats.org/drawingml/2006/table">
            <a:tbl>
              <a:tblPr firstRow="1" bandRow="1">
                <a:tableStyleId>{5C22544A-7EE6-4342-B048-85BDC9FD1C3A}</a:tableStyleId>
              </a:tblPr>
              <a:tblGrid>
                <a:gridCol w="2255459">
                  <a:extLst>
                    <a:ext uri="{9D8B030D-6E8A-4147-A177-3AD203B41FA5}">
                      <a16:colId xmlns:a16="http://schemas.microsoft.com/office/drawing/2014/main" val="20000"/>
                    </a:ext>
                  </a:extLst>
                </a:gridCol>
                <a:gridCol w="2255459">
                  <a:extLst>
                    <a:ext uri="{9D8B030D-6E8A-4147-A177-3AD203B41FA5}">
                      <a16:colId xmlns:a16="http://schemas.microsoft.com/office/drawing/2014/main" val="20001"/>
                    </a:ext>
                  </a:extLst>
                </a:gridCol>
                <a:gridCol w="2255459">
                  <a:extLst>
                    <a:ext uri="{9D8B030D-6E8A-4147-A177-3AD203B41FA5}">
                      <a16:colId xmlns:a16="http://schemas.microsoft.com/office/drawing/2014/main" val="20002"/>
                    </a:ext>
                  </a:extLst>
                </a:gridCol>
                <a:gridCol w="2255459">
                  <a:extLst>
                    <a:ext uri="{9D8B030D-6E8A-4147-A177-3AD203B41FA5}">
                      <a16:colId xmlns:a16="http://schemas.microsoft.com/office/drawing/2014/main" val="20003"/>
                    </a:ext>
                  </a:extLst>
                </a:gridCol>
                <a:gridCol w="2255459">
                  <a:extLst>
                    <a:ext uri="{9D8B030D-6E8A-4147-A177-3AD203B41FA5}">
                      <a16:colId xmlns:a16="http://schemas.microsoft.com/office/drawing/2014/main" val="20004"/>
                    </a:ext>
                  </a:extLst>
                </a:gridCol>
              </a:tblGrid>
              <a:tr h="383333">
                <a:tc>
                  <a:txBody>
                    <a:bodyPr/>
                    <a:lstStyle/>
                    <a:p>
                      <a:r>
                        <a:rPr sz="900" b="1">
                          <a:solidFill>
                            <a:srgbClr val="FFFFFF"/>
                          </a:solidFill>
                        </a:rPr>
                        <a:t>Elasticity Slope</a:t>
                      </a:r>
                    </a:p>
                  </a:txBody>
                  <a:tcPr>
                    <a:solidFill>
                      <a:srgbClr val="1B5697"/>
                    </a:solidFill>
                  </a:tcPr>
                </a:tc>
                <a:tc>
                  <a:txBody>
                    <a:bodyPr/>
                    <a:lstStyle/>
                    <a:p>
                      <a:r>
                        <a:rPr sz="900" b="1">
                          <a:solidFill>
                            <a:srgbClr val="FFFFFF"/>
                          </a:solidFill>
                        </a:rPr>
                        <a:t>LinUCB Reward</a:t>
                      </a:r>
                    </a:p>
                  </a:txBody>
                  <a:tcPr>
                    <a:solidFill>
                      <a:srgbClr val="1B5697"/>
                    </a:solidFill>
                  </a:tcPr>
                </a:tc>
                <a:tc>
                  <a:txBody>
                    <a:bodyPr/>
                    <a:lstStyle/>
                    <a:p>
                      <a:r>
                        <a:rPr sz="900" b="1">
                          <a:solidFill>
                            <a:srgbClr val="FFFFFF"/>
                          </a:solidFill>
                        </a:rPr>
                        <a:t>Static XGB Reward</a:t>
                      </a:r>
                    </a:p>
                  </a:txBody>
                  <a:tcPr>
                    <a:solidFill>
                      <a:srgbClr val="1B5697"/>
                    </a:solidFill>
                  </a:tcPr>
                </a:tc>
                <a:tc>
                  <a:txBody>
                    <a:bodyPr/>
                    <a:lstStyle/>
                    <a:p>
                      <a:r>
                        <a:rPr sz="900" b="1">
                          <a:solidFill>
                            <a:srgbClr val="FFFFFF"/>
                          </a:solidFill>
                        </a:rPr>
                        <a:t>Difference</a:t>
                      </a:r>
                    </a:p>
                  </a:txBody>
                  <a:tcPr>
                    <a:solidFill>
                      <a:srgbClr val="1B5697"/>
                    </a:solidFill>
                  </a:tcPr>
                </a:tc>
                <a:tc>
                  <a:txBody>
                    <a:bodyPr/>
                    <a:lstStyle/>
                    <a:p>
                      <a:r>
                        <a:rPr sz="900" b="1">
                          <a:solidFill>
                            <a:srgbClr val="FFFFFF"/>
                          </a:solidFill>
                        </a:rPr>
                        <a:t>% Gain</a:t>
                      </a:r>
                    </a:p>
                  </a:txBody>
                  <a:tcPr>
                    <a:solidFill>
                      <a:srgbClr val="1B5697"/>
                    </a:solidFill>
                  </a:tcPr>
                </a:tc>
                <a:extLst>
                  <a:ext uri="{0D108BD9-81ED-4DB2-BD59-A6C34878D82A}">
                    <a16:rowId xmlns:a16="http://schemas.microsoft.com/office/drawing/2014/main" val="10000"/>
                  </a:ext>
                </a:extLst>
              </a:tr>
              <a:tr h="383333">
                <a:tc>
                  <a:txBody>
                    <a:bodyPr/>
                    <a:lstStyle/>
                    <a:p>
                      <a:r>
                        <a:rPr sz="900" b="0">
                          <a:solidFill>
                            <a:srgbClr val="262626"/>
                          </a:solidFill>
                        </a:rPr>
                        <a:t>1.5</a:t>
                      </a:r>
                    </a:p>
                  </a:txBody>
                  <a:tcPr>
                    <a:solidFill>
                      <a:srgbClr val="F3F6FB"/>
                    </a:solidFill>
                  </a:tcPr>
                </a:tc>
                <a:tc>
                  <a:txBody>
                    <a:bodyPr/>
                    <a:lstStyle/>
                    <a:p>
                      <a:r>
                        <a:rPr sz="900" b="0">
                          <a:solidFill>
                            <a:srgbClr val="262626"/>
                          </a:solidFill>
                        </a:rPr>
                        <a:t>$61,204</a:t>
                      </a:r>
                    </a:p>
                  </a:txBody>
                  <a:tcPr>
                    <a:solidFill>
                      <a:srgbClr val="F3F6FB"/>
                    </a:solidFill>
                  </a:tcPr>
                </a:tc>
                <a:tc>
                  <a:txBody>
                    <a:bodyPr/>
                    <a:lstStyle/>
                    <a:p>
                      <a:r>
                        <a:rPr sz="900" b="0">
                          <a:solidFill>
                            <a:srgbClr val="262626"/>
                          </a:solidFill>
                        </a:rPr>
                        <a:t>$49,817</a:t>
                      </a:r>
                    </a:p>
                  </a:txBody>
                  <a:tcPr>
                    <a:solidFill>
                      <a:srgbClr val="F3F6FB"/>
                    </a:solidFill>
                  </a:tcPr>
                </a:tc>
                <a:tc>
                  <a:txBody>
                    <a:bodyPr/>
                    <a:lstStyle/>
                    <a:p>
                      <a:r>
                        <a:rPr sz="900" b="0">
                          <a:solidFill>
                            <a:srgbClr val="262626"/>
                          </a:solidFill>
                        </a:rPr>
                        <a:t>+$11,387</a:t>
                      </a:r>
                    </a:p>
                  </a:txBody>
                  <a:tcPr>
                    <a:solidFill>
                      <a:srgbClr val="F3F6FB"/>
                    </a:solidFill>
                  </a:tcPr>
                </a:tc>
                <a:tc>
                  <a:txBody>
                    <a:bodyPr/>
                    <a:lstStyle/>
                    <a:p>
                      <a:r>
                        <a:rPr sz="900" b="0">
                          <a:solidFill>
                            <a:srgbClr val="262626"/>
                          </a:solidFill>
                        </a:rPr>
                        <a:t>+22.8%</a:t>
                      </a:r>
                    </a:p>
                  </a:txBody>
                  <a:tcPr>
                    <a:solidFill>
                      <a:srgbClr val="F3F6FB"/>
                    </a:solidFill>
                  </a:tcPr>
                </a:tc>
                <a:extLst>
                  <a:ext uri="{0D108BD9-81ED-4DB2-BD59-A6C34878D82A}">
                    <a16:rowId xmlns:a16="http://schemas.microsoft.com/office/drawing/2014/main" val="10001"/>
                  </a:ext>
                </a:extLst>
              </a:tr>
              <a:tr h="383333">
                <a:tc>
                  <a:txBody>
                    <a:bodyPr/>
                    <a:lstStyle/>
                    <a:p>
                      <a:r>
                        <a:rPr sz="900" b="0">
                          <a:solidFill>
                            <a:srgbClr val="262626"/>
                          </a:solidFill>
                        </a:rPr>
                        <a:t>2.5</a:t>
                      </a:r>
                    </a:p>
                  </a:txBody>
                  <a:tcPr>
                    <a:solidFill>
                      <a:srgbClr val="F3F6FB"/>
                    </a:solidFill>
                  </a:tcPr>
                </a:tc>
                <a:tc>
                  <a:txBody>
                    <a:bodyPr/>
                    <a:lstStyle/>
                    <a:p>
                      <a:r>
                        <a:rPr sz="900" b="0">
                          <a:solidFill>
                            <a:srgbClr val="262626"/>
                          </a:solidFill>
                        </a:rPr>
                        <a:t>$75,892</a:t>
                      </a:r>
                    </a:p>
                  </a:txBody>
                  <a:tcPr>
                    <a:solidFill>
                      <a:srgbClr val="F3F6FB"/>
                    </a:solidFill>
                  </a:tcPr>
                </a:tc>
                <a:tc>
                  <a:txBody>
                    <a:bodyPr/>
                    <a:lstStyle/>
                    <a:p>
                      <a:r>
                        <a:rPr sz="900" b="0">
                          <a:solidFill>
                            <a:srgbClr val="262626"/>
                          </a:solidFill>
                        </a:rPr>
                        <a:t>$60,943</a:t>
                      </a:r>
                    </a:p>
                  </a:txBody>
                  <a:tcPr>
                    <a:solidFill>
                      <a:srgbClr val="F3F6FB"/>
                    </a:solidFill>
                  </a:tcPr>
                </a:tc>
                <a:tc>
                  <a:txBody>
                    <a:bodyPr/>
                    <a:lstStyle/>
                    <a:p>
                      <a:r>
                        <a:rPr sz="900" b="0">
                          <a:solidFill>
                            <a:srgbClr val="262626"/>
                          </a:solidFill>
                        </a:rPr>
                        <a:t>+$14,949</a:t>
                      </a:r>
                    </a:p>
                  </a:txBody>
                  <a:tcPr>
                    <a:solidFill>
                      <a:srgbClr val="F3F6FB"/>
                    </a:solidFill>
                  </a:tcPr>
                </a:tc>
                <a:tc>
                  <a:txBody>
                    <a:bodyPr/>
                    <a:lstStyle/>
                    <a:p>
                      <a:r>
                        <a:rPr sz="900" b="0">
                          <a:solidFill>
                            <a:srgbClr val="262626"/>
                          </a:solidFill>
                        </a:rPr>
                        <a:t>+24.5%</a:t>
                      </a:r>
                    </a:p>
                  </a:txBody>
                  <a:tcPr>
                    <a:solidFill>
                      <a:srgbClr val="F3F6FB"/>
                    </a:solidFill>
                  </a:tcPr>
                </a:tc>
                <a:extLst>
                  <a:ext uri="{0D108BD9-81ED-4DB2-BD59-A6C34878D82A}">
                    <a16:rowId xmlns:a16="http://schemas.microsoft.com/office/drawing/2014/main" val="10002"/>
                  </a:ext>
                </a:extLst>
              </a:tr>
              <a:tr h="383333">
                <a:tc>
                  <a:txBody>
                    <a:bodyPr/>
                    <a:lstStyle/>
                    <a:p>
                      <a:r>
                        <a:rPr sz="900" b="1">
                          <a:solidFill>
                            <a:srgbClr val="2E8B57"/>
                          </a:solidFill>
                        </a:rPr>
                        <a:t>3.5 (default)</a:t>
                      </a:r>
                    </a:p>
                  </a:txBody>
                  <a:tcPr>
                    <a:solidFill>
                      <a:srgbClr val="E7F4E8"/>
                    </a:solidFill>
                  </a:tcPr>
                </a:tc>
                <a:tc>
                  <a:txBody>
                    <a:bodyPr/>
                    <a:lstStyle/>
                    <a:p>
                      <a:r>
                        <a:rPr sz="900" b="1">
                          <a:solidFill>
                            <a:srgbClr val="2E8B57"/>
                          </a:solidFill>
                        </a:rPr>
                        <a:t>$90,540</a:t>
                      </a:r>
                    </a:p>
                  </a:txBody>
                  <a:tcPr>
                    <a:solidFill>
                      <a:srgbClr val="E7F4E8"/>
                    </a:solidFill>
                  </a:tcPr>
                </a:tc>
                <a:tc>
                  <a:txBody>
                    <a:bodyPr/>
                    <a:lstStyle/>
                    <a:p>
                      <a:r>
                        <a:rPr sz="900" b="1">
                          <a:solidFill>
                            <a:srgbClr val="2E8B57"/>
                          </a:solidFill>
                        </a:rPr>
                        <a:t>$72,292</a:t>
                      </a:r>
                    </a:p>
                  </a:txBody>
                  <a:tcPr>
                    <a:solidFill>
                      <a:srgbClr val="E7F4E8"/>
                    </a:solidFill>
                  </a:tcPr>
                </a:tc>
                <a:tc>
                  <a:txBody>
                    <a:bodyPr/>
                    <a:lstStyle/>
                    <a:p>
                      <a:r>
                        <a:rPr sz="900" b="1">
                          <a:solidFill>
                            <a:srgbClr val="2E8B57"/>
                          </a:solidFill>
                        </a:rPr>
                        <a:t>+$18,248</a:t>
                      </a:r>
                    </a:p>
                  </a:txBody>
                  <a:tcPr>
                    <a:solidFill>
                      <a:srgbClr val="E7F4E8"/>
                    </a:solidFill>
                  </a:tcPr>
                </a:tc>
                <a:tc>
                  <a:txBody>
                    <a:bodyPr/>
                    <a:lstStyle/>
                    <a:p>
                      <a:r>
                        <a:rPr sz="900" b="1">
                          <a:solidFill>
                            <a:srgbClr val="2E8B57"/>
                          </a:solidFill>
                        </a:rPr>
                        <a:t>+25.2%</a:t>
                      </a:r>
                    </a:p>
                  </a:txBody>
                  <a:tcPr>
                    <a:solidFill>
                      <a:srgbClr val="E7F4E8"/>
                    </a:solidFill>
                  </a:tcPr>
                </a:tc>
                <a:extLst>
                  <a:ext uri="{0D108BD9-81ED-4DB2-BD59-A6C34878D82A}">
                    <a16:rowId xmlns:a16="http://schemas.microsoft.com/office/drawing/2014/main" val="10003"/>
                  </a:ext>
                </a:extLst>
              </a:tr>
              <a:tr h="383333">
                <a:tc>
                  <a:txBody>
                    <a:bodyPr/>
                    <a:lstStyle/>
                    <a:p>
                      <a:r>
                        <a:rPr sz="900" b="0">
                          <a:solidFill>
                            <a:srgbClr val="262626"/>
                          </a:solidFill>
                        </a:rPr>
                        <a:t>4.5</a:t>
                      </a:r>
                    </a:p>
                  </a:txBody>
                  <a:tcPr>
                    <a:solidFill>
                      <a:srgbClr val="F3F6FB"/>
                    </a:solidFill>
                  </a:tcPr>
                </a:tc>
                <a:tc>
                  <a:txBody>
                    <a:bodyPr/>
                    <a:lstStyle/>
                    <a:p>
                      <a:r>
                        <a:rPr sz="900" b="0">
                          <a:solidFill>
                            <a:srgbClr val="262626"/>
                          </a:solidFill>
                        </a:rPr>
                        <a:t>$105,183</a:t>
                      </a:r>
                    </a:p>
                  </a:txBody>
                  <a:tcPr>
                    <a:solidFill>
                      <a:srgbClr val="F3F6FB"/>
                    </a:solidFill>
                  </a:tcPr>
                </a:tc>
                <a:tc>
                  <a:txBody>
                    <a:bodyPr/>
                    <a:lstStyle/>
                    <a:p>
                      <a:r>
                        <a:rPr sz="900" b="0">
                          <a:solidFill>
                            <a:srgbClr val="262626"/>
                          </a:solidFill>
                        </a:rPr>
                        <a:t>$83,641</a:t>
                      </a:r>
                    </a:p>
                  </a:txBody>
                  <a:tcPr>
                    <a:solidFill>
                      <a:srgbClr val="F3F6FB"/>
                    </a:solidFill>
                  </a:tcPr>
                </a:tc>
                <a:tc>
                  <a:txBody>
                    <a:bodyPr/>
                    <a:lstStyle/>
                    <a:p>
                      <a:r>
                        <a:rPr sz="900" b="0">
                          <a:solidFill>
                            <a:srgbClr val="262626"/>
                          </a:solidFill>
                        </a:rPr>
                        <a:t>+$21,542</a:t>
                      </a:r>
                    </a:p>
                  </a:txBody>
                  <a:tcPr>
                    <a:solidFill>
                      <a:srgbClr val="F3F6FB"/>
                    </a:solidFill>
                  </a:tcPr>
                </a:tc>
                <a:tc>
                  <a:txBody>
                    <a:bodyPr/>
                    <a:lstStyle/>
                    <a:p>
                      <a:r>
                        <a:rPr sz="900" b="0">
                          <a:solidFill>
                            <a:srgbClr val="262626"/>
                          </a:solidFill>
                        </a:rPr>
                        <a:t>+25.7%</a:t>
                      </a:r>
                    </a:p>
                  </a:txBody>
                  <a:tcPr>
                    <a:solidFill>
                      <a:srgbClr val="F3F6FB"/>
                    </a:solidFill>
                  </a:tcPr>
                </a:tc>
                <a:extLst>
                  <a:ext uri="{0D108BD9-81ED-4DB2-BD59-A6C34878D82A}">
                    <a16:rowId xmlns:a16="http://schemas.microsoft.com/office/drawing/2014/main" val="10004"/>
                  </a:ext>
                </a:extLst>
              </a:tr>
              <a:tr h="383335">
                <a:tc>
                  <a:txBody>
                    <a:bodyPr/>
                    <a:lstStyle/>
                    <a:p>
                      <a:r>
                        <a:rPr sz="900" b="0">
                          <a:solidFill>
                            <a:srgbClr val="262626"/>
                          </a:solidFill>
                        </a:rPr>
                        <a:t>5.5</a:t>
                      </a:r>
                    </a:p>
                  </a:txBody>
                  <a:tcPr>
                    <a:solidFill>
                      <a:srgbClr val="F3F6FB"/>
                    </a:solidFill>
                  </a:tcPr>
                </a:tc>
                <a:tc>
                  <a:txBody>
                    <a:bodyPr/>
                    <a:lstStyle/>
                    <a:p>
                      <a:r>
                        <a:rPr sz="900" b="0">
                          <a:solidFill>
                            <a:srgbClr val="262626"/>
                          </a:solidFill>
                        </a:rPr>
                        <a:t>$119,827</a:t>
                      </a:r>
                    </a:p>
                  </a:txBody>
                  <a:tcPr>
                    <a:solidFill>
                      <a:srgbClr val="F3F6FB"/>
                    </a:solidFill>
                  </a:tcPr>
                </a:tc>
                <a:tc>
                  <a:txBody>
                    <a:bodyPr/>
                    <a:lstStyle/>
                    <a:p>
                      <a:r>
                        <a:rPr sz="900" b="0">
                          <a:solidFill>
                            <a:srgbClr val="262626"/>
                          </a:solidFill>
                        </a:rPr>
                        <a:t>$95,012</a:t>
                      </a:r>
                    </a:p>
                  </a:txBody>
                  <a:tcPr>
                    <a:solidFill>
                      <a:srgbClr val="F3F6FB"/>
                    </a:solidFill>
                  </a:tcPr>
                </a:tc>
                <a:tc>
                  <a:txBody>
                    <a:bodyPr/>
                    <a:lstStyle/>
                    <a:p>
                      <a:r>
                        <a:rPr sz="900" b="0">
                          <a:solidFill>
                            <a:srgbClr val="262626"/>
                          </a:solidFill>
                        </a:rPr>
                        <a:t>+$24,815</a:t>
                      </a:r>
                    </a:p>
                  </a:txBody>
                  <a:tcPr>
                    <a:solidFill>
                      <a:srgbClr val="F3F6FB"/>
                    </a:solidFill>
                  </a:tcPr>
                </a:tc>
                <a:tc>
                  <a:txBody>
                    <a:bodyPr/>
                    <a:lstStyle/>
                    <a:p>
                      <a:r>
                        <a:rPr sz="900" b="0">
                          <a:solidFill>
                            <a:srgbClr val="262626"/>
                          </a:solidFill>
                        </a:rPr>
                        <a:t>+26.1%</a:t>
                      </a:r>
                    </a:p>
                  </a:txBody>
                  <a:tcPr>
                    <a:solidFill>
                      <a:srgbClr val="F3F6FB"/>
                    </a:solidFill>
                  </a:tcPr>
                </a:tc>
                <a:extLst>
                  <a:ext uri="{0D108BD9-81ED-4DB2-BD59-A6C34878D82A}">
                    <a16:rowId xmlns:a16="http://schemas.microsoft.com/office/drawing/2014/main" val="10005"/>
                  </a:ext>
                </a:extLst>
              </a:tr>
            </a:tbl>
          </a:graphicData>
        </a:graphic>
      </p:graphicFrame>
      <p:sp>
        <p:nvSpPr>
          <p:cNvPr id="10" name="TextBox 9"/>
          <p:cNvSpPr txBox="1"/>
          <p:nvPr/>
        </p:nvSpPr>
        <p:spPr>
          <a:xfrm>
            <a:off x="457200" y="4850000"/>
            <a:ext cx="11277295" cy="300000"/>
          </a:xfrm>
          <a:prstGeom prst="rect">
            <a:avLst/>
          </a:prstGeom>
          <a:noFill/>
        </p:spPr>
        <p:txBody>
          <a:bodyPr wrap="square">
            <a:spAutoFit/>
          </a:bodyPr>
          <a:lstStyle/>
          <a:p>
            <a:pPr algn="l">
              <a:spcBef>
                <a:spcPts val="0"/>
              </a:spcBef>
              <a:spcAft>
                <a:spcPts val="0"/>
              </a:spcAft>
            </a:pPr>
            <a:r>
              <a:rPr sz="1100" b="1" i="0">
                <a:solidFill>
                  <a:srgbClr val="1B5697"/>
                </a:solidFill>
                <a:latin typeface="Calibri"/>
              </a:rPr>
              <a:t>Elasticity slope sweep — LinUCB vs Static XGB</a:t>
            </a:r>
          </a:p>
        </p:txBody>
      </p:sp>
      <p:sp>
        <p:nvSpPr>
          <p:cNvPr id="11" name="TextBox 10"/>
          <p:cNvSpPr txBox="1"/>
          <p:nvPr/>
        </p:nvSpPr>
        <p:spPr>
          <a:xfrm>
            <a:off x="457200" y="7450000"/>
            <a:ext cx="11277295" cy="400000"/>
          </a:xfrm>
          <a:prstGeom prst="rect">
            <a:avLst/>
          </a:prstGeom>
          <a:noFill/>
        </p:spPr>
        <p:txBody>
          <a:bodyPr wrap="square">
            <a:spAutoFit/>
          </a:bodyPr>
          <a:lstStyle/>
          <a:p>
            <a:pPr algn="l">
              <a:spcBef>
                <a:spcPts val="0"/>
              </a:spcBef>
              <a:spcAft>
                <a:spcPts val="0"/>
              </a:spcAft>
            </a:pPr>
            <a:r>
              <a:rPr sz="1000" b="0" i="1">
                <a:solidFill>
                  <a:srgbClr val="505050"/>
                </a:solidFill>
                <a:latin typeface="Calibri"/>
              </a:rPr>
              <a:t>Benefit gap widens with elasticity; core finding is robust across slope values.</a:t>
            </a:r>
          </a:p>
        </p:txBody>
      </p:sp>
      <p:sp>
        <p:nvSpPr>
          <p:cNvPr id="12" name="Rectangle 11"/>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14" name="Rectangle 13"/>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Appendix</a:t>
            </a:r>
          </a:p>
        </p:txBody>
      </p:sp>
      <p:sp>
        <p:nvSpPr>
          <p:cNvPr id="16" name="Rectangle 15"/>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A5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TotalTime>
  <Words>4571</Words>
  <Application>Microsoft Office PowerPoint</Application>
  <PresentationFormat>Widescreen</PresentationFormat>
  <Paragraphs>1022</Paragraphs>
  <Slides>43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43</vt:i4>
      </vt:variant>
    </vt:vector>
  </HeadingPairs>
  <TitlesOfParts>
    <vt:vector size="47" baseType="lpstr">
      <vt:lpstr>Arial</vt:lpstr>
      <vt:lpstr>Calibri</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CHANPOLY LUN</cp:lastModifiedBy>
  <cp:revision>3</cp:revision>
  <dcterms:created xsi:type="dcterms:W3CDTF">2013-01-27T09:14:16Z</dcterms:created>
  <dcterms:modified xsi:type="dcterms:W3CDTF">2026-06-22T10:17:54Z</dcterms:modified>
  <cp:category/>
</cp:coreProperties>
</file>