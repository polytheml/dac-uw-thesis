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T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74320"/>
            <a:ext cx="914400" cy="901541"/>
          </a:xfrm>
          <a:prstGeom prst="rect">
            <a:avLst/>
          </a:prstGeom>
        </p:spPr>
      </p:pic>
      <p:pic>
        <p:nvPicPr>
          <p:cNvPr id="4" name="Picture 3" descr="A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0200" y="365760"/>
            <a:ext cx="1325880" cy="1256418"/>
          </a:xfrm>
          <a:prstGeom prst="rect">
            <a:avLst/>
          </a:prstGeom>
        </p:spPr>
      </p:pic>
      <p:pic>
        <p:nvPicPr>
          <p:cNvPr id="5" name="Picture 4" descr="DAC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32720" y="320040"/>
            <a:ext cx="1325880" cy="7458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108960" y="384048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62626"/>
                </a:solidFill>
                <a:latin typeface="Segoe UI"/>
              </a:rPr>
              <a:t>Institute of Technology of Cambodia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841248"/>
            <a:ext cx="6583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505050"/>
                </a:solidFill>
                <a:latin typeface="Calibri"/>
              </a:rPr>
              <a:t>Department of Applied Mathematics and Statistics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13248" y="1874519"/>
            <a:ext cx="1371600" cy="41148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1051560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62626"/>
                </a:solidFill>
                <a:latin typeface="Segoe UI"/>
              </a:rPr>
              <a:t>ADAPTIVE HEALTH INSURANCE UNDERWRITING VIA CONTEXTUAL BANDITS: A REINFORCEMENT LEARNING APPROACH FOR CAMBODIA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13248" y="3886200"/>
            <a:ext cx="1371600" cy="41148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0" y="4224528"/>
            <a:ext cx="1219169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505050"/>
                </a:solidFill>
                <a:latin typeface="Calibri"/>
              </a:rPr>
              <a:t>Thesis Defense — Presented by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0" y="4535424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B5697"/>
                </a:solidFill>
                <a:latin typeface="Segoe UI"/>
              </a:rPr>
              <a:t>LUN CHANPOLY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5193792"/>
            <a:ext cx="5120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262626"/>
                </a:solidFill>
                <a:latin typeface="Calibri"/>
              </a:rPr>
              <a:t>Supervisor   :  Dr. HAS Sothea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5193792"/>
            <a:ext cx="5120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262626"/>
                </a:solidFill>
                <a:latin typeface="Calibri"/>
              </a:rPr>
              <a:t>Organization  :  DAC (Decent Actuarial Consultants)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5522976"/>
            <a:ext cx="5120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262626"/>
                </a:solidFill>
                <a:latin typeface="Calibri"/>
              </a:rPr>
              <a:t>Duration       :  Mar 2026 – Jun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5522976"/>
            <a:ext cx="5120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262626"/>
                </a:solidFill>
                <a:latin typeface="Calibri"/>
              </a:rPr>
              <a:t>DAC Advisor  :  Mr. ON Radet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0" y="6035040"/>
            <a:ext cx="1219169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05050"/>
                </a:solidFill>
                <a:latin typeface="Calibri"/>
              </a:rPr>
              <a:t>July 2026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Title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July 2026  ·  – / 44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TABLE OF CONTENTS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200000"/>
            <a:ext cx="500000" cy="7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7200" y="1200000"/>
            <a:ext cx="460000" cy="7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7200" y="1400000"/>
            <a:ext cx="10557295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B5697"/>
                </a:solidFill>
                <a:latin typeface="Calibri"/>
              </a:rPr>
              <a:t>Introduction &amp; Problem Background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030000"/>
            <a:ext cx="500000" cy="7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7200" y="2030000"/>
            <a:ext cx="460000" cy="7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II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7200" y="2230000"/>
            <a:ext cx="10557295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B5697"/>
                </a:solidFill>
                <a:latin typeface="Calibri"/>
              </a:rPr>
              <a:t>Literature Review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860000"/>
            <a:ext cx="500000" cy="7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7200" y="2860000"/>
            <a:ext cx="460000" cy="7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III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7200" y="3060000"/>
            <a:ext cx="10557295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B5697"/>
                </a:solidFill>
                <a:latin typeface="Calibri"/>
              </a:rPr>
              <a:t>Methodology &amp; Model Design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690000"/>
            <a:ext cx="500000" cy="7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7200" y="3690000"/>
            <a:ext cx="460000" cy="7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IV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7200" y="3890000"/>
            <a:ext cx="10557295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B5697"/>
                </a:solidFill>
                <a:latin typeface="Calibri"/>
              </a:rPr>
              <a:t>Results &amp; Evaluation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520000"/>
            <a:ext cx="500000" cy="7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7200" y="4520000"/>
            <a:ext cx="460000" cy="7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7200" y="4720000"/>
            <a:ext cx="10557295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B5697"/>
                </a:solidFill>
                <a:latin typeface="Calibri"/>
              </a:rPr>
              <a:t>Conclusion &amp; Future Work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Contents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July 2026  ·  – / 44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MEET SOPHEA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100000"/>
            <a:ext cx="5200000" cy="5257376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00000"/>
            <a:ext cx="91440" cy="52573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7200" y="1240000"/>
            <a:ext cx="5000000" cy="4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Calibri"/>
              </a:rPr>
              <a:t>SOPHEA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00" y="1740000"/>
            <a:ext cx="50000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04040"/>
                </a:solidFill>
                <a:latin typeface="Calibri"/>
              </a:rPr>
              <a:t>Age 42  ·  Kampong Cham Province  ·  Rice Farmer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00" y="2180000"/>
            <a:ext cx="4950000" cy="2743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7200" y="2280000"/>
            <a:ext cx="5000000" cy="3957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sz="1400" b="1">
                <a:solidFill>
                  <a:srgbClr val="1B5697"/>
                </a:solidFill>
              </a:rPr>
              <a:t>BMI:  </a:t>
            </a:r>
            <a:r>
              <a:rPr sz="1400">
                <a:solidFill>
                  <a:srgbClr val="505050"/>
                </a:solidFill>
              </a:rPr>
              <a:t>24.1  (Normal range)</a:t>
            </a:r>
          </a:p>
          <a:p>
            <a:pPr>
              <a:spcBef>
                <a:spcPts val="1000"/>
              </a:spcBef>
            </a:pPr>
            <a:r>
              <a:rPr sz="1400" b="1">
                <a:solidFill>
                  <a:srgbClr val="1B5697"/>
                </a:solidFill>
              </a:rPr>
              <a:t>Smoker:  </a:t>
            </a:r>
            <a:r>
              <a:rPr sz="1400">
                <a:solidFill>
                  <a:srgbClr val="505050"/>
                </a:solidFill>
              </a:rPr>
              <a:t>No</a:t>
            </a:r>
          </a:p>
          <a:p>
            <a:pPr>
              <a:spcBef>
                <a:spcPts val="1000"/>
              </a:spcBef>
            </a:pPr>
            <a:r>
              <a:rPr sz="1400" b="1">
                <a:solidFill>
                  <a:srgbClr val="1B5697"/>
                </a:solidFill>
              </a:rPr>
              <a:t>Physical Activity:  </a:t>
            </a:r>
            <a:r>
              <a:rPr sz="1400">
                <a:solidFill>
                  <a:srgbClr val="505050"/>
                </a:solidFill>
              </a:rPr>
              <a:t>High  (field farming)</a:t>
            </a:r>
          </a:p>
          <a:p>
            <a:pPr>
              <a:spcBef>
                <a:spcPts val="1000"/>
              </a:spcBef>
            </a:pPr>
            <a:r>
              <a:rPr sz="1400" b="1">
                <a:solidFill>
                  <a:srgbClr val="1B5697"/>
                </a:solidFill>
              </a:rPr>
              <a:t>Clinical Flag:  </a:t>
            </a:r>
            <a:r>
              <a:rPr sz="1400">
                <a:solidFill>
                  <a:srgbClr val="505050"/>
                </a:solidFill>
              </a:rPr>
              <a:t>Hypertension  (managed)</a:t>
            </a:r>
          </a:p>
          <a:p>
            <a:pPr>
              <a:spcBef>
                <a:spcPts val="1000"/>
              </a:spcBef>
            </a:pPr>
            <a:r>
              <a:rPr sz="1400" b="1">
                <a:solidFill>
                  <a:srgbClr val="1B5697"/>
                </a:solidFill>
              </a:rPr>
              <a:t>Wealth Index:  </a:t>
            </a:r>
            <a:r>
              <a:rPr sz="1400">
                <a:solidFill>
                  <a:srgbClr val="505050"/>
                </a:solidFill>
              </a:rPr>
              <a:t>Low</a:t>
            </a:r>
          </a:p>
          <a:p>
            <a:pPr>
              <a:spcBef>
                <a:spcPts val="1000"/>
              </a:spcBef>
            </a:pPr>
            <a:r>
              <a:rPr sz="1400" b="1">
                <a:solidFill>
                  <a:srgbClr val="1B5697"/>
                </a:solidFill>
              </a:rPr>
              <a:t>Education:  </a:t>
            </a:r>
            <a:r>
              <a:rPr sz="1400">
                <a:solidFill>
                  <a:srgbClr val="505050"/>
                </a:solidFill>
              </a:rPr>
              <a:t>Primary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37200" y="1180000"/>
            <a:ext cx="6054495" cy="1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505050"/>
                </a:solidFill>
                <a:latin typeface="Calibri"/>
              </a:rPr>
              <a:t>In 2023, Sophea walked into a private insurer in Phnom Penh and applied for voluntary health insurance.
The static underwriting system checked two fields.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37200" y="2650000"/>
            <a:ext cx="6054495" cy="550000"/>
          </a:xfrm>
          <a:prstGeom prst="rect">
            <a:avLst/>
          </a:prstGeom>
          <a:solidFill>
            <a:srgbClr val="FE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937200" y="2650000"/>
            <a:ext cx="73152" cy="550000"/>
          </a:xfrm>
          <a:prstGeom prst="rect">
            <a:avLst/>
          </a:prstGeom>
          <a:solidFill>
            <a:srgbClr val="E6A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67200" y="2780000"/>
            <a:ext cx="5894495" cy="3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7D4E00"/>
                </a:solidFill>
                <a:latin typeface="Calibri"/>
              </a:rPr>
              <a:t>OCCUPATION:  Agriculture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37200" y="3320000"/>
            <a:ext cx="6054495" cy="550000"/>
          </a:xfrm>
          <a:prstGeom prst="rect">
            <a:avLst/>
          </a:prstGeom>
          <a:solidFill>
            <a:srgbClr val="FE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37200" y="3320000"/>
            <a:ext cx="73152" cy="550000"/>
          </a:xfrm>
          <a:prstGeom prst="rect">
            <a:avLst/>
          </a:prstGeom>
          <a:solidFill>
            <a:srgbClr val="E6A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67200" y="3450000"/>
            <a:ext cx="5894495" cy="3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7D4E00"/>
                </a:solidFill>
                <a:latin typeface="Calibri"/>
              </a:rPr>
              <a:t>CONDITION:  Hypertension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37200" y="3950000"/>
            <a:ext cx="6054495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505050"/>
                </a:solidFill>
                <a:latin typeface="Calibri"/>
              </a:rPr>
              <a:t>Both thresholds crossed. System decision: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37200" y="4350000"/>
            <a:ext cx="6054495" cy="820000"/>
          </a:xfrm>
          <a:prstGeom prst="rect">
            <a:avLst/>
          </a:prstGeom>
          <a:solidFill>
            <a:srgbClr val="F8E7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937200" y="4350000"/>
            <a:ext cx="109728" cy="820000"/>
          </a:xfrm>
          <a:prstGeom prst="rect">
            <a:avLst/>
          </a:prstGeom>
          <a:solidFill>
            <a:srgbClr val="D93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07200" y="4510000"/>
            <a:ext cx="5854495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D93B3B"/>
                </a:solidFill>
                <a:latin typeface="Calibri"/>
              </a:rPr>
              <a:t>DECLINE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37200" y="5330000"/>
            <a:ext cx="6054495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505050"/>
                </a:solidFill>
                <a:latin typeface="Calibri"/>
              </a:rPr>
              <a:t>Sophea leaves without coverage.</a:t>
            </a:r>
          </a:p>
          <a:p>
            <a:pPr algn="l">
              <a:spcBef>
                <a:spcPts val="800"/>
              </a:spcBef>
            </a:pPr>
            <a:r>
              <a:rPr sz="1500" b="1" i="0">
                <a:solidFill>
                  <a:srgbClr val="1B5697"/>
                </a:solidFill>
                <a:latin typeface="Calibri"/>
              </a:rPr>
              <a:t>Was that the right answer?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Introduction &amp; Problem Background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July 2026  ·  1 / 44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ABOUT DECENT ACTUARIAL CONSULTANTS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200000"/>
            <a:ext cx="3900000" cy="5157376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00000"/>
            <a:ext cx="91440" cy="51573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A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200" y="1480000"/>
            <a:ext cx="3200000" cy="1800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7200" y="3530000"/>
            <a:ext cx="3540000" cy="2727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262626"/>
                </a:solidFill>
                <a:latin typeface="Calibri"/>
              </a:rPr>
              <a:t>Decent Actuarial Consultants (DAC) is a Taipei-headquartered actuarial consultancy serving insurers across Taiwan, Vietnam, Cambodia, and the wider Southeast Asian region. This thesis was completed during a 3-month internship (Mar–Jun 2026) at DAC's Phnom Penh office, applying DAC's actuarial expertise to Cambodia's underserved health-insurance underwriting problem.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7200" y="1200000"/>
            <a:ext cx="7097295" cy="784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637200" y="1200000"/>
            <a:ext cx="91440" cy="784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87200" y="1320000"/>
            <a:ext cx="6917295" cy="5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505050"/>
                </a:solidFill>
                <a:latin typeface="Calibri"/>
              </a:rPr>
              <a:t>Appointed Actuary Services — Life &amp; General Insurance, Southeast Asia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37200" y="2074000"/>
            <a:ext cx="7097295" cy="784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637200" y="2074000"/>
            <a:ext cx="91440" cy="784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87200" y="2194000"/>
            <a:ext cx="6917295" cy="5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505050"/>
                </a:solidFill>
                <a:latin typeface="Calibri"/>
              </a:rPr>
              <a:t>IFRS 17 Implementation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37200" y="2948000"/>
            <a:ext cx="7097295" cy="784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637200" y="2948000"/>
            <a:ext cx="91440" cy="784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87200" y="3068000"/>
            <a:ext cx="6917295" cy="5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505050"/>
                </a:solidFill>
                <a:latin typeface="Calibri"/>
              </a:rPr>
              <a:t>Product Development — Life &amp; General Insurance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37200" y="3822000"/>
            <a:ext cx="7097295" cy="784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637200" y="3822000"/>
            <a:ext cx="91440" cy="784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87200" y="3942000"/>
            <a:ext cx="6917295" cy="5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505050"/>
                </a:solidFill>
                <a:latin typeface="Calibri"/>
              </a:rPr>
              <a:t>Asset–Liability Management &amp; Enterprise Risk Management (ALM/ERM)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37200" y="4696000"/>
            <a:ext cx="7097295" cy="784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637200" y="4696000"/>
            <a:ext cx="91440" cy="784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87200" y="4816000"/>
            <a:ext cx="6917295" cy="5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505050"/>
                </a:solidFill>
                <a:latin typeface="Calibri"/>
              </a:rPr>
              <a:t>Mergers &amp; Acquisitions Advisory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637200" y="5570000"/>
            <a:ext cx="7097295" cy="784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637200" y="5570000"/>
            <a:ext cx="91440" cy="784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87200" y="5690000"/>
            <a:ext cx="6917295" cy="5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505050"/>
                </a:solidFill>
                <a:latin typeface="Calibri"/>
              </a:rPr>
              <a:t>Education &amp; Cooperation — University partnerships, government-academia-industry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Introduction &amp; Problem Background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July 2026  ·  2 / 44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CAMBODIA HEALTH INSURANCE MARKET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200000"/>
            <a:ext cx="3800000" cy="18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57200" y="1300000"/>
            <a:ext cx="36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200" b="1" i="0">
                <a:solidFill>
                  <a:srgbClr val="FFFFFF"/>
                </a:solidFill>
                <a:latin typeface="Calibri"/>
              </a:rPr>
              <a:t>&lt; 2 %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7200" y="2200000"/>
            <a:ext cx="36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BDCEE4"/>
                </a:solidFill>
                <a:latin typeface="Calibri"/>
              </a:rPr>
              <a:t>HEALTH-INSURANCE PENETRATION (2023 EST.)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200000"/>
            <a:ext cx="40000" cy="400000"/>
          </a:xfrm>
          <a:prstGeom prst="rect">
            <a:avLst/>
          </a:prstGeom>
          <a:solidFill>
            <a:srgbClr val="1F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7200" y="3240000"/>
            <a:ext cx="48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262626"/>
                </a:solidFill>
                <a:latin typeface="Calibri"/>
              </a:rPr>
              <a:t>NSSF covers formal-sector workers only (~16% of population)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780000"/>
            <a:ext cx="40000" cy="400000"/>
          </a:xfrm>
          <a:prstGeom prst="rect">
            <a:avLst/>
          </a:prstGeom>
          <a:solidFill>
            <a:srgbClr val="1F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7200" y="3820000"/>
            <a:ext cx="48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262626"/>
                </a:solidFill>
                <a:latin typeface="Calibri"/>
              </a:rPr>
              <a:t>Private underwriting is manual and rule-based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360000"/>
            <a:ext cx="40000" cy="400000"/>
          </a:xfrm>
          <a:prstGeom prst="rect">
            <a:avLst/>
          </a:prstGeom>
          <a:solidFill>
            <a:srgbClr val="1F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7200" y="4400000"/>
            <a:ext cx="48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262626"/>
                </a:solidFill>
                <a:latin typeface="Calibri"/>
              </a:rPr>
              <a:t>Agent networks consume 15–30% of premium revenue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940000"/>
            <a:ext cx="40000" cy="400000"/>
          </a:xfrm>
          <a:prstGeom prst="rect">
            <a:avLst/>
          </a:prstGeom>
          <a:solidFill>
            <a:srgbClr val="1F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7200" y="4980000"/>
            <a:ext cx="48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262626"/>
                </a:solidFill>
                <a:latin typeface="Calibri"/>
              </a:rPr>
              <a:t>No demographic-parity monitoring in practice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00000" y="1200000"/>
            <a:ext cx="5200000" cy="38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600000" y="1200000"/>
            <a:ext cx="91440" cy="3800000"/>
          </a:xfrm>
          <a:prstGeom prst="rect">
            <a:avLst/>
          </a:prstGeom>
          <a:solidFill>
            <a:srgbClr val="1F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80000" y="1300000"/>
            <a:ext cx="49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6FC4"/>
                </a:solidFill>
                <a:latin typeface="Calibri"/>
              </a:rPr>
              <a:t>ALIGNMENT WITH CAMBODIA'S SDGs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780000" y="1800000"/>
            <a:ext cx="900000" cy="7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90000" y="2000000"/>
            <a:ext cx="88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SDG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80000" y="1800000"/>
            <a:ext cx="29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5697"/>
                </a:solidFill>
                <a:latin typeface="Calibri"/>
              </a:rPr>
              <a:t>Good Health &amp; Well-being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80000" y="2180000"/>
            <a:ext cx="29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05050"/>
                </a:solidFill>
                <a:latin typeface="Calibri"/>
              </a:rPr>
              <a:t>Widen voluntary health-insurance access beyond NSSF formal sector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780000" y="2900000"/>
            <a:ext cx="900000" cy="7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90000" y="3100000"/>
            <a:ext cx="88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SDG 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80000" y="2900000"/>
            <a:ext cx="29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5697"/>
                </a:solidFill>
                <a:latin typeface="Calibri"/>
              </a:rPr>
              <a:t>No Poverty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80000" y="3280000"/>
            <a:ext cx="29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05050"/>
                </a:solidFill>
                <a:latin typeface="Calibri"/>
              </a:rPr>
              <a:t>Shield households from catastrophic out-of-pocket health costs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780000" y="4000000"/>
            <a:ext cx="900000" cy="7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90000" y="4200000"/>
            <a:ext cx="88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SDG 10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80000" y="4000000"/>
            <a:ext cx="29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5697"/>
                </a:solidFill>
                <a:latin typeface="Calibri"/>
              </a:rPr>
              <a:t>Reduced Inequalities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80000" y="4380000"/>
            <a:ext cx="29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05050"/>
                </a:solidFill>
                <a:latin typeface="Calibri"/>
              </a:rPr>
              <a:t>PSI fairness guardrail keeps underwriting demographically fair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5600000"/>
            <a:ext cx="11277295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5697"/>
                </a:solidFill>
                <a:latin typeface="Calibri"/>
              </a:rPr>
              <a:t>Sophea represents the 98% the current system was not built for.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Introduction &amp; Problem Background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July 2026  ·  3 / 44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PROBLEM STATEMENT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200000"/>
            <a:ext cx="5538647" cy="21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00000"/>
            <a:ext cx="91440" cy="21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7200" y="1320000"/>
            <a:ext cx="535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B5697"/>
                </a:solidFill>
                <a:latin typeface="Segoe UI"/>
              </a:rPr>
              <a:t>Static Thresholds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7200" y="1740000"/>
            <a:ext cx="5358647" cy="14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05050"/>
                </a:solidFill>
                <a:latin typeface="Calibri"/>
              </a:rPr>
              <a:t>Fixed cutoffs ignore applicant context — Sophea's BMI, activity, and non-smoking status are invisible to the rule engine</a:t>
            </a:r>
          </a:p>
        </p:txBody>
      </p:sp>
      <p:sp>
        <p:nvSpPr>
          <p:cNvPr id="9" name="Rectangle 8"/>
          <p:cNvSpPr/>
          <p:nvPr/>
        </p:nvSpPr>
        <p:spPr>
          <a:xfrm>
            <a:off x="6195847" y="1200000"/>
            <a:ext cx="5538647" cy="21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95847" y="1200000"/>
            <a:ext cx="91440" cy="21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45847" y="1320000"/>
            <a:ext cx="535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B5697"/>
                </a:solidFill>
                <a:latin typeface="Segoe UI"/>
              </a:rPr>
              <a:t>No Online Adaptation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5847" y="1740000"/>
            <a:ext cx="5358647" cy="14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05050"/>
                </a:solidFill>
                <a:latin typeface="Calibri"/>
              </a:rPr>
              <a:t>Claims feedback never reaches the model — static weights do not update from observed outcomes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450000"/>
            <a:ext cx="5538647" cy="21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450000"/>
            <a:ext cx="91440" cy="21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7200" y="3570000"/>
            <a:ext cx="535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B5697"/>
                </a:solidFill>
                <a:latin typeface="Segoe UI"/>
              </a:rPr>
              <a:t>Demographic Blindspot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7200" y="3990000"/>
            <a:ext cx="5358647" cy="14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05050"/>
                </a:solidFill>
                <a:latin typeface="Calibri"/>
              </a:rPr>
              <a:t>No parity metric is tracked — systematic patterns against rural or occupational groups emerge invisibly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95847" y="3450000"/>
            <a:ext cx="5538647" cy="21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5847" y="3450000"/>
            <a:ext cx="91440" cy="21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45847" y="3570000"/>
            <a:ext cx="535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B5697"/>
                </a:solidFill>
                <a:latin typeface="Segoe UI"/>
              </a:rPr>
              <a:t>No Intelligent Triage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45847" y="3990000"/>
            <a:ext cx="5358647" cy="14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05050"/>
                </a:solidFill>
                <a:latin typeface="Calibri"/>
              </a:rPr>
              <a:t>Human experts review routine cases instead of the borderline ones — like Sophea's — that need expert judgment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Introduction &amp; Problem Background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July 2026  ·  4 / 44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RESEARCH QUESTIONS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550000"/>
            <a:ext cx="500000" cy="9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97200" y="1550000"/>
            <a:ext cx="42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RQ1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00" y="1550000"/>
            <a:ext cx="10537295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262626"/>
                </a:solidFill>
                <a:latin typeface="Calibri"/>
              </a:rPr>
              <a:t>Do contextual bandits achieve higher cumulative reward and lower regret than the Static XGBoost baseline over 5,000 rounds?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700000"/>
            <a:ext cx="500000" cy="9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7200" y="2700000"/>
            <a:ext cx="42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RQ2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00" y="2700000"/>
            <a:ext cx="10537295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262626"/>
                </a:solidFill>
                <a:latin typeface="Calibri"/>
              </a:rPr>
              <a:t>Does the bandit framework maintain demographic fairness (regional and occupational approval-rate parity, PSI) without explicit fairness constraints?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850000"/>
            <a:ext cx="500000" cy="9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7200" y="3850000"/>
            <a:ext cx="42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RQ3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00" y="3850000"/>
            <a:ext cx="10537295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262626"/>
                </a:solidFill>
                <a:latin typeface="Calibri"/>
              </a:rPr>
              <a:t>What is the relative performance ranking of LinTS, LinUCB, Epsilon-Greedy, and Static XGB?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5000000"/>
            <a:ext cx="500000" cy="9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7200" y="5000000"/>
            <a:ext cx="42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RQ4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00" y="5000000"/>
            <a:ext cx="10537295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262626"/>
                </a:solidFill>
                <a:latin typeface="Calibri"/>
              </a:rPr>
              <a:t>Is the framework technically feasible for deployment on low-resource mobile infrastructure (&lt;200 ms latency)?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Introduction &amp; Problem Background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July 2026  ·  5 / 44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PROJECT OBJECTIVES &amp; DELIVERABLES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50000"/>
            <a:ext cx="5488647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6FC4"/>
                </a:solidFill>
                <a:latin typeface="Calibri"/>
              </a:rPr>
              <a:t>4 DELIVERABLES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600000"/>
            <a:ext cx="430000" cy="8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7200" y="1600000"/>
            <a:ext cx="390000" cy="8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D1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7200" y="1600000"/>
            <a:ext cx="4908647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5697"/>
                </a:solidFill>
                <a:latin typeface="Calibri"/>
              </a:rPr>
              <a:t>Synthetic Cambodia Health Insurance Dataset</a:t>
            </a:r>
          </a:p>
          <a:p>
            <a:pPr algn="l">
              <a:spcBef>
                <a:spcPts val="400"/>
              </a:spcBef>
            </a:pPr>
            <a:r>
              <a:rPr sz="1300" b="0" i="0">
                <a:solidFill>
                  <a:srgbClr val="505050"/>
                </a:solidFill>
                <a:latin typeface="Calibri"/>
              </a:rPr>
              <a:t>2,000 applicants · CDHS/STEPS/ILO/WHO anchored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816666"/>
            <a:ext cx="430000" cy="8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7200" y="2816666"/>
            <a:ext cx="390000" cy="8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D2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7200" y="2816666"/>
            <a:ext cx="4908647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5697"/>
                </a:solidFill>
                <a:latin typeface="Calibri"/>
              </a:rPr>
              <a:t>Contextual Bandit Underwriting Engine</a:t>
            </a:r>
          </a:p>
          <a:p>
            <a:pPr algn="l">
              <a:spcBef>
                <a:spcPts val="400"/>
              </a:spcBef>
            </a:pPr>
            <a:r>
              <a:rPr sz="1300" b="0" i="0">
                <a:solidFill>
                  <a:srgbClr val="505050"/>
                </a:solidFill>
                <a:latin typeface="Calibri"/>
              </a:rPr>
              <a:t>LinUCB · LinTS · Epsilon-Greedy · &lt;200 ms latency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033332"/>
            <a:ext cx="430000" cy="8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7200" y="4033332"/>
            <a:ext cx="390000" cy="8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D3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7200" y="4033332"/>
            <a:ext cx="4908647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5697"/>
                </a:solidFill>
                <a:latin typeface="Calibri"/>
              </a:rPr>
              <a:t>Actuarial Reward Simulator</a:t>
            </a:r>
          </a:p>
          <a:p>
            <a:pPr algn="l">
              <a:spcBef>
                <a:spcPts val="400"/>
              </a:spcBef>
            </a:pPr>
            <a:r>
              <a:rPr sz="1300" b="0" i="0">
                <a:solidFill>
                  <a:srgbClr val="505050"/>
                </a:solidFill>
                <a:latin typeface="Calibri"/>
              </a:rPr>
              <a:t>Profit-based · adverse selection · elasticity model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5249998"/>
            <a:ext cx="430000" cy="8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7200" y="5249998"/>
            <a:ext cx="390000" cy="8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D4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7200" y="5249998"/>
            <a:ext cx="4908647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5697"/>
                </a:solidFill>
                <a:latin typeface="Calibri"/>
              </a:rPr>
              <a:t>PSI Fairness Monitoring Framework</a:t>
            </a:r>
          </a:p>
          <a:p>
            <a:pPr algn="l">
              <a:spcBef>
                <a:spcPts val="400"/>
              </a:spcBef>
            </a:pPr>
            <a:r>
              <a:rPr sz="1300" b="0" i="0">
                <a:solidFill>
                  <a:srgbClr val="505050"/>
                </a:solidFill>
                <a:latin typeface="Calibri"/>
              </a:rPr>
              <a:t>GREEN/AMBER/RED alerts · region + occupation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5847" y="1150000"/>
            <a:ext cx="5488647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6FC4"/>
                </a:solidFill>
                <a:latin typeface="Calibri"/>
              </a:rPr>
              <a:t>5 SECONDARY OBJECTIVES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45847" y="1600000"/>
            <a:ext cx="430000" cy="750000"/>
          </a:xfrm>
          <a:prstGeom prst="rect">
            <a:avLst/>
          </a:prstGeom>
          <a:solidFill>
            <a:srgbClr val="1F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5847" y="1600000"/>
            <a:ext cx="390000" cy="75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O1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55847" y="1600000"/>
            <a:ext cx="4938647" cy="7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262626"/>
                </a:solidFill>
                <a:latin typeface="Calibri"/>
              </a:rPr>
              <a:t>2,000-record CDHS-anchored synthetic dataset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45847" y="2525000"/>
            <a:ext cx="430000" cy="750000"/>
          </a:xfrm>
          <a:prstGeom prst="rect">
            <a:avLst/>
          </a:prstGeom>
          <a:solidFill>
            <a:srgbClr val="1F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65847" y="2525000"/>
            <a:ext cx="390000" cy="75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O2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55847" y="2525000"/>
            <a:ext cx="4938647" cy="7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262626"/>
                </a:solidFill>
                <a:latin typeface="Calibri"/>
              </a:rPr>
              <a:t>Benchmark LinUCB, LinTS, EpsGreedy vs Static XGB (5,000 rounds)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45847" y="3450000"/>
            <a:ext cx="430000" cy="750000"/>
          </a:xfrm>
          <a:prstGeom prst="rect">
            <a:avLst/>
          </a:prstGeom>
          <a:solidFill>
            <a:srgbClr val="1F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65847" y="3450000"/>
            <a:ext cx="390000" cy="75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O3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55847" y="3450000"/>
            <a:ext cx="4938647" cy="7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262626"/>
                </a:solidFill>
                <a:latin typeface="Calibri"/>
              </a:rPr>
              <a:t>PSI fairness guardrails — no demographic drift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45847" y="4375000"/>
            <a:ext cx="430000" cy="750000"/>
          </a:xfrm>
          <a:prstGeom prst="rect">
            <a:avLst/>
          </a:prstGeom>
          <a:solidFill>
            <a:srgbClr val="1F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65847" y="4375000"/>
            <a:ext cx="390000" cy="75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O4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55847" y="4375000"/>
            <a:ext cx="4938647" cy="7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262626"/>
                </a:solidFill>
                <a:latin typeface="Calibri"/>
              </a:rPr>
              <a:t>EEOC four-fifths approval-rate parity audit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45847" y="5300000"/>
            <a:ext cx="430000" cy="750000"/>
          </a:xfrm>
          <a:prstGeom prst="rect">
            <a:avLst/>
          </a:prstGeom>
          <a:solidFill>
            <a:srgbClr val="1F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65847" y="5300000"/>
            <a:ext cx="390000" cy="75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O5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55847" y="5300000"/>
            <a:ext cx="4938647" cy="7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262626"/>
                </a:solidFill>
                <a:latin typeface="Calibri"/>
              </a:rPr>
              <a:t>Human-in-the-loop wrapper — reward gain vs review cost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Introduction &amp; Problem Background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July 2026  ·  6 / 44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9000"/>
            <a:ext cx="11277295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0" b="1" i="0">
                <a:solidFill>
                  <a:srgbClr val="FFFFFF"/>
                </a:solidFill>
                <a:latin typeface="Segoe UI"/>
              </a:rPr>
              <a:t>II.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3489000"/>
            <a:ext cx="2926080" cy="548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589000"/>
            <a:ext cx="11277295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Segoe UI"/>
              </a:rPr>
              <a:t>Literature Review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AFC4E4"/>
                </a:solidFill>
                <a:latin typeface="Calibri"/>
              </a:rPr>
              <a:t>Literature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July 2026  ·  7 / 44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LITERATURE REVIEW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150000"/>
            <a:ext cx="11277295" cy="82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50000"/>
            <a:ext cx="91440" cy="82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7200" y="1270000"/>
            <a:ext cx="11097295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5697"/>
                </a:solidFill>
                <a:latin typeface="Segoe UI"/>
              </a:rPr>
              <a:t>Health Insurance in Emerging Markets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7200" y="1690000"/>
            <a:ext cx="11097295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05050"/>
                </a:solidFill>
                <a:latin typeface="Calibri"/>
              </a:rPr>
              <a:t>CDHS 2021-22, ILO 2023, ADB — Cambodia context and data anchors. &lt;2% penetration; NSSF formal-sector gap; manual static rules.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030000"/>
            <a:ext cx="11277295" cy="82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030000"/>
            <a:ext cx="91440" cy="82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7200" y="2150000"/>
            <a:ext cx="11097295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5697"/>
                </a:solidFill>
                <a:latin typeface="Segoe UI"/>
              </a:rPr>
              <a:t>Linear Contextual Bandits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7200" y="2570000"/>
            <a:ext cx="11097295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05050"/>
                </a:solidFill>
                <a:latin typeface="Calibri"/>
              </a:rPr>
              <a:t>LinUCB (Li et al. 2010), LinTS (Agrawal &amp; Goyal 2013). Sub-linear regret O(d√T log T). Per-round update O(d²). Chosen for interpretability and emerging-market compute constraints.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910000"/>
            <a:ext cx="11277295" cy="82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910000"/>
            <a:ext cx="91440" cy="82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7200" y="3030000"/>
            <a:ext cx="11097295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5697"/>
                </a:solidFill>
                <a:latin typeface="Segoe UI"/>
              </a:rPr>
              <a:t>Neural Contextual Bandits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7200" y="3450000"/>
            <a:ext cx="11097295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05050"/>
                </a:solidFill>
                <a:latin typeface="Calibri"/>
              </a:rPr>
              <a:t>NeuralUCB, NeuralTS, EE-Net — relax linear reward assumption. Require large datasets; risk of overfitting on 2,000 records. Natural future-work candidate.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790000"/>
            <a:ext cx="11277295" cy="82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790000"/>
            <a:ext cx="91440" cy="82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7200" y="3910000"/>
            <a:ext cx="11097295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5697"/>
                </a:solidFill>
                <a:latin typeface="Segoe UI"/>
              </a:rPr>
              <a:t>Fairness in Insurance ML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7200" y="4330000"/>
            <a:ext cx="11097295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05050"/>
                </a:solidFill>
                <a:latin typeface="Calibri"/>
              </a:rPr>
              <a:t>Barocas et al., Ensign et al. — protected-attribute constraints, feedback-loop risk. Rural/occupational groups (Sophea’s category) most at risk.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670000"/>
            <a:ext cx="11277295" cy="82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4670000"/>
            <a:ext cx="91440" cy="82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7200" y="4790000"/>
            <a:ext cx="11097295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5697"/>
                </a:solidFill>
                <a:latin typeface="Segoe UI"/>
              </a:rPr>
              <a:t>Population Stability Index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7200" y="5210000"/>
            <a:ext cx="11097295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05050"/>
                </a:solidFill>
                <a:latin typeface="Calibri"/>
              </a:rPr>
              <a:t>PSI = Σ(Aᵢ − Eᵢ) × ln(Aᵢ/Eᵢ). Siddiqi (2006); validated Yurdakul &amp; Naranjo (2020). THREE ZONES: GREEN &lt;0.10 · AMBER 0.10–0.25 · RED &gt;0.25.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Literature Review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July 2026  ·  7 / 44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ALGORITHM COMPARISON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50000"/>
          <a:ext cx="11277295" cy="5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459"/>
                <a:gridCol w="2255459"/>
                <a:gridCol w="2255459"/>
                <a:gridCol w="2255459"/>
                <a:gridCol w="2255459"/>
              </a:tblGrid>
              <a:tr h="850000"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Algorithm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Exploration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Regret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Per-Round Cost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Data Need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</a:tr>
              <a:tr h="85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5697"/>
                          </a:solidFill>
                        </a:rPr>
                        <a:t>LinUCB</a:t>
                      </a:r>
                    </a:p>
                    <a:p>
                      <a:r>
                        <a:rPr sz="1300" b="1">
                          <a:solidFill>
                            <a:srgbClr val="1B5697"/>
                          </a:solidFill>
                        </a:rPr>
                        <a:t>(Li et al. 2010)</a:t>
                      </a:r>
                    </a:p>
                  </a:txBody>
                  <a:tcPr>
                    <a:solidFill>
                      <a:srgbClr val="D4E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UCB bonus:</a:t>
                      </a:r>
                    </a:p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α√(xᵀA⁻¹x)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O(d√T log T)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O(d²)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Moderate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</a:tr>
              <a:tr h="85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5697"/>
                          </a:solidFill>
                        </a:rPr>
                        <a:t>LinTS</a:t>
                      </a:r>
                    </a:p>
                    <a:p>
                      <a:r>
                        <a:rPr sz="1300" b="1">
                          <a:solidFill>
                            <a:srgbClr val="1B5697"/>
                          </a:solidFill>
                        </a:rPr>
                        <a:t>(Agrawal &amp; Goyal 2013)</a:t>
                      </a:r>
                    </a:p>
                  </a:txBody>
                  <a:tcPr>
                    <a:solidFill>
                      <a:srgbClr val="D4E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Posterior sampling:</a:t>
                      </a:r>
                    </a:p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θ̃ ~ N(θ̂, v²A⁻¹)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O(d√T log 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O(d²)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Moderate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5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5697"/>
                          </a:solidFill>
                        </a:rPr>
                        <a:t>NeuralUCB</a:t>
                      </a:r>
                    </a:p>
                    <a:p>
                      <a:r>
                        <a:rPr sz="1300" b="1">
                          <a:solidFill>
                            <a:srgbClr val="1B5697"/>
                          </a:solidFill>
                        </a:rPr>
                        <a:t>(Zhou et al. 2020)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Gradient confidence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Õ(d̃√T)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O(‖θ‖·T)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Large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</a:tr>
              <a:tr h="85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5697"/>
                          </a:solidFill>
                        </a:rPr>
                        <a:t>EE-Net</a:t>
                      </a:r>
                    </a:p>
                    <a:p>
                      <a:r>
                        <a:rPr sz="1300" b="1">
                          <a:solidFill>
                            <a:srgbClr val="1B5697"/>
                          </a:solidFill>
                        </a:rPr>
                        <a:t>(Ban et al. 2022)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Learned exploration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Empirical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O(‖θ‖·T)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Large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5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5697"/>
                          </a:solidFill>
                        </a:rPr>
                        <a:t>Epsilon-Greedy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ε-random (ε=0.15)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O(T^(2/3))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O(d²)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Low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8" name="Rectangle 7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Literature Review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July 2026  ·  8 / 44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9000"/>
            <a:ext cx="11277295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0" b="1" i="0">
                <a:solidFill>
                  <a:srgbClr val="FFFFFF"/>
                </a:solidFill>
                <a:latin typeface="Segoe UI"/>
              </a:rPr>
              <a:t>III.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3489000"/>
            <a:ext cx="2926080" cy="548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589000"/>
            <a:ext cx="11277295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Segoe UI"/>
              </a:rPr>
              <a:t>Methodology &amp; Model Design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AFC4E4"/>
                </a:solidFill>
                <a:latin typeface="Calibri"/>
              </a:rPr>
              <a:t>Methodology &amp; Model Design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July 2026  ·  9 / 44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SYSTEM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95847" y="1400000"/>
            <a:ext cx="1500000" cy="7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5847" y="1500000"/>
            <a:ext cx="14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Applicant
Context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95847" y="1600000"/>
            <a:ext cx="2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B5697"/>
                </a:solidFill>
                <a:latin typeface="Calibri"/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2795847" y="1400000"/>
            <a:ext cx="1500000" cy="700000"/>
          </a:xfrm>
          <a:prstGeom prst="rect">
            <a:avLst/>
          </a:prstGeom>
          <a:solidFill>
            <a:srgbClr val="1F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45847" y="1500000"/>
            <a:ext cx="14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Bandit
Policy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5847" y="1600000"/>
            <a:ext cx="2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B5697"/>
                </a:solidFill>
                <a:latin typeface="Calibri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95847" y="1400000"/>
            <a:ext cx="1500000" cy="700000"/>
          </a:xfrm>
          <a:prstGeom prst="rect">
            <a:avLst/>
          </a:prstGeom>
          <a:solidFill>
            <a:srgbClr val="1F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45847" y="1500000"/>
            <a:ext cx="14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Underwriting
Action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95847" y="1600000"/>
            <a:ext cx="2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B5697"/>
                </a:solidFill>
                <a:latin typeface="Calibri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5847" y="1400000"/>
            <a:ext cx="1500000" cy="700000"/>
          </a:xfrm>
          <a:prstGeom prst="rect">
            <a:avLst/>
          </a:prstGeom>
          <a:solidFill>
            <a:srgbClr val="E6A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5847" y="1500000"/>
            <a:ext cx="14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Actuarial
Reward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95847" y="1600000"/>
            <a:ext cx="2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B5697"/>
                </a:solidFill>
                <a:latin typeface="Calibri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95847" y="1400000"/>
            <a:ext cx="1500000" cy="700000"/>
          </a:xfrm>
          <a:prstGeom prst="rect">
            <a:avLst/>
          </a:prstGeom>
          <a:solidFill>
            <a:srgbClr val="1F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45847" y="1500000"/>
            <a:ext cx="14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PSI + HITL
Guardrail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95847" y="1600000"/>
            <a:ext cx="2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B5697"/>
                </a:solidFill>
                <a:latin typeface="Calibri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595847" y="1400000"/>
            <a:ext cx="1500000" cy="700000"/>
          </a:xfrm>
          <a:prstGeom prst="rect">
            <a:avLst/>
          </a:prstGeom>
          <a:solidFill>
            <a:srgbClr val="C07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45847" y="1500000"/>
            <a:ext cx="14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Decision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2400000"/>
            <a:ext cx="40000" cy="400000"/>
          </a:xfrm>
          <a:prstGeom prst="rect">
            <a:avLst/>
          </a:prstGeom>
          <a:solidFill>
            <a:srgbClr val="1F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7200" y="2440000"/>
            <a:ext cx="11077295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262626"/>
                </a:solidFill>
                <a:latin typeface="Calibri"/>
              </a:rPr>
              <a:t>34-dimensional applicant context vector (standardised features)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000000"/>
            <a:ext cx="40000" cy="400000"/>
          </a:xfrm>
          <a:prstGeom prst="rect">
            <a:avLst/>
          </a:prstGeom>
          <a:solidFill>
            <a:srgbClr val="1F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7200" y="3040000"/>
            <a:ext cx="11077295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262626"/>
                </a:solidFill>
                <a:latin typeface="Calibri"/>
              </a:rPr>
              <a:t>Four underwriting arms: STANDARD · RATED · DECLINE · REFER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600000"/>
            <a:ext cx="40000" cy="400000"/>
          </a:xfrm>
          <a:prstGeom prst="rect">
            <a:avLst/>
          </a:prstGeom>
          <a:solidFill>
            <a:srgbClr val="1F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7200" y="3640000"/>
            <a:ext cx="11077295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262626"/>
                </a:solidFill>
                <a:latin typeface="Calibri"/>
              </a:rPr>
              <a:t>Actuarial simulator returns reward: premium revenue − expected claims (+ noise ±8%)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4200000"/>
            <a:ext cx="40000" cy="400000"/>
          </a:xfrm>
          <a:prstGeom prst="rect">
            <a:avLst/>
          </a:prstGeom>
          <a:solidFill>
            <a:srgbClr val="1F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77200" y="4240000"/>
            <a:ext cx="11077295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262626"/>
                </a:solidFill>
                <a:latin typeface="Calibri"/>
              </a:rPr>
              <a:t>PSI guardrail monitors portfolio drift on 500-round sliding window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4800000"/>
            <a:ext cx="40000" cy="400000"/>
          </a:xfrm>
          <a:prstGeom prst="rect">
            <a:avLst/>
          </a:prstGeom>
          <a:solidFill>
            <a:srgbClr val="1F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77200" y="4840000"/>
            <a:ext cx="11077295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262626"/>
                </a:solidFill>
                <a:latin typeface="Calibri"/>
              </a:rPr>
              <a:t>HITL wrapper escalates uncertain cases (uncertainty &gt; κ threshold)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Methodology &amp; Model Design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July 2026  ·  9 / 44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ZOOM-IN: APPLICANT CONTEXT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700000"/>
            <a:ext cx="11277295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E8B57"/>
                </a:solidFill>
                <a:latin typeface="Calibri"/>
              </a:rPr>
              <a:t>▸ YOU ARE HERE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5847" y="2550000"/>
            <a:ext cx="1500000" cy="76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50847" y="2505000"/>
            <a:ext cx="1590000" cy="850000"/>
          </a:xfrm>
          <a:prstGeom prst="rect">
            <a:avLst/>
          </a:prstGeom>
          <a:noFill/>
          <a:ln w="44450">
            <a:solidFill>
              <a:srgbClr val="2E8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5847" y="2660000"/>
            <a:ext cx="1400000" cy="6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Applicant
Context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95847" y="2780000"/>
            <a:ext cx="2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B5697"/>
                </a:solidFill>
                <a:latin typeface="Calibri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95847" y="2550000"/>
            <a:ext cx="1500000" cy="76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45847" y="2660000"/>
            <a:ext cx="1400000" cy="6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505050"/>
                </a:solidFill>
                <a:latin typeface="Calibri"/>
              </a:rPr>
              <a:t>Bandit
Policy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5847" y="2780000"/>
            <a:ext cx="2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B5697"/>
                </a:solidFill>
                <a:latin typeface="Calibri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95847" y="2550000"/>
            <a:ext cx="1500000" cy="76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45847" y="2660000"/>
            <a:ext cx="1400000" cy="6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505050"/>
                </a:solidFill>
                <a:latin typeface="Calibri"/>
              </a:rPr>
              <a:t>Underwriting
Action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95847" y="2780000"/>
            <a:ext cx="2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B5697"/>
                </a:solidFill>
                <a:latin typeface="Calibri"/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95847" y="2550000"/>
            <a:ext cx="1500000" cy="76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45847" y="2660000"/>
            <a:ext cx="1400000" cy="6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505050"/>
                </a:solidFill>
                <a:latin typeface="Calibri"/>
              </a:rPr>
              <a:t>Actuarial
Reward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95847" y="2780000"/>
            <a:ext cx="2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B5697"/>
                </a:solidFill>
                <a:latin typeface="Calibri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895847" y="2550000"/>
            <a:ext cx="1500000" cy="76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45847" y="2660000"/>
            <a:ext cx="1400000" cy="6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505050"/>
                </a:solidFill>
                <a:latin typeface="Calibri"/>
              </a:rPr>
              <a:t>PSI + HITL
Guardrail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95847" y="2780000"/>
            <a:ext cx="2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B5697"/>
                </a:solidFill>
                <a:latin typeface="Calibri"/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595847" y="2550000"/>
            <a:ext cx="1500000" cy="76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45847" y="2660000"/>
            <a:ext cx="1400000" cy="6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505050"/>
                </a:solidFill>
                <a:latin typeface="Calibri"/>
              </a:rPr>
              <a:t>Decision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57200" y="3850000"/>
            <a:ext cx="9277295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1B5697"/>
                </a:solidFill>
                <a:latin typeface="Calibri"/>
              </a:rPr>
              <a:t>Now examining how each applicant becomes a 34-dimensional context vector.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Methodology &amp; Model Design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July 2026  ·  10 / 44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DATASET &amp; CONTEXT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50000"/>
            <a:ext cx="2769323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1B5697"/>
                </a:solidFill>
                <a:latin typeface="Calibri"/>
              </a:rPr>
              <a:t>2,000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80000"/>
            <a:ext cx="2769323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05050"/>
                </a:solidFill>
                <a:latin typeface="Calibri"/>
              </a:rPr>
              <a:t>SYNTHETIC
APPLICANTS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76523" y="1150000"/>
            <a:ext cx="2769323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1B5697"/>
                </a:solidFill>
                <a:latin typeface="Calibri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76523" y="1680000"/>
            <a:ext cx="2769323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05050"/>
                </a:solidFill>
                <a:latin typeface="Calibri"/>
              </a:rPr>
              <a:t>CONTEXT
FEATURES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5846" y="1150000"/>
            <a:ext cx="2769323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1B5697"/>
                </a:solidFill>
                <a:latin typeface="Calibri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5846" y="1680000"/>
            <a:ext cx="2769323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05050"/>
                </a:solidFill>
                <a:latin typeface="Calibri"/>
              </a:rPr>
              <a:t>UNDERWRITING
ARMS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15169" y="1150000"/>
            <a:ext cx="2769323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1B5697"/>
                </a:solidFill>
                <a:latin typeface="Calibr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15169" y="1680000"/>
            <a:ext cx="2769323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05050"/>
                </a:solidFill>
                <a:latin typeface="Calibri"/>
              </a:rPr>
              <a:t>ANCHORS:
CDHS·STEPS·ILO·WHO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457200" y="2200000"/>
          <a:ext cx="11277295" cy="4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098"/>
                <a:gridCol w="3759098"/>
                <a:gridCol w="3759099"/>
              </a:tblGrid>
              <a:tr h="500000"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Category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Features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Dims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</a:tr>
              <a:tr h="50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B5697"/>
                          </a:solidFill>
                        </a:rPr>
                        <a:t>Demographics &amp; Vitals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Age, Gender, BMI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</a:tr>
              <a:tr h="50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B5697"/>
                          </a:solidFill>
                        </a:rPr>
                        <a:t>Lifestyle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Smoking, Alcohol, Exercise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B5697"/>
                          </a:solidFill>
                        </a:rPr>
                        <a:t>Social Determinants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Education, Wealth, Self-rated health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</a:tr>
              <a:tr h="50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B5697"/>
                          </a:solidFill>
                        </a:rPr>
                        <a:t>Economic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Monthly income, Family history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B5697"/>
                          </a:solidFill>
                        </a:rPr>
                        <a:t>Clinical Flags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Hypertension, Diabetes, Heart, COPD, Arthritis, TB, Hepatitis B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7+1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</a:tr>
              <a:tr h="50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B5697"/>
                          </a:solidFill>
                        </a:rPr>
                        <a:t>Region (one-hot)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8 macro-regions (CDHS 2021-22)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B5697"/>
                          </a:solidFill>
                        </a:rPr>
                        <a:t>Occupation (one-hot)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Rice farmer 28%, Garment 20%, Market vendor 15%, Moto 12%…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7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Methodology &amp; Model Design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July 2026  ·  10 / 44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ZOOM-IN: ACTUARIAL REWARD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700000"/>
            <a:ext cx="11277295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E8B57"/>
                </a:solidFill>
                <a:latin typeface="Calibri"/>
              </a:rPr>
              <a:t>▸ YOU ARE HERE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5847" y="2550000"/>
            <a:ext cx="1500000" cy="76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5847" y="2660000"/>
            <a:ext cx="1400000" cy="6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505050"/>
                </a:solidFill>
                <a:latin typeface="Calibri"/>
              </a:rPr>
              <a:t>Applicant
Context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95847" y="2780000"/>
            <a:ext cx="2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B5697"/>
                </a:solidFill>
                <a:latin typeface="Calibri"/>
              </a:rP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2795847" y="2550000"/>
            <a:ext cx="1500000" cy="76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45847" y="2660000"/>
            <a:ext cx="1400000" cy="6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505050"/>
                </a:solidFill>
                <a:latin typeface="Calibri"/>
              </a:rPr>
              <a:t>Bandit
Policy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5847" y="2780000"/>
            <a:ext cx="2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B5697"/>
                </a:solidFill>
                <a:latin typeface="Calibri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95847" y="2550000"/>
            <a:ext cx="1500000" cy="76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45847" y="2660000"/>
            <a:ext cx="1400000" cy="6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505050"/>
                </a:solidFill>
                <a:latin typeface="Calibri"/>
              </a:rPr>
              <a:t>Underwriting
Action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95847" y="2780000"/>
            <a:ext cx="2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B5697"/>
                </a:solidFill>
                <a:latin typeface="Calibri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95847" y="2550000"/>
            <a:ext cx="1500000" cy="76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50847" y="2505000"/>
            <a:ext cx="1590000" cy="850000"/>
          </a:xfrm>
          <a:prstGeom prst="rect">
            <a:avLst/>
          </a:prstGeom>
          <a:noFill/>
          <a:ln w="44450">
            <a:solidFill>
              <a:srgbClr val="2E8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45847" y="2660000"/>
            <a:ext cx="1400000" cy="6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Actuarial
Reward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95847" y="2780000"/>
            <a:ext cx="2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B5697"/>
                </a:solidFill>
                <a:latin typeface="Calibri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895847" y="2550000"/>
            <a:ext cx="1500000" cy="76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45847" y="2660000"/>
            <a:ext cx="1400000" cy="6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505050"/>
                </a:solidFill>
                <a:latin typeface="Calibri"/>
              </a:rPr>
              <a:t>PSI + HITL
Guardrail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95847" y="2780000"/>
            <a:ext cx="2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B5697"/>
                </a:solidFill>
                <a:latin typeface="Calibri"/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595847" y="2550000"/>
            <a:ext cx="1500000" cy="76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45847" y="2660000"/>
            <a:ext cx="1400000" cy="6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505050"/>
                </a:solidFill>
                <a:latin typeface="Calibri"/>
              </a:rPr>
              <a:t>Decision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57200" y="3850000"/>
            <a:ext cx="9277295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1B5697"/>
                </a:solidFill>
                <a:latin typeface="Calibri"/>
              </a:rPr>
              <a:t>Now examining how each underwriting action is scored into an actuarial reward.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Methodology &amp; Model Design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July 2026  ·  11 / 44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ACTUARIAL REWARD SIMULATOR (TABLE 8)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00000"/>
            <a:ext cx="11277295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05050"/>
                </a:solidFill>
                <a:latin typeface="Calibri"/>
              </a:rPr>
              <a:t>Reward = Premium Revenue − Expected Claims  (noise ±8%)  ·  Adverse-selection factor 1.35 when risk multiplier m &gt; 2.0  ·  Elasticity slope 3.5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700000"/>
          <a:ext cx="11277295" cy="36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459"/>
                <a:gridCol w="2255459"/>
                <a:gridCol w="2255459"/>
                <a:gridCol w="2255459"/>
                <a:gridCol w="2255459"/>
              </a:tblGrid>
              <a:tr h="720000"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Arm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Base Premium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Expected Claims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Acceptance Prob.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Net Reward Formula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</a:tr>
              <a:tr h="72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5697"/>
                          </a:solidFill>
                        </a:rPr>
                        <a:t>STANDARD</a:t>
                      </a:r>
                    </a:p>
                  </a:txBody>
                  <a:tcPr>
                    <a:solidFill>
                      <a:srgbClr val="D4E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$200 × m</a:t>
                      </a:r>
                    </a:p>
                  </a:txBody>
                  <a:tcPr>
                    <a:solidFill>
                      <a:srgbClr val="D4E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$150 × m</a:t>
                      </a:r>
                    </a:p>
                  </a:txBody>
                  <a:tcPr>
                    <a:solidFill>
                      <a:srgbClr val="D4E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High</a:t>
                      </a:r>
                    </a:p>
                  </a:txBody>
                  <a:tcPr>
                    <a:solidFill>
                      <a:srgbClr val="D4E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Premium − Claims ± noise</a:t>
                      </a:r>
                    </a:p>
                  </a:txBody>
                  <a:tcPr>
                    <a:solidFill>
                      <a:srgbClr val="D4E6F7"/>
                    </a:solidFill>
                  </a:tcPr>
                </a:tc>
              </a:tr>
              <a:tr h="72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5697"/>
                          </a:solidFill>
                        </a:rPr>
                        <a:t>RATED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$200 × m × load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$150 × m × 1.35 (if m&gt;2)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Medium (elasticity −3.5 slope)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Premium − Claims ± noise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</a:tr>
              <a:tr h="72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5697"/>
                          </a:solidFill>
                        </a:rPr>
                        <a:t>DECLINE</a:t>
                      </a:r>
                    </a:p>
                  </a:txBody>
                  <a:tcPr>
                    <a:solidFill>
                      <a:srgbClr val="F8E7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$0</a:t>
                      </a:r>
                    </a:p>
                  </a:txBody>
                  <a:tcPr>
                    <a:solidFill>
                      <a:srgbClr val="F8E7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$0</a:t>
                      </a:r>
                    </a:p>
                  </a:txBody>
                  <a:tcPr>
                    <a:solidFill>
                      <a:srgbClr val="F8E7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N/A</a:t>
                      </a:r>
                    </a:p>
                  </a:txBody>
                  <a:tcPr>
                    <a:solidFill>
                      <a:srgbClr val="F8E7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−$10 (opportunity cost)</a:t>
                      </a:r>
                    </a:p>
                  </a:txBody>
                  <a:tcPr>
                    <a:solidFill>
                      <a:srgbClr val="F8E7E7"/>
                    </a:solidFill>
                  </a:tcPr>
                </a:tc>
              </a:tr>
              <a:tr h="72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5697"/>
                          </a:solidFill>
                        </a:rPr>
                        <a:t>REFER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Deferred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Deferred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Deferred to human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0.70 × max(r) − $35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5450000"/>
            <a:ext cx="11277295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05050"/>
                </a:solidFill>
                <a:latin typeface="Calibri"/>
              </a:rPr>
              <a:t>Design rationale: DECLINE penalty prevents over-rejection; REFER formula incentivises selective escalation rather than blanket referral.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Methodology &amp; Model Design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July 2026  ·  11 / 44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ZOOM-IN: BANDIT POLICY &amp; ACTION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700000"/>
            <a:ext cx="11277295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E8B57"/>
                </a:solidFill>
                <a:latin typeface="Calibri"/>
              </a:rPr>
              <a:t>▸ YOU ARE HERE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5847" y="2550000"/>
            <a:ext cx="1500000" cy="76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5847" y="2660000"/>
            <a:ext cx="1400000" cy="6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505050"/>
                </a:solidFill>
                <a:latin typeface="Calibri"/>
              </a:rPr>
              <a:t>Applicant
Context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95847" y="2780000"/>
            <a:ext cx="2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B5697"/>
                </a:solidFill>
                <a:latin typeface="Calibri"/>
              </a:rP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2795847" y="2550000"/>
            <a:ext cx="1500000" cy="76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50847" y="2505000"/>
            <a:ext cx="1590000" cy="850000"/>
          </a:xfrm>
          <a:prstGeom prst="rect">
            <a:avLst/>
          </a:prstGeom>
          <a:noFill/>
          <a:ln w="44450">
            <a:solidFill>
              <a:srgbClr val="2E8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45847" y="2660000"/>
            <a:ext cx="1400000" cy="6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Bandit
Policy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5847" y="2780000"/>
            <a:ext cx="2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B5697"/>
                </a:solidFill>
                <a:latin typeface="Calibri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95847" y="2550000"/>
            <a:ext cx="1500000" cy="76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50847" y="2505000"/>
            <a:ext cx="1590000" cy="850000"/>
          </a:xfrm>
          <a:prstGeom prst="rect">
            <a:avLst/>
          </a:prstGeom>
          <a:noFill/>
          <a:ln w="44450">
            <a:solidFill>
              <a:srgbClr val="2E8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45847" y="2660000"/>
            <a:ext cx="1400000" cy="6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Underwriting
Action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95847" y="2780000"/>
            <a:ext cx="2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B5697"/>
                </a:solidFill>
                <a:latin typeface="Calibri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95847" y="2550000"/>
            <a:ext cx="1500000" cy="76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45847" y="2660000"/>
            <a:ext cx="1400000" cy="6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505050"/>
                </a:solidFill>
                <a:latin typeface="Calibri"/>
              </a:rPr>
              <a:t>Actuarial
Reward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95847" y="2780000"/>
            <a:ext cx="2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B5697"/>
                </a:solidFill>
                <a:latin typeface="Calibri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895847" y="2550000"/>
            <a:ext cx="1500000" cy="76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45847" y="2660000"/>
            <a:ext cx="1400000" cy="6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505050"/>
                </a:solidFill>
                <a:latin typeface="Calibri"/>
              </a:rPr>
              <a:t>PSI + HITL
Guardrail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95847" y="2780000"/>
            <a:ext cx="2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B5697"/>
                </a:solidFill>
                <a:latin typeface="Calibri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595847" y="2550000"/>
            <a:ext cx="1500000" cy="76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45847" y="2660000"/>
            <a:ext cx="1400000" cy="6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505050"/>
                </a:solidFill>
                <a:latin typeface="Calibri"/>
              </a:rPr>
              <a:t>Decision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57200" y="3850000"/>
            <a:ext cx="9277295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1B5697"/>
                </a:solidFill>
                <a:latin typeface="Calibri"/>
              </a:rPr>
              <a:t>Now examining how the bandit reads the context and selects an underwriting action.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Methodology &amp; Model Design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July 2026  ·  12 / 44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BANDIT IN ACTION: SOPHEA’S CONTEXT &amp; ARM SCORES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100000"/>
            <a:ext cx="5488647" cy="52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00000"/>
            <a:ext cx="91440" cy="52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7200" y="1220000"/>
            <a:ext cx="530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5697"/>
                </a:solidFill>
                <a:latin typeface="Segoe UI"/>
              </a:rPr>
              <a:t>Sophea’s Context Vector (34 dims, key shown)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7200" y="1620000"/>
            <a:ext cx="5288647" cy="4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300" b="1">
                <a:solidFill>
                  <a:srgbClr val="1B5697"/>
                </a:solidFill>
              </a:rPr>
              <a:t>age_std:  </a:t>
            </a:r>
            <a:r>
              <a:rPr sz="1300">
                <a:solidFill>
                  <a:srgbClr val="262626"/>
                </a:solidFill>
              </a:rPr>
              <a:t>0.3</a:t>
            </a:r>
          </a:p>
          <a:p>
            <a:pPr>
              <a:spcBef>
                <a:spcPts val="800"/>
              </a:spcBef>
            </a:pPr>
            <a:r>
              <a:rPr sz="1300" b="1">
                <a:solidFill>
                  <a:srgbClr val="1B5697"/>
                </a:solidFill>
              </a:rPr>
              <a:t>bmi_std:  </a:t>
            </a:r>
            <a:r>
              <a:rPr sz="1300">
                <a:solidFill>
                  <a:srgbClr val="262626"/>
                </a:solidFill>
              </a:rPr>
              <a:t>−0.1</a:t>
            </a:r>
          </a:p>
          <a:p>
            <a:pPr>
              <a:spcBef>
                <a:spcPts val="800"/>
              </a:spcBef>
            </a:pPr>
            <a:r>
              <a:rPr sz="1300" b="1">
                <a:solidFill>
                  <a:srgbClr val="1B5697"/>
                </a:solidFill>
              </a:rPr>
              <a:t>smoker:  </a:t>
            </a:r>
            <a:r>
              <a:rPr sz="1300">
                <a:solidFill>
                  <a:srgbClr val="262626"/>
                </a:solidFill>
              </a:rPr>
              <a:t>0  (non-smoker)</a:t>
            </a:r>
          </a:p>
          <a:p>
            <a:pPr>
              <a:spcBef>
                <a:spcPts val="800"/>
              </a:spcBef>
            </a:pPr>
            <a:r>
              <a:rPr sz="1300" b="1">
                <a:solidFill>
                  <a:srgbClr val="1B5697"/>
                </a:solidFill>
              </a:rPr>
              <a:t>hypertension:  </a:t>
            </a:r>
            <a:r>
              <a:rPr sz="1300">
                <a:solidFill>
                  <a:srgbClr val="262626"/>
                </a:solidFill>
              </a:rPr>
              <a:t>1  (managed)</a:t>
            </a:r>
          </a:p>
          <a:p>
            <a:pPr>
              <a:spcBef>
                <a:spcPts val="800"/>
              </a:spcBef>
            </a:pPr>
            <a:r>
              <a:rPr sz="1300" b="1">
                <a:solidFill>
                  <a:srgbClr val="1B5697"/>
                </a:solidFill>
              </a:rPr>
              <a:t>kampong_cham:  </a:t>
            </a:r>
            <a:r>
              <a:rPr sz="1300">
                <a:solidFill>
                  <a:srgbClr val="262626"/>
                </a:solidFill>
              </a:rPr>
              <a:t>1  (region one-hot)</a:t>
            </a:r>
          </a:p>
          <a:p>
            <a:pPr>
              <a:spcBef>
                <a:spcPts val="800"/>
              </a:spcBef>
            </a:pPr>
            <a:r>
              <a:rPr sz="1300" b="1">
                <a:solidFill>
                  <a:srgbClr val="1B5697"/>
                </a:solidFill>
              </a:rPr>
              <a:t>agriculture:  </a:t>
            </a:r>
            <a:r>
              <a:rPr sz="1300">
                <a:solidFill>
                  <a:srgbClr val="262626"/>
                </a:solidFill>
              </a:rPr>
              <a:t>1  (occupation one-hot)</a:t>
            </a:r>
          </a:p>
          <a:p>
            <a:pPr>
              <a:spcBef>
                <a:spcPts val="800"/>
              </a:spcBef>
            </a:pPr>
            <a:r>
              <a:rPr sz="1300" b="1">
                <a:solidFill>
                  <a:srgbClr val="1B5697"/>
                </a:solidFill>
              </a:rPr>
              <a:t>wealth_low:  </a:t>
            </a:r>
            <a:r>
              <a:rPr sz="1300">
                <a:solidFill>
                  <a:srgbClr val="262626"/>
                </a:solidFill>
              </a:rPr>
              <a:t>1</a:t>
            </a:r>
          </a:p>
          <a:p>
            <a:pPr>
              <a:spcBef>
                <a:spcPts val="800"/>
              </a:spcBef>
            </a:pPr>
            <a:r>
              <a:rPr sz="1300" b="1">
                <a:solidFill>
                  <a:srgbClr val="1B5697"/>
                </a:solidFill>
              </a:rPr>
              <a:t>education_prim:  </a:t>
            </a:r>
            <a:r>
              <a:rPr sz="1300">
                <a:solidFill>
                  <a:srgbClr val="262626"/>
                </a:solidFill>
              </a:rPr>
              <a:t>1</a:t>
            </a:r>
          </a:p>
          <a:p>
            <a:pPr>
              <a:spcBef>
                <a:spcPts val="800"/>
              </a:spcBef>
            </a:pPr>
            <a:r>
              <a:rPr sz="1300" b="1">
                <a:solidFill>
                  <a:srgbClr val="1B5697"/>
                </a:solidFill>
              </a:rPr>
              <a:t>… 26 more:  </a:t>
            </a:r>
            <a:r>
              <a:rPr sz="1300">
                <a:solidFill>
                  <a:srgbClr val="262626"/>
                </a:solidFill>
              </a:rPr>
              <a:t>—</a:t>
            </a:r>
          </a:p>
        </p:txBody>
      </p:sp>
      <p:sp>
        <p:nvSpPr>
          <p:cNvPr id="9" name="Rectangle 8"/>
          <p:cNvSpPr/>
          <p:nvPr/>
        </p:nvSpPr>
        <p:spPr>
          <a:xfrm>
            <a:off x="6245847" y="1100000"/>
            <a:ext cx="5488648" cy="24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45847" y="1100000"/>
            <a:ext cx="91440" cy="24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5847" y="1220000"/>
            <a:ext cx="5308648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5697"/>
                </a:solidFill>
                <a:latin typeface="Segoe UI"/>
              </a:rPr>
              <a:t>LinUCB Arm Score Formula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95847" y="1640000"/>
            <a:ext cx="5308648" cy="17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05050"/>
                </a:solidFill>
                <a:latin typeface="Calibri"/>
              </a:rPr>
              <a:t>UCBᵃ(x) = θ̂ᵃᵀ x  +  α × √(xᵀ Aᵃ⁻¹ x)</a:t>
            </a:r>
          </a:p>
          <a:p>
            <a:pPr algn="l">
              <a:spcBef>
                <a:spcPts val="400"/>
              </a:spcBef>
            </a:pPr>
            <a:r>
              <a:rPr sz="1300" b="0" i="0">
                <a:solidFill>
                  <a:srgbClr val="505050"/>
                </a:solidFill>
                <a:latin typeface="Calibri"/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300" b="0" i="0">
                <a:solidFill>
                  <a:srgbClr val="505050"/>
                </a:solidFill>
                <a:latin typeface="Calibri"/>
              </a:rPr>
              <a:t>θ̂ᵃ = posterior mean weights for arm a</a:t>
            </a:r>
          </a:p>
          <a:p>
            <a:pPr algn="l">
              <a:spcBef>
                <a:spcPts val="400"/>
              </a:spcBef>
            </a:pPr>
            <a:r>
              <a:rPr sz="1300" b="0" i="0">
                <a:solidFill>
                  <a:srgbClr val="505050"/>
                </a:solidFill>
                <a:latin typeface="Calibri"/>
              </a:rPr>
              <a:t>α = 1.0 — validated optimal via sensitivity sweep (App. A5)</a:t>
            </a:r>
          </a:p>
          <a:p>
            <a:pPr algn="l">
              <a:spcBef>
                <a:spcPts val="400"/>
              </a:spcBef>
            </a:pPr>
            <a:r>
              <a:rPr sz="1300" b="0" i="0">
                <a:solidFill>
                  <a:srgbClr val="505050"/>
                </a:solidFill>
                <a:latin typeface="Calibri"/>
              </a:rPr>
              <a:t>x = Sophea’s 34-dim context vector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45847" y="3650000"/>
            <a:ext cx="5488648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5697"/>
                </a:solidFill>
                <a:latin typeface="Calibri"/>
              </a:rPr>
              <a:t>Arm Scores (LinUCB, Sophea):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45847" y="4100000"/>
            <a:ext cx="5488648" cy="480000"/>
          </a:xfrm>
          <a:prstGeom prst="rect">
            <a:avLst/>
          </a:prstGeom>
          <a:solidFill>
            <a:srgbClr val="FE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5847" y="4180000"/>
            <a:ext cx="5248648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7D4E00"/>
                </a:solidFill>
                <a:latin typeface="Calibri"/>
              </a:rPr>
              <a:t>RATED:  0.31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45847" y="4660000"/>
            <a:ext cx="5488648" cy="480000"/>
          </a:xfrm>
          <a:prstGeom prst="rect">
            <a:avLst/>
          </a:prstGeom>
          <a:solidFill>
            <a:srgbClr val="D4E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65847" y="4740000"/>
            <a:ext cx="5248648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5697"/>
                </a:solidFill>
                <a:latin typeface="Calibri"/>
              </a:rPr>
              <a:t>STANDARD:  0.52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45847" y="4660000"/>
            <a:ext cx="5488648" cy="480000"/>
          </a:xfrm>
          <a:prstGeom prst="rect">
            <a:avLst/>
          </a:prstGeom>
          <a:noFill/>
          <a:ln>
            <a:solidFill>
              <a:srgbClr val="1B56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45847" y="5220000"/>
            <a:ext cx="5488648" cy="480000"/>
          </a:xfrm>
          <a:prstGeom prst="rect">
            <a:avLst/>
          </a:prstGeom>
          <a:solidFill>
            <a:srgbClr val="F8E7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65847" y="5300000"/>
            <a:ext cx="5248648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D93B3B"/>
                </a:solidFill>
                <a:latin typeface="Calibri"/>
              </a:rPr>
              <a:t>DECLINE:  0.10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45847" y="5780000"/>
            <a:ext cx="5488648" cy="480000"/>
          </a:xfrm>
          <a:prstGeom prst="rect">
            <a:avLst/>
          </a:prstGeom>
          <a:solidFill>
            <a:srgbClr val="E7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65847" y="5860000"/>
            <a:ext cx="5248648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2E8B57"/>
                </a:solidFill>
                <a:latin typeface="Calibri"/>
              </a:rPr>
              <a:t>REFER:  0.28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847" y="6350000"/>
            <a:ext cx="5488648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5697"/>
                </a:solidFill>
                <a:latin typeface="Calibri"/>
              </a:rPr>
              <a:t>→ argmax = STANDARD  (Sophea gets coverage)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Methodology &amp; Model Design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July 2026  ·  12 / 44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POLICY LADDER: CUMULATIVE REWARD OVER 5,000 ROUNDS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100000"/>
            <a:ext cx="11277295" cy="420000"/>
          </a:xfrm>
          <a:prstGeom prst="rect">
            <a:avLst/>
          </a:prstGeom>
          <a:solidFill>
            <a:srgbClr val="D4E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7200" y="1130000"/>
            <a:ext cx="11077295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5697"/>
                </a:solidFill>
                <a:latin typeface="Calibri"/>
              </a:rPr>
              <a:t>Sophea’s Round: argmax UCB = STANDARD  →  Policy issues coverage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680000"/>
          <a:ext cx="11277295" cy="4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459"/>
                <a:gridCol w="2255459"/>
                <a:gridCol w="2255459"/>
                <a:gridCol w="2255459"/>
                <a:gridCol w="2255459"/>
              </a:tblGrid>
              <a:tr h="550000"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Rank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Policy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Cumul. Reward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vs Static XGB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</a:tr>
              <a:tr h="55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5697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5697"/>
                          </a:solidFill>
                        </a:rPr>
                        <a:t>Oracle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126,804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+75.6%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Ceiling (inadmissible)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</a:tr>
              <a:tr h="55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5697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D4E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5697"/>
                          </a:solidFill>
                        </a:rPr>
                        <a:t>LinTS</a:t>
                      </a:r>
                    </a:p>
                  </a:txBody>
                  <a:tcPr>
                    <a:solidFill>
                      <a:srgbClr val="D4E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 93,723</a:t>
                      </a:r>
                    </a:p>
                  </a:txBody>
                  <a:tcPr>
                    <a:solidFill>
                      <a:srgbClr val="D4E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+29.8%</a:t>
                      </a:r>
                    </a:p>
                  </a:txBody>
                  <a:tcPr>
                    <a:solidFill>
                      <a:srgbClr val="D4E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Admissible ✓</a:t>
                      </a:r>
                    </a:p>
                  </a:txBody>
                  <a:tcPr>
                    <a:solidFill>
                      <a:srgbClr val="D4E6F7"/>
                    </a:solidFill>
                  </a:tcPr>
                </a:tc>
              </a:tr>
              <a:tr h="55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5697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D4E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5697"/>
                          </a:solidFill>
                        </a:rPr>
                        <a:t>LinUCB</a:t>
                      </a:r>
                    </a:p>
                  </a:txBody>
                  <a:tcPr>
                    <a:solidFill>
                      <a:srgbClr val="D4E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 91,864</a:t>
                      </a:r>
                    </a:p>
                  </a:txBody>
                  <a:tcPr>
                    <a:solidFill>
                      <a:srgbClr val="D4E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+27.2%</a:t>
                      </a:r>
                    </a:p>
                  </a:txBody>
                  <a:tcPr>
                    <a:solidFill>
                      <a:srgbClr val="D4E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Admissible ✓</a:t>
                      </a:r>
                    </a:p>
                  </a:txBody>
                  <a:tcPr>
                    <a:solidFill>
                      <a:srgbClr val="D4E6F7"/>
                    </a:solidFill>
                  </a:tcPr>
                </a:tc>
              </a:tr>
              <a:tr h="55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5697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5697"/>
                          </a:solidFill>
                        </a:rPr>
                        <a:t>Epsilon-Greedy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 76,441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+ 5.9%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Admissible ✓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</a:tr>
              <a:tr h="55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5697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5697"/>
                          </a:solidFill>
                        </a:rPr>
                        <a:t>Static XGB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 72,206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baseline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Baseline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</a:tr>
              <a:tr h="55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5697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5697"/>
                          </a:solidFill>
                        </a:rPr>
                        <a:t>AlwaysSTANDARD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 34,684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−52.0%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Trivial 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5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5697"/>
                          </a:solidFill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5697"/>
                          </a:solidFill>
                        </a:rPr>
                        <a:t>Random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  1,980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−97.3%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Trivial 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6200000"/>
            <a:ext cx="11277295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05050"/>
                </a:solidFill>
                <a:latin typeface="Calibri"/>
              </a:rPr>
              <a:t>Note: AlwaysRATED = 122,287 (between Oracle and LinTS) — inadmissible: denies all low-risk applicants coverage; discriminatory by design.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Methodology &amp; Model Design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July 2026  ·  13 / 44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ZOOM-IN: FAIRNESS GUARDRAIL &amp; HITL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700000"/>
            <a:ext cx="11277295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E8B57"/>
                </a:solidFill>
                <a:latin typeface="Calibri"/>
              </a:rPr>
              <a:t>▸ YOU ARE HERE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5847" y="2550000"/>
            <a:ext cx="1500000" cy="76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5847" y="2660000"/>
            <a:ext cx="1400000" cy="6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505050"/>
                </a:solidFill>
                <a:latin typeface="Calibri"/>
              </a:rPr>
              <a:t>Applicant
Context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95847" y="2780000"/>
            <a:ext cx="2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B5697"/>
                </a:solidFill>
                <a:latin typeface="Calibri"/>
              </a:rP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2795847" y="2550000"/>
            <a:ext cx="1500000" cy="76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45847" y="2660000"/>
            <a:ext cx="1400000" cy="6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505050"/>
                </a:solidFill>
                <a:latin typeface="Calibri"/>
              </a:rPr>
              <a:t>Bandit
Policy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5847" y="2780000"/>
            <a:ext cx="2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B5697"/>
                </a:solidFill>
                <a:latin typeface="Calibri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95847" y="2550000"/>
            <a:ext cx="1500000" cy="76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45847" y="2660000"/>
            <a:ext cx="1400000" cy="6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505050"/>
                </a:solidFill>
                <a:latin typeface="Calibri"/>
              </a:rPr>
              <a:t>Underwriting
Action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95847" y="2780000"/>
            <a:ext cx="2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B5697"/>
                </a:solidFill>
                <a:latin typeface="Calibri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95847" y="2550000"/>
            <a:ext cx="1500000" cy="76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45847" y="2660000"/>
            <a:ext cx="1400000" cy="6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505050"/>
                </a:solidFill>
                <a:latin typeface="Calibri"/>
              </a:rPr>
              <a:t>Actuarial
Reward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95847" y="2780000"/>
            <a:ext cx="2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B5697"/>
                </a:solidFill>
                <a:latin typeface="Calibri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95847" y="2550000"/>
            <a:ext cx="1500000" cy="76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850847" y="2505000"/>
            <a:ext cx="1590000" cy="850000"/>
          </a:xfrm>
          <a:prstGeom prst="rect">
            <a:avLst/>
          </a:prstGeom>
          <a:noFill/>
          <a:ln w="44450">
            <a:solidFill>
              <a:srgbClr val="2E8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45847" y="2660000"/>
            <a:ext cx="1400000" cy="6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PSI + HITL
Guardrail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95847" y="2780000"/>
            <a:ext cx="2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B5697"/>
                </a:solidFill>
                <a:latin typeface="Calibri"/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595847" y="2550000"/>
            <a:ext cx="1500000" cy="76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45847" y="2660000"/>
            <a:ext cx="1400000" cy="6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505050"/>
                </a:solidFill>
                <a:latin typeface="Calibri"/>
              </a:rPr>
              <a:t>Decision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57200" y="3850000"/>
            <a:ext cx="9277295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1B5697"/>
                </a:solidFill>
                <a:latin typeface="Calibri"/>
              </a:rPr>
              <a:t>Now examining the PSI fairness guardrail and the human-in-the-loop review wrapper.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Methodology &amp; Model Design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July 2026  ·  14 / 44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PSI FAIRNESS GUARDRAIL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00000"/>
            <a:ext cx="11277295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505050"/>
                </a:solidFill>
                <a:latin typeface="Calibri"/>
              </a:rPr>
              <a:t>PSI = Σ (Aᵢ − Eᵢ) × ln(Aᵢ / Eᵢ)   ·   Applied per 500-round sliding window   ·   Monitored on: region (8 groups) + occupation (7 groups) separately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580000"/>
            <a:ext cx="11277295" cy="2743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750000"/>
            <a:ext cx="3692431" cy="3000000"/>
          </a:xfrm>
          <a:prstGeom prst="rect">
            <a:avLst/>
          </a:prstGeom>
          <a:solidFill>
            <a:srgbClr val="E7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750000"/>
            <a:ext cx="3692431" cy="60000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7200" y="1870000"/>
            <a:ext cx="3532431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GREEN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7200" y="2500000"/>
            <a:ext cx="3532431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E8B57"/>
                </a:solidFill>
                <a:latin typeface="Calibri"/>
              </a:rPr>
              <a:t>PSI &lt; 0.10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7200" y="3000000"/>
            <a:ext cx="3532431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No significant shift — policy is stable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49631" y="1750000"/>
            <a:ext cx="3692431" cy="3000000"/>
          </a:xfrm>
          <a:prstGeom prst="rect">
            <a:avLst/>
          </a:prstGeom>
          <a:solidFill>
            <a:srgbClr val="FE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49631" y="1750000"/>
            <a:ext cx="3692431" cy="600000"/>
          </a:xfrm>
          <a:prstGeom prst="rect">
            <a:avLst/>
          </a:prstGeom>
          <a:solidFill>
            <a:srgbClr val="E6A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29631" y="1870000"/>
            <a:ext cx="3532431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AMBER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9631" y="2500000"/>
            <a:ext cx="3532431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E6A62E"/>
                </a:solidFill>
                <a:latin typeface="Calibri"/>
              </a:rPr>
              <a:t>0.10 ≤ PSI ≤ 0.25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29631" y="3000000"/>
            <a:ext cx="3532431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Moderate shift — monitor closely; flag for review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2062" y="1750000"/>
            <a:ext cx="3692431" cy="3000000"/>
          </a:xfrm>
          <a:prstGeom prst="rect">
            <a:avLst/>
          </a:prstGeom>
          <a:solidFill>
            <a:srgbClr val="F8E7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42062" y="1750000"/>
            <a:ext cx="3692431" cy="600000"/>
          </a:xfrm>
          <a:prstGeom prst="rect">
            <a:avLst/>
          </a:prstGeom>
          <a:solidFill>
            <a:srgbClr val="D93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22062" y="1870000"/>
            <a:ext cx="3532431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RED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2062" y="2500000"/>
            <a:ext cx="3532431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D93B3B"/>
                </a:solidFill>
                <a:latin typeface="Calibri"/>
              </a:rPr>
              <a:t>PSI &gt; 0.25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22062" y="3000000"/>
            <a:ext cx="3532431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Major shift — halt or recalibrate bandit; escalate to compliance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900000"/>
            <a:ext cx="11277295" cy="7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05050"/>
                </a:solidFill>
                <a:latin typeface="Calibri"/>
              </a:rPr>
              <a:t>Source: Siddiqi (2006) · Validated: Yurdakul &amp; Naranjo (2020)
EXP-006 result: LinUCB GREEN on all 8 regions + 7 occupations across 20 seeds (mean PSI 0.042 region / 0.037 occupation); criterion 6 FAILED-with-interpretation (EpsGreedy AMBER on 1 seed).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Methodology &amp; Model Design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July 2026  ·  14 / 44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HUMAN-IN-THE-LOOP (HITL) WRAPPER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150000"/>
            <a:ext cx="5538647" cy="11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7200" y="1230000"/>
            <a:ext cx="535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1. Bandit selects arm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7200" y="1650000"/>
            <a:ext cx="5358647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FFFFFF"/>
                </a:solidFill>
                <a:latin typeface="Calibri"/>
              </a:rPr>
              <a:t>UCB / TS score computed for each arm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26523" y="2260000"/>
            <a:ext cx="300000" cy="1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B5697"/>
                </a:solidFill>
                <a:latin typeface="Calibri"/>
              </a:rPr>
              <a:t>↓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330000"/>
            <a:ext cx="5538647" cy="1100000"/>
          </a:xfrm>
          <a:prstGeom prst="rect">
            <a:avLst/>
          </a:prstGeom>
          <a:solidFill>
            <a:srgbClr val="1F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7200" y="2410000"/>
            <a:ext cx="535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2. Uncertainty check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7200" y="2830000"/>
            <a:ext cx="5358647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FFFFFF"/>
                </a:solidFill>
                <a:latin typeface="Calibri"/>
              </a:rPr>
              <a:t>If max score − 2nd score &lt; κ (0.7) → REFER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26523" y="3440000"/>
            <a:ext cx="300000" cy="1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B5697"/>
                </a:solidFill>
                <a:latin typeface="Calibri"/>
              </a:rPr>
              <a:t>↓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510000"/>
            <a:ext cx="5538647" cy="1100000"/>
          </a:xfrm>
          <a:prstGeom prst="rect">
            <a:avLst/>
          </a:prstGeom>
          <a:solidFill>
            <a:srgbClr val="C07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7200" y="3590000"/>
            <a:ext cx="535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3. Human actuary reviews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7200" y="4010000"/>
            <a:ext cx="5358647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FFFFFF"/>
                </a:solidFill>
                <a:latin typeface="Calibri"/>
              </a:rPr>
              <a:t>Expert sees full context; overrides if needed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26523" y="4620000"/>
            <a:ext cx="300000" cy="1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B5697"/>
                </a:solidFill>
                <a:latin typeface="Calibri"/>
              </a:rPr>
              <a:t>↓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690000"/>
            <a:ext cx="5538647" cy="110000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7200" y="4770000"/>
            <a:ext cx="535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4. Dual update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7200" y="5190000"/>
            <a:ext cx="5358647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FFFFFF"/>
                </a:solidFill>
                <a:latin typeface="Calibri"/>
              </a:rPr>
              <a:t>Update selected arm reward + REFER arm penalty
Without dual update: REFER over-selects (gotcha)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45847" y="1150000"/>
            <a:ext cx="5488648" cy="16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45847" y="1150000"/>
            <a:ext cx="91440" cy="16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95847" y="1270000"/>
            <a:ext cx="5308648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5697"/>
                </a:solidFill>
                <a:latin typeface="Segoe UI"/>
              </a:rPr>
              <a:t>Key Parameters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95847" y="1690000"/>
            <a:ext cx="5308648" cy="9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05050"/>
                </a:solidFill>
                <a:latin typeface="Calibri"/>
              </a:rPr>
              <a:t>κ = 0.7   (uncertainty threshold for headline result)</a:t>
            </a:r>
          </a:p>
          <a:p>
            <a:pPr algn="l">
              <a:spcBef>
                <a:spcPts val="400"/>
              </a:spcBef>
            </a:pPr>
            <a:r>
              <a:rPr sz="1300" b="0" i="0">
                <a:solidFill>
                  <a:srgbClr val="505050"/>
                </a:solidFill>
                <a:latin typeface="Calibri"/>
              </a:rPr>
              <a:t>Review rate: 1.5% of rounds</a:t>
            </a:r>
          </a:p>
          <a:p>
            <a:pPr algn="l">
              <a:spcBef>
                <a:spcPts val="400"/>
              </a:spcBef>
            </a:pPr>
            <a:r>
              <a:rPr sz="1300" b="0" i="0">
                <a:solidFill>
                  <a:srgbClr val="505050"/>
                </a:solidFill>
                <a:latin typeface="Calibri"/>
              </a:rPr>
              <a:t>Reward gain: +6.5% vs vanilla bandit (p=0.017, d=0.87)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45847" y="2950000"/>
            <a:ext cx="5488648" cy="1400000"/>
          </a:xfrm>
          <a:prstGeom prst="rect">
            <a:avLst/>
          </a:prstGeom>
          <a:solidFill>
            <a:srgbClr val="FE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45847" y="2950000"/>
            <a:ext cx="91440" cy="1400000"/>
          </a:xfrm>
          <a:prstGeom prst="rect">
            <a:avLst/>
          </a:prstGeom>
          <a:solidFill>
            <a:srgbClr val="E6A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95847" y="3070000"/>
            <a:ext cx="5308648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5697"/>
                </a:solidFill>
                <a:latin typeface="Segoe UI"/>
              </a:rPr>
              <a:t>Implementation Gotcha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95847" y="3490000"/>
            <a:ext cx="5308648" cy="7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05050"/>
                </a:solidFill>
                <a:latin typeface="Calibri"/>
              </a:rPr>
              <a:t>Without dual update (action + REFER penalty), the REFER arm </a:t>
            </a:r>
          </a:p>
          <a:p>
            <a:pPr algn="l">
              <a:spcBef>
                <a:spcPts val="400"/>
              </a:spcBef>
            </a:pPr>
            <a:r>
              <a:rPr sz="1300" b="0" i="0">
                <a:solidFill>
                  <a:srgbClr val="505050"/>
                </a:solidFill>
                <a:latin typeface="Calibri"/>
              </a:rPr>
              <a:t>accumulates reward without cost → over-selection spiral.</a:t>
            </a:r>
          </a:p>
          <a:p>
            <a:pPr algn="l">
              <a:spcBef>
                <a:spcPts val="400"/>
              </a:spcBef>
            </a:pPr>
            <a:r>
              <a:rPr sz="1300" b="0" i="0">
                <a:solidFill>
                  <a:srgbClr val="505050"/>
                </a:solidFill>
                <a:latin typeface="Calibri"/>
              </a:rPr>
              <a:t>Dual update corrects this incentive.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45847" y="4550000"/>
            <a:ext cx="5488648" cy="1600000"/>
          </a:xfrm>
          <a:prstGeom prst="rect">
            <a:avLst/>
          </a:prstGeom>
          <a:solidFill>
            <a:srgbClr val="E7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45847" y="4550000"/>
            <a:ext cx="91440" cy="160000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95847" y="4670000"/>
            <a:ext cx="5308648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5697"/>
                </a:solidFill>
                <a:latin typeface="Segoe UI"/>
              </a:rPr>
              <a:t>EXP-008 Result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95847" y="5090000"/>
            <a:ext cx="5308648" cy="9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05050"/>
                </a:solidFill>
                <a:latin typeface="Calibri"/>
              </a:rPr>
              <a:t>HITL+LinUCB:  +6.5% vs vanilla bandit</a:t>
            </a:r>
          </a:p>
          <a:p>
            <a:pPr algn="l">
              <a:spcBef>
                <a:spcPts val="400"/>
              </a:spcBef>
            </a:pPr>
            <a:r>
              <a:rPr sz="1300" b="0" i="0">
                <a:solidFill>
                  <a:srgbClr val="505050"/>
                </a:solidFill>
                <a:latin typeface="Calibri"/>
              </a:rPr>
              <a:t>κ sweep: 0.3 – 0.9 tested; κ=0.7 optimal</a:t>
            </a:r>
          </a:p>
          <a:p>
            <a:pPr algn="l">
              <a:spcBef>
                <a:spcPts val="400"/>
              </a:spcBef>
            </a:pPr>
            <a:r>
              <a:rPr sz="1300" b="0" i="0">
                <a:solidFill>
                  <a:srgbClr val="505050"/>
                </a:solidFill>
                <a:latin typeface="Calibri"/>
              </a:rPr>
              <a:t>p=0.017, Cohen’s d=0.87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Methodology &amp; Model Design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July 2026  ·  15 / 44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EXPERIMENTAL DESIGN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100000"/>
            <a:ext cx="11277295" cy="68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7200" y="1140000"/>
            <a:ext cx="11077295" cy="6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5697"/>
                </a:solidFill>
                <a:latin typeface="Calibri"/>
              </a:rPr>
              <a:t>Stats Protocol: 20 seeds · Bootstrap 95% CI · Paired Wilcoxon · Bonferroni correction · Cohen’s d</a:t>
            </a:r>
          </a:p>
          <a:p>
            <a:pPr algn="l">
              <a:spcBef>
                <a:spcPts val="400"/>
              </a:spcBef>
            </a:pPr>
            <a:r>
              <a:rPr sz="1300" b="0" i="1">
                <a:solidFill>
                  <a:srgbClr val="505050"/>
                </a:solidFill>
                <a:latin typeface="Calibri"/>
              </a:rPr>
              <a:t>Online-learning paradigm — no train/test split: the policy acts, observes reward, and updates each round; evaluated by cumulative regret over 20 independent seeds (see App. A6).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920000"/>
          <a:ext cx="11277295" cy="4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459"/>
                <a:gridCol w="2255459"/>
                <a:gridCol w="2255459"/>
                <a:gridCol w="2255459"/>
                <a:gridCol w="2255459"/>
              </a:tblGrid>
              <a:tr h="440000"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Exp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Name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Seeds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Rounds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Focus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5697"/>
                          </a:solidFill>
                        </a:rPr>
                        <a:t>EXP-005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Convergence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5,000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LinUCB vs Static XGB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5697"/>
                          </a:solidFill>
                        </a:rPr>
                        <a:t>EXP-006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Fairness Audit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5,000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PSI + EEOC 4/5 rule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5697"/>
                          </a:solidFill>
                        </a:rPr>
                        <a:t>EXP-007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Benchmark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5,000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Full ladder CRN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5697"/>
                          </a:solidFill>
                        </a:rPr>
                        <a:t>EXP-008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HITL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seed=42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5,000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Human-in-the-loop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5697"/>
                          </a:solidFill>
                        </a:rPr>
                        <a:t>EXP-009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Drift Adaptation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5,000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Shock at t=1,500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5697"/>
                          </a:solidFill>
                        </a:rPr>
                        <a:t>EXP-010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Cold Start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200–2,000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Crossover horizon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5697"/>
                          </a:solidFill>
                        </a:rPr>
                        <a:t>EXP-011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Ablation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5,000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Exploration vs updating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5697"/>
                          </a:solidFill>
                        </a:rPr>
                        <a:t>EXP-013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Regret Bound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5,000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Log-log slope validation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5697"/>
                          </a:solidFill>
                        </a:rPr>
                        <a:t>EXP-015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Drift Rescue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5,000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Constant vs adaptive under shock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Methodology &amp; Model Design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July 2026  ·  16 / 44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9000"/>
            <a:ext cx="11277295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0" b="1" i="0">
                <a:solidFill>
                  <a:srgbClr val="FFFFFF"/>
                </a:solidFill>
                <a:latin typeface="Segoe UI"/>
              </a:rPr>
              <a:t>IV.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3489000"/>
            <a:ext cx="2926080" cy="548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589000"/>
            <a:ext cx="11277295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Segoe UI"/>
              </a:rPr>
              <a:t>Results &amp; Evaluation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AFC4E4"/>
                </a:solidFill>
                <a:latin typeface="Calibri"/>
              </a:rPr>
              <a:t>Results &amp; Evaluation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July 2026  ·  17 / 44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THE BASELINE LADDER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00000"/>
          <a:ext cx="11277295" cy="51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323"/>
                <a:gridCol w="2819323"/>
                <a:gridCol w="2819323"/>
                <a:gridCol w="2819326"/>
              </a:tblGrid>
              <a:tr h="515000"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Policy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Cumulative Reward (mean)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95% CI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% of Oracle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</a:tr>
              <a:tr h="515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Oracle (upper bound)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$126,804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[124,187, 128,428]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100%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</a:tr>
              <a:tr h="515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LogisticOracle ‡ (full-supervision)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$123,977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[121,794, 126,126]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98.1%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</a:tr>
              <a:tr h="515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AlwaysRATED (trivial constant)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$122,287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[119,528, 124,996]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96.8%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</a:tr>
              <a:tr h="515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B5697"/>
                          </a:solidFill>
                        </a:rPr>
                        <a:t>LinTS  ← proposed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5697"/>
                          </a:solidFill>
                        </a:rPr>
                        <a:t>$93,723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5697"/>
                          </a:solidFill>
                        </a:rPr>
                        <a:t>[91,105, 96,481]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5697"/>
                          </a:solidFill>
                        </a:rPr>
                        <a:t>74.2%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</a:tr>
              <a:tr h="515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B5697"/>
                          </a:solidFill>
                        </a:rPr>
                        <a:t>LinUCB  ← proposed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5697"/>
                          </a:solidFill>
                        </a:rPr>
                        <a:t>$91,864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5697"/>
                          </a:solidFill>
                        </a:rPr>
                        <a:t>[89,139, 94,702]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5697"/>
                          </a:solidFill>
                        </a:rPr>
                        <a:t>72.7%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</a:tr>
              <a:tr h="515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Epsilon-Greedy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$76,441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[73,767, 79,107]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60.5%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5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Static XGB (incumbent)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$72,206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[70,125, 74,352]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57.1%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5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AlwaysSTANDARD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$34,684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[33,694, 35,871]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27.5%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5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Random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$1,980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[739, 3,209]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1.6%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200000"/>
            <a:ext cx="11277295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505050"/>
                </a:solidFill>
                <a:latin typeface="Calibri"/>
              </a:rPr>
              <a:t>‡ LogisticOracle fit in-sample on oracle labels — not deployable (diagnostic only). AlwaysRATED is commercially &amp; regulatorily inadmissible. Bandits lead every admissible alternative.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9" name="Rectangle 8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Results &amp; Evaluation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July 2026  ·  18 / 44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EXP-005: CONVERGENCE VALIDATION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150000"/>
            <a:ext cx="6766377" cy="72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50000"/>
            <a:ext cx="91440" cy="72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7200" y="1250000"/>
            <a:ext cx="40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05050"/>
                </a:solidFill>
                <a:latin typeface="Calibri"/>
              </a:rPr>
              <a:t>LinUCB cumulative reward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7200" y="1500000"/>
            <a:ext cx="400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B5697"/>
                </a:solidFill>
                <a:latin typeface="Calibri"/>
              </a:rPr>
              <a:t>$90,540 ± 5,382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57200" y="140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05050"/>
                </a:solidFill>
                <a:latin typeface="Calibri"/>
              </a:rPr>
              <a:t>[88,287 – 92,886]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930000"/>
            <a:ext cx="6766377" cy="72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930000"/>
            <a:ext cx="91440" cy="72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7200" y="2030000"/>
            <a:ext cx="40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05050"/>
                </a:solidFill>
                <a:latin typeface="Calibri"/>
              </a:rPr>
              <a:t>Static XGB reward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7200" y="2280000"/>
            <a:ext cx="400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B5697"/>
                </a:solidFill>
                <a:latin typeface="Calibri"/>
              </a:rPr>
              <a:t>$72,292 ± 4,120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57200" y="218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05050"/>
                </a:solidFill>
                <a:latin typeface="Calibri"/>
              </a:rPr>
              <a:t>[70,646 – 74,136]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710000"/>
            <a:ext cx="6766377" cy="72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2710000"/>
            <a:ext cx="91440" cy="72000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7200" y="2810000"/>
            <a:ext cx="40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05050"/>
                </a:solidFill>
                <a:latin typeface="Calibri"/>
              </a:rPr>
              <a:t>Improvement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7200" y="3060000"/>
            <a:ext cx="400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B5697"/>
                </a:solidFill>
                <a:latin typeface="Calibri"/>
              </a:rPr>
              <a:t>+$18,248  (+25.2%)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57200" y="296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05050"/>
                </a:solidFill>
                <a:latin typeface="Calibri"/>
              </a:rPr>
              <a:t>p &lt; 0.001, d = 2.98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490000"/>
            <a:ext cx="6766377" cy="72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3490000"/>
            <a:ext cx="91440" cy="720000"/>
          </a:xfrm>
          <a:prstGeom prst="rect">
            <a:avLst/>
          </a:prstGeom>
          <a:solidFill>
            <a:srgbClr val="1F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7200" y="3590000"/>
            <a:ext cx="40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05050"/>
                </a:solidFill>
                <a:latin typeface="Calibri"/>
              </a:rPr>
              <a:t>Oracle ceiling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7200" y="3840000"/>
            <a:ext cx="400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B5697"/>
                </a:solidFill>
                <a:latin typeface="Calibri"/>
              </a:rPr>
              <a:t>$126,804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57200" y="374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05050"/>
                </a:solidFill>
                <a:latin typeface="Calibri"/>
              </a:rPr>
              <a:t>LinUCB recovers 72%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270000"/>
            <a:ext cx="6766377" cy="72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4270000"/>
            <a:ext cx="91440" cy="720000"/>
          </a:xfrm>
          <a:prstGeom prst="rect">
            <a:avLst/>
          </a:prstGeom>
          <a:solidFill>
            <a:srgbClr val="1F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7200" y="4370000"/>
            <a:ext cx="40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05050"/>
                </a:solidFill>
                <a:latin typeface="Calibri"/>
              </a:rPr>
              <a:t>Late regret — LinUCB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7200" y="4620000"/>
            <a:ext cx="400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B5697"/>
                </a:solidFill>
                <a:latin typeface="Calibri"/>
              </a:rPr>
              <a:t>$2.20/round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57200" y="452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05050"/>
                </a:solidFill>
                <a:latin typeface="Calibri"/>
              </a:rPr>
              <a:t>Last 500 rounds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5050000"/>
            <a:ext cx="6766377" cy="72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5050000"/>
            <a:ext cx="91440" cy="720000"/>
          </a:xfrm>
          <a:prstGeom prst="rect">
            <a:avLst/>
          </a:prstGeom>
          <a:solidFill>
            <a:srgbClr val="1F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7200" y="5150000"/>
            <a:ext cx="40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05050"/>
                </a:solidFill>
                <a:latin typeface="Calibri"/>
              </a:rPr>
              <a:t>Late regret — Static XGB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7200" y="5400000"/>
            <a:ext cx="400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B5697"/>
                </a:solidFill>
                <a:latin typeface="Calibri"/>
              </a:rPr>
              <a:t>$9.01/round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57200" y="530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05050"/>
                </a:solidFill>
                <a:latin typeface="Calibri"/>
              </a:rPr>
              <a:t>Last 500 rounds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5600000"/>
            <a:ext cx="11277295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5697"/>
                </a:solidFill>
                <a:latin typeface="Calibri"/>
              </a:rPr>
              <a:t>+25.2% = the gap between 2023 Sophea (DECLINE) and 2026 Sophea (STANDARD).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423577" y="1150000"/>
            <a:ext cx="4310918" cy="43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573577" y="1250000"/>
            <a:ext cx="4110918" cy="4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5697"/>
                </a:solidFill>
                <a:latin typeface="Calibri"/>
              </a:rPr>
              <a:t>CONVERGENCE INDICATORS</a:t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505050"/>
                </a:solidFill>
                <a:latin typeface="Calibri"/>
              </a:rPr>
              <a:t>Action entropy: 1.314 → 1.105 nats</a:t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505050"/>
                </a:solidFill>
                <a:latin typeface="Calibri"/>
              </a:rPr>
              <a:t>(exploration → exploitation)</a:t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505050"/>
                </a:solidFill>
                <a:latin typeface="Calibri"/>
              </a:rPr>
              <a:t/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505050"/>
                </a:solidFill>
                <a:latin typeface="Calibri"/>
              </a:rPr>
              <a:t>Oracle-agreement (last 500 rounds): 37.8%</a:t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505050"/>
                </a:solidFill>
                <a:latin typeface="Calibri"/>
              </a:rPr>
              <a:t>(learns different but profitable policy)</a:t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505050"/>
                </a:solidFill>
                <a:latin typeface="Calibri"/>
              </a:rPr>
              <a:t/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505050"/>
                </a:solidFill>
                <a:latin typeface="Calibri"/>
              </a:rPr>
              <a:t>Regret curve follows O(√T)</a:t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505050"/>
                </a:solidFill>
                <a:latin typeface="Calibri"/>
              </a:rPr>
              <a:t>Log-log slope: 0.572 (theory: 0.5)</a:t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505050"/>
                </a:solidFill>
                <a:latin typeface="Calibri"/>
              </a:rPr>
              <a:t>R² = 0.9915</a:t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505050"/>
                </a:solidFill>
                <a:latin typeface="Calibri"/>
              </a:rPr>
              <a:t/>
            </a:r>
          </a:p>
          <a:p>
            <a:pPr algn="l">
              <a:spcBef>
                <a:spcPts val="600"/>
              </a:spcBef>
            </a:pPr>
            <a:r>
              <a:rPr sz="1300" b="1" i="0">
                <a:solidFill>
                  <a:srgbClr val="2E8B57"/>
                </a:solidFill>
                <a:latin typeface="Calibri"/>
              </a:rPr>
              <a:t>All 5 EXP-005 criteria: PASSED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Results &amp; Evaluation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July 2026  ·  19 / 44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EXP-006: FAIRNESS AUDIT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150000"/>
            <a:ext cx="5488647" cy="760000"/>
          </a:xfrm>
          <a:prstGeom prst="rect">
            <a:avLst/>
          </a:prstGeom>
          <a:solidFill>
            <a:srgbClr val="E7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50000"/>
            <a:ext cx="91440" cy="76000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7200" y="1250000"/>
            <a:ext cx="5288647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05050"/>
                </a:solidFill>
                <a:latin typeface="Calibri"/>
              </a:rPr>
              <a:t>Region PSI max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7200" y="1510000"/>
            <a:ext cx="5288647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B5697"/>
                </a:solidFill>
                <a:latin typeface="Calibri"/>
              </a:rPr>
              <a:t>0.082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7200" y="1730000"/>
            <a:ext cx="5288647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E8B57"/>
                </a:solidFill>
                <a:latin typeface="Calibri"/>
              </a:rPr>
              <a:t>GREEN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45847" y="1150000"/>
            <a:ext cx="5488647" cy="760000"/>
          </a:xfrm>
          <a:prstGeom prst="rect">
            <a:avLst/>
          </a:prstGeom>
          <a:solidFill>
            <a:srgbClr val="FE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45847" y="1150000"/>
            <a:ext cx="91440" cy="760000"/>
          </a:xfrm>
          <a:prstGeom prst="rect">
            <a:avLst/>
          </a:prstGeom>
          <a:solidFill>
            <a:srgbClr val="E6A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5847" y="1250000"/>
            <a:ext cx="5288647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05050"/>
                </a:solidFill>
                <a:latin typeface="Calibri"/>
              </a:rPr>
              <a:t>Occupation PSI max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95847" y="1510000"/>
            <a:ext cx="5288647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B5697"/>
                </a:solidFill>
                <a:latin typeface="Calibri"/>
              </a:rPr>
              <a:t>0.123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5847" y="1730000"/>
            <a:ext cx="5288647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6A62E"/>
                </a:solidFill>
                <a:latin typeface="Calibri"/>
              </a:rPr>
              <a:t>AMBER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1990000"/>
            <a:ext cx="5488647" cy="760000"/>
          </a:xfrm>
          <a:prstGeom prst="rect">
            <a:avLst/>
          </a:prstGeom>
          <a:solidFill>
            <a:srgbClr val="E7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1990000"/>
            <a:ext cx="91440" cy="76000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7200" y="2090000"/>
            <a:ext cx="5288647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05050"/>
                </a:solidFill>
                <a:latin typeface="Calibri"/>
              </a:rPr>
              <a:t>Region parity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7200" y="2350000"/>
            <a:ext cx="5288647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B5697"/>
                </a:solidFill>
                <a:latin typeface="Calibri"/>
              </a:rPr>
              <a:t>85.72%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7200" y="2570000"/>
            <a:ext cx="5288647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E8B57"/>
                </a:solidFill>
                <a:latin typeface="Calibri"/>
              </a:rPr>
              <a:t>PASS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45847" y="1990000"/>
            <a:ext cx="5488647" cy="760000"/>
          </a:xfrm>
          <a:prstGeom prst="rect">
            <a:avLst/>
          </a:prstGeom>
          <a:solidFill>
            <a:srgbClr val="E7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45847" y="1990000"/>
            <a:ext cx="91440" cy="76000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95847" y="2090000"/>
            <a:ext cx="5288647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05050"/>
                </a:solidFill>
                <a:latin typeface="Calibri"/>
              </a:rPr>
              <a:t>Occupation parity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95847" y="2350000"/>
            <a:ext cx="5288647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B5697"/>
                </a:solidFill>
                <a:latin typeface="Calibri"/>
              </a:rPr>
              <a:t>90.12%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95847" y="2570000"/>
            <a:ext cx="5288647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E8B57"/>
                </a:solidFill>
                <a:latin typeface="Calibri"/>
              </a:rPr>
              <a:t>PASS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2830000"/>
            <a:ext cx="5488647" cy="760000"/>
          </a:xfrm>
          <a:prstGeom prst="rect">
            <a:avLst/>
          </a:prstGeom>
          <a:solidFill>
            <a:srgbClr val="E7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2830000"/>
            <a:ext cx="91440" cy="76000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7200" y="2930000"/>
            <a:ext cx="5288647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05050"/>
                </a:solidFill>
                <a:latin typeface="Calibri"/>
              </a:rPr>
              <a:t>Region permutation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7200" y="3190000"/>
            <a:ext cx="5288647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B5697"/>
                </a:solidFill>
                <a:latin typeface="Calibri"/>
              </a:rPr>
              <a:t>p = 0.132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7200" y="3410000"/>
            <a:ext cx="5288647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E8B57"/>
                </a:solidFill>
                <a:latin typeface="Calibri"/>
              </a:rPr>
              <a:t>PASS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45847" y="2830000"/>
            <a:ext cx="5488647" cy="760000"/>
          </a:xfrm>
          <a:prstGeom prst="rect">
            <a:avLst/>
          </a:prstGeom>
          <a:solidFill>
            <a:srgbClr val="FE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45847" y="2830000"/>
            <a:ext cx="91440" cy="760000"/>
          </a:xfrm>
          <a:prstGeom prst="rect">
            <a:avLst/>
          </a:prstGeom>
          <a:solidFill>
            <a:srgbClr val="E6A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95847" y="2930000"/>
            <a:ext cx="5288647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05050"/>
                </a:solidFill>
                <a:latin typeface="Calibri"/>
              </a:rPr>
              <a:t>Occupation permutation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95847" y="3190000"/>
            <a:ext cx="5288647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B5697"/>
                </a:solidFill>
                <a:latin typeface="Calibri"/>
              </a:rPr>
              <a:t>p &lt; 0.001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95847" y="3410000"/>
            <a:ext cx="5288647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6A62E"/>
                </a:solidFill>
                <a:latin typeface="Calibri"/>
              </a:rPr>
              <a:t>FAILED-with-interpretation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5900000"/>
            <a:ext cx="11277295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05050"/>
                </a:solidFill>
                <a:latin typeface="Calibri"/>
              </a:rPr>
              <a:t>PSI is a MONITOR not an ENFORCER — constrained-action layer is future work.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Results &amp; Evaluation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July 2026  ·  20 / 44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EXP-007: BENCHMARK COMPARISON (CRN)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00000"/>
          <a:ext cx="6766377" cy="3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3188"/>
                <a:gridCol w="3383189"/>
              </a:tblGrid>
              <a:tr h="633333"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Policy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Cumul. Reward (mean, 20 seeds)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</a:tr>
              <a:tr h="633333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5697"/>
                          </a:solidFill>
                        </a:rPr>
                        <a:t>AlwaysRATED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5697"/>
                          </a:solidFill>
                        </a:rPr>
                        <a:t>$122,287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</a:tr>
              <a:tr h="633333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5697"/>
                          </a:solidFill>
                        </a:rPr>
                        <a:t>LinTS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5697"/>
                          </a:solidFill>
                        </a:rPr>
                        <a:t>$93,723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</a:tr>
              <a:tr h="633333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5697"/>
                          </a:solidFill>
                        </a:rPr>
                        <a:t>LinUCB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5697"/>
                          </a:solidFill>
                        </a:rPr>
                        <a:t>$91,864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</a:tr>
              <a:tr h="633333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5697"/>
                          </a:solidFill>
                        </a:rPr>
                        <a:t>Epsilon-Greedy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5697"/>
                          </a:solidFill>
                        </a:rPr>
                        <a:t>$76,441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</a:tr>
              <a:tr h="633335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5697"/>
                          </a:solidFill>
                        </a:rPr>
                        <a:t>Static XGB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5697"/>
                          </a:solidFill>
                        </a:rPr>
                        <a:t>$72,206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423577" y="1200000"/>
            <a:ext cx="4310918" cy="1200000"/>
          </a:xfrm>
          <a:prstGeom prst="rect">
            <a:avLst/>
          </a:prstGeom>
          <a:solidFill>
            <a:srgbClr val="FE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423577" y="1200000"/>
            <a:ext cx="91440" cy="1200000"/>
          </a:xfrm>
          <a:prstGeom prst="rect">
            <a:avLst/>
          </a:prstGeom>
          <a:solidFill>
            <a:srgbClr val="E6A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73577" y="1280000"/>
            <a:ext cx="4110918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5697"/>
                </a:solidFill>
                <a:latin typeface="Calibri"/>
              </a:rPr>
              <a:t>LinTS vs LinUCB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73577" y="1580000"/>
            <a:ext cx="4110918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05050"/>
                </a:solidFill>
                <a:latin typeface="Calibri"/>
              </a:rPr>
              <a:t>p = 0.87, d = 0.26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73577" y="1900000"/>
            <a:ext cx="4110918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6A62E"/>
                </a:solidFill>
                <a:latin typeface="Calibri"/>
              </a:rPr>
              <a:t>TIED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23577" y="2500000"/>
            <a:ext cx="4310918" cy="1200000"/>
          </a:xfrm>
          <a:prstGeom prst="rect">
            <a:avLst/>
          </a:prstGeom>
          <a:solidFill>
            <a:srgbClr val="E7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23577" y="2500000"/>
            <a:ext cx="91440" cy="120000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73577" y="2580000"/>
            <a:ext cx="4110918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5697"/>
                </a:solidFill>
                <a:latin typeface="Calibri"/>
              </a:rPr>
              <a:t>LinUCB vs Static XGB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73577" y="2880000"/>
            <a:ext cx="4110918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05050"/>
                </a:solidFill>
                <a:latin typeface="Calibri"/>
              </a:rPr>
              <a:t>−19,774 regret  p &lt; 0.001  d = −3.41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73577" y="3200000"/>
            <a:ext cx="4110918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E8B57"/>
                </a:solidFill>
                <a:latin typeface="Calibri"/>
              </a:rPr>
              <a:t>WIN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23577" y="3800000"/>
            <a:ext cx="4310918" cy="1200000"/>
          </a:xfrm>
          <a:prstGeom prst="rect">
            <a:avLst/>
          </a:prstGeom>
          <a:solidFill>
            <a:srgbClr val="E7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23577" y="3800000"/>
            <a:ext cx="91440" cy="120000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73577" y="3880000"/>
            <a:ext cx="4110918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5697"/>
                </a:solidFill>
                <a:latin typeface="Calibri"/>
              </a:rPr>
              <a:t>LinTS vs Static XGB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73577" y="4180000"/>
            <a:ext cx="4110918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05050"/>
                </a:solidFill>
                <a:latin typeface="Calibri"/>
              </a:rPr>
              <a:t>−21,400 regret  p &lt; 0.001  d = −3.89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73577" y="4500000"/>
            <a:ext cx="4110918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E8B57"/>
                </a:solidFill>
                <a:latin typeface="Calibri"/>
              </a:rPr>
              <a:t>WIN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200000"/>
            <a:ext cx="11277295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5697"/>
                </a:solidFill>
                <a:latin typeface="Calibri"/>
              </a:rPr>
              <a:t>Two coexisting findings:</a:t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262626"/>
                </a:solidFill>
                <a:latin typeface="Calibri"/>
              </a:rPr>
              <a:t>(1) Adaptive bandits decisively beat the frozen Static XGB rule  (p &lt; 0.001)</a:t>
            </a:r>
          </a:p>
          <a:p>
            <a:pPr algn="l">
              <a:spcBef>
                <a:spcPts val="400"/>
              </a:spcBef>
            </a:pPr>
            <a:r>
              <a:rPr sz="1300" b="0" i="0">
                <a:solidFill>
                  <a:srgbClr val="7D4E00"/>
                </a:solidFill>
                <a:latin typeface="Calibri"/>
              </a:rPr>
              <a:t>(2) Trivial constant AlwaysRATED still beats all bandits — honestly reported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Results &amp; Evaluation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July 2026  ·  21 / 44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EXP-008: HUMAN-IN-THE-LOOP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150000"/>
            <a:ext cx="6766377" cy="75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50000"/>
            <a:ext cx="91440" cy="75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7200" y="125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05050"/>
                </a:solidFill>
                <a:latin typeface="Calibri"/>
              </a:rPr>
              <a:t>HITL reward (c = 0.7)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7200" y="1530000"/>
            <a:ext cx="400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B5697"/>
                </a:solidFill>
                <a:latin typeface="Calibri"/>
              </a:rPr>
              <a:t>$102,100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57200" y="143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05050"/>
                </a:solidFill>
                <a:latin typeface="Calibri"/>
              </a:rPr>
              <a:t>vs vanilla $95,872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950000"/>
            <a:ext cx="6766377" cy="750000"/>
          </a:xfrm>
          <a:prstGeom prst="rect">
            <a:avLst/>
          </a:prstGeom>
          <a:solidFill>
            <a:srgbClr val="E7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950000"/>
            <a:ext cx="91440" cy="75000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7200" y="205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05050"/>
                </a:solidFill>
                <a:latin typeface="Calibri"/>
              </a:rPr>
              <a:t>Improvement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7200" y="2330000"/>
            <a:ext cx="400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B5697"/>
                </a:solidFill>
                <a:latin typeface="Calibri"/>
              </a:rPr>
              <a:t>+$6,228  (+6.5%)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57200" y="223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05050"/>
                </a:solidFill>
                <a:latin typeface="Calibri"/>
              </a:rPr>
              <a:t>vs vanilla bandit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750000"/>
            <a:ext cx="6766377" cy="75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2750000"/>
            <a:ext cx="91440" cy="75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7200" y="285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05050"/>
                </a:solidFill>
                <a:latin typeface="Calibri"/>
              </a:rPr>
              <a:t>Review cost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7200" y="3130000"/>
            <a:ext cx="400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B5697"/>
                </a:solidFill>
                <a:latin typeface="Calibri"/>
              </a:rPr>
              <a:t>$2,625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57200" y="303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05050"/>
                </a:solidFill>
                <a:latin typeface="Calibri"/>
              </a:rPr>
              <a:t>2.6% of reward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550000"/>
            <a:ext cx="6766377" cy="75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3550000"/>
            <a:ext cx="91440" cy="75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7200" y="365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05050"/>
                </a:solidFill>
                <a:latin typeface="Calibri"/>
              </a:rPr>
              <a:t>Human overrides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7200" y="3930000"/>
            <a:ext cx="400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B5697"/>
                </a:solidFill>
                <a:latin typeface="Calibri"/>
              </a:rPr>
              <a:t>75 of 5,000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57200" y="383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05050"/>
                </a:solidFill>
                <a:latin typeface="Calibri"/>
              </a:rPr>
              <a:t>1.5% review rate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350000"/>
            <a:ext cx="6766377" cy="75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4350000"/>
            <a:ext cx="91440" cy="75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7200" y="445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05050"/>
                </a:solidFill>
                <a:latin typeface="Calibri"/>
              </a:rPr>
              <a:t>Alignment score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7200" y="4730000"/>
            <a:ext cx="400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B5697"/>
                </a:solidFill>
                <a:latin typeface="Calibri"/>
              </a:rPr>
              <a:t>60.0%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57200" y="463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05050"/>
                </a:solidFill>
                <a:latin typeface="Calibri"/>
              </a:rPr>
              <a:t>human–model agreement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5150000"/>
            <a:ext cx="6766377" cy="75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5150000"/>
            <a:ext cx="91440" cy="75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7200" y="525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05050"/>
                </a:solidFill>
                <a:latin typeface="Calibri"/>
              </a:rPr>
              <a:t>Queue depth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7200" y="5530000"/>
            <a:ext cx="400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B5697"/>
                </a:solidFill>
                <a:latin typeface="Calibri"/>
              </a:rPr>
              <a:t>0 throughout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57200" y="543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05050"/>
                </a:solidFill>
                <a:latin typeface="Calibri"/>
              </a:rPr>
              <a:t>no backlog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5900000"/>
            <a:ext cx="11277295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05050"/>
                </a:solidFill>
                <a:latin typeface="Calibri"/>
              </a:rPr>
              <a:t>Scope: +6.5% is vs vanilla bandit (NOT vs AlwaysRATED). HITL adds genuine value at low review cost.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Results &amp; Evaluation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July 2026  ·  22 / 44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WHAT DRIVES THE VALUE? (EXP-011 + EXP-015)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200000"/>
            <a:ext cx="5488647" cy="46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00000"/>
            <a:ext cx="91440" cy="46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7200" y="1300000"/>
            <a:ext cx="528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5697"/>
                </a:solidFill>
                <a:latin typeface="Calibri"/>
              </a:rPr>
              <a:t>EXP-011: ABLATION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7200" y="1720000"/>
            <a:ext cx="5288647" cy="3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62626"/>
                </a:solidFill>
                <a:latin typeface="Calibri"/>
              </a:rPr>
              <a:t>Full LinUCB vs Greedy-only (α = 0):</a:t>
            </a:r>
          </a:p>
          <a:p>
            <a:pPr algn="l">
              <a:spcBef>
                <a:spcPts val="800"/>
              </a:spcBef>
            </a:pPr>
            <a:r>
              <a:rPr sz="1500" b="1" i="0">
                <a:solidFill>
                  <a:srgbClr val="1B5697"/>
                </a:solidFill>
                <a:latin typeface="Calibri"/>
              </a:rPr>
              <a:t>p = 0.580, d = 0.13</a:t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505050"/>
                </a:solidFill>
                <a:latin typeface="Calibri"/>
              </a:rPr>
              <a:t>Exploration is NOT load-bearing.</a:t>
            </a:r>
          </a:p>
          <a:p>
            <a:pPr algn="l">
              <a:spcBef>
                <a:spcPts val="0"/>
              </a:spcBef>
            </a:pPr>
            <a:r>
              <a:rPr sz="1100" b="0" i="0">
                <a:solidFill>
                  <a:srgbClr val="262626"/>
                </a:solidFill>
                <a:latin typeface="Calibri"/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300" b="1" i="0">
                <a:solidFill>
                  <a:srgbClr val="262626"/>
                </a:solidFill>
                <a:latin typeface="Calibri"/>
              </a:rPr>
              <a:t>Greedy-only vs Static XGB:</a:t>
            </a:r>
          </a:p>
          <a:p>
            <a:pPr algn="l">
              <a:spcBef>
                <a:spcPts val="800"/>
              </a:spcBef>
            </a:pPr>
            <a:r>
              <a:rPr sz="1500" b="1" i="0">
                <a:solidFill>
                  <a:srgbClr val="2E8B57"/>
                </a:solidFill>
                <a:latin typeface="Calibri"/>
              </a:rPr>
              <a:t>+$18,969  p &lt; 0.001  d = 3.01</a:t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262626"/>
                </a:solidFill>
                <a:latin typeface="Calibri"/>
              </a:rPr>
              <a:t>Online ridge updating IS the mechanism.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45847" y="1200000"/>
            <a:ext cx="5488647" cy="46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45847" y="1200000"/>
            <a:ext cx="91440" cy="4600000"/>
          </a:xfrm>
          <a:prstGeom prst="rect">
            <a:avLst/>
          </a:prstGeom>
          <a:solidFill>
            <a:srgbClr val="E6A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5847" y="1300000"/>
            <a:ext cx="528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7D4E00"/>
                </a:solidFill>
                <a:latin typeface="Calibri"/>
              </a:rPr>
              <a:t>EXP-015: DRIFT RESCUE?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95847" y="1720000"/>
            <a:ext cx="5288647" cy="3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62626"/>
                </a:solidFill>
                <a:latin typeface="Calibri"/>
              </a:rPr>
              <a:t>Under realistic drift shock:</a:t>
            </a:r>
          </a:p>
          <a:p>
            <a:pPr algn="l">
              <a:spcBef>
                <a:spcPts val="1000"/>
              </a:spcBef>
            </a:pPr>
            <a:r>
              <a:rPr sz="1300" b="0" i="0">
                <a:solidFill>
                  <a:srgbClr val="505050"/>
                </a:solidFill>
                <a:latin typeface="Calibri"/>
              </a:rPr>
              <a:t>AlwaysRATED:</a:t>
            </a:r>
          </a:p>
          <a:p>
            <a:pPr algn="l">
              <a:spcBef>
                <a:spcPts val="200"/>
              </a:spcBef>
            </a:pPr>
            <a:r>
              <a:rPr sz="1400" b="1" i="0">
                <a:solidFill>
                  <a:srgbClr val="1B5697"/>
                </a:solidFill>
                <a:latin typeface="Calibri"/>
              </a:rPr>
              <a:t>$99,321</a:t>
            </a:r>
          </a:p>
          <a:p>
            <a:pPr algn="l">
              <a:spcBef>
                <a:spcPts val="1000"/>
              </a:spcBef>
            </a:pPr>
            <a:r>
              <a:rPr sz="1300" b="0" i="0">
                <a:solidFill>
                  <a:srgbClr val="505050"/>
                </a:solidFill>
                <a:latin typeface="Calibri"/>
              </a:rPr>
              <a:t>LinTS:</a:t>
            </a:r>
          </a:p>
          <a:p>
            <a:pPr algn="l">
              <a:spcBef>
                <a:spcPts val="200"/>
              </a:spcBef>
            </a:pPr>
            <a:r>
              <a:rPr sz="1400" b="1" i="0">
                <a:solidFill>
                  <a:srgbClr val="1B5697"/>
                </a:solidFill>
                <a:latin typeface="Calibri"/>
              </a:rPr>
              <a:t>$71,429  (−39.0%)</a:t>
            </a:r>
          </a:p>
          <a:p>
            <a:pPr algn="l">
              <a:spcBef>
                <a:spcPts val="1000"/>
              </a:spcBef>
            </a:pPr>
            <a:r>
              <a:rPr sz="1300" b="0" i="0">
                <a:solidFill>
                  <a:srgbClr val="505050"/>
                </a:solidFill>
                <a:latin typeface="Calibri"/>
              </a:rPr>
              <a:t>LinUCB:</a:t>
            </a:r>
          </a:p>
          <a:p>
            <a:pPr algn="l">
              <a:spcBef>
                <a:spcPts val="200"/>
              </a:spcBef>
            </a:pPr>
            <a:r>
              <a:rPr sz="1400" b="1" i="0">
                <a:solidFill>
                  <a:srgbClr val="1B5697"/>
                </a:solidFill>
                <a:latin typeface="Calibri"/>
              </a:rPr>
              <a:t>$71,373  (−39.2%)</a:t>
            </a:r>
          </a:p>
          <a:p>
            <a:pPr algn="l">
              <a:spcBef>
                <a:spcPts val="1000"/>
              </a:spcBef>
            </a:pPr>
            <a:r>
              <a:rPr sz="1300" b="0" i="0">
                <a:solidFill>
                  <a:srgbClr val="505050"/>
                </a:solidFill>
                <a:latin typeface="Calibri"/>
              </a:rPr>
              <a:t>DiscountedLinUCB γ=0.999:</a:t>
            </a:r>
          </a:p>
          <a:p>
            <a:pPr algn="l">
              <a:spcBef>
                <a:spcPts val="200"/>
              </a:spcBef>
            </a:pPr>
            <a:r>
              <a:rPr sz="1400" b="1" i="0">
                <a:solidFill>
                  <a:srgbClr val="1B5697"/>
                </a:solidFill>
                <a:latin typeface="Calibri"/>
              </a:rPr>
              <a:t>$70,995  (no help)</a:t>
            </a:r>
          </a:p>
          <a:p>
            <a:pPr algn="l">
              <a:spcBef>
                <a:spcPts val="1200"/>
              </a:spcBef>
            </a:pPr>
            <a:r>
              <a:rPr sz="1300" b="1" i="0">
                <a:solidFill>
                  <a:srgbClr val="7D4E00"/>
                </a:solidFill>
                <a:latin typeface="Calibri"/>
              </a:rPr>
              <a:t>Non-stationarity does NOT rescue the bandit.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Results &amp; Evaluation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July 2026  ·  23 / 44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COLD START &amp; REGRET BOUND (EXP-010 + EXP-013)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00000"/>
          <a:ext cx="6202512" cy="32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67504"/>
                <a:gridCol w="2067504"/>
                <a:gridCol w="2067504"/>
              </a:tblGrid>
              <a:tr h="640000"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Horizon T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Relative Performance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Interpretation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</a:tr>
              <a:tr h="6400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62626"/>
                          </a:solidFill>
                        </a:rPr>
                        <a:t>T = 200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62626"/>
                          </a:solidFill>
                        </a:rPr>
                        <a:t>FreshXGB 2.1× bandits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62626"/>
                          </a:solidFill>
                        </a:rPr>
                        <a:t>XGB leads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</a:tr>
              <a:tr h="6400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62626"/>
                          </a:solidFill>
                        </a:rPr>
                        <a:t>T = 500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62626"/>
                          </a:solidFill>
                        </a:rPr>
                        <a:t>FreshXGB 1.26× bandits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62626"/>
                          </a:solidFill>
                        </a:rPr>
                        <a:t>XGB leads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</a:tr>
              <a:tr h="6400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62626"/>
                          </a:solidFill>
                        </a:rPr>
                        <a:t>T = 1,000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62626"/>
                          </a:solidFill>
                        </a:rPr>
                        <a:t>TIE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62626"/>
                          </a:solidFill>
                        </a:rPr>
                        <a:t>Crossover zone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</a:tr>
              <a:tr h="6400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62626"/>
                          </a:solidFill>
                        </a:rPr>
                        <a:t>T = 2,000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62626"/>
                          </a:solidFill>
                        </a:rPr>
                        <a:t>Bandits cross over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62626"/>
                          </a:solidFill>
                        </a:rPr>
                        <a:t>Bandits lead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600000"/>
            <a:ext cx="6202512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5697"/>
                </a:solidFill>
                <a:latin typeface="Calibri"/>
              </a:rPr>
              <a:t>Operational implication: warm-start required for first 1,000–2,000 applications.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909712" y="1200000"/>
            <a:ext cx="4824782" cy="36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909712" y="1200000"/>
            <a:ext cx="91440" cy="36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59712" y="1300000"/>
            <a:ext cx="4624782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5697"/>
                </a:solidFill>
                <a:latin typeface="Calibri"/>
              </a:rPr>
              <a:t>EXP-013: REGRET BOUND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59712" y="1720000"/>
            <a:ext cx="4624782" cy="2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5697"/>
                </a:solidFill>
                <a:latin typeface="Calibri"/>
              </a:rPr>
              <a:t>Log-log slope: 0.572</a:t>
            </a:r>
          </a:p>
          <a:p>
            <a:pPr algn="l">
              <a:spcBef>
                <a:spcPts val="400"/>
              </a:spcBef>
            </a:pPr>
            <a:r>
              <a:rPr sz="1300" b="0" i="1">
                <a:solidFill>
                  <a:srgbClr val="505050"/>
                </a:solidFill>
                <a:latin typeface="Calibri"/>
              </a:rPr>
              <a:t>(theory: 0.5 — near-optimal)</a:t>
            </a:r>
          </a:p>
          <a:p>
            <a:pPr algn="l">
              <a:spcBef>
                <a:spcPts val="0"/>
              </a:spcBef>
            </a:pPr>
            <a:r>
              <a:rPr sz="1100" b="0" i="0">
                <a:solidFill>
                  <a:srgbClr val="262626"/>
                </a:solidFill>
                <a:latin typeface="Calibri"/>
              </a:rPr>
              <a:t/>
            </a:r>
          </a:p>
          <a:p>
            <a:pPr algn="l">
              <a:spcBef>
                <a:spcPts val="600"/>
              </a:spcBef>
            </a:pPr>
            <a:r>
              <a:rPr sz="1500" b="1" i="0">
                <a:solidFill>
                  <a:srgbClr val="1B5697"/>
                </a:solidFill>
                <a:latin typeface="Calibri"/>
              </a:rPr>
              <a:t>R² = 0.9915</a:t>
            </a:r>
          </a:p>
          <a:p>
            <a:pPr algn="l">
              <a:spcBef>
                <a:spcPts val="400"/>
              </a:spcBef>
            </a:pPr>
            <a:r>
              <a:rPr sz="1300" b="0" i="1">
                <a:solidFill>
                  <a:srgbClr val="505050"/>
                </a:solidFill>
                <a:latin typeface="Calibri"/>
              </a:rPr>
              <a:t>Excellent linear fit on log-log axes</a:t>
            </a:r>
          </a:p>
          <a:p>
            <a:pPr algn="l">
              <a:spcBef>
                <a:spcPts val="0"/>
              </a:spcBef>
            </a:pPr>
            <a:r>
              <a:rPr sz="1100" b="0" i="0">
                <a:solidFill>
                  <a:srgbClr val="262626"/>
                </a:solidFill>
                <a:latin typeface="Calibri"/>
              </a:rPr>
              <a:t/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262626"/>
                </a:solidFill>
                <a:latin typeface="Calibri"/>
              </a:rPr>
              <a:t>85% of seeds in [0.30, 0.80]</a:t>
            </a:r>
          </a:p>
          <a:p>
            <a:pPr algn="l">
              <a:spcBef>
                <a:spcPts val="400"/>
              </a:spcBef>
            </a:pPr>
            <a:r>
              <a:rPr sz="1300" b="1" i="0">
                <a:solidFill>
                  <a:srgbClr val="2E8B57"/>
                </a:solidFill>
                <a:latin typeface="Calibri"/>
              </a:rPr>
              <a:t>Sublinear regret confirmed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Results &amp; Evaluation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July 2026  ·  24 / 44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LIVE DEMONSTRATION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00000"/>
            <a:ext cx="11277295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505050"/>
                </a:solidFill>
                <a:latin typeface="Calibri"/>
              </a:rPr>
              <a:t>[Open browser at localhost:8000 before this slide]</a:t>
            </a:r>
          </a:p>
          <a:p>
            <a:pPr algn="l">
              <a:spcBef>
                <a:spcPts val="200"/>
              </a:spcBef>
            </a:pPr>
            <a:r>
              <a:rPr sz="1400" b="0" i="0">
                <a:solidFill>
                  <a:srgbClr val="262626"/>
                </a:solidFill>
                <a:latin typeface="Calibri"/>
              </a:rPr>
              <a:t/>
            </a:r>
          </a:p>
          <a:p>
            <a:pPr algn="l">
              <a:spcBef>
                <a:spcPts val="800"/>
              </a:spcBef>
            </a:pPr>
            <a:r>
              <a:rPr sz="1400" b="1" i="0">
                <a:solidFill>
                  <a:srgbClr val="1B5697"/>
                </a:solidFill>
                <a:latin typeface="Calibri"/>
              </a:rPr>
              <a:t>STEP 1: Enter Sophea's profile</a:t>
            </a:r>
          </a:p>
          <a:p>
            <a:pPr algn="l">
              <a:spcBef>
                <a:spcPts val="200"/>
              </a:spcBef>
            </a:pPr>
            <a:r>
              <a:rPr sz="1400" b="0" i="0">
                <a:solidFill>
                  <a:srgbClr val="262626"/>
                </a:solidFill>
                <a:latin typeface="Calibri"/>
              </a:rPr>
              <a:t>  Age 42  ·  Female  ·  BMI 24.1  ·  Smoker: No  ·  Hypertension: Yes</a:t>
            </a:r>
          </a:p>
          <a:p>
            <a:pPr algn="l">
              <a:spcBef>
                <a:spcPts val="200"/>
              </a:spcBef>
            </a:pPr>
            <a:r>
              <a:rPr sz="1400" b="0" i="0">
                <a:solidFill>
                  <a:srgbClr val="262626"/>
                </a:solidFill>
                <a:latin typeface="Calibri"/>
              </a:rPr>
              <a:t>  Region: Kampong Cham  ·  Occupation: Agriculture</a:t>
            </a:r>
          </a:p>
          <a:p>
            <a:pPr algn="l">
              <a:spcBef>
                <a:spcPts val="200"/>
              </a:spcBef>
            </a:pPr>
            <a:r>
              <a:rPr sz="1400" b="0" i="0">
                <a:solidFill>
                  <a:srgbClr val="262626"/>
                </a:solidFill>
                <a:latin typeface="Calibri"/>
              </a:rPr>
              <a:t/>
            </a:r>
          </a:p>
          <a:p>
            <a:pPr algn="l">
              <a:spcBef>
                <a:spcPts val="800"/>
              </a:spcBef>
            </a:pPr>
            <a:r>
              <a:rPr sz="1400" b="1" i="0">
                <a:solidFill>
                  <a:srgbClr val="1B5697"/>
                </a:solidFill>
                <a:latin typeface="Calibri"/>
              </a:rPr>
              <a:t>STEP 2: Submit — show STANDARD decision</a:t>
            </a:r>
          </a:p>
          <a:p>
            <a:pPr algn="l">
              <a:spcBef>
                <a:spcPts val="200"/>
              </a:spcBef>
            </a:pPr>
            <a:r>
              <a:rPr sz="1400" b="0" i="0">
                <a:solidFill>
                  <a:srgbClr val="262626"/>
                </a:solidFill>
                <a:latin typeface="Calibri"/>
              </a:rPr>
              <a:t>  The bandit sees her 34 features and selects STANDARD premium</a:t>
            </a:r>
          </a:p>
          <a:p>
            <a:pPr algn="l">
              <a:spcBef>
                <a:spcPts val="200"/>
              </a:spcBef>
            </a:pPr>
            <a:r>
              <a:rPr sz="1400" b="0" i="0">
                <a:solidFill>
                  <a:srgbClr val="262626"/>
                </a:solidFill>
                <a:latin typeface="Calibri"/>
              </a:rPr>
              <a:t>  The correct actuarial answer — the one she was denied in 2023</a:t>
            </a:r>
          </a:p>
          <a:p>
            <a:pPr algn="l">
              <a:spcBef>
                <a:spcPts val="200"/>
              </a:spcBef>
            </a:pPr>
            <a:r>
              <a:rPr sz="1400" b="0" i="0">
                <a:solidFill>
                  <a:srgbClr val="262626"/>
                </a:solidFill>
                <a:latin typeface="Calibri"/>
              </a:rPr>
              <a:t/>
            </a:r>
          </a:p>
          <a:p>
            <a:pPr algn="l">
              <a:spcBef>
                <a:spcPts val="800"/>
              </a:spcBef>
            </a:pPr>
            <a:r>
              <a:rPr sz="1400" b="1" i="0">
                <a:solidFill>
                  <a:srgbClr val="1B5697"/>
                </a:solidFill>
                <a:latin typeface="Calibri"/>
              </a:rPr>
              <a:t>STEP 3: Submit a high-risk applicant</a:t>
            </a:r>
          </a:p>
          <a:p>
            <a:pPr algn="l">
              <a:spcBef>
                <a:spcPts val="200"/>
              </a:spcBef>
            </a:pPr>
            <a:r>
              <a:rPr sz="1400" b="0" i="0">
                <a:solidFill>
                  <a:srgbClr val="262626"/>
                </a:solidFill>
                <a:latin typeface="Calibri"/>
              </a:rPr>
              <a:t>  Older  ·  Smoker  ·  High BMI  ·  Multiple clinical flags</a:t>
            </a:r>
          </a:p>
          <a:p>
            <a:pPr algn="l">
              <a:spcBef>
                <a:spcPts val="200"/>
              </a:spcBef>
            </a:pPr>
            <a:r>
              <a:rPr sz="1400" b="0" i="0">
                <a:solidFill>
                  <a:srgbClr val="262626"/>
                </a:solidFill>
                <a:latin typeface="Calibri"/>
              </a:rPr>
              <a:t>  Show REFER or RATED decision; explain HITL queue</a:t>
            </a:r>
          </a:p>
          <a:p>
            <a:pPr algn="l">
              <a:spcBef>
                <a:spcPts val="200"/>
              </a:spcBef>
            </a:pPr>
            <a:r>
              <a:rPr sz="1400" b="0" i="0">
                <a:solidFill>
                  <a:srgbClr val="262626"/>
                </a:solidFill>
                <a:latin typeface="Calibri"/>
              </a:rPr>
              <a:t/>
            </a:r>
          </a:p>
          <a:p>
            <a:pPr algn="l">
              <a:spcBef>
                <a:spcPts val="800"/>
              </a:spcBef>
            </a:pPr>
            <a:r>
              <a:rPr sz="1400" b="1" i="0">
                <a:solidFill>
                  <a:srgbClr val="1B5697"/>
                </a:solidFill>
                <a:latin typeface="Calibri"/>
              </a:rPr>
              <a:t>STEP 4: Show HITL tab</a:t>
            </a:r>
          </a:p>
          <a:p>
            <a:pPr algn="l">
              <a:spcBef>
                <a:spcPts val="200"/>
              </a:spcBef>
            </a:pPr>
            <a:r>
              <a:rPr sz="1400" b="0" i="0">
                <a:solidFill>
                  <a:srgbClr val="262626"/>
                </a:solidFill>
                <a:latin typeface="Calibri"/>
              </a:rPr>
              <a:t>  Running referral rate  ·  cumulative review cost  ·  alignment score</a:t>
            </a:r>
          </a:p>
          <a:p>
            <a:pPr algn="l">
              <a:spcBef>
                <a:spcPts val="200"/>
              </a:spcBef>
            </a:pPr>
            <a:r>
              <a:rPr sz="1400" b="0" i="0">
                <a:solidFill>
                  <a:srgbClr val="262626"/>
                </a:solidFill>
                <a:latin typeface="Calibri"/>
              </a:rPr>
              <a:t/>
            </a:r>
          </a:p>
          <a:p>
            <a:pPr algn="l">
              <a:spcBef>
                <a:spcPts val="200"/>
              </a:spcBef>
            </a:pPr>
            <a:r>
              <a:rPr sz="1400" b="0" i="1">
                <a:solidFill>
                  <a:srgbClr val="505050"/>
                </a:solidFill>
                <a:latin typeface="Calibri"/>
              </a:rPr>
              <a:t>[This is the FastAPI prototype deployed on Render — not a mockup]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8" name="Rectangle 7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Results &amp; Evaluation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July 2026  ·  25 / 44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9000"/>
            <a:ext cx="11277295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0" b="1" i="0">
                <a:solidFill>
                  <a:srgbClr val="FFFFFF"/>
                </a:solidFill>
                <a:latin typeface="Segoe UI"/>
              </a:rPr>
              <a:t>V.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3489000"/>
            <a:ext cx="2926080" cy="548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589000"/>
            <a:ext cx="11277295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Segoe UI"/>
              </a:rPr>
              <a:t>Conclusion &amp; Future Work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AFC4E4"/>
                </a:solidFill>
                <a:latin typeface="Calibri"/>
              </a:rPr>
              <a:t>Conclusion &amp; Future 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July 2026  ·  26 / 44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4 KEY 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200000"/>
            <a:ext cx="5488647" cy="21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00000"/>
            <a:ext cx="91440" cy="21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7200" y="1300000"/>
            <a:ext cx="5288647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505050"/>
                </a:solidFill>
                <a:latin typeface="Calibri"/>
              </a:rPr>
              <a:t>FINDING 1 — EXP-005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7200" y="1620000"/>
            <a:ext cx="528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5697"/>
                </a:solidFill>
                <a:latin typeface="Calibri"/>
              </a:rPr>
              <a:t>Online adaptation beats static rules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7200" y="2020000"/>
            <a:ext cx="5288647" cy="1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+25.2%, p &lt; 0.001, d = 2.98</a:t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505050"/>
                </a:solidFill>
                <a:latin typeface="Calibri"/>
              </a:rPr>
              <a:t>LinUCB +$18,248 over Static XGB across 20 seeds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45847" y="1200000"/>
            <a:ext cx="5488647" cy="21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45847" y="1200000"/>
            <a:ext cx="91440" cy="21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5847" y="1300000"/>
            <a:ext cx="5288647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505050"/>
                </a:solidFill>
                <a:latin typeface="Calibri"/>
              </a:rPr>
              <a:t>FINDING 2 — EXP-006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95847" y="1620000"/>
            <a:ext cx="528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5697"/>
                </a:solidFill>
                <a:latin typeface="Calibri"/>
              </a:rPr>
              <a:t>No demographic bias introduced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5847" y="2020000"/>
            <a:ext cx="5288647" cy="1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85.72% &amp; 90.12% parity (Region &amp; Occupation)</a:t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505050"/>
                </a:solidFill>
                <a:latin typeface="Calibri"/>
              </a:rPr>
              <a:t>PSI GREEN/AMBER throughout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500000"/>
            <a:ext cx="5488647" cy="21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500000"/>
            <a:ext cx="91440" cy="21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7200" y="3600000"/>
            <a:ext cx="5288647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505050"/>
                </a:solidFill>
                <a:latin typeface="Calibri"/>
              </a:rPr>
              <a:t>FINDING 3 — EXP-011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7200" y="3920000"/>
            <a:ext cx="528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5697"/>
                </a:solidFill>
                <a:latin typeface="Calibri"/>
              </a:rPr>
              <a:t>Mechanism: online ridge updating, not exploration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7200" y="4320000"/>
            <a:ext cx="5288647" cy="1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Greedy-only (α = 0) ties full LinUCB (p = 0.58)</a:t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505050"/>
                </a:solidFill>
                <a:latin typeface="Calibri"/>
              </a:rPr>
              <a:t>Online learning beats frozen model regardless of exploration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45847" y="3500000"/>
            <a:ext cx="5488647" cy="21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45847" y="3500000"/>
            <a:ext cx="91440" cy="21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95847" y="3600000"/>
            <a:ext cx="5288647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505050"/>
                </a:solidFill>
                <a:latin typeface="Calibri"/>
              </a:rPr>
              <a:t>FINDING 4 — EXP-008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95847" y="3920000"/>
            <a:ext cx="528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5697"/>
                </a:solidFill>
                <a:latin typeface="Calibri"/>
              </a:rPr>
              <a:t>HITL adds value at low cost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95847" y="4320000"/>
            <a:ext cx="5288647" cy="1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+6.5% at 1.5% review rate, 2.6% cost</a:t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505050"/>
                </a:solidFill>
                <a:latin typeface="Calibri"/>
              </a:rPr>
              <a:t>Alignment score 60.0% — human oversight meaningful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Conclusion &amp; Future Work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July 2026  ·  27 / 44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LIMITATIONS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200000"/>
            <a:ext cx="5488647" cy="20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00000"/>
            <a:ext cx="91440" cy="2000000"/>
          </a:xfrm>
          <a:prstGeom prst="rect">
            <a:avLst/>
          </a:prstGeom>
          <a:solidFill>
            <a:srgbClr val="E6A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7200" y="1300000"/>
            <a:ext cx="528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7D4E00"/>
                </a:solidFill>
                <a:latin typeface="Calibri"/>
              </a:rPr>
              <a:t>Synthetic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7200" y="1700000"/>
            <a:ext cx="5288647" cy="1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2,000 records — cannot capture rare comorbidities, fraud</a:t>
            </a:r>
          </a:p>
          <a:p>
            <a:pPr algn="l">
              <a:spcBef>
                <a:spcPts val="500"/>
              </a:spcBef>
            </a:pPr>
            <a:r>
              <a:rPr sz="1300" b="0" i="0">
                <a:solidFill>
                  <a:srgbClr val="505050"/>
                </a:solidFill>
                <a:latin typeface="Calibri"/>
              </a:rPr>
              <a:t>CDHS/STEPS-anchored but not real insurance claims</a:t>
            </a:r>
          </a:p>
        </p:txBody>
      </p:sp>
      <p:sp>
        <p:nvSpPr>
          <p:cNvPr id="9" name="Rectangle 8"/>
          <p:cNvSpPr/>
          <p:nvPr/>
        </p:nvSpPr>
        <p:spPr>
          <a:xfrm>
            <a:off x="6245847" y="1200000"/>
            <a:ext cx="5488647" cy="20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45847" y="1200000"/>
            <a:ext cx="91440" cy="2000000"/>
          </a:xfrm>
          <a:prstGeom prst="rect">
            <a:avLst/>
          </a:prstGeom>
          <a:solidFill>
            <a:srgbClr val="E6A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5847" y="1300000"/>
            <a:ext cx="528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7D4E00"/>
                </a:solidFill>
                <a:latin typeface="Calibri"/>
              </a:rPr>
              <a:t>Single-period rewards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95847" y="1700000"/>
            <a:ext cx="5288647" cy="1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No multi-year claims, retention, or renewal cycle</a:t>
            </a:r>
          </a:p>
          <a:p>
            <a:pPr algn="l">
              <a:spcBef>
                <a:spcPts val="500"/>
              </a:spcBef>
            </a:pPr>
            <a:r>
              <a:rPr sz="1300" b="0" i="0">
                <a:solidFill>
                  <a:srgbClr val="505050"/>
                </a:solidFill>
                <a:latin typeface="Calibri"/>
              </a:rPr>
              <a:t>Reward is a one-shot proxy for profitability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400000"/>
            <a:ext cx="5488647" cy="20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400000"/>
            <a:ext cx="91440" cy="2000000"/>
          </a:xfrm>
          <a:prstGeom prst="rect">
            <a:avLst/>
          </a:prstGeom>
          <a:solidFill>
            <a:srgbClr val="E6A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7200" y="3500000"/>
            <a:ext cx="528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7D4E00"/>
                </a:solidFill>
                <a:latin typeface="Calibri"/>
              </a:rPr>
              <a:t>Stationarity assumption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7200" y="3900000"/>
            <a:ext cx="5288647" cy="1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Violated in practice (EXP-009/015 partially address)</a:t>
            </a:r>
          </a:p>
          <a:p>
            <a:pPr algn="l">
              <a:spcBef>
                <a:spcPts val="500"/>
              </a:spcBef>
            </a:pPr>
            <a:r>
              <a:rPr sz="1300" b="0" i="0">
                <a:solidFill>
                  <a:srgbClr val="505050"/>
                </a:solidFill>
                <a:latin typeface="Calibri"/>
              </a:rPr>
              <a:t>DiscountedLinUCB helps only marginally under shock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45847" y="3400000"/>
            <a:ext cx="5488647" cy="20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45847" y="3400000"/>
            <a:ext cx="91440" cy="2000000"/>
          </a:xfrm>
          <a:prstGeom prst="rect">
            <a:avLst/>
          </a:prstGeom>
          <a:solidFill>
            <a:srgbClr val="E6A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95847" y="3500000"/>
            <a:ext cx="528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7D4E00"/>
                </a:solidFill>
                <a:latin typeface="Calibri"/>
              </a:rPr>
              <a:t>Constant-policy ceiling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95847" y="3900000"/>
            <a:ext cx="5288647" cy="1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AlwaysRATED beats bandits by ~30%</a:t>
            </a:r>
          </a:p>
          <a:p>
            <a:pPr algn="l">
              <a:spcBef>
                <a:spcPts val="500"/>
              </a:spcBef>
            </a:pPr>
            <a:r>
              <a:rPr sz="1300" b="0" i="0">
                <a:solidFill>
                  <a:srgbClr val="505050"/>
                </a:solidFill>
                <a:latin typeface="Calibri"/>
              </a:rPr>
              <a:t>Bandits lead every admissible deployable alternative,</a:t>
            </a:r>
          </a:p>
          <a:p>
            <a:pPr algn="l">
              <a:spcBef>
                <a:spcPts val="500"/>
              </a:spcBef>
            </a:pPr>
            <a:r>
              <a:rPr sz="1300" b="0" i="0">
                <a:solidFill>
                  <a:srgbClr val="505050"/>
                </a:solidFill>
                <a:latin typeface="Calibri"/>
              </a:rPr>
              <a:t>but headroom to Oracle remains large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Conclusion &amp; Future Work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July 2026  ·  28 / 44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FUTURE 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200000"/>
            <a:ext cx="5488647" cy="20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00000"/>
            <a:ext cx="91440" cy="20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7200" y="1300000"/>
            <a:ext cx="528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5697"/>
                </a:solidFill>
                <a:latin typeface="Calibri"/>
              </a:rPr>
              <a:t>Non-stationary drift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7200" y="1700000"/>
            <a:ext cx="5288647" cy="1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DiscountedLinUCB + PSI early-warning pipeline</a:t>
            </a:r>
          </a:p>
          <a:p>
            <a:pPr algn="l">
              <a:spcBef>
                <a:spcPts val="500"/>
              </a:spcBef>
            </a:pPr>
            <a:r>
              <a:rPr sz="1300" b="0" i="0">
                <a:solidFill>
                  <a:srgbClr val="505050"/>
                </a:solidFill>
                <a:latin typeface="Calibri"/>
              </a:rPr>
              <a:t>Threshold-adaptive forgetting factor</a:t>
            </a:r>
          </a:p>
        </p:txBody>
      </p:sp>
      <p:sp>
        <p:nvSpPr>
          <p:cNvPr id="9" name="Rectangle 8"/>
          <p:cNvSpPr/>
          <p:nvPr/>
        </p:nvSpPr>
        <p:spPr>
          <a:xfrm>
            <a:off x="6245847" y="1200000"/>
            <a:ext cx="5488647" cy="20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45847" y="1200000"/>
            <a:ext cx="91440" cy="20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5847" y="1300000"/>
            <a:ext cx="528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5697"/>
                </a:solidFill>
                <a:latin typeface="Calibri"/>
              </a:rPr>
              <a:t>Neural bandit extensions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95847" y="1700000"/>
            <a:ext cx="5288647" cy="1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NeuralUCB + Neural-Linear hybrid</a:t>
            </a:r>
          </a:p>
          <a:p>
            <a:pPr algn="l">
              <a:spcBef>
                <a:spcPts val="500"/>
              </a:spcBef>
            </a:pPr>
            <a:r>
              <a:rPr sz="1300" b="0" i="0">
                <a:solidFill>
                  <a:srgbClr val="505050"/>
                </a:solidFill>
                <a:latin typeface="Calibri"/>
              </a:rPr>
              <a:t>Richer feature representations beyond 34 dimensions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400000"/>
            <a:ext cx="5488647" cy="20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400000"/>
            <a:ext cx="91440" cy="20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7200" y="3500000"/>
            <a:ext cx="528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5697"/>
                </a:solidFill>
                <a:latin typeface="Calibri"/>
              </a:rPr>
              <a:t>Live A/B deployment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7200" y="3900000"/>
            <a:ext cx="5288647" cy="1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Delayed reward via survival proxy (6–24 month claims lag)</a:t>
            </a:r>
          </a:p>
          <a:p>
            <a:pPr algn="l">
              <a:spcBef>
                <a:spcPts val="500"/>
              </a:spcBef>
            </a:pPr>
            <a:r>
              <a:rPr sz="1300" b="0" i="0">
                <a:solidFill>
                  <a:srgbClr val="505050"/>
                </a:solidFill>
                <a:latin typeface="Calibri"/>
              </a:rPr>
              <a:t>Online evaluation with real Cambodian insurers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45847" y="3400000"/>
            <a:ext cx="5488647" cy="20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45847" y="3400000"/>
            <a:ext cx="91440" cy="20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95847" y="3500000"/>
            <a:ext cx="528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5697"/>
                </a:solidFill>
                <a:latin typeface="Calibri"/>
              </a:rPr>
              <a:t>Multi-period customer value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95847" y="3900000"/>
            <a:ext cx="5288647" cy="1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CLV, retention, cross-selling</a:t>
            </a:r>
          </a:p>
          <a:p>
            <a:pPr algn="l">
              <a:spcBef>
                <a:spcPts val="500"/>
              </a:spcBef>
            </a:pPr>
            <a:r>
              <a:rPr sz="1300" b="0" i="0">
                <a:solidFill>
                  <a:srgbClr val="505050"/>
                </a:solidFill>
                <a:latin typeface="Calibri"/>
              </a:rPr>
              <a:t>Move beyond single-decision reward framing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Conclusion &amp; Future Work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July 2026  ·  29 / 44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00000"/>
            <a:ext cx="11277295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4A11D"/>
                </a:solidFill>
                <a:latin typeface="Calibri"/>
              </a:rPr>
              <a:t>2023: DECLINE.</a:t>
            </a:r>
          </a:p>
          <a:p>
            <a:pPr algn="ctr">
              <a:spcBef>
                <a:spcPts val="1800"/>
              </a:spcBef>
            </a:pPr>
            <a:r>
              <a:rPr sz="4000" b="1" i="0">
                <a:solidFill>
                  <a:srgbClr val="FFFFFF"/>
                </a:solidFill>
                <a:latin typeface="Calibri"/>
              </a:rPr>
              <a:t>2026: STANDARD.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500000"/>
            <a:ext cx="11277295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BDCEE4"/>
                </a:solidFill>
                <a:latin typeface="Calibri"/>
              </a:rPr>
              <a:t>Cambodia has hundreds of thousands of applicants like her.</a:t>
            </a:r>
          </a:p>
          <a:p>
            <a:pPr algn="ctr">
              <a:spcBef>
                <a:spcPts val="1800"/>
              </a:spcBef>
            </a:pPr>
            <a:r>
              <a:rPr sz="2000" b="1" i="0">
                <a:solidFill>
                  <a:srgbClr val="FFFFFF"/>
                </a:solidFill>
                <a:latin typeface="Calibri"/>
              </a:rPr>
              <a:t>Thank you.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3600000"/>
            <a:ext cx="11277295" cy="54864"/>
          </a:xfrm>
          <a:prstGeom prst="rect">
            <a:avLst/>
          </a:prstGeom>
          <a:solidFill>
            <a:srgbClr val="162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3700000"/>
            <a:ext cx="11277295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BDCEE4"/>
                </a:solidFill>
                <a:latin typeface="Calibri"/>
              </a:rPr>
              <a:t>APPENDIX SLIDES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57200" y="4600000"/>
            <a:ext cx="7277295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BDCEE4"/>
                </a:solidFill>
                <a:latin typeface="Calibri"/>
              </a:rPr>
              <a:t>A1: Complete Baseline Ladder</a:t>
            </a:r>
          </a:p>
          <a:p>
            <a:pPr algn="ctr">
              <a:spcBef>
                <a:spcPts val="500"/>
              </a:spcBef>
            </a:pPr>
            <a:r>
              <a:rPr sz="1300" b="0" i="0">
                <a:solidFill>
                  <a:srgbClr val="BDCEE4"/>
                </a:solidFill>
                <a:latin typeface="Calibri"/>
              </a:rPr>
              <a:t>A2: Number Reconciliation (+25.2% / +29.8% / +6.5%)</a:t>
            </a:r>
          </a:p>
          <a:p>
            <a:pPr algn="ctr">
              <a:spcBef>
                <a:spcPts val="500"/>
              </a:spcBef>
            </a:pPr>
            <a:r>
              <a:rPr sz="1300" b="0" i="0">
                <a:solidFill>
                  <a:srgbClr val="BDCEE4"/>
                </a:solidFill>
                <a:latin typeface="Calibri"/>
              </a:rPr>
              <a:t>A3: All 6 Fairness Criteria</a:t>
            </a:r>
          </a:p>
          <a:p>
            <a:pPr algn="ctr">
              <a:spcBef>
                <a:spcPts val="500"/>
              </a:spcBef>
            </a:pPr>
            <a:r>
              <a:rPr sz="1300" b="0" i="0">
                <a:solidFill>
                  <a:srgbClr val="BDCEE4"/>
                </a:solidFill>
                <a:latin typeface="Calibri"/>
              </a:rPr>
              <a:t>A4: Math Details (LinUCB update rule, PSI formula, HITL dual-update)</a:t>
            </a:r>
          </a:p>
          <a:p>
            <a:pPr algn="ctr">
              <a:spcBef>
                <a:spcPts val="500"/>
              </a:spcBef>
            </a:pPr>
            <a:r>
              <a:rPr sz="1300" b="0" i="0">
                <a:solidFill>
                  <a:srgbClr val="BDCEE4"/>
                </a:solidFill>
                <a:latin typeface="Calibri"/>
              </a:rPr>
              <a:t>A5: Full Sensitivity Tables</a:t>
            </a:r>
          </a:p>
          <a:p>
            <a:pPr algn="ctr">
              <a:spcBef>
                <a:spcPts val="500"/>
              </a:spcBef>
            </a:pPr>
            <a:r>
              <a:rPr sz="1300" b="0" i="0">
                <a:solidFill>
                  <a:srgbClr val="BDCEE4"/>
                </a:solidFill>
                <a:latin typeface="Calibri"/>
              </a:rPr>
              <a:t>A6: Why a bandit has no train/test split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162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BDCEE4"/>
                </a:solidFill>
                <a:latin typeface="Calibri"/>
              </a:rPr>
              <a:t>Q &amp; 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July 2026  ·  34 / 44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A1: COMPLETE BASELINE LADDER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00000"/>
          <a:ext cx="11277295" cy="46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323"/>
                <a:gridCol w="2819323"/>
                <a:gridCol w="2819323"/>
                <a:gridCol w="2819326"/>
              </a:tblGrid>
              <a:tr h="460000"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Policy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Cumulative Reward (mean)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95% CI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% of Oracle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</a:tr>
              <a:tr h="460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Oracle (upper bound)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$126,804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[124,187, 128,428]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100%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</a:tr>
              <a:tr h="460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LogisticOracle ‡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$123,977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[121,794, 126,126]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98.1%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</a:tr>
              <a:tr h="460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AlwaysRATED (trivial constant)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$122,287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[119,528, 124,996]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96.8%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</a:tr>
              <a:tr h="46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B5697"/>
                          </a:solidFill>
                        </a:rPr>
                        <a:t>LinTS  ← proposed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5697"/>
                          </a:solidFill>
                        </a:rPr>
                        <a:t>$93,723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5697"/>
                          </a:solidFill>
                        </a:rPr>
                        <a:t>[91,105, 96,481]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5697"/>
                          </a:solidFill>
                        </a:rPr>
                        <a:t>74.2%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</a:tr>
              <a:tr h="46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B5697"/>
                          </a:solidFill>
                        </a:rPr>
                        <a:t>LinUCB  ← proposed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5697"/>
                          </a:solidFill>
                        </a:rPr>
                        <a:t>$91,864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5697"/>
                          </a:solidFill>
                        </a:rPr>
                        <a:t>[89,139, 94,702]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5697"/>
                          </a:solidFill>
                        </a:rPr>
                        <a:t>72.7%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</a:tr>
              <a:tr h="460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Epsilon-Greedy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$76,441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[73,767, 79,107]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60.5%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0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Static XGB (incumbent)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$72,206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[70,125, 74,352]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57.1%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0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AlwaysSTANDARD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$34,684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[33,694, 35,871]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27.5%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0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Random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$1,980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[739, 3,209]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1.6%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780000"/>
            <a:ext cx="11277295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505050"/>
                </a:solidFill>
                <a:latin typeface="Calibri"/>
              </a:rPr>
              <a:t>‡ LogisticOracle: fit in-sample — not deployable. Oracle: full information upper bound. AlwaysRATED is commercially &amp; regulatorily inadmissible. Bandits lead every admissible alternative.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9" name="Rectangle 8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Appendix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July 2026  ·  A1 / 44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A2: NUMBER RECONCILIATION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200000"/>
            <a:ext cx="11277295" cy="148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00000"/>
            <a:ext cx="91440" cy="148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7200" y="1280000"/>
            <a:ext cx="1550000" cy="138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1B5697"/>
                </a:solidFill>
                <a:latin typeface="Calibri"/>
              </a:rPr>
              <a:t>+25.2%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07200" y="1280000"/>
            <a:ext cx="9327295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5697"/>
                </a:solidFill>
                <a:latin typeface="Calibri"/>
              </a:rPr>
              <a:t>EXP-005: LinUCB vs Static XGB (primary pre-registered result)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07200" y="1700000"/>
            <a:ext cx="9327295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LinUCB mean $90,540 vs Static XGB mean $72,292</a:t>
            </a:r>
          </a:p>
          <a:p>
            <a:pPr algn="l">
              <a:spcBef>
                <a:spcPts val="500"/>
              </a:spcBef>
            </a:pPr>
            <a:r>
              <a:rPr sz="1300" b="0" i="0">
                <a:solidFill>
                  <a:srgbClr val="505050"/>
                </a:solidFill>
                <a:latin typeface="Calibri"/>
              </a:rPr>
              <a:t>Paired Wilcoxon p &lt; 0.001, Cohen's d = 2.98, 20 seeds</a:t>
            </a:r>
          </a:p>
          <a:p>
            <a:pPr algn="l">
              <a:spcBef>
                <a:spcPts val="500"/>
              </a:spcBef>
            </a:pPr>
            <a:r>
              <a:rPr sz="1300" b="0" i="0">
                <a:solidFill>
                  <a:srgbClr val="505050"/>
                </a:solidFill>
                <a:latin typeface="Calibri"/>
              </a:rPr>
              <a:t>This is the headline figure cited throughout the thesis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830000"/>
            <a:ext cx="11277295" cy="148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830000"/>
            <a:ext cx="91440" cy="148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7200" y="2910000"/>
            <a:ext cx="1550000" cy="138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1B5697"/>
                </a:solidFill>
                <a:latin typeface="Calibri"/>
              </a:rPr>
              <a:t>+29.8%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07200" y="2910000"/>
            <a:ext cx="9327295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5697"/>
                </a:solidFill>
                <a:latin typeface="Calibri"/>
              </a:rPr>
              <a:t>EXP-007: LinTS vs Static XGB (CRN benchmark harness)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07200" y="3330000"/>
            <a:ext cx="9327295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LinTS mean $93,723 vs Static XGB mean $72,206</a:t>
            </a:r>
          </a:p>
          <a:p>
            <a:pPr algn="l">
              <a:spcBef>
                <a:spcPts val="500"/>
              </a:spcBef>
            </a:pPr>
            <a:r>
              <a:rPr sz="1300" b="0" i="0">
                <a:solidFill>
                  <a:srgbClr val="505050"/>
                </a:solidFill>
                <a:latin typeface="Calibri"/>
              </a:rPr>
              <a:t>Different harness (CRN — common random numbers) — not the pre-registered test</a:t>
            </a:r>
          </a:p>
          <a:p>
            <a:pPr algn="l">
              <a:spcBef>
                <a:spcPts val="500"/>
              </a:spcBef>
            </a:pPr>
            <a:r>
              <a:rPr sz="1300" b="0" i="0">
                <a:solidFill>
                  <a:srgbClr val="505050"/>
                </a:solidFill>
                <a:latin typeface="Calibri"/>
              </a:rPr>
              <a:t>Reported for completeness; primary comparison is EXP-005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460000"/>
            <a:ext cx="11277295" cy="148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4460000"/>
            <a:ext cx="91440" cy="148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7200" y="4540000"/>
            <a:ext cx="1550000" cy="138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1B5697"/>
                </a:solidFill>
                <a:latin typeface="Calibri"/>
              </a:rPr>
              <a:t>+6.5%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07200" y="4540000"/>
            <a:ext cx="9327295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5697"/>
                </a:solidFill>
                <a:latin typeface="Calibri"/>
              </a:rPr>
              <a:t>EXP-008: HITL reward vs vanilla bandit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7200" y="4960000"/>
            <a:ext cx="9327295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HITL $102,100 vs vanilla $95,872 (same seed=42)</a:t>
            </a:r>
          </a:p>
          <a:p>
            <a:pPr algn="l">
              <a:spcBef>
                <a:spcPts val="500"/>
              </a:spcBef>
            </a:pPr>
            <a:r>
              <a:rPr sz="1300" b="0" i="0">
                <a:solidFill>
                  <a:srgbClr val="505050"/>
                </a:solidFill>
                <a:latin typeface="Calibri"/>
              </a:rPr>
              <a:t>Different baseline (vanilla bandit, NOT Static XGB or AlwaysRATED)</a:t>
            </a:r>
          </a:p>
          <a:p>
            <a:pPr algn="l">
              <a:spcBef>
                <a:spcPts val="500"/>
              </a:spcBef>
            </a:pPr>
            <a:r>
              <a:rPr sz="1300" b="0" i="0">
                <a:solidFill>
                  <a:srgbClr val="505050"/>
                </a:solidFill>
                <a:latin typeface="Calibri"/>
              </a:rPr>
              <a:t>Measures incremental value of human oversight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Appendix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July 2026  ·  A2 / 44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A3: ALL 6 FAIRNESS CRITERIA (EXP-006)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200000"/>
            <a:ext cx="5488647" cy="880000"/>
          </a:xfrm>
          <a:prstGeom prst="rect">
            <a:avLst/>
          </a:prstGeom>
          <a:solidFill>
            <a:srgbClr val="E7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00000"/>
            <a:ext cx="91440" cy="88000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7200" y="1270000"/>
            <a:ext cx="5288647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5697"/>
                </a:solidFill>
                <a:latin typeface="Calibri"/>
              </a:rPr>
              <a:t>Criterion 1: PSI Region ≤ 0.25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7200" y="1540000"/>
            <a:ext cx="5288647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5697"/>
                </a:solidFill>
                <a:latin typeface="Calibri"/>
              </a:rPr>
              <a:t>PSI = 0.082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7200" y="1810000"/>
            <a:ext cx="5288647" cy="220000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E8B57"/>
                </a:solidFill>
                <a:latin typeface="Calibri"/>
              </a:rPr>
              <a:t>GREEN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45847" y="1200000"/>
            <a:ext cx="5488647" cy="880000"/>
          </a:xfrm>
          <a:prstGeom prst="rect">
            <a:avLst/>
          </a:prstGeom>
          <a:solidFill>
            <a:srgbClr val="FE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45847" y="1200000"/>
            <a:ext cx="91440" cy="880000"/>
          </a:xfrm>
          <a:prstGeom prst="rect">
            <a:avLst/>
          </a:prstGeom>
          <a:solidFill>
            <a:srgbClr val="E6A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5847" y="1270000"/>
            <a:ext cx="5288647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5697"/>
                </a:solidFill>
                <a:latin typeface="Calibri"/>
              </a:rPr>
              <a:t>Criterion 2: PSI Occupation ≤ 0.25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95847" y="1540000"/>
            <a:ext cx="5288647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5697"/>
                </a:solidFill>
                <a:latin typeface="Calibri"/>
              </a:rPr>
              <a:t>PSI = 0.123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5847" y="1810000"/>
            <a:ext cx="5288647" cy="220000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6A62E"/>
                </a:solidFill>
                <a:latin typeface="Calibri"/>
              </a:rPr>
              <a:t>AMBER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180000"/>
            <a:ext cx="5488647" cy="880000"/>
          </a:xfrm>
          <a:prstGeom prst="rect">
            <a:avLst/>
          </a:prstGeom>
          <a:solidFill>
            <a:srgbClr val="E7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2180000"/>
            <a:ext cx="91440" cy="88000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7200" y="2250000"/>
            <a:ext cx="5288647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5697"/>
                </a:solidFill>
                <a:latin typeface="Calibri"/>
              </a:rPr>
              <a:t>Criterion 3: EEOC 4/5 rule — Region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7200" y="2520000"/>
            <a:ext cx="5288647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5697"/>
                </a:solidFill>
                <a:latin typeface="Calibri"/>
              </a:rPr>
              <a:t>85.72% ≥ 80%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7200" y="2790000"/>
            <a:ext cx="5288647" cy="220000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E8B57"/>
                </a:solidFill>
                <a:latin typeface="Calibri"/>
              </a:rPr>
              <a:t>PASS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45847" y="2180000"/>
            <a:ext cx="5488647" cy="880000"/>
          </a:xfrm>
          <a:prstGeom prst="rect">
            <a:avLst/>
          </a:prstGeom>
          <a:solidFill>
            <a:srgbClr val="E7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45847" y="2180000"/>
            <a:ext cx="91440" cy="88000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95847" y="2250000"/>
            <a:ext cx="5288647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5697"/>
                </a:solidFill>
                <a:latin typeface="Calibri"/>
              </a:rPr>
              <a:t>Criterion 4: EEOC 4/5 rule — Occupation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95847" y="2520000"/>
            <a:ext cx="5288647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5697"/>
                </a:solidFill>
                <a:latin typeface="Calibri"/>
              </a:rPr>
              <a:t>90.12% ≥ 80%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95847" y="2790000"/>
            <a:ext cx="5288647" cy="220000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E8B57"/>
                </a:solidFill>
                <a:latin typeface="Calibri"/>
              </a:rPr>
              <a:t>PASS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3160000"/>
            <a:ext cx="5488647" cy="880000"/>
          </a:xfrm>
          <a:prstGeom prst="rect">
            <a:avLst/>
          </a:prstGeom>
          <a:solidFill>
            <a:srgbClr val="E7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3160000"/>
            <a:ext cx="91440" cy="88000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7200" y="3230000"/>
            <a:ext cx="5288647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5697"/>
                </a:solidFill>
                <a:latin typeface="Calibri"/>
              </a:rPr>
              <a:t>Criterion 5: Permutation test — Region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7200" y="3500000"/>
            <a:ext cx="5288647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5697"/>
                </a:solidFill>
                <a:latin typeface="Calibri"/>
              </a:rPr>
              <a:t>p = 0.132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7200" y="3770000"/>
            <a:ext cx="5288647" cy="220000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E8B57"/>
                </a:solidFill>
                <a:latin typeface="Calibri"/>
              </a:rPr>
              <a:t>PASS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45847" y="3160000"/>
            <a:ext cx="5488647" cy="880000"/>
          </a:xfrm>
          <a:prstGeom prst="rect">
            <a:avLst/>
          </a:prstGeom>
          <a:solidFill>
            <a:srgbClr val="FE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45847" y="3160000"/>
            <a:ext cx="91440" cy="880000"/>
          </a:xfrm>
          <a:prstGeom prst="rect">
            <a:avLst/>
          </a:prstGeom>
          <a:solidFill>
            <a:srgbClr val="E6A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95847" y="3230000"/>
            <a:ext cx="5288647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5697"/>
                </a:solidFill>
                <a:latin typeface="Calibri"/>
              </a:rPr>
              <a:t>Criterion 6: Permutation test — Occupation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95847" y="3500000"/>
            <a:ext cx="5288647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5697"/>
                </a:solidFill>
                <a:latin typeface="Calibri"/>
              </a:rPr>
              <a:t>p &lt; 0.001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95847" y="3770000"/>
            <a:ext cx="5288647" cy="220000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6A62E"/>
                </a:solidFill>
                <a:latin typeface="Calibri"/>
              </a:rPr>
              <a:t>FAILED-with-interpretation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4190000"/>
            <a:ext cx="11277295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05050"/>
                </a:solidFill>
                <a:latin typeface="Calibri"/>
              </a:rPr>
              <a:t>Criterion 6: statistically significant disparity detected under permutation test. PSI = 0.123 (AMBER — monitor only). Criterion 6 is FAILED-with-interpretation, not a hard stop.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Appendix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July 2026  ·  A3 / 44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A4: MATHEMATICAL DETAILS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200000"/>
            <a:ext cx="5488647" cy="48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00000"/>
            <a:ext cx="91440" cy="48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7200" y="1300000"/>
            <a:ext cx="528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5697"/>
                </a:solidFill>
                <a:latin typeface="Calibri"/>
              </a:rPr>
              <a:t>LinUCB UPDATE RULE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7200" y="1720000"/>
            <a:ext cx="5288647" cy="4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Design matrix:  A ← A + xₜ xₜᵀ</a:t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262626"/>
                </a:solidFill>
                <a:latin typeface="Calibri"/>
              </a:rPr>
              <a:t>Reward vector:  b ← b + rₜ xₜ</a:t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262626"/>
                </a:solidFill>
                <a:latin typeface="Calibri"/>
              </a:rPr>
              <a:t>Ridge estimate: θ̂ = A⁻¹ b</a:t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262626"/>
                </a:solidFill>
                <a:latin typeface="Calibri"/>
              </a:rPr>
              <a:t/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262626"/>
                </a:solidFill>
                <a:latin typeface="Calibri"/>
              </a:rPr>
              <a:t>UCB score:</a:t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262626"/>
                </a:solidFill>
                <a:latin typeface="Calibri"/>
              </a:rPr>
              <a:t>  p(x) = θ̂ᵀ x + α √(xᵀ A⁻¹ x)</a:t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262626"/>
                </a:solidFill>
                <a:latin typeface="Calibri"/>
              </a:rPr>
              <a:t/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262626"/>
                </a:solidFill>
                <a:latin typeface="Calibri"/>
              </a:rPr>
              <a:t>PSI formula:</a:t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262626"/>
                </a:solidFill>
                <a:latin typeface="Calibri"/>
              </a:rPr>
              <a:t>  PSI = Σ (P_new − P_old) × ln(P_new / P_old)</a:t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262626"/>
                </a:solidFill>
                <a:latin typeface="Calibri"/>
              </a:rPr>
              <a:t/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262626"/>
                </a:solidFill>
                <a:latin typeface="Calibri"/>
              </a:rPr>
              <a:t>HITL dual-update:</a:t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262626"/>
                </a:solidFill>
                <a:latin typeface="Calibri"/>
              </a:rPr>
              <a:t>  If human overrides → update on human label</a:t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262626"/>
                </a:solidFill>
                <a:latin typeface="Calibri"/>
              </a:rPr>
              <a:t>  Else update on bandit label</a:t>
            </a:r>
          </a:p>
        </p:txBody>
      </p:sp>
      <p:sp>
        <p:nvSpPr>
          <p:cNvPr id="9" name="Rectangle 8"/>
          <p:cNvSpPr/>
          <p:nvPr/>
        </p:nvSpPr>
        <p:spPr>
          <a:xfrm>
            <a:off x="6245847" y="1200000"/>
            <a:ext cx="5488647" cy="48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45847" y="1200000"/>
            <a:ext cx="91440" cy="48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5847" y="1300000"/>
            <a:ext cx="528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5697"/>
                </a:solidFill>
                <a:latin typeface="Calibri"/>
              </a:rPr>
              <a:t>KEY HYPERPARAMETERS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95847" y="1750000"/>
          <a:ext cx="5288647" cy="4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4323"/>
                <a:gridCol w="2644324"/>
              </a:tblGrid>
              <a:tr h="410000"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Value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</a:tr>
              <a:tr h="4100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62626"/>
                          </a:solidFill>
                        </a:rPr>
                        <a:t>LinUCB α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62626"/>
                          </a:solidFill>
                        </a:rPr>
                        <a:t>1.0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</a:tr>
              <a:tr h="4100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62626"/>
                          </a:solidFill>
                        </a:rPr>
                        <a:t>LinTS v²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62626"/>
                          </a:solidFill>
                        </a:rPr>
                        <a:t>1.0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00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62626"/>
                          </a:solidFill>
                        </a:rPr>
                        <a:t>Ridge λ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62626"/>
                          </a:solidFill>
                        </a:rPr>
                        <a:t>1.0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</a:tr>
              <a:tr h="4100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62626"/>
                          </a:solidFill>
                        </a:rPr>
                        <a:t>Horizon 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62626"/>
                          </a:solidFill>
                        </a:rPr>
                        <a:t>5,000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00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62626"/>
                          </a:solidFill>
                        </a:rPr>
                        <a:t>Seeds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62626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</a:tr>
              <a:tr h="4100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62626"/>
                          </a:solidFill>
                        </a:rPr>
                        <a:t>HITL threshold 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62626"/>
                          </a:solidFill>
                        </a:rPr>
                        <a:t>0.7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00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62626"/>
                          </a:solidFill>
                        </a:rPr>
                        <a:t>Discount γ (EXP-015)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62626"/>
                          </a:solidFill>
                        </a:rPr>
                        <a:t>0.999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</a:tr>
              <a:tr h="4100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62626"/>
                          </a:solidFill>
                        </a:rPr>
                        <a:t>PSI AMBER threshold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62626"/>
                          </a:solidFill>
                        </a:rPr>
                        <a:t>0.10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00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62626"/>
                          </a:solidFill>
                        </a:rPr>
                        <a:t>PSI RED threshold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62626"/>
                          </a:solidFill>
                        </a:rPr>
                        <a:t>0.25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Appendix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July 2026  ·  A4 / 44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A5: SENSITIVITY ANALYSIS (EXP-012)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00000"/>
          <a:ext cx="5074782" cy="27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594"/>
                <a:gridCol w="1691594"/>
                <a:gridCol w="1691594"/>
              </a:tblGrid>
              <a:tr h="450000"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α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Cumul. Reward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Result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62626"/>
                          </a:solidFill>
                        </a:rPr>
                        <a:t>0.1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62626"/>
                          </a:solidFill>
                        </a:rPr>
                        <a:t>$90,645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62626"/>
                          </a:solidFill>
                        </a:rPr>
                        <a:t>−0.8%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62626"/>
                          </a:solidFill>
                        </a:rPr>
                        <a:t>0.5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62626"/>
                          </a:solidFill>
                        </a:rPr>
                        <a:t>$88,473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62626"/>
                          </a:solidFill>
                        </a:rPr>
                        <a:t>−3.2%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E8B57"/>
                          </a:solidFill>
                        </a:rPr>
                        <a:t>1.0 (default)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E8B57"/>
                          </a:solidFill>
                        </a:rPr>
                        <a:t>$91,378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E8B57"/>
                          </a:solidFill>
                        </a:rPr>
                        <a:t>BEST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62626"/>
                          </a:solidFill>
                        </a:rPr>
                        <a:t>2.0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62626"/>
                          </a:solidFill>
                        </a:rPr>
                        <a:t>$89,953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62626"/>
                          </a:solidFill>
                        </a:rPr>
                        <a:t>−1.6%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62626"/>
                          </a:solidFill>
                        </a:rPr>
                        <a:t>5.0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62626"/>
                          </a:solidFill>
                        </a:rPr>
                        <a:t>$90,959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62626"/>
                          </a:solidFill>
                        </a:rPr>
                        <a:t>−0.5%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1150000"/>
            <a:ext cx="5074782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5697"/>
                </a:solidFill>
                <a:latin typeface="Calibri"/>
              </a:rPr>
              <a:t>α sweep — LinUCB  ·  EXP-012 (10 seeds)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731982" y="1300000"/>
          <a:ext cx="6002512" cy="27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0837"/>
                <a:gridCol w="2000837"/>
                <a:gridCol w="2000838"/>
              </a:tblGrid>
              <a:tr h="450000"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Adverse-selection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Cumul. Reward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Δ vs baseline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62626"/>
                          </a:solidFill>
                        </a:rPr>
                        <a:t>0%  (none)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62626"/>
                          </a:solidFill>
                        </a:rPr>
                        <a:t>$90,540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62626"/>
                          </a:solidFill>
                        </a:rPr>
                        <a:t>+0%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62626"/>
                          </a:solidFill>
                        </a:rPr>
                        <a:t>5%  (low)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62626"/>
                          </a:solidFill>
                        </a:rPr>
                        <a:t>$88,612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62626"/>
                          </a:solidFill>
                        </a:rPr>
                        <a:t>−2.1%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62626"/>
                          </a:solidFill>
                        </a:rPr>
                        <a:t>10% (moderate)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62626"/>
                          </a:solidFill>
                        </a:rPr>
                        <a:t>$85,933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62626"/>
                          </a:solidFill>
                        </a:rPr>
                        <a:t>−5.1%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62626"/>
                          </a:solidFill>
                        </a:rPr>
                        <a:t>20% (high)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62626"/>
                          </a:solidFill>
                        </a:rPr>
                        <a:t>$79,847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62626"/>
                          </a:solidFill>
                        </a:rPr>
                        <a:t>−11.8%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62626"/>
                          </a:solidFill>
                        </a:rPr>
                        <a:t>30% (extreme)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62626"/>
                          </a:solidFill>
                        </a:rPr>
                        <a:t>$73,201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62626"/>
                          </a:solidFill>
                        </a:rPr>
                        <a:t>−19.2%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731982" y="1150000"/>
            <a:ext cx="6002512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5697"/>
                </a:solidFill>
                <a:latin typeface="Calibri"/>
              </a:rPr>
              <a:t>Adverse-selection rate sweep — LinUCB reward impact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050000"/>
            <a:ext cx="11277295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5697"/>
                </a:solidFill>
                <a:latin typeface="Calibri"/>
              </a:rPr>
              <a:t>Elasticity slope sweep — LinUCB vs Static XGB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4300000"/>
          <a:ext cx="11277295" cy="15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459"/>
                <a:gridCol w="2255459"/>
                <a:gridCol w="2255459"/>
                <a:gridCol w="2255459"/>
                <a:gridCol w="2255459"/>
              </a:tblGrid>
              <a:tr h="263333"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Elasticity Slope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LinUCB Reward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Static XGB Reward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Difference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% Gain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</a:tr>
              <a:tr h="263333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1.5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$61,204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$49,817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+$11,387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+22.8%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</a:tr>
              <a:tr h="263333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2.5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$75,892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$60,943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+$14,949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+24.5%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</a:tr>
              <a:tr h="263333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E8B57"/>
                          </a:solidFill>
                        </a:rPr>
                        <a:t>3.5 (default)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E8B57"/>
                          </a:solidFill>
                        </a:rPr>
                        <a:t>$90,540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E8B57"/>
                          </a:solidFill>
                        </a:rPr>
                        <a:t>$72,292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E8B57"/>
                          </a:solidFill>
                        </a:rPr>
                        <a:t>+$18,248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E8B57"/>
                          </a:solidFill>
                        </a:rPr>
                        <a:t>+25.2%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</a:tr>
              <a:tr h="263333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4.5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$105,183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$83,641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+$21,542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+25.7%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</a:tr>
              <a:tr h="263335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5.5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$119,827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$95,012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+$24,815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+26.1%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Appendix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July 2026  ·  A5 / 44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A6: WHY A BANDIT HAS NO TRAIN/TEST SPLIT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10000"/>
            <a:ext cx="11277295" cy="4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05050"/>
                </a:solidFill>
                <a:latin typeface="Calibri"/>
              </a:rPr>
              <a:t>A contextual bandit learns online — there is no train/test split. Here is what that means, and how generalisation is measured instead.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680000"/>
            <a:ext cx="5488647" cy="264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680000"/>
            <a:ext cx="91440" cy="264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7200" y="1800000"/>
            <a:ext cx="530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5697"/>
                </a:solidFill>
                <a:latin typeface="Segoe UI"/>
              </a:rPr>
              <a:t>Supervised ML  (e.g. Static XGB incumbent)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7200" y="2220000"/>
            <a:ext cx="5308647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05050"/>
                </a:solidFill>
                <a:latin typeface="Calibri"/>
              </a:rPr>
              <a:t>Split data: train / validation / test</a:t>
            </a:r>
          </a:p>
          <a:p>
            <a:pPr algn="l">
              <a:spcBef>
                <a:spcPts val="400"/>
              </a:spcBef>
            </a:pPr>
            <a:r>
              <a:rPr sz="1300" b="0" i="0">
                <a:solidFill>
                  <a:srgbClr val="505050"/>
                </a:solidFill>
                <a:latin typeface="Calibri"/>
              </a:rPr>
              <a:t>Fit once on the training set</a:t>
            </a:r>
          </a:p>
          <a:p>
            <a:pPr algn="l">
              <a:spcBef>
                <a:spcPts val="400"/>
              </a:spcBef>
            </a:pPr>
            <a:r>
              <a:rPr sz="1300" b="0" i="0">
                <a:solidFill>
                  <a:srgbClr val="505050"/>
                </a:solidFill>
                <a:latin typeface="Calibri"/>
              </a:rPr>
              <a:t>Freeze the weights; deploy unchanged</a:t>
            </a:r>
          </a:p>
          <a:p>
            <a:pPr algn="l">
              <a:spcBef>
                <a:spcPts val="400"/>
              </a:spcBef>
            </a:pPr>
            <a:r>
              <a:rPr sz="1300" b="0" i="0">
                <a:solidFill>
                  <a:srgbClr val="505050"/>
                </a:solidFill>
                <a:latin typeface="Calibri"/>
              </a:rPr>
              <a:t>Generalisation = score on a held-out test set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45847" y="1680000"/>
            <a:ext cx="5488647" cy="2640000"/>
          </a:xfrm>
          <a:prstGeom prst="rect">
            <a:avLst/>
          </a:prstGeom>
          <a:solidFill>
            <a:srgbClr val="D4E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45847" y="1680000"/>
            <a:ext cx="91440" cy="264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5847" y="1800000"/>
            <a:ext cx="530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5697"/>
                </a:solidFill>
                <a:latin typeface="Segoe UI"/>
              </a:rPr>
              <a:t>Contextual bandit  (LinUCB / LinTS)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95847" y="2220000"/>
            <a:ext cx="5308647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05050"/>
                </a:solidFill>
                <a:latin typeface="Calibri"/>
              </a:rPr>
              <a:t>No split — meets applicants one at a time</a:t>
            </a:r>
          </a:p>
          <a:p>
            <a:pPr algn="l">
              <a:spcBef>
                <a:spcPts val="400"/>
              </a:spcBef>
            </a:pPr>
            <a:r>
              <a:rPr sz="1300" b="0" i="0">
                <a:solidFill>
                  <a:srgbClr val="505050"/>
                </a:solidFill>
                <a:latin typeface="Calibri"/>
              </a:rPr>
              <a:t>Each round: select arm → observe reward → update</a:t>
            </a:r>
          </a:p>
          <a:p>
            <a:pPr algn="l">
              <a:spcBef>
                <a:spcPts val="400"/>
              </a:spcBef>
            </a:pPr>
            <a:r>
              <a:rPr sz="1300" b="0" i="0">
                <a:solidFill>
                  <a:srgbClr val="505050"/>
                </a:solidFill>
                <a:latin typeface="Calibri"/>
              </a:rPr>
              <a:t>Every round is BOTH ‘train’ and ‘test’</a:t>
            </a:r>
          </a:p>
          <a:p>
            <a:pPr algn="l">
              <a:spcBef>
                <a:spcPts val="400"/>
              </a:spcBef>
            </a:pPr>
            <a:r>
              <a:rPr sz="1300" b="0" i="0">
                <a:solidFill>
                  <a:srgbClr val="505050"/>
                </a:solidFill>
                <a:latin typeface="Calibri"/>
              </a:rPr>
              <a:t>Ridge prior λ = 1.0 regularises online — no static fit to overfit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400000"/>
            <a:ext cx="11277295" cy="1700000"/>
          </a:xfrm>
          <a:prstGeom prst="rect">
            <a:avLst/>
          </a:prstGeom>
          <a:solidFill>
            <a:srgbClr val="E7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400000"/>
            <a:ext cx="91440" cy="170000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7200" y="4510000"/>
            <a:ext cx="10917295" cy="15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E8B57"/>
                </a:solidFill>
                <a:latin typeface="Calibri"/>
              </a:rPr>
              <a:t>HOW WE EVALUATE INSTEAD — generalisation without a holdout</a:t>
            </a:r>
          </a:p>
          <a:p>
            <a:pPr algn="l">
              <a:spcBef>
                <a:spcPts val="800"/>
              </a:spcBef>
            </a:pPr>
            <a:r>
              <a:rPr sz="1300" b="0" i="0">
                <a:solidFill>
                  <a:srgbClr val="262626"/>
                </a:solidFill>
                <a:latin typeface="Calibri"/>
              </a:rPr>
              <a:t>• Performance = cumulative regret vs the Oracle, averaged over 20 independent random seeds — the seeds play the role of the held-out test set.</a:t>
            </a:r>
          </a:p>
          <a:p>
            <a:pPr algn="l">
              <a:spcBef>
                <a:spcPts val="500"/>
              </a:spcBef>
            </a:pPr>
            <a:r>
              <a:rPr sz="1300" b="0" i="0">
                <a:solidFill>
                  <a:srgbClr val="262626"/>
                </a:solidFill>
                <a:latin typeface="Calibri"/>
              </a:rPr>
              <a:t>• Pre-registered pass criteria + fixed seeds → fully reproducible; no test-set leakage is possible because there is no test set to leak.</a:t>
            </a:r>
          </a:p>
          <a:p>
            <a:pPr algn="l">
              <a:spcBef>
                <a:spcPts val="500"/>
              </a:spcBef>
            </a:pPr>
            <a:r>
              <a:rPr sz="1300" b="0" i="0">
                <a:solidFill>
                  <a:srgbClr val="262626"/>
                </a:solidFill>
                <a:latin typeface="Calibri"/>
              </a:rPr>
              <a:t>• The Static XGB incumbent IS fit offline and frozen — so the benchmark is fair: a supervised model at its best vs a bandit learning from scratch.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Appendix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July 2026  ·  A6 / 44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