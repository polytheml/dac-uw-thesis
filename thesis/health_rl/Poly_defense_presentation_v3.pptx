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</a:rPr>
              <a:t>ADAPTIVE HEALTH INSURANCE UNDERWRITING</a:t>
            </a:r>
          </a:p>
          <a:p>
            <a:pPr algn="ctr">
              <a:spcBef>
                <a:spcPts val="600"/>
              </a:spcBef>
            </a:pPr>
            <a:r>
              <a:rPr sz="2400" b="1" i="0">
                <a:solidFill>
                  <a:srgbClr val="FFFFFF"/>
                </a:solidFill>
              </a:rPr>
              <a:t>VIA CONTEXTUAL BANDITS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0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F3A6E"/>
                </a:solidFill>
              </a:rPr>
              <a:t>A Reinforcement Learning Approach for Cambodia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2457200" y="2200000"/>
            <a:ext cx="7277295" cy="8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07200" y="2300000"/>
            <a:ext cx="69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A6E"/>
                </a:solidFill>
              </a:rPr>
              <a:t>LUN CHANPOLY</a:t>
            </a:r>
          </a:p>
          <a:p>
            <a:pPr algn="ctr">
              <a:spcBef>
                <a:spcPts val="600"/>
              </a:spcBef>
            </a:pPr>
            <a:r>
              <a:rPr sz="1200" b="0" i="0">
                <a:solidFill>
                  <a:srgbClr val="505050"/>
                </a:solidFill>
              </a:rPr>
              <a:t>ITC-AMS  ·  July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Supervisor: Dr. HAS Sothea  ·  DAC Advisor: Mr. ON Radet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Decent Actuarial Consultants Co., Ltd.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Title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– / 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TABLE OF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7200" y="140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7200" y="140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3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200" y="223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200" y="223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6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200" y="306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7200" y="306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9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200" y="389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7200" y="389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2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200" y="472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200" y="472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Conclusion &amp; Future Work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Contents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–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MEET SOPHEA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200000" cy="5257376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00000"/>
            <a:ext cx="91440" cy="52573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00" y="1240000"/>
            <a:ext cx="500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SOPHEA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00" y="1740000"/>
            <a:ext cx="50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04040"/>
                </a:solidFill>
              </a:rPr>
              <a:t>Age 42  ·  Kampong Cham Province  ·  Rice Farmer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00" y="2180000"/>
            <a:ext cx="4950000" cy="27432"/>
          </a:xfrm>
          <a:prstGeom prst="rect">
            <a:avLst/>
          </a:prstGeom>
          <a:solidFill>
            <a:srgbClr val="CBD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00" y="2280000"/>
            <a:ext cx="5000000" cy="395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BMI:  </a:t>
            </a:r>
            <a:r>
              <a:rPr sz="1200">
                <a:solidFill>
                  <a:srgbClr val="505050"/>
                </a:solidFill>
              </a:rPr>
              <a:t>24.1  (Normal range)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Smoker:  </a:t>
            </a:r>
            <a:r>
              <a:rPr sz="1200">
                <a:solidFill>
                  <a:srgbClr val="505050"/>
                </a:solidFill>
              </a:rPr>
              <a:t>No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Physical Activity:  </a:t>
            </a:r>
            <a:r>
              <a:rPr sz="1200">
                <a:solidFill>
                  <a:srgbClr val="505050"/>
                </a:solidFill>
              </a:rPr>
              <a:t>High  (field farming)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Clinical Flag:  </a:t>
            </a:r>
            <a:r>
              <a:rPr sz="1200">
                <a:solidFill>
                  <a:srgbClr val="505050"/>
                </a:solidFill>
              </a:rPr>
              <a:t>Hypertension  (managed)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Wealth Index:  </a:t>
            </a:r>
            <a:r>
              <a:rPr sz="1200">
                <a:solidFill>
                  <a:srgbClr val="505050"/>
                </a:solidFill>
              </a:rPr>
              <a:t>Low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Education:  </a:t>
            </a:r>
            <a:r>
              <a:rPr sz="1200">
                <a:solidFill>
                  <a:srgbClr val="505050"/>
                </a:solidFill>
              </a:rPr>
              <a:t>Primary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37200" y="1180000"/>
            <a:ext cx="6054495" cy="1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</a:rPr>
              <a:t>In 2023, Sophea walked into a private insurer in Phnom Penh and applied for voluntary health insurance.
The static underwriting system checked two fields.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37200" y="265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37200" y="2650000"/>
            <a:ext cx="73152" cy="55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67200" y="278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OCCUPATION:  Agriculture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37200" y="332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37200" y="3320000"/>
            <a:ext cx="73152" cy="55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7200" y="345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CONDITION:  Hypertension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7200" y="3950000"/>
            <a:ext cx="6054495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Both thresholds crossed. System decision: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37200" y="4350000"/>
            <a:ext cx="6054495" cy="82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37200" y="4350000"/>
            <a:ext cx="109728" cy="82000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7200" y="4510000"/>
            <a:ext cx="58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02020"/>
                </a:solidFill>
              </a:rPr>
              <a:t>DECLINE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37200" y="5330000"/>
            <a:ext cx="60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Sophea leaves without coverage.</a:t>
            </a:r>
          </a:p>
          <a:p>
            <a:pPr algn="l">
              <a:spcBef>
                <a:spcPts val="800"/>
              </a:spcBef>
            </a:pPr>
            <a:r>
              <a:rPr sz="1300" b="1" i="0">
                <a:solidFill>
                  <a:srgbClr val="1F3A6E"/>
                </a:solidFill>
              </a:rPr>
              <a:t>Was that the right answer?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ABOUT DECENT ACTUARIAL CONSULTANTS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2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Appointed Actuary Services — Life &amp; General Insurance, Southeast Asia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8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8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7200" y="210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IFRS 17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6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6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7200" y="288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Product Development — Life &amp; General Insurance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847" y="120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847" y="120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847" y="132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Asset–Liability Management &amp; Enterprise Risk Management (ALM/ERM)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847" y="198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5847" y="198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847" y="210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Mergers &amp; Acquisitions Advisory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5847" y="276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5847" y="276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847" y="288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Education &amp; Cooperation — University partnerships, government-academia-industry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95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HQ: Taipei, Taiwan  ·  Regional offices: Phnom Penh, Vietnam, SEA  ·  Internship: March–June 2026  ·  Advisor: Mr. ON Radet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CAMBODIA HEALTH INSURANCE 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3800000" cy="1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200" y="1300000"/>
            <a:ext cx="36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</a:rPr>
              <a:t>&lt; 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200" y="2200000"/>
            <a:ext cx="3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HEALTH-INSURANCE PENETRATION (2023 EST.)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7200" y="324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NSSF covers formal-sector workers only (~16% of population)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8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7200" y="382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Private underwriting is manual and rule-based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6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7200" y="440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Agent networks consume 15–30% of premium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4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7200" y="498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No demographic-parity monitoring in practice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1200000"/>
            <a:ext cx="5200000" cy="38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00000" y="1200000"/>
            <a:ext cx="91440" cy="38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0000" y="1300000"/>
            <a:ext cx="4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4B5"/>
                </a:solidFill>
              </a:rPr>
              <a:t>ALIGNMENT WITH CAMBODIA'S SDGs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80000" y="1800000"/>
            <a:ext cx="9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90000" y="20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SDG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0000" y="18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Good Health &amp; Well-being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000" y="21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Widen voluntary health-insurance access beyond NSSF formal sector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80000" y="2900000"/>
            <a:ext cx="9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000" y="31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SDG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80000" y="29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No Poverty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80000" y="32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Shield households from catastrophic out-of-pocket health costs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80000" y="4000000"/>
            <a:ext cx="9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90000" y="42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SDG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80000" y="40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Reduced Inequalities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0000" y="43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PSI fairness guardrail keeps underwriting demographically fair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6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Sophea represents the 98% the current system was not built for.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3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2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Static Thresholds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4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Fixed cutoffs ignore applicant context — Sophea's BMI, activity, and non-smoking status are invisible to the rule engine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5847" y="120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5847" y="12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847" y="132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No Online Adaptation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5847" y="174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Claims feedback never reaches the model — static weights do not update from observed outcomes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5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5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5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Demographic Blindspot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9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No parity metric is tracked — systematic patterns against rural or occupational groups emerge invisibly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847" y="345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5847" y="345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847" y="35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No Intelligent Triage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847" y="399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Human experts review routine cases instead of the borderline ones — like Sophea's — that need expert judgment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4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7200" y="153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200" y="140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Do contextual bandits achieve higher cumulative reward and lower regret than the Static XGBoost baseline over 5,000 rounds?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5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200" y="268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7200" y="255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Does the bandit framework maintain demographic fairness (regional and occupational approval-rate parity, PSI) without explicit fairness constraints?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0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7200" y="383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370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What is the relative performance ranking of LinTS, LinUCB, Epsilon-Greedy, and Static XGB?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65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7200" y="498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485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Is the framework technically feasible for deployment on low-resource mobile infrastructure (&lt;200 ms latency)?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5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PROJECT OBJECTIVES &amp;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50000"/>
            <a:ext cx="5488647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74B5"/>
                </a:solidFill>
              </a:rPr>
              <a:t>4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7200" y="1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200" y="1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Synthetic Cambodia Health Insurance Dataset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2,000 applicants · CDHS/STEPS/ILO/WHO anchored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7200" y="2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7200" y="2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Contextual Bandit Underwriting Engine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LinUCB · LinTS · Epsilon-Greedy · &lt;200 ms latency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200" y="3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200" y="3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Actuarial Reward Simulator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Profit-based · adverse selection · elasticity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7200" y="4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200" y="4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PSI Fairness Monitoring Framework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GREEN/AMBER/RED alerts · region + occupation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847" y="1150000"/>
            <a:ext cx="5488647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74B5"/>
                </a:solidFill>
              </a:rPr>
              <a:t>5 SECONDARY OBJECTIVES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5847" y="155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5847" y="181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5847" y="170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2,000-record CDHS-anchored synthetic dataset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5847" y="250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5847" y="276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5847" y="265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Benchmark LinUCB, LinTS, EpsGreedy vs Static XGB (5,000 rounds)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847" y="345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5847" y="371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5847" y="360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PSI fairness guardrails — no demographic drift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847" y="440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5847" y="466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5847" y="455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EEOC four-fifths approval-rate parity audit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45847" y="535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5847" y="561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5847" y="550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Human-in-the-loop wrapper — reward gain vs review cost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6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29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</a:rPr>
              <a:t>II.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57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70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Literature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Literature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7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7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Health Insurance in Emerging Markets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69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CDHS 2021-22, ILO 2023, ADB — Cambodia context and data anchors. &lt;2% penetration; NSSF formal-sector gap; manual static rules.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3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3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200" y="215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Linear Contextual Bandits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7200" y="257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LinUCB (Li et al. 2010), LinTS (Agrawal &amp; Goyal 2013). Sub-linear regret O(d√T log T). Per-round update O(d²). Chosen for interpretability and emerging-market compute constraints.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1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1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03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Neural Contextual Bandits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45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NeuralUCB, NeuralTS, EE-Net — relax linear reward assumption. Require large datasets; risk of overfitting on 2,000 records. Natural future-work candidate.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9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9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200" y="391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Fairness in Insurance 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200" y="433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Barocas et al., Ensign et al. — protected-attribute constraints, feedback-loop risk. Rural/occupational groups (Sophea’s category) most at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7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67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200" y="479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Population Stability 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200" y="521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PSI = Σ(Aᵢ − Eᵢ) × ln(Aᵢ/Eᵢ). Siddiqi (2006); validated Yurdakul &amp; Naranjo (2020). THREE ZONES: GREEN &lt;0.10 · AMBER 0.10–0.25 · RED &gt;0.25.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7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ALGORITHM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50000"/>
          <a:ext cx="11277295" cy="5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85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Algorithm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Exploration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Regret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Per-Round Cost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Data Need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LinUCB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(Li et al. 2010)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UCB bonus:</a:t>
                      </a:r>
                    </a:p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α√(xᵀA⁻¹x)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O(d√T log 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Moderate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LinTS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(Agrawal &amp; Goyal 2013)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Posterior sampling:</a:t>
                      </a:r>
                    </a:p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θ̃ ~ N(θ̂, v²A⁻¹)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O(d√T log 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Moderate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NeuralUCB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(Zhou et al. 2020)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Gradient confidence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Õ(d̃√T)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O(‖θ‖·T)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Large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EE-Net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(Ban et al. 2022)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Learned exploration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Empirical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O(‖θ‖·T)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Large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ε-random (ε=0.15)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O(T²⁻³)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8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29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</a:rPr>
              <a:t>III.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57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70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Methodology &amp; Model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Methodology &amp; Model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9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5847" y="1400000"/>
            <a:ext cx="15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Applicant
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5847" y="1400000"/>
            <a:ext cx="1500000" cy="7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Bandit
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95847" y="1400000"/>
            <a:ext cx="1500000" cy="7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Underwriting
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847" y="1400000"/>
            <a:ext cx="1500000" cy="7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Actuarial
Reward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5847" y="1400000"/>
            <a:ext cx="1500000" cy="7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PSI + HITL
Guardrail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95847" y="1400000"/>
            <a:ext cx="1500000" cy="700000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Decision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4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7200" y="24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34-dimensional applicant context vector (standardised features)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200" y="30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Four underwriting arms: STANDARD · RATED · DECLINE · REFER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6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7200" y="36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Actuarial simulator returns reward: premium revenue − expected claims (+ noise ±8%)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7200" y="42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PSI guardrail monitors portfolio drift on 500-round sliding window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7200" y="48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HITL wrapper escalates uncertain cases (uncertainty &gt; κ threshold)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9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DATASET &amp;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SYNTHETIC
APPLICANTS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76523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6523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CONTEXT
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6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6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UNDERWRITING
ARMS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169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169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ANCHORING
SOURCES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200000"/>
          <a:ext cx="11277295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50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Dims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Demographics &amp; Vitals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Age, Gender, BMI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Lifestyle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Smoking, Alcohol, Exercise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Social Determinants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Education, Wealth, Self-rated health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Economic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Monthly income, Family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Clinical Flags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Hypertension, Diabetes, Heart, COPD, Arthritis, TB, Hepatitis B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7+1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Region (one-hot)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8 macro-regions (CDHS 2021-22)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Occupation (one-hot)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Rice farmer 28%, Garment 20%, Market vendor 15%, Moto 12%…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10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ACTUARIAL REWARD SIMULATOR (TABLE 8)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Reward = Premium Revenue − Expected Claims  (noise ±8%)  ·  Adverse-selection factor 1.35 when risk multiplier m &gt; 2.0  ·  Elasticity slope 3.5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00000"/>
          <a:ext cx="11277295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72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Arm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Base Premium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Expected Claims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Acceptance Prob.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Net Reward Formula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$200 × m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$150 × m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Premium − Claims ± noise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RATED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$200 × m × load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$150 × m × 1.35 (if m&gt;2)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Medium (elasticity −3.5 slope)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Premium − Claims ± noise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DECLINE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−$10 (opportunity cost)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REFER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 to human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0.70 × max(r) − $35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45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Design rationale: DECLINE penalty prevents over-rejection; REFER formula incentivises selective escalation rather than blanket referral.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11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BANDIT IN ACTION: SOPHEA’S CONTEXT &amp; ARM SCORES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488647" cy="52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00000"/>
            <a:ext cx="91440" cy="52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20000"/>
            <a:ext cx="530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Sophea’s Context Vector (34 dims, key shown)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00" y="1620000"/>
            <a:ext cx="5288647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age_std:  </a:t>
            </a:r>
            <a:r>
              <a:rPr sz="1100">
                <a:solidFill>
                  <a:srgbClr val="262626"/>
                </a:solidFill>
              </a:rPr>
              <a:t>0.3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bmi_std:  </a:t>
            </a:r>
            <a:r>
              <a:rPr sz="1100">
                <a:solidFill>
                  <a:srgbClr val="262626"/>
                </a:solidFill>
              </a:rPr>
              <a:t>−0.1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smoker:  </a:t>
            </a:r>
            <a:r>
              <a:rPr sz="1100">
                <a:solidFill>
                  <a:srgbClr val="262626"/>
                </a:solidFill>
              </a:rPr>
              <a:t>0  (non-smoker)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hypertension:  </a:t>
            </a:r>
            <a:r>
              <a:rPr sz="1100">
                <a:solidFill>
                  <a:srgbClr val="262626"/>
                </a:solidFill>
              </a:rPr>
              <a:t>1  (managed)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kampong_cham:  </a:t>
            </a:r>
            <a:r>
              <a:rPr sz="1100">
                <a:solidFill>
                  <a:srgbClr val="262626"/>
                </a:solidFill>
              </a:rPr>
              <a:t>1  (region one-hot)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agriculture:  </a:t>
            </a:r>
            <a:r>
              <a:rPr sz="1100">
                <a:solidFill>
                  <a:srgbClr val="262626"/>
                </a:solidFill>
              </a:rPr>
              <a:t>1  (occupation one-hot)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wealth_low:  </a:t>
            </a:r>
            <a:r>
              <a:rPr sz="1100">
                <a:solidFill>
                  <a:srgbClr val="262626"/>
                </a:solidFill>
              </a:rPr>
              <a:t>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education_prim:  </a:t>
            </a:r>
            <a:r>
              <a:rPr sz="1100">
                <a:solidFill>
                  <a:srgbClr val="262626"/>
                </a:solidFill>
              </a:rPr>
              <a:t>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… 26 more:  </a:t>
            </a:r>
            <a:r>
              <a:rPr sz="11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100000"/>
            <a:ext cx="5488648" cy="24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100000"/>
            <a:ext cx="91440" cy="24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22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LinUCB Arm Score 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640000"/>
            <a:ext cx="5308648" cy="1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UCBᵃ(x) = θ̂ᵃᵀ x  +  α × √(xᵀ Aᵃ⁻¹ x)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θ̂ᵃ = posterior mean weights for arm a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α = exploration bonus scaling (default 1.0)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x = Sophea’s 34-dim context 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847" y="3650000"/>
            <a:ext cx="5488648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Arm Scores (LinUCB, Sophea):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847" y="4100000"/>
            <a:ext cx="5488648" cy="48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5847" y="418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D4E00"/>
                </a:solidFill>
              </a:rPr>
              <a:t>RATED:  0.31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847" y="4660000"/>
            <a:ext cx="5488648" cy="48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5847" y="474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STANDARD:  0.52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847" y="4660000"/>
            <a:ext cx="5488648" cy="480000"/>
          </a:xfrm>
          <a:prstGeom prst="rect">
            <a:avLst/>
          </a:prstGeom>
          <a:noFill/>
          <a:ln>
            <a:solidFill>
              <a:srgbClr val="1F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847" y="5220000"/>
            <a:ext cx="5488648" cy="48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5847" y="530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02020"/>
                </a:solidFill>
              </a:rPr>
              <a:t>DECLINE:  0.10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847" y="5780000"/>
            <a:ext cx="5488648" cy="4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5847" y="586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18238"/>
                </a:solidFill>
              </a:rPr>
              <a:t>REFER:  0.28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847" y="6350000"/>
            <a:ext cx="548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→ argmax = STANDARD  (Sophea gets coverage)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12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POLICY LADDER: CUMULATIVE REWARD OVER 5,000 ROUNDS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295" cy="42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7200" y="1130000"/>
            <a:ext cx="110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Sophea’s Round: argmax UCB = STANDARD  →  Policy issues coverage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80000"/>
          <a:ext cx="11277295" cy="4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55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Rank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vs Static XGB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Oracle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126,804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+75.6%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Ceiling (inadmissible)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LinTS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93,723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+29.8%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LinUCB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91,864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+27.2%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76,441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+ 5.9%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Static XGB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72,206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Trivial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 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−97.3%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Trivial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200000"/>
            <a:ext cx="11277295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Note: AlwaysRATED = 122,287 (between Oracle and LinTS) — inadmissible: denies all low-risk applicants coverage; discriminatory by design.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13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PSI FAIRNESS GUARDRAIL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2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PSI = Σ (Aᵢ − Eᵢ) × ln(Aᵢ / Eᵢ)   ·   Applied per 500-round sliding window   ·   Monitored on: region (8 groups) + occupation (7 groups) separately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80000"/>
            <a:ext cx="11277295" cy="27432"/>
          </a:xfrm>
          <a:prstGeom prst="rect">
            <a:avLst/>
          </a:prstGeom>
          <a:solidFill>
            <a:srgbClr val="CBD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50000"/>
            <a:ext cx="3692431" cy="30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50000"/>
            <a:ext cx="3692431" cy="6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200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7200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8238"/>
                </a:solidFill>
              </a:rPr>
              <a:t>PSI &lt; 0.10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7200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No significant shift — policy is stable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9631" y="1750000"/>
            <a:ext cx="3692431" cy="30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9631" y="1750000"/>
            <a:ext cx="3692431" cy="6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9631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9631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11D"/>
                </a:solidFill>
              </a:rPr>
              <a:t>0.10 ≤ PSI ≤ 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9631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Moderate shift — monitor closely; flag for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2062" y="1750000"/>
            <a:ext cx="3692431" cy="300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2062" y="1750000"/>
            <a:ext cx="3692431" cy="60000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2062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2062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02020"/>
                </a:solidFill>
              </a:rPr>
              <a:t>PSI &gt; 0.25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2062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Major shift — halt or recalibrate bandit; escalate to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900000"/>
            <a:ext cx="11277295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Source: Siddiqi (2006) · Validated: Yurdakul &amp; Naranjo (2020)
EXP-006 result: LinUCB GREEN on all 8 regions + 7 occupations across 20 seeds (mean PSI 0.042 region / 0.037 occupation); criterion 6 FAILED-with-interpretation (EpsGreedy AMBER on 1 seed).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14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HUMAN-IN-THE-LOOP (HITL) WRAPPER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5538647" cy="1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7200" y="123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1. Bandit selects 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7200" y="165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UCB / TS score computed for each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6523" y="226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0000"/>
            <a:ext cx="5538647" cy="11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7200" y="241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2. Uncertainty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200" y="283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If max score − 2nd score &lt; κ (0.7) → REFER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6523" y="344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10000"/>
            <a:ext cx="5538647" cy="1100000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200" y="359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3. Human actuary reviews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200" y="401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Expert sees full context; overrides if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6523" y="462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90000"/>
            <a:ext cx="5538647" cy="11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200" y="47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4. Dual update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200" y="519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Update selected arm reward + REFER arm penalty
Without dual update: REFER over-selects (gotcha)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1150000"/>
            <a:ext cx="5488648" cy="1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1150000"/>
            <a:ext cx="91440" cy="1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12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Key Parameters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1690000"/>
            <a:ext cx="5308648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κ = 0.7   (uncertainty threshold for headline result)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Review rate: 1.5% of rounds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Reward gain: +14.8% vs bandit-alone (20-seed, p&lt;0.001, d=2.65)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847" y="2950000"/>
            <a:ext cx="5488648" cy="14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5847" y="2950000"/>
            <a:ext cx="91440" cy="14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5847" y="30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Implementation Gotcha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5847" y="3490000"/>
            <a:ext cx="5308648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Without dual update (action + REFER penalty), the REFER arm 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accumulates reward without cost → over-selection spiral.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Dual update corrects this incentive.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847" y="4550000"/>
            <a:ext cx="5488648" cy="16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45847" y="4550000"/>
            <a:ext cx="91440" cy="16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5847" y="46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EXP-008 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5847" y="5090000"/>
            <a:ext cx="5308648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HITL+LinUCB:  +14.8%  (seed=42 headline)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κ sweep: 0.3 – 0.9 tested; κ=0.7 optimal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20-seed: paired Wilcoxon p&lt;0.001, Cohen’s d=2.65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15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EXPERIMENTAL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295" cy="38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7200" y="1120000"/>
            <a:ext cx="1107729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Stats Protocol: 20 seeds · Bootstrap 95% CI · Paired Wilcoxon · Bonferroni correction · Cohen’s 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00000"/>
          <a:ext cx="11277295" cy="4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47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Exp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Name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Rounds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Focus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Convergence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LinUCB vs Static XGB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Fairness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PSI + EEOC 4/5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Benchmark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Full ladder CRN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HITL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seed=42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Human-in-the-loop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EXP-009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Drift Adaptation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Shock at t=1,500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Cold 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200–2,000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Crossover horizon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Ablation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Exploration vs updating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Regret Bound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Log-log slope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Drift Rescue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Constant vs adaptive under shock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16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