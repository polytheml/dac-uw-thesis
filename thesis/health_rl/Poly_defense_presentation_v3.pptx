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</a:rPr>
              <a:t>ADAPTIVE HEALTH INSURANCE UNDERWRITING</a:t>
            </a:r>
          </a:p>
          <a:p>
            <a:pPr algn="ctr">
              <a:spcBef>
                <a:spcPts val="600"/>
              </a:spcBef>
            </a:pPr>
            <a:r>
              <a:rPr sz="2400" b="1" i="0">
                <a:solidFill>
                  <a:srgbClr val="FFFFFF"/>
                </a:solidFill>
              </a:rPr>
              <a:t>VIA CONTEXTUAL BANDITS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F3A6E"/>
                </a:solidFill>
              </a:rPr>
              <a:t>A Reinforcement Learning Approach for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7200" y="2200000"/>
            <a:ext cx="7277295" cy="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7200" y="2300000"/>
            <a:ext cx="69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A6E"/>
                </a:solidFill>
              </a:rPr>
              <a:t>LUN CHANPOLY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05050"/>
                </a:solidFill>
              </a:rPr>
              <a:t>ITC-AMS  ·  July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Supervisor: Dr. HAS Sothea  ·  DAC Advisor: Mr. ON Radet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Decent Actuarial Consultants 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Title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200" y="140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7200" y="140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223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200" y="223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200" y="306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200" y="306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200" y="389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200" y="389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200" y="472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200" y="472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BMI:  </a:t>
            </a:r>
            <a:r>
              <a:rPr sz="12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Smoker:  </a:t>
            </a:r>
            <a:r>
              <a:rPr sz="12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Physical Activity:  </a:t>
            </a:r>
            <a:r>
              <a:rPr sz="12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Clinical Flag:  </a:t>
            </a:r>
            <a:r>
              <a:rPr sz="12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Wealth Index:  </a:t>
            </a:r>
            <a:r>
              <a:rPr sz="12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Education:  </a:t>
            </a:r>
            <a:r>
              <a:rPr sz="12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02020"/>
                </a:solidFill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Appointed Actuary Services — Life &amp; General Insurance, Southeast Asia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7200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IFRS 17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200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Product Development — Life &amp; General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847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847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Asset–Liability Management &amp; Enterprise Risk Management (ALM/ERM)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Mergers &amp; Acquisitions Advisory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847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5847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847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Education &amp; Cooperation — University partnerships, government-academia-industry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HQ: Taipei, Taiwan  ·  Regional offices: Phnom Penh, Vietnam, SEA  ·  Internship: March–June 2026  ·  Advisor: Mr. ON Radet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4B5"/>
                </a:solidFill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4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200" y="15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00" y="14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26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00" y="25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200" y="38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37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200" y="49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48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5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7200" y="1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200" y="1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200" y="2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200" y="2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200" y="3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200" y="3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200" y="4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200" y="4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5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5847" y="18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847" y="17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5847" y="27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5847" y="26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5847" y="37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5847" y="36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4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5847" y="46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5847" y="45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5847" y="56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5847" y="55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6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8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NeuralUCB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EE-Net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O(T^(2/3))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8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ANCHORING
SOURCES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10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2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11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age_std:  </a:t>
            </a:r>
            <a:r>
              <a:rPr sz="11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bmi_std:  </a:t>
            </a:r>
            <a:r>
              <a:rPr sz="11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smoker:  </a:t>
            </a:r>
            <a:r>
              <a:rPr sz="11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hypertension:  </a:t>
            </a:r>
            <a:r>
              <a:rPr sz="11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kampong_cham:  </a:t>
            </a:r>
            <a:r>
              <a:rPr sz="11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agriculture:  </a:t>
            </a:r>
            <a:r>
              <a:rPr sz="11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wealth_low: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education_prim: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… 26 more:  </a:t>
            </a:r>
            <a:r>
              <a:rPr sz="11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α = exploration bonus scaling (default 1.0)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D4E00"/>
                </a:solidFill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F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02020"/>
                </a:solidFill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8238"/>
                </a:solidFill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12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13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8238"/>
                </a:solidFill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11D"/>
                </a:solidFill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02020"/>
                </a:solidFill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14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Reward gain: +6.5% vs vanilla bandit (p=0.017, d=0.87)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HITL+LinUCB:  +6.5% vs vanilla bandit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p=0.017, Cohen’s d=0.87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15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38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20000"/>
            <a:ext cx="110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Stats Protocol: 20 seeds · Bootstrap 95% CI · Paired Wilcoxon · Bonferroni correction · Cohen’s 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000"/>
          <a:ext cx="11277295" cy="4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7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16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Results &amp;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Results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17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THE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15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</a:rPr>
              <a:t>‡ LogisticOracle fit in-sample on oracle labels — not deployable (diagnostic only).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18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EXP-005: CONVERGENCE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LinUCB cumulative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$90,540 ± 5,382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[88,287 – 92,886]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30000"/>
            <a:ext cx="91440" cy="7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3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Static XGB 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28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$72,292 ± 4,120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18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[70,646 – 74,136]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1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10000"/>
            <a:ext cx="91440" cy="72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1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06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+$18,248  (+25.2%)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296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p &lt; 0.001, d = 2.98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9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9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59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Oracle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84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$126,804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74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LinUCB recovers 72%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7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37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Late regret — LinUCB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62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$2.20/round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52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Last 500 rounds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5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5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1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Late regret — Static XGB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4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$9.01/round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3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Last 500 rounds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+25.2% = the gap between 2023 Sophea (DECLINE) and 2026 Sophea (STANDARD).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23577" y="1150000"/>
            <a:ext cx="4310918" cy="43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3577" y="1250000"/>
            <a:ext cx="4110918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CONVERGENCE INDICATORS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Action entropy: 1.314 → 1.105 nats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(exploration → exploitation)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Oracle-agreement (last 500 rounds): 37.8%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(learns different but profitable policy)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Regret curve follows O(√T)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Log-log slope: 0.572 (theory: 0.5)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R² = 0.9915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1" i="0">
                <a:solidFill>
                  <a:srgbClr val="218238"/>
                </a:solidFill>
              </a:rPr>
              <a:t>All 5 EXP-005 criteria: PASSED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19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EXP-006: FAIRNESS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PSI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15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150000"/>
            <a:ext cx="91440" cy="76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PSI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9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85.72%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99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parity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90.12%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3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83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permutation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83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830000"/>
            <a:ext cx="91440" cy="76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permutation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PSI is a MONITOR not an ENFORCER — constrained-action layer is future work.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20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EXP-007: BENCHMARK COMPARISON (CRN)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766377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188"/>
                <a:gridCol w="3383189"/>
              </a:tblGrid>
              <a:tr h="633333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 (mean, 20 seeds)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AlwaysRATED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333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23577" y="1200000"/>
            <a:ext cx="4310918" cy="12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23577" y="1200000"/>
            <a:ext cx="91440" cy="12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3577" y="12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LinTS vs LinUCB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3577" y="1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p = 0.87, d = 0.26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577" y="19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A11D"/>
                </a:solidFill>
              </a:rPr>
              <a:t>TIED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3577" y="25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23577" y="2500000"/>
            <a:ext cx="91440" cy="12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3577" y="2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LinUCB vs Static XGB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577" y="2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−19,774 regret  p &lt; 0.001  d = −3.41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3577" y="32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18238"/>
                </a:solidFill>
              </a:rPr>
              <a:t>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3577" y="38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23577" y="3800000"/>
            <a:ext cx="91440" cy="12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3577" y="3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LinTS vs Static XGB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3577" y="41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−21,400 regret  p &lt; 0.001  d = −3.89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3577" y="45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18238"/>
                </a:solidFill>
              </a:rPr>
              <a:t>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Two coexisting findings: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(1) Adaptive bandits decisively beat the frozen Static XGB rule  (p &lt; 0.001)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7D4E00"/>
                </a:solidFill>
              </a:rPr>
              <a:t>(2) Trivial constant AlwaysRATED still beats all bandits — honestly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21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EXP-008: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 reward (c =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$102,100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vs vanilla $95,872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50000"/>
            <a:ext cx="676637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Improvement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3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+$6,228 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2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vs vanilla bandit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Review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1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$2,625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30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2.6% of 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6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Human overrides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9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75 of 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8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1.5% review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3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4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Alignment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7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60.0%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6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human–model agreement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1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Queue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 throughout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no backlog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Scope: +6.5% is vs vanilla bandit (NOT vs AlwaysRATED). HITL adds genuine value at low review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22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WHAT DRIVES THE VALUE? (EXP-011 + EXP-015)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EXP-011: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</a:rPr>
              <a:t>Full LinUCB vs Greedy-only (α = 0):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p = 0.580, d = 0.13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Exploration is NOT load-bearing.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262626"/>
                </a:solidFill>
              </a:rPr>
              <a:t>Greedy-only vs Static XGB: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218238"/>
                </a:solidFill>
              </a:rPr>
              <a:t>+$18,969  p &lt; 0.001  d = 3.01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262626"/>
                </a:solidFill>
              </a:rPr>
              <a:t>Online ridge updating IS the mechanism.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EXP-015: DRIFT RESCUE?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</a:rPr>
              <a:t>Under realistic drift shock: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AlwaysRATED: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$99,321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LinTS: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$71,429  (−39.0%)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LinUCB: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$71,373  (−39.2%)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DiscountedLinUCB γ=0.999: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$70,995  (no help)</a:t>
            </a:r>
          </a:p>
          <a:p>
            <a:pPr algn="l">
              <a:spcBef>
                <a:spcPts val="1200"/>
              </a:spcBef>
            </a:pPr>
            <a:r>
              <a:rPr sz="1000" b="1" i="0">
                <a:solidFill>
                  <a:srgbClr val="7D4E00"/>
                </a:solidFill>
              </a:rPr>
              <a:t>Non-stationarity does NOT rescue the bandit.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23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COLD START &amp; REGRET BOUND (EXP-010 + EXP-013)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202512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04"/>
                <a:gridCol w="2067504"/>
                <a:gridCol w="2067504"/>
              </a:tblGrid>
              <a:tr h="64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Relative Performance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2.1×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500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1.26×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1,000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TIE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Crossover zone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2,000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cross over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lead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600000"/>
            <a:ext cx="6202512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Operational implication: warm-start required for first 1,000–2,000 applications.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9712" y="1200000"/>
            <a:ext cx="4824782" cy="3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09712" y="1200000"/>
            <a:ext cx="91440" cy="3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712" y="1300000"/>
            <a:ext cx="4624782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EXP-013: REGRET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712" y="1720000"/>
            <a:ext cx="4624782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Log-log slope: 0.572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</a:rPr>
              <a:t>(theory: 0.5 — near-optimal)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1F3A6E"/>
                </a:solidFill>
              </a:rPr>
              <a:t>R² = 0.9915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</a:rPr>
              <a:t>Excellent linear fit on log-log axes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85% of seeds in [0.30, 0.80]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218238"/>
                </a:solidFill>
              </a:rPr>
              <a:t>Sublinear regret confirmed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24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[Open browser at localhost:8000 before this slide]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1: Enter Sophea's profile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Age 42  ·  Female  ·  BMI 24.1  ·  Smoker: No  ·  Hypertension: Yes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Region: Kampong Cham  ·  Occupation: Agriculture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2: Submit — show STANDARD decision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The bandit sees her 34 features and selects STANDARD premium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The correct actuarial answer — the one she was denied in 2023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3: Submit a high-risk applicant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Older  ·  Smoker  ·  High BMI  ·  Multiple clinical flags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Show REFER or RATED decision; explain HITL queue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4: Show HITL tab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Running referral rate  ·  cumulative review cost  ·  alignment score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200" b="0" i="1">
                <a:solidFill>
                  <a:srgbClr val="505050"/>
                </a:solidFill>
              </a:rPr>
              <a:t>[This is the FastAPI prototype deployed on Render — not a mockup]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25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Conclusion &amp;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26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4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1 — EXP-005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Online adaptation beats static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+25.2%, p &lt; 0.001, d = 2.98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LinUCB +$18,248 over Static XGB across 20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2 — EXP-006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demographic bias introduced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85.72% &amp; 90.12% parity (Region &amp; Occupation)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PSI GREEN/AMBER throughout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3 — EXP-011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Mechanism: online ridge updating, not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Greedy-only (α = 0) ties full LinUCB (p = 0.58)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Online learning beats frozen model regardless of exploration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35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35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4 — EXP-008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HITL adds value at low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+6.5% at 1.5% review rate, 2.6% cost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Alignment score 60.0% — human oversight meaningful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27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2,000 records — cannot capture rare comorbidities, fraud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CDHS/STEPS-anchored but not real insurance claims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Single-period rewards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multi-year claims, retention, or renewal cycle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Reward is a one-shot proxy for profitability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Stationarity assumption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Violated in practice (EXP-009/015 partially address)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DiscountedLinUCB helps only marginally under shock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Constant-policy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AlwaysRATED beats bandits by ~30%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Bandits lead every admissible deployable alternative,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but headroom to Oracle remains 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28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Non-stationary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DiscountedLinUCB + PSI early-warning pipeline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Threshold-adaptive forgetting factor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Neural bandit extensions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NeuralUCB + Neural-Linear hybrid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Richer feature representations beyond 34 dimensions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Live A/B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Delayed reward via survival proxy (6–24 month claims lag)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Online evaluation with real Cambodian insurers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Multi-period customer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CLV, retention, cross-selling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Move beyond single-decision reward framing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29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0000"/>
            <a:ext cx="11277295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A11D"/>
                </a:solidFill>
              </a:rPr>
              <a:t>2023: DECLINE.</a:t>
            </a:r>
          </a:p>
          <a:p>
            <a:pPr algn="ctr">
              <a:spcBef>
                <a:spcPts val="1800"/>
              </a:spcBef>
            </a:pPr>
            <a:r>
              <a:rPr sz="4000" b="1" i="0">
                <a:solidFill>
                  <a:srgbClr val="FFFFFF"/>
                </a:solidFill>
              </a:rPr>
              <a:t>2026: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BDCEE4"/>
                </a:solidFill>
              </a:rPr>
              <a:t>Cambodia has hundreds of thousands of applicants like her.</a:t>
            </a:r>
          </a:p>
          <a:p>
            <a:pPr algn="ctr">
              <a:spcBef>
                <a:spcPts val="1800"/>
              </a:spcBef>
            </a:pPr>
            <a:r>
              <a:rPr sz="2000" b="1" i="0">
                <a:solidFill>
                  <a:srgbClr val="FFFFFF"/>
                </a:solidFill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00000"/>
            <a:ext cx="11277295" cy="5486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7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DCEE4"/>
                </a:solidFill>
              </a:rPr>
              <a:t>APPENDIX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7200" y="4600000"/>
            <a:ext cx="7277295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DCEE4"/>
                </a:solidFill>
              </a:rPr>
              <a:t>A1: Complete Baseline Ladder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A2: Number Reconciliation (+25.2% / +29.8% / +6.5%)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A3: All 6 Fairness Criteria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A4: Math Details (LinUCB update rule, PSI formula, HITL dual-update)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A5: Full Sensitivity Tables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Q &amp;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A1: COMPLETE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</a:rPr>
              <a:t>‡ LogisticOracle: fit in-sample — not deployable. Oracle: full information upper bound.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A1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+25.2%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57200" y="12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EXP-005: LinUCB vs Static XGB (primary pre-registered result)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7200" y="17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LinUCB mean $90,540 vs Static XGB mean $72,292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Paired Wilcoxon p &lt; 0.001, Cohen's d = 2.98, 20 seeds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This is the headline figure cited throughout the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5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9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303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+29.8%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7200" y="303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EXP-007: LinTS vs Static XGB (CRN benchmark harness)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7200" y="345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LinTS mean $93,723 vs Static XGB mean $72,206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Different harness (CRN — common random numbers) — not the pre-registered test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Reported for completeness; primary comparison is EXP-005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70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70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47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7200" y="47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EXP-008: HITL reward vs vanilla bandit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7200" y="52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HITL $102,100 vs vanilla $95,872 (same seed=42)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Different baseline (vanilla bandit, NOT Static XGB or AlwaysRATED)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Measures incremental value of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A2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A3: ALL 6 FAIRNESS CRITERIA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1: PSI Region ≤ 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PSI = 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7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2: PSI Occupation ≤ 0.25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PSI = 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0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3: EEOC 4/5 rule —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85.72% ≥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20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4: EEOC 4/5 rule — 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90.12% ≥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90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5: Permutation test —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9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900000"/>
            <a:ext cx="91440" cy="7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6: Permutation test — Occupation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Criterion 6: statistically significant disparity detected under permutation test. PSI = 0.123 (AMBER — monitor only). Criterion 6 is FAILED-with-interpretation, not a hard stop.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A3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A4: MATHEMATICAL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UPDATE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Design matrix:  A ← A + xₜ xₜᵀ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Reward vector:  b ← b + rₜ xₜ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Ridge estimate: θ̂ = A⁻¹ b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UCB score: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p(x) = θ̂ᵀ x + α √(xᵀ A⁻¹ x)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PSI formula: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PSI = Σ (P_new − P_old) × ln(P_new / P_old)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HITL dual-update: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If human overrides → update on human label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Else update on bandit label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HYPERPARAMETERS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95847" y="1750000"/>
          <a:ext cx="5288647" cy="4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323"/>
                <a:gridCol w="2644324"/>
              </a:tblGrid>
              <a:tr h="41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LinUCB α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LinTS 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Ridge λ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HITL threshold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Discount γ (EXP-015)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0.999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AMBER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RED threshold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A4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A5: SENSITIVITY ANALYSIS (EXP-012)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507478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94"/>
                <a:gridCol w="1691594"/>
                <a:gridCol w="1691594"/>
              </a:tblGrid>
              <a:tr h="6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α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$88,192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0.50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$89,703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1.00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$89,118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$87,645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1150000"/>
            <a:ext cx="50747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α (exploration coefficient) sweep — LinUCB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31982" y="1300000"/>
          <a:ext cx="600251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37"/>
                <a:gridCol w="2000837"/>
                <a:gridCol w="2000838"/>
              </a:tblGrid>
              <a:tr h="6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Adverse-selection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0%  (none)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+0%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5%  (low)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$88,612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−2.1%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10% (moderate)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$85,933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−5.1%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20% (high)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$79,847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−11.8%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30% (extreme)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$73,201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−19.2%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31982" y="1150000"/>
            <a:ext cx="600251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Adverse-selection rate sweep — LinUCB reward impact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000000"/>
          <a:ext cx="11277295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83333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Elasticity Slope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LinUCB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Static XGB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</a:rPr>
                        <a:t>% Gain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1.5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$61,204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$49,817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+$11,387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+22.8%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$75,892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$60,943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+$14,949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+24.5%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3.5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$72,292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+$18,248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8238"/>
                          </a:solidFill>
                        </a:rPr>
                        <a:t>+25.2%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4.5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$105,183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$83,641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+$21,542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+25.7%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38333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5.5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$119,827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$95,012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+$24,815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+26.1%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85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Elasticity slope sweep — LinUCB vs Static XGB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4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Benefit gap widens with elasticity; core finding is robust across slope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A5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