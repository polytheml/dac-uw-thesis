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533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914400" cy="901541"/>
          </a:xfrm>
          <a:prstGeom prst="rect">
            <a:avLst/>
          </a:prstGeom>
        </p:spPr>
      </p:pic>
      <p:pic>
        <p:nvPicPr>
          <p:cNvPr id="4" name="Picture 3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65760"/>
            <a:ext cx="1325880" cy="1256418"/>
          </a:xfrm>
          <a:prstGeom prst="rect">
            <a:avLst/>
          </a:prstGeom>
        </p:spPr>
      </p:pic>
      <p:pic>
        <p:nvPicPr>
          <p:cNvPr id="5" name="Picture 4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320040"/>
            <a:ext cx="1325880" cy="745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08960" y="38404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62626"/>
                </a:solidFill>
                <a:latin typeface="Segoe UI"/>
              </a:rPr>
              <a:t>Institute of Technology of Cambodia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841248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05050"/>
                </a:solidFill>
                <a:latin typeface="Calibri"/>
              </a:rPr>
              <a:t>Department of Applied Mathematics and Statistics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13248" y="1874519"/>
            <a:ext cx="1371600" cy="41148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626"/>
                </a:solidFill>
                <a:latin typeface="Segoe UI"/>
              </a:rPr>
              <a:t>ADAPTIVE HEALTH INSURANCE UNDERWRITING VIA CONTEXTUAL BANDITS: A REINFORCEMENT LEARNING APPROACH FOR CAMBODIA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13248" y="3886200"/>
            <a:ext cx="1371600" cy="41148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0" y="4224528"/>
            <a:ext cx="121916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05050"/>
                </a:solidFill>
                <a:latin typeface="Calibri"/>
              </a:rPr>
              <a:t>Thesis Defense — 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535424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5697"/>
                </a:solidFill>
                <a:latin typeface="Segoe UI"/>
              </a:rPr>
              <a:t>LUN CHANPOLY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937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Supervisor   :  Dr. HAS Sothea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1937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Organization  :  DAC (Decent Actuarial Consultants)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5229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Duration       :  Mar 2026 – Jun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52297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DAC Advisor  :  Mr. ON Radet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Calibri"/>
              </a:rPr>
              <a:t>July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Title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– / 43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-19400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4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7200" y="140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7200" y="140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0000"/>
            <a:ext cx="4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7200" y="2230000"/>
            <a:ext cx="35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200" y="223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0000"/>
            <a:ext cx="4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2200" y="3060000"/>
            <a:ext cx="45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 dirty="0">
                <a:solidFill>
                  <a:srgbClr val="FFFFFF"/>
                </a:solidFill>
                <a:latin typeface="Calibri"/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200" y="306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0000"/>
            <a:ext cx="4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835124"/>
            <a:ext cx="4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 dirty="0">
                <a:solidFill>
                  <a:srgbClr val="FFFFFF"/>
                </a:solidFill>
                <a:latin typeface="Calibri"/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200" y="389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0000"/>
            <a:ext cx="4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7200" y="472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200" y="472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Contents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–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MEET SOPHEA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200000" cy="5257376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573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00" y="124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Calibri"/>
              </a:rPr>
              <a:t>SOPHEA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00" y="174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  <a:latin typeface="Calibri"/>
              </a:rPr>
              <a:t>Age 42  ·  Kampong Cham Province  ·  Rice Farmer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00" y="2180000"/>
            <a:ext cx="495000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00" y="2280000"/>
            <a:ext cx="5000000" cy="395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200" b="1">
                <a:solidFill>
                  <a:srgbClr val="1B5697"/>
                </a:solidFill>
              </a:rPr>
              <a:t>BMI:  </a:t>
            </a:r>
            <a:r>
              <a:rPr sz="1200">
                <a:solidFill>
                  <a:srgbClr val="505050"/>
                </a:solidFill>
              </a:rPr>
              <a:t>24.1  (Normal range)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B5697"/>
                </a:solidFill>
              </a:rPr>
              <a:t>Smoker:  </a:t>
            </a:r>
            <a:r>
              <a:rPr sz="12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B5697"/>
                </a:solidFill>
              </a:rPr>
              <a:t>Physical Activity:  </a:t>
            </a:r>
            <a:r>
              <a:rPr sz="1200">
                <a:solidFill>
                  <a:srgbClr val="505050"/>
                </a:solidFill>
              </a:rPr>
              <a:t>High  (field farming)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B5697"/>
                </a:solidFill>
              </a:rPr>
              <a:t>Clinical Flag:  </a:t>
            </a:r>
            <a:r>
              <a:rPr sz="12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B5697"/>
                </a:solidFill>
              </a:rPr>
              <a:t>Wealth Index:  </a:t>
            </a:r>
            <a:r>
              <a:rPr sz="1200">
                <a:solidFill>
                  <a:srgbClr val="505050"/>
                </a:solidFill>
              </a:rPr>
              <a:t>Low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B5697"/>
                </a:solidFill>
              </a:rPr>
              <a:t>Education:  </a:t>
            </a:r>
            <a:r>
              <a:rPr sz="1200">
                <a:solidFill>
                  <a:srgbClr val="505050"/>
                </a:solidFill>
              </a:rPr>
              <a:t>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200" y="118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  <a:latin typeface="Calibri"/>
              </a:rPr>
              <a:t>In 2023, Sophea walked into a private insurer in Phnom Penh and applied for voluntary health insurance.
The static underwriting system checked two fields.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37200" y="265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37200" y="2650000"/>
            <a:ext cx="73152" cy="5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67200" y="278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OCCUPATION:  Agriculture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7200" y="332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37200" y="3320000"/>
            <a:ext cx="73152" cy="5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67200" y="345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CONDITION:  Hypertension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7200" y="395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Both thresholds crossed. System decision: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37200" y="4350000"/>
            <a:ext cx="6054495" cy="82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37200" y="4350000"/>
            <a:ext cx="109728" cy="820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07200" y="451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D93B3B"/>
                </a:solidFill>
                <a:latin typeface="Calibri"/>
              </a:rPr>
              <a:t>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7200" y="533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Sophea leaves without coverage.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B5697"/>
                </a:solidFill>
                <a:latin typeface="Calibri"/>
              </a:rPr>
              <a:t>Was that the right answer?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ABOUT DECENT ACTUARIAL CONSULTANTS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7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Appointed Actuary Services — Life &amp; General Insurance, Southeast Asia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80000"/>
            <a:ext cx="5538647" cy="7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980000"/>
            <a:ext cx="9144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7200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IFRS 17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0000"/>
            <a:ext cx="5538647" cy="7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760000"/>
            <a:ext cx="9144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7200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Product Development — Life &amp; General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200000"/>
            <a:ext cx="5538647" cy="7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5847" y="1200000"/>
            <a:ext cx="9144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5847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Asset–Liability Management &amp; Enterprise Risk Management (ALM/ERM)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1980000"/>
            <a:ext cx="5538647" cy="7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5847" y="1980000"/>
            <a:ext cx="9144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5847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Mergers &amp; Acquisitions Advisory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847" y="2760000"/>
            <a:ext cx="5538647" cy="7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95847" y="2760000"/>
            <a:ext cx="9144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45847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Education &amp; Cooperation — University partnerships, government-academia-industry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HQ: Taipei, Taiwan  ·  Regional offices: Phnom Penh, Vietnam, SEA  ·  Internship: March–June 2026  ·  Advisor: Mr. ON Radet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CAMBODIA HEALTH INSURANCE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800000" cy="1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200" y="1300000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Calibri"/>
              </a:rPr>
              <a:t>&lt; 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220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  <a:latin typeface="Calibri"/>
              </a:rPr>
              <a:t>HEALTH-INSURANCE PENETRATION (2023 EST.)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7200" y="324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NSSF covers formal-sector workers only (~16% of population)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8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7200" y="382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Private underwriting is manual and rule-based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6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7200" y="440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Agent networks consume 15–30% of premium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4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7200" y="498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No demographic-parity monitoring in practice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1200000"/>
            <a:ext cx="5200000" cy="3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600000" y="1200000"/>
            <a:ext cx="91440" cy="38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80000" y="130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6FC4"/>
                </a:solidFill>
                <a:latin typeface="Calibri"/>
              </a:rPr>
              <a:t>ALIGNMENT WITH CAMBODIA'S SDGs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0000" y="18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90000" y="20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SDG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0000" y="18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Good Health &amp; Well-being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000" y="21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Widen voluntary health-insurance access beyond NSSF formal sector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0000" y="29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90000" y="31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SDG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0000" y="29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No Poverty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0000" y="32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Shield households from catastrophic out-of-pocket health costs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000" y="4000000"/>
            <a:ext cx="9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90000" y="42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SDG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0000" y="40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Reduced Inequalities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0000" y="43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PSI fairness guardrail keeps underwriting demographically fair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Sophea represents the 98% the current system was not built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3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Static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Fixed cutoffs ignore applicant context — Sophea's BMI, activity, and non-smoking status are invisible to the rule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847" y="120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95847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45847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No Online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847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Claims feedback never reaches the model — static weights do not update from observed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5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45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7200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Demographic Blindspot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No parity metric is tracked — systematic patterns against rural or occupational groups emerge invisibly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3450000"/>
            <a:ext cx="553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5847" y="345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5847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Segoe UI"/>
              </a:rPr>
              <a:t>No Intelligent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847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  <a:latin typeface="Calibri"/>
              </a:rPr>
              <a:t>Human experts review routine cases instead of the borderline ones — like Sophea's — that need expert judgment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4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55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7200" y="1550000"/>
            <a:ext cx="34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00" y="155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 contextual bandits achieve higher cumulative reward and lower regret than the Static XGBoost baseline over 5,000 rounds?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0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7200" y="2700000"/>
            <a:ext cx="34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00" y="270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Does the bandit framework maintain demographic fairness (regional and occupational approval-rate parity, PSI) without explicit fairness constraints?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5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7200" y="3850000"/>
            <a:ext cx="34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00" y="385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What is the relative performance ranking of LinTS, LinUCB, Epsilon-Greedy, and Static XGB?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00000"/>
            <a:ext cx="500000" cy="9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7200" y="5000000"/>
            <a:ext cx="34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00" y="5000000"/>
            <a:ext cx="10537295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62626"/>
                </a:solidFill>
                <a:latin typeface="Calibri"/>
              </a:rPr>
              <a:t>Is the framework technically feasible for deployment on low-resource mobile infrastructure (&lt;200 ms latency)?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5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PROJECT OBJECTIVES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6FC4"/>
                </a:solidFill>
                <a:latin typeface="Calibri"/>
              </a:rPr>
              <a:t>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000"/>
            <a:ext cx="30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00000"/>
            <a:ext cx="3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200" y="1600000"/>
            <a:ext cx="503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Synthetic Cambodia Health Insurance Dataset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2,000 applicants · CDHS/STEPS/ILO/WHO anchored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16666"/>
            <a:ext cx="30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816666"/>
            <a:ext cx="3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200" y="2816666"/>
            <a:ext cx="503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Contextual Bandit Underwriting Engine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LinUCB · LinTS · Epsilon-Greedy · &lt;200 ms 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33332"/>
            <a:ext cx="30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4033332"/>
            <a:ext cx="3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200" y="4033332"/>
            <a:ext cx="503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Actuarial Reward Simulator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Profit-based · adverse selection · elasticity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249998"/>
            <a:ext cx="300000" cy="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5249998"/>
            <a:ext cx="3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200" y="5249998"/>
            <a:ext cx="5038647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PSI Fairness Monitoring Framework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GREEN/AMBER/RED alerts · region + occupation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847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6FC4"/>
                </a:solidFill>
                <a:latin typeface="Calibri"/>
              </a:rPr>
              <a:t>5 SECONDARY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847" y="1600000"/>
            <a:ext cx="30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45847" y="1600000"/>
            <a:ext cx="30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847" y="1600000"/>
            <a:ext cx="506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2,000-record CDHS-anchored synthetic dataset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847" y="2525000"/>
            <a:ext cx="30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45847" y="2525000"/>
            <a:ext cx="30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5847" y="2525000"/>
            <a:ext cx="506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Benchmark LinUCB, LinTS, EpsGreedy vs Static XGB (5,000 rounds)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3450000"/>
            <a:ext cx="30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45847" y="3450000"/>
            <a:ext cx="30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5847" y="3450000"/>
            <a:ext cx="506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PSI fairness guardrails — no demographic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375000"/>
            <a:ext cx="30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45847" y="4375000"/>
            <a:ext cx="30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5847" y="4375000"/>
            <a:ext cx="506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EEOC four-fifths approval-rate parity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847" y="5300000"/>
            <a:ext cx="300000" cy="75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45847" y="5300000"/>
            <a:ext cx="300000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5847" y="5300000"/>
            <a:ext cx="5068647" cy="7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Human-in-the-loop wrapper — reward gain vs review cost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Introduction &amp; Problem Background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6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Literature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7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Health Insurance in Emerging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9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CDHS 2021-22, ILO 2023, ADB — Cambodia context and data anchors. &lt;2% penetration; NSSF formal-sector gap; manual static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03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7200" y="215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Linear Contextual Bandits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200" y="257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LinUCB (Li et al. 2010), LinTS (Agrawal &amp; Goyal 2013). Sub-linear regret O(d√T log T). Per-round update O(d²). Chosen for interpretability and emerging-market compute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1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91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7200" y="303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Neural Contextual Bandits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45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NeuralUCB, NeuralTS, EE-Net — relax linear reward assumption. Require large datasets; risk of overfitting on 2,000 records. Natural future-work candidate.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379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7200" y="391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Fairness in Insurance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200" y="433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Barocas et al., Ensign et al. — protected-attribute constraints, feedback-loop risk. Rural/occupational groups (Sophea’s category) most at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70000"/>
            <a:ext cx="11277295" cy="8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4670000"/>
            <a:ext cx="91440" cy="8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7200" y="479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Population Stability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521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PSI = Σ(Aᵢ − Eᵢ) × ln(Aᵢ/Eᵢ). Siddiqi (2006); validated Yurdakul &amp; Naranjo (2020). THREE ZONES: GREEN &lt;0.10 · AMBER 0.10–0.25 · RED &gt;0.25.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7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50000"/>
          <a:ext cx="11277295" cy="5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Exploration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Regret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Per-Round Cost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Data Need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(Li et al. 2010)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UCB bonus: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α√(xᵀA⁻¹x)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(Agrawal &amp; Goyal 2013)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Posterior sampling: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θ̃ ~ N(θ̂, v²A⁻¹)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NeuralUCB</a:t>
                      </a:r>
                    </a:p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(Zhou et al. 2020)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Gradient confidence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Õ(d̃√T)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EE-Net</a:t>
                      </a:r>
                    </a:p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(Ban et al.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Learned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Empirical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ε-random (ε=0.15)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O(T^(2/3))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Literature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8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Methodology &amp; Model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9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5847" y="1400000"/>
            <a:ext cx="1500000" cy="7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Applicant
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Bandit
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Underwriting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400000"/>
            <a:ext cx="1500000" cy="7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Actuarial
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847" y="1400000"/>
            <a:ext cx="1500000" cy="7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PSI + HITL
Guardrail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5847" y="140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7200" y="24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34-dimensional applicant context vector (standardised features)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7200" y="30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Four underwriting arms: STANDARD · RATED · DECLINE · REFER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7200" y="36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Actuarial simulator returns reward: premium revenue − expected claims (+ noise ±8%)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7200" y="42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PSI guardrail monitors portfolio drift on 500-round sliding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000"/>
            <a:ext cx="40000" cy="4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77200" y="48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  <a:latin typeface="Calibri"/>
              </a:rPr>
              <a:t>HITL wrapper escalates uncertain cases (uncertainty &gt; κ threshold)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9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APPLICANT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Applicant
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each applicant becomes a 34-dimensional context vector.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10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DATASET &amp;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Calibri"/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Calibri"/>
              </a:rPr>
              <a:t>CONTEXT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Calibri"/>
              </a:rPr>
              <a:t>UNDERWRITING
ARMS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B5697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Calibri"/>
              </a:rPr>
              <a:t>ANCHORING
SOURCES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00000"/>
          <a:ext cx="11277295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90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590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10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ACTUARIAL REWARD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Actuarial
Reward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each underwriting action is scored into an actuarial reward.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11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ACTUARIAL REWARD SIMULATOR (TABLE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Reward = Premium Revenue − Expected Claims  (noise ±8%)  ·  Adverse-selection factor 1.35 when risk multiplier m &gt; 2.0  ·  Elasticity slope 3.5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00000"/>
          <a:ext cx="1127729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Base Premium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Acceptance Prob.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Net Reward Formula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 × load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 × 1.35 (if m&gt;2)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Medium (elasticity −3.5 slope)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DECLINE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−$10 (opportunity cost)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REFER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 to human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0.70 × max(r) − $35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5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Design rationale: DECLINE penalty prevents over-rejection; REFER formula incentivises selective escalation rather than blanket referral.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11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BANDIT POLICY &amp;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Bandit
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Underwriting
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PSI + HITL
Guardrail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how the bandit reads the context and selects an underwriting action.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12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BANDIT IN ACTION: SOPHEA’S CONTEXT &amp; ARM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488647" cy="52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22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Sophea’s Context Vector (34 dims, key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00" y="1620000"/>
            <a:ext cx="5288647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age_std:  </a:t>
            </a:r>
            <a:r>
              <a:rPr sz="1100">
                <a:solidFill>
                  <a:srgbClr val="262626"/>
                </a:solidFill>
              </a:rPr>
              <a:t>0.3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bmi_std:  </a:t>
            </a:r>
            <a:r>
              <a:rPr sz="1100">
                <a:solidFill>
                  <a:srgbClr val="262626"/>
                </a:solidFill>
              </a:rPr>
              <a:t>−0.1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smoker:  </a:t>
            </a:r>
            <a:r>
              <a:rPr sz="1100">
                <a:solidFill>
                  <a:srgbClr val="262626"/>
                </a:solidFill>
              </a:rPr>
              <a:t>0  (non-smoker)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hypertension:  </a:t>
            </a:r>
            <a:r>
              <a:rPr sz="1100">
                <a:solidFill>
                  <a:srgbClr val="262626"/>
                </a:solidFill>
              </a:rPr>
              <a:t>1  (managed)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kampong_cham:  </a:t>
            </a:r>
            <a:r>
              <a:rPr sz="1100">
                <a:solidFill>
                  <a:srgbClr val="262626"/>
                </a:solidFill>
              </a:rPr>
              <a:t>1  (region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agriculture:  </a:t>
            </a:r>
            <a:r>
              <a:rPr sz="1100">
                <a:solidFill>
                  <a:srgbClr val="262626"/>
                </a:solidFill>
              </a:rPr>
              <a:t>1  (occupation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wealth_low: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education_prim: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B5697"/>
                </a:solidFill>
              </a:rPr>
              <a:t>… 26 more:  </a:t>
            </a:r>
            <a:r>
              <a:rPr sz="11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100000"/>
            <a:ext cx="5488648" cy="24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45847" y="1100000"/>
            <a:ext cx="91440" cy="24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5847" y="122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LinUCB Arm Score 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640000"/>
            <a:ext cx="5308648" cy="1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UCBᵃ(x) = θ̂ᵃᵀ x  +  α × √(xᵀ Aᵃ⁻¹ x)</a:t>
            </a:r>
          </a:p>
          <a:p>
            <a:pPr algn="l">
              <a:spcBef>
                <a:spcPts val="400"/>
              </a:spcBef>
            </a:pPr>
            <a:endParaRPr sz="1100" b="0" i="0">
              <a:solidFill>
                <a:srgbClr val="505050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θ̂ᵃ = posterior mean weights for arm a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α = exploration bonus scaling (default 1.0)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x = Sophea’s 34-dim context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847" y="3650000"/>
            <a:ext cx="5488648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Arm Scores (LinUCB, Sophea):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847" y="4100000"/>
            <a:ext cx="5488648" cy="4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5847" y="418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D4E00"/>
                </a:solidFill>
                <a:latin typeface="Calibri"/>
              </a:rPr>
              <a:t>RATED:  0.31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65847" y="474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STANDARD:  0.52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noFill/>
          <a:ln>
            <a:solidFill>
              <a:srgbClr val="1B56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45847" y="5220000"/>
            <a:ext cx="5488648" cy="48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5847" y="530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93B3B"/>
                </a:solidFill>
                <a:latin typeface="Calibri"/>
              </a:rPr>
              <a:t>DECLINE:  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847" y="5780000"/>
            <a:ext cx="5488648" cy="4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5847" y="586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E8B57"/>
                </a:solidFill>
                <a:latin typeface="Calibri"/>
              </a:rPr>
              <a:t>REFER:  0.28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847" y="6350000"/>
            <a:ext cx="548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→ argmax = STANDARD  (Sophea gets coverage)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12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POLICY LADDER: CUMULATIVE REWARD OVER 5,000 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7200" y="1130000"/>
            <a:ext cx="110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Sophea’s Round: argmax UCB = STANDARD  →  Policy issues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8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Static XGB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Oracle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+75.6%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Ceiling (inadmissible)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93,723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+29.8%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91,864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+27.2%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76,441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+ 5.9%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72,206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 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−97.3%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0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Note: AlwaysRATED = 122,287 (between Oracle and LinTS) — inadmissible: denies all low-risk applicants coverage; discriminatory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13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ZOOM-IN: FAIRNESS GUARDRAIL &amp; HITL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700000"/>
            <a:ext cx="11277295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8B57"/>
                </a:solidFill>
                <a:latin typeface="Calibri"/>
              </a:rPr>
              <a:t>▸ YOU ARE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Applicant
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Bandit
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Underwriting
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Actuarial
Reward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95847" y="2550000"/>
            <a:ext cx="1500000" cy="76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50847" y="2505000"/>
            <a:ext cx="1590000" cy="850000"/>
          </a:xfrm>
          <a:prstGeom prst="rect">
            <a:avLst/>
          </a:prstGeom>
          <a:noFill/>
          <a:ln w="444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PSI + HITL
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5847" y="2780000"/>
            <a:ext cx="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B5697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95847" y="2550000"/>
            <a:ext cx="1500000" cy="76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5847" y="2660000"/>
            <a:ext cx="1400000" cy="6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05050"/>
                </a:solidFill>
                <a:latin typeface="Calibr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7200" y="3850000"/>
            <a:ext cx="9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B5697"/>
                </a:solidFill>
                <a:latin typeface="Calibri"/>
              </a:rPr>
              <a:t>Now examining the PSI fairness guardrail and the human-in-the-loop review wrapper.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14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PSI FAIRNESS GUARDRAIL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PSI = Σ (Aᵢ − Eᵢ) × ln(Aᵢ / Eᵢ)   ·   Applied per 500-round sliding window   ·   Monitored on: region (8 groups) + occupation (7 groups) separately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80000"/>
            <a:ext cx="11277295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750000"/>
            <a:ext cx="3692431" cy="30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750000"/>
            <a:ext cx="3692431" cy="6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7200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200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8B57"/>
                </a:solidFill>
                <a:latin typeface="Calibri"/>
              </a:rPr>
              <a:t>PSI &lt;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200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No significant shift — policy is 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9631" y="1750000"/>
            <a:ext cx="3692431" cy="30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9631" y="1750000"/>
            <a:ext cx="3692431" cy="6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29631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31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6A62E"/>
                </a:solidFill>
                <a:latin typeface="Calibri"/>
              </a:rPr>
              <a:t>0.10 ≤ PSI ≤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9631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Moderate shift — monitor closely; flag for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2062" y="1750000"/>
            <a:ext cx="3692431" cy="30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2062" y="1750000"/>
            <a:ext cx="3692431" cy="600000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2062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062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93B3B"/>
                </a:solidFill>
                <a:latin typeface="Calibri"/>
              </a:rPr>
              <a:t>PSI &gt;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062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Major shift — halt or recalibrate bandit; escalate to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00000"/>
            <a:ext cx="11277295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  <a:latin typeface="Calibri"/>
              </a:rPr>
              <a:t>Source: Siddiqi (2006) · Validated: Yurdakul &amp; Naranjo (2020)
EXP-006 result: LinUCB GREEN on all 8 regions + 7 occupations across 20 seeds (mean PSI 0.042 region / 0.037 occupation); criterion 6 FAILED-with-interpretation (EpsGreedy AMBER on 1 seed).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14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HUMAN-IN-THE-LOOP (HITL) WRAPPER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538647" cy="1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7200" y="123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1. Bandit selects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200" y="165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Calibri"/>
              </a:rPr>
              <a:t>UCB / TS score computed for each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6523" y="226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0000"/>
            <a:ext cx="5538647" cy="110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7200" y="241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2. Uncertainty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200" y="283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Calibri"/>
              </a:rPr>
              <a:t>If max score − 2nd score &lt; κ (0.7) → REFER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6523" y="344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10000"/>
            <a:ext cx="5538647" cy="11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7200" y="359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3. Human actuary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401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Calibri"/>
              </a:rPr>
              <a:t>Expert sees full context; overrides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6523" y="462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90000"/>
            <a:ext cx="5538647" cy="11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7200" y="47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4. Dual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200" y="519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Calibri"/>
              </a:rPr>
              <a:t>Update selected arm reward + REFER arm penalty
Without dual update: REFER over-selects (gotcha)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150000"/>
            <a:ext cx="5488648" cy="1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45847" y="1150000"/>
            <a:ext cx="91440" cy="1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95847" y="12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Key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16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κ = 0.7   (uncertainty threshold for headline result)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Review rate: 1.5% of rounds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Reward gain: +6.5% vs vanilla bandit (p=0.017, d=0.87)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2950000"/>
            <a:ext cx="5488648" cy="14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45847" y="2950000"/>
            <a:ext cx="91440" cy="14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95847" y="30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Implementation Gotcha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3490000"/>
            <a:ext cx="5308648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Without dual update (action + REFER penalty), the REFER arm 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accumulates reward without cost → over-selection spiral.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Dual update corrects this incentive.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550000"/>
            <a:ext cx="5488648" cy="16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45847" y="4550000"/>
            <a:ext cx="91440" cy="16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95847" y="46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Segoe UI"/>
              </a:rPr>
              <a:t>EXP-008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5847" y="50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HITL+LinUCB:  +6.5% vs vanilla bandit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κ sweep: 0.3 – 0.9 tested; κ=0.7 optimal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p=0.017, Cohen’s d=0.87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15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38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7200" y="1120000"/>
            <a:ext cx="1107729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Stats Protocol: 20 seeds · Bootstrap 95% CI · Paired Wilcoxon · Bonferroni correction · Cohen’s 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000"/>
          <a:ext cx="11277295" cy="4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Exp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Rounds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EXP-005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Convergence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LinUCB vs Static XGB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Fairness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PSI + EEOC 4/5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EXP-007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Benchmark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Full ladder CRN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seed=42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EXP-009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Adaptation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Shock at t=1,500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200–2,000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Crossover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EXP-011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Ablation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Exploration vs updating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Regret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Log-log slope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EXP-015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Rescue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Constant vs adaptive under shock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16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IV.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Results &amp;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Results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17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THE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93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3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5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LogisticOracle ‡ (full-supervision)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05050"/>
                </a:solidFill>
                <a:latin typeface="Calibri"/>
              </a:rPr>
              <a:t>‡ LogisticOracle fit in-sample on oracle labels — not deployable (diagnostic only).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18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EXP-005: CONVERGENCE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LinUCB cumulative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$90,540 ± 5,382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[88,287 – 92,886]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930000"/>
            <a:ext cx="91440" cy="72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7200" y="203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Static XGB reward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28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$72,292 ± 4,120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18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[70,646 – 74,136]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1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2710000"/>
            <a:ext cx="91440" cy="72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7200" y="281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06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+$18,248  (+25.2%)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296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p &lt; 0.001, d = 2.98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9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49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7200" y="359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Oracle ceiling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84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$126,804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74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LinUCB recovers 72%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7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427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7200" y="437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Late regret — LinUCB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62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$2.20/round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52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Last 500 rounds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50000"/>
            <a:ext cx="6766377" cy="72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5050000"/>
            <a:ext cx="91440" cy="720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7200" y="51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Late regret — Static XGB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4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$9.01/round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3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Last 500 rounds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+25.2% = the gap between 2023 Sophea (DECLINE) and 2026 Sophea (STANDARD).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23577" y="1150000"/>
            <a:ext cx="4310918" cy="43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73577" y="1250000"/>
            <a:ext cx="4110918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CONVERGENCE INDICATORS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Action entropy: 1.314 → 1.105 nats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(exploration → exploitation)</a:t>
            </a:r>
          </a:p>
          <a:p>
            <a:pPr algn="l">
              <a:spcBef>
                <a:spcPts val="600"/>
              </a:spcBef>
            </a:pPr>
            <a:endParaRPr sz="1000" b="0" i="0">
              <a:solidFill>
                <a:srgbClr val="505050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Oracle-agreement (last 500 rounds): 37.8%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(learns different but profitable policy)</a:t>
            </a:r>
          </a:p>
          <a:p>
            <a:pPr algn="l">
              <a:spcBef>
                <a:spcPts val="600"/>
              </a:spcBef>
            </a:pPr>
            <a:endParaRPr sz="1000" b="0" i="0">
              <a:solidFill>
                <a:srgbClr val="505050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Regret curve follows O(√T)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Log-log slope: 0.572 (theory: 0.5)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R² = 0.9915</a:t>
            </a:r>
          </a:p>
          <a:p>
            <a:pPr algn="l">
              <a:spcBef>
                <a:spcPts val="600"/>
              </a:spcBef>
            </a:pPr>
            <a:endParaRPr sz="1000" b="0" i="0">
              <a:solidFill>
                <a:srgbClr val="505050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000" b="1" i="0">
                <a:solidFill>
                  <a:srgbClr val="2E8B57"/>
                </a:solidFill>
                <a:latin typeface="Calibri"/>
              </a:rPr>
              <a:t>All 5 EXP-005 criteria: PASSED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19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EXP-006: FAIRNESS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Region PSI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E8B57"/>
                </a:solidFill>
                <a:latin typeface="Calibri"/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15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45847" y="1150000"/>
            <a:ext cx="91440" cy="76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95847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Occupation PSI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A62E"/>
                </a:solidFill>
                <a:latin typeface="Calibri"/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99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7200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Region parity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85.72%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45847" y="199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95847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Occupation parity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90.12%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83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2830000"/>
            <a:ext cx="91440" cy="76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7200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Region permutation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83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45847" y="2830000"/>
            <a:ext cx="91440" cy="76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95847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Occupation permutation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A62E"/>
                </a:solidFill>
                <a:latin typeface="Calibri"/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PSI is a MONITOR not an ENFORCER — constrained-action layer is future work.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20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EXP-007: BENCHMARK COMPARISON (CRN)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766377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1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Cumul. Reward (mean, 20 seeds)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AlwaysRATED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5697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5697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33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B5697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B5697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23577" y="1200000"/>
            <a:ext cx="4310918" cy="12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423577" y="1200000"/>
            <a:ext cx="91440" cy="12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73577" y="12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LinTS vs LinUCB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3577" y="1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Calibri"/>
              </a:rPr>
              <a:t>p = 0.87, d = 0.26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3577" y="19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6A62E"/>
                </a:solidFill>
                <a:latin typeface="Calibri"/>
              </a:rPr>
              <a:t>TIED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3577" y="25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423577" y="2500000"/>
            <a:ext cx="91440" cy="12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73577" y="2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LinUCB vs Static XGB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3577" y="2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Calibri"/>
              </a:rPr>
              <a:t>−19,774 regret  p &lt; 0.001  d = −3.41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3577" y="32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8B57"/>
                </a:solidFill>
                <a:latin typeface="Calibri"/>
              </a:rPr>
              <a:t>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3577" y="38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23577" y="3800000"/>
            <a:ext cx="91440" cy="120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73577" y="3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LinTS vs Static XGB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3577" y="41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  <a:latin typeface="Calibri"/>
              </a:rPr>
              <a:t>−21,400 regret  p &lt; 0.001  d = −3.89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3577" y="45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8B57"/>
                </a:solidFill>
                <a:latin typeface="Calibri"/>
              </a:rPr>
              <a:t>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Two coexisting findings: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(1) Adaptive bandits decisively beat the frozen Static XGB rule  (p &lt; 0.001)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7D4E00"/>
                </a:solidFill>
                <a:latin typeface="Calibri"/>
              </a:rPr>
              <a:t>(2) Trivial constant AlwaysRATED still beats all bandits — honestly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21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EXP-008: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HITL reward (c = 0.7)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$102,100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vs vanilla $95,872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50000"/>
            <a:ext cx="676637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950000"/>
            <a:ext cx="91440" cy="75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7200" y="20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Improvement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3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+$6,228 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2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vs vanilla bandit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27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7200" y="28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Review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1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$2,625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30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2.6% of 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5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7200" y="36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Human overrides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9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75 of 5,000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8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1.5% review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43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7200" y="44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Alignment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7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60.0%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6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human–model agreement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50000"/>
            <a:ext cx="6766377" cy="75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5150000"/>
            <a:ext cx="91440" cy="75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7200" y="5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  <a:latin typeface="Calibri"/>
              </a:rPr>
              <a:t>Queue 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5697"/>
                </a:solidFill>
                <a:latin typeface="Calibri"/>
              </a:rPr>
              <a:t>0 throughout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no backlog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Scope: +6.5% is vs vanilla bandit (NOT vs AlwaysRATED). HITL adds genuine value at low review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22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WHAT DRIVES THE VALUE? (EXP-011 + EXP-015)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EXP-011: ABLATION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Calibri"/>
              </a:rPr>
              <a:t>Full LinUCB vs Greedy-only (α = 0):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B5697"/>
                </a:solidFill>
                <a:latin typeface="Calibri"/>
              </a:rPr>
              <a:t>p = 0.580, d = 0.13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Exploration is NOT load-bearing.</a:t>
            </a:r>
          </a:p>
          <a:p>
            <a:pPr algn="l">
              <a:spcBef>
                <a:spcPts val="0"/>
              </a:spcBef>
            </a:pPr>
            <a:endParaRPr sz="1100" b="0" i="0">
              <a:solidFill>
                <a:srgbClr val="505050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262626"/>
                </a:solidFill>
                <a:latin typeface="Calibri"/>
              </a:rPr>
              <a:t>Greedy-only vs Static XGB: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2E8B57"/>
                </a:solidFill>
                <a:latin typeface="Calibri"/>
              </a:rPr>
              <a:t>+$18,969  p &lt; 0.001  d = 3.01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262626"/>
                </a:solidFill>
                <a:latin typeface="Calibri"/>
              </a:rPr>
              <a:t>Online ridge updating IS the mechanism.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6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EXP-015: DRIFT RESCUE?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  <a:latin typeface="Calibri"/>
              </a:rPr>
              <a:t>Under realistic drift shock: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AlwaysRATED: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B5697"/>
                </a:solidFill>
                <a:latin typeface="Calibri"/>
              </a:rPr>
              <a:t>$99,321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LinTS: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B5697"/>
                </a:solidFill>
                <a:latin typeface="Calibri"/>
              </a:rPr>
              <a:t>$71,429  (−39.0%)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LinUCB: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B5697"/>
                </a:solidFill>
                <a:latin typeface="Calibri"/>
              </a:rPr>
              <a:t>$71,373  (−39.2%)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DiscountedLinUCB γ=0.999: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B5697"/>
                </a:solidFill>
                <a:latin typeface="Calibri"/>
              </a:rPr>
              <a:t>$70,995  (no help)</a:t>
            </a:r>
          </a:p>
          <a:p>
            <a:pPr algn="l">
              <a:spcBef>
                <a:spcPts val="1200"/>
              </a:spcBef>
            </a:pPr>
            <a:r>
              <a:rPr sz="1000" b="1" i="0">
                <a:solidFill>
                  <a:srgbClr val="7D4E00"/>
                </a:solidFill>
                <a:latin typeface="Calibri"/>
              </a:rPr>
              <a:t>Non-stationarity does NOT rescue the bandit.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23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COLD START &amp; REGRET BOUND (EXP-010 + EXP-013)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202512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7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7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Relative Performance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200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FreshXGB 2.1×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500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FreshXGB 1.26×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1,000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TIE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Crossover zone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2,000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Bandits cross over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Bandits lead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600000"/>
            <a:ext cx="6202512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Operational implication: warm-start required for first 1,000–2,000 applications.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9712" y="1200000"/>
            <a:ext cx="4824782" cy="3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909712" y="1200000"/>
            <a:ext cx="91440" cy="3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59712" y="1300000"/>
            <a:ext cx="4624782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EXP-013: REGRET 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712" y="1720000"/>
            <a:ext cx="4624782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Log-log slope: 0.572</a:t>
            </a:r>
          </a:p>
          <a:p>
            <a:pPr algn="l">
              <a:spcBef>
                <a:spcPts val="400"/>
              </a:spcBef>
            </a:pPr>
            <a:r>
              <a:rPr sz="1000" b="0" i="1">
                <a:solidFill>
                  <a:srgbClr val="505050"/>
                </a:solidFill>
                <a:latin typeface="Calibri"/>
              </a:rPr>
              <a:t>(theory: 0.5 — near-optimal)</a:t>
            </a:r>
          </a:p>
          <a:p>
            <a:pPr algn="l">
              <a:spcBef>
                <a:spcPts val="0"/>
              </a:spcBef>
            </a:pPr>
            <a:endParaRPr sz="1000" b="0" i="1">
              <a:solidFill>
                <a:srgbClr val="505050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1B5697"/>
                </a:solidFill>
                <a:latin typeface="Calibri"/>
              </a:rPr>
              <a:t>R² = 0.9915</a:t>
            </a:r>
          </a:p>
          <a:p>
            <a:pPr algn="l">
              <a:spcBef>
                <a:spcPts val="400"/>
              </a:spcBef>
            </a:pPr>
            <a:r>
              <a:rPr sz="1000" b="0" i="1">
                <a:solidFill>
                  <a:srgbClr val="505050"/>
                </a:solidFill>
                <a:latin typeface="Calibri"/>
              </a:rPr>
              <a:t>Excellent linear fit on log-log axes</a:t>
            </a:r>
          </a:p>
          <a:p>
            <a:pPr algn="l">
              <a:spcBef>
                <a:spcPts val="0"/>
              </a:spcBef>
            </a:pPr>
            <a:endParaRPr sz="1000" b="0" i="1">
              <a:solidFill>
                <a:srgbClr val="505050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85% of seeds in [0.30, 0.80]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2E8B57"/>
                </a:solidFill>
                <a:latin typeface="Calibri"/>
              </a:rPr>
              <a:t>Sublinear regret confirmed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24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LIVE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  <a:latin typeface="Calibri"/>
              </a:rPr>
              <a:t>[Open browser at localhost:8000 before this slide]</a:t>
            </a:r>
          </a:p>
          <a:p>
            <a:pPr algn="l">
              <a:spcBef>
                <a:spcPts val="200"/>
              </a:spcBef>
            </a:pPr>
            <a:endParaRPr sz="1200" b="0" i="1">
              <a:solidFill>
                <a:srgbClr val="505050"/>
              </a:solidFill>
              <a:latin typeface="Calibri"/>
            </a:endParaRP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B5697"/>
                </a:solidFill>
                <a:latin typeface="Calibri"/>
              </a:rPr>
              <a:t>STEP 1: Enter Sophea's profile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  <a:latin typeface="Calibri"/>
              </a:rPr>
              <a:t>  Age 42  ·  Female  ·  BMI 24.1  ·  Smoker: No  ·  Hypertension: Yes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  <a:latin typeface="Calibri"/>
              </a:rPr>
              <a:t>  Region: Kampong Cham  ·  Occupation: Agriculture</a:t>
            </a:r>
          </a:p>
          <a:p>
            <a:pPr algn="l">
              <a:spcBef>
                <a:spcPts val="200"/>
              </a:spcBef>
            </a:pPr>
            <a:endParaRPr sz="1200" b="0" i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B5697"/>
                </a:solidFill>
                <a:latin typeface="Calibri"/>
              </a:rPr>
              <a:t>STEP 2: Submit — show STANDARD decision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  <a:latin typeface="Calibri"/>
              </a:rPr>
              <a:t>  The bandit sees her 34 features and selects STANDARD premium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  <a:latin typeface="Calibri"/>
              </a:rPr>
              <a:t>  The correct actuarial answer — the one she was denied in 2023</a:t>
            </a:r>
          </a:p>
          <a:p>
            <a:pPr algn="l">
              <a:spcBef>
                <a:spcPts val="200"/>
              </a:spcBef>
            </a:pPr>
            <a:endParaRPr sz="1200" b="0" i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B5697"/>
                </a:solidFill>
                <a:latin typeface="Calibri"/>
              </a:rPr>
              <a:t>STEP 3: Submit a high-risk applicant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  <a:latin typeface="Calibri"/>
              </a:rPr>
              <a:t>  Older  ·  Smoker  ·  High BMI  ·  Multiple clinical flags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  <a:latin typeface="Calibri"/>
              </a:rPr>
              <a:t>  Show REFER or RATED decision; explain HITL queue</a:t>
            </a:r>
          </a:p>
          <a:p>
            <a:pPr algn="l">
              <a:spcBef>
                <a:spcPts val="200"/>
              </a:spcBef>
            </a:pPr>
            <a:endParaRPr sz="1200" b="0" i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B5697"/>
                </a:solidFill>
                <a:latin typeface="Calibri"/>
              </a:rPr>
              <a:t>STEP 4: Show HITL tab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  <a:latin typeface="Calibri"/>
              </a:rPr>
              <a:t>  Running referral rate  ·  cumulative review cost  ·  alignment score</a:t>
            </a:r>
          </a:p>
          <a:p>
            <a:pPr algn="l">
              <a:spcBef>
                <a:spcPts val="200"/>
              </a:spcBef>
            </a:pPr>
            <a:endParaRPr sz="1200" b="0" i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200" b="0" i="1">
                <a:solidFill>
                  <a:srgbClr val="505050"/>
                </a:solidFill>
                <a:latin typeface="Calibri"/>
              </a:rPr>
              <a:t>[This is the FastAPI prototype deployed on Render — not a mockup]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Results &amp;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25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9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Segoe UI"/>
              </a:rPr>
              <a:t>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48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58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4E4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26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4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  <a:latin typeface="Calibri"/>
              </a:rPr>
              <a:t>FINDING 1 — EXP-005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Online adaptation beats static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+25.2%, p &lt; 0.001, d = 2.98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LinUCB +$18,248 over Static XGB across 20 seeds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95847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  <a:latin typeface="Calibri"/>
              </a:rPr>
              <a:t>FINDING 2 — EXP-006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No demographic bias introduced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85.72% &amp; 90.12% parity (Region &amp; Occupation)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PSI GREEN/AMBER throughout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5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7200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  <a:latin typeface="Calibri"/>
              </a:rPr>
              <a:t>FINDING 3 — EXP-011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Mechanism: online ridge updating, not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Greedy-only (α = 0) ties full LinUCB (p = 0.58)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Online learning beats frozen model regardless of exploration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3500000"/>
            <a:ext cx="5488647" cy="21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45847" y="3500000"/>
            <a:ext cx="91440" cy="21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95847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  <a:latin typeface="Calibri"/>
              </a:rPr>
              <a:t>FINDING 4 — EXP-008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HITL adds value at low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+6.5% at 1.5% review rate, 2.6% cost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Alignment score 60.0% — human oversight meaningful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27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2,000 records — cannot capture rare comorbidities, fraud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CDHS/STEPS-anchored but not real insurance claims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Single-period rewards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No multi-year claims, retention, or renewal cycle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Reward is a one-shot proxy for profitability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Stationarity assumption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Violated in practice (EXP-009/015 partially address)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DiscountedLinUCB helps only marginally under shock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  <a:latin typeface="Calibri"/>
              </a:rPr>
              <a:t>Constant-policy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AlwaysRATED beats bandits by ~30%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Bandits lead every admissible deployable alternative,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but headroom to Oracle remains 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28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Non-stationary drift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DiscountedLinUCB + PSI early-warning pipeline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Threshold-adaptive forgetting factor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Neural bandit extensions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NeuralUCB + Neural-Linear hybrid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Richer feature representations beyond 34 dimensions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Live A/B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Delayed reward via survival proxy (6–24 month claims lag)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Online evaluation with real Cambodian insurers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Multi-period customer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  <a:latin typeface="Calibri"/>
              </a:rPr>
              <a:t>CLV, retention, cross-selling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  <a:latin typeface="Calibri"/>
              </a:rPr>
              <a:t>Move beyond single-decision reward framing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29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000000"/>
            <a:ext cx="11277295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A11D"/>
                </a:solidFill>
                <a:latin typeface="Calibri"/>
              </a:rPr>
              <a:t>2023: DECLINE.</a:t>
            </a:r>
          </a:p>
          <a:p>
            <a:pPr algn="ctr">
              <a:spcBef>
                <a:spcPts val="1800"/>
              </a:spcBef>
            </a:pPr>
            <a:r>
              <a:rPr sz="4000" b="1" i="0">
                <a:solidFill>
                  <a:srgbClr val="FFFFFF"/>
                </a:solidFill>
                <a:latin typeface="Calibri"/>
              </a:rPr>
              <a:t>2026: STANDARD.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BDCEE4"/>
                </a:solidFill>
                <a:latin typeface="Calibri"/>
              </a:rPr>
              <a:t>Cambodia has hundreds of thousands of applicants like her.</a:t>
            </a:r>
          </a:p>
          <a:p>
            <a:pPr algn="ctr">
              <a:spcBef>
                <a:spcPts val="1800"/>
              </a:spcBef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00000"/>
            <a:ext cx="11277295" cy="5486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37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DCEE4"/>
                </a:solidFill>
                <a:latin typeface="Calibri"/>
              </a:rPr>
              <a:t>APPENDIX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7200" y="4600000"/>
            <a:ext cx="7277295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DCEE4"/>
                </a:solidFill>
                <a:latin typeface="Calibri"/>
              </a:rPr>
              <a:t>A1: Complete Baseline Ladder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  <a:latin typeface="Calibri"/>
              </a:rPr>
              <a:t>A2: Number Reconciliation (+25.2% / +29.8% / +6.5%)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  <a:latin typeface="Calibri"/>
              </a:rPr>
              <a:t>A3: All 6 Fairness Criteria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  <a:latin typeface="Calibri"/>
              </a:rPr>
              <a:t>A4: Math Details (LinUCB update rule, PSI formula, HITL dual-update)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  <a:latin typeface="Calibri"/>
              </a:rPr>
              <a:t>A5: Full Sensitivity Tables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  <a:latin typeface="Calibri"/>
              </a:rPr>
              <a:t>Q &amp;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34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A1: COMPLETE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93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3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LogisticOracle ‡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B5697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B5697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05050"/>
                </a:solidFill>
                <a:latin typeface="Calibri"/>
              </a:rPr>
              <a:t>‡ LogisticOracle: fit in-sample — not deployable. Oracle: full information upper bound.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A1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11277295" cy="1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1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+25.2%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57200" y="128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EXP-005: LinUCB vs Static XGB (primary pre-registered result)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7200" y="170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  <a:latin typeface="Calibri"/>
              </a:rPr>
              <a:t>LinUCB mean $90,540 vs Static XGB mean $72,292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Paired Wilcoxon p &lt; 0.001, Cohen's d = 2.98, 20 seeds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This is the headline figure cited throughout the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50000"/>
            <a:ext cx="11277295" cy="1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950000"/>
            <a:ext cx="91440" cy="1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7200" y="303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+29.8%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7200" y="303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EXP-007: LinTS vs Static XGB (CRN benchmark harness)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7200" y="345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  <a:latin typeface="Calibri"/>
              </a:rPr>
              <a:t>LinTS mean $93,723 vs Static XGB mean $72,206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Different harness (CRN — common random numbers) — not the pre-registered test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Reported for completeness; primary comparison is EXP-005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700000"/>
            <a:ext cx="11277295" cy="16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700000"/>
            <a:ext cx="91440" cy="16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7200" y="478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B5697"/>
                </a:solidFill>
                <a:latin typeface="Calibri"/>
              </a:rPr>
              <a:t>+6.5%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7200" y="478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EXP-008: HITL reward vs vanilla bandit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7200" y="520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  <a:latin typeface="Calibri"/>
              </a:rPr>
              <a:t>HITL $102,100 vs vanilla $95,872 (same seed=42)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Different baseline (vanilla bandit, NOT Static XGB or AlwaysRATED)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  <a:latin typeface="Calibri"/>
              </a:rPr>
              <a:t>Measures incremental value of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A2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A3: ALL 6 FAIRNESS CRITERIA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5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Criterion 1: PSI Region ≤ 0.25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PSI = 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8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E8B57"/>
                </a:solidFill>
                <a:latin typeface="Calibri"/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7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7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95847" y="1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Criterion 2: PSI Occupation ≤ 0.25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PSI = 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8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A62E"/>
                </a:solidFill>
                <a:latin typeface="Calibri"/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05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2050000"/>
            <a:ext cx="91440" cy="75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7200" y="21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Criterion 3: EEOC 4/5 rule —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4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85.72% ≥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65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205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45847" y="2050000"/>
            <a:ext cx="91440" cy="75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95847" y="21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Criterion 4: EEOC 4/5 rule — 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4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90.12% ≥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65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0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2900000"/>
            <a:ext cx="91440" cy="750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7200" y="29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Criterion 5: Permutation test — Region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5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E8B57"/>
                </a:solidFill>
                <a:latin typeface="Calibri"/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900000"/>
            <a:ext cx="5488647" cy="7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45847" y="2900000"/>
            <a:ext cx="91440" cy="750000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95847" y="29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5697"/>
                </a:solidFill>
                <a:latin typeface="Calibri"/>
              </a:rPr>
              <a:t>Criterion 6: Permutation test — Occupation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5697"/>
                </a:solidFill>
                <a:latin typeface="Calibri"/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5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A62E"/>
                </a:solidFill>
                <a:latin typeface="Calibri"/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Criterion 6: statistically significant disparity detected under permutation test. PSI = 0.123 (AMBER — monitor only). Criterion 6 is FAILED-with-interpretation, not a hard stop.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A3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A4: MATHEMATICAL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LinUCB UPDATE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  <a:latin typeface="Calibri"/>
              </a:rPr>
              <a:t>Design matrix:  A ← A + xₜ xₜᵀ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Reward vector:  b ← b + rₜ xₜ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Ridge estimate: θ̂ = A⁻¹ b</a:t>
            </a:r>
          </a:p>
          <a:p>
            <a:pPr algn="l">
              <a:spcBef>
                <a:spcPts val="600"/>
              </a:spcBef>
            </a:pPr>
            <a:endParaRPr sz="1000" b="0" i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UCB score: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  p(x) = θ̂ᵀ x + α √(xᵀ A⁻¹ x)</a:t>
            </a:r>
          </a:p>
          <a:p>
            <a:pPr algn="l">
              <a:spcBef>
                <a:spcPts val="600"/>
              </a:spcBef>
            </a:pPr>
            <a:endParaRPr sz="1000" b="0" i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PSI formula: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  PSI = Σ (P_new − P_old) × ln(P_new / P_old)</a:t>
            </a:r>
          </a:p>
          <a:p>
            <a:pPr algn="l">
              <a:spcBef>
                <a:spcPts val="600"/>
              </a:spcBef>
            </a:pPr>
            <a:endParaRPr sz="1000" b="0" i="0">
              <a:solidFill>
                <a:srgbClr val="262626"/>
              </a:solidFill>
              <a:latin typeface="Calibri"/>
            </a:endParaRP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HITL dual-update: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  If human overrides → update on human label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  <a:latin typeface="Calibri"/>
              </a:rPr>
              <a:t>  Else update on bandit label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800000"/>
          </a:xfrm>
          <a:prstGeom prst="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800000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5697"/>
                </a:solidFill>
                <a:latin typeface="Calibri"/>
              </a:rPr>
              <a:t>KEY HYPERPARAMETERS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95847" y="1750000"/>
          <a:ext cx="5288647" cy="4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43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LinUCB α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LinTS v²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Ridge λ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HITL threshold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Discount γ (EXP-015)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0.999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PSI AMBER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PSI RED threshold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A4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B5697"/>
                </a:solidFill>
                <a:latin typeface="Segoe UI"/>
              </a:rPr>
              <a:t>A5: SENSITIVITY ANALYSIS (EXP-012)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B56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507478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5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α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$88,192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0.50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$89,703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E8B57"/>
                          </a:solidFill>
                        </a:rPr>
                        <a:t>1.00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E8B57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E8B57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$89,118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$87,645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1150000"/>
            <a:ext cx="50747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α (exploration coefficient) sweep — LinUCB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31982" y="1300000"/>
          <a:ext cx="600251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8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8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Adverse-selection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0%  (none)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+0%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5%  (low)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$88,612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−2.1%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10% (moderate)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$85,933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−5.1%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20% (high)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$79,847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−11.8%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30% (extreme)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$73,201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−19.2%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31982" y="1150000"/>
            <a:ext cx="600251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Adverse-selection rate sweep — LinUCB reward impact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000000"/>
          <a:ext cx="11277295" cy="2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4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333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Elasticity Slope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LinUCB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Static XGB Reward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Difference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% Gain</a:t>
                      </a:r>
                    </a:p>
                  </a:txBody>
                  <a:tcPr>
                    <a:solidFill>
                      <a:srgbClr val="1B56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1.5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$61,204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$49,817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+$11,387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+22.8%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$75,892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$60,943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+$14,949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+24.5%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33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8B57"/>
                          </a:solidFill>
                        </a:rPr>
                        <a:t>3.5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8B57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8B57"/>
                          </a:solidFill>
                        </a:rPr>
                        <a:t>$72,292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8B57"/>
                          </a:solidFill>
                        </a:rPr>
                        <a:t>+$18,248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E8B57"/>
                          </a:solidFill>
                        </a:rPr>
                        <a:t>+25.2%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333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4.5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$105,183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$83,641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+$21,542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+25.7%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335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5.5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$119,827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$95,012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+$24,815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+26.1%</a:t>
                      </a:r>
                    </a:p>
                  </a:txBody>
                  <a:tcPr>
                    <a:solidFill>
                      <a:srgbClr val="F3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85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5697"/>
                </a:solidFill>
                <a:latin typeface="Calibri"/>
              </a:rPr>
              <a:t>Elasticity slope sweep — LinUCB vs Static XGB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4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Benefit gap widens with elasticity; core finding is robust across slope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DAC  ·  ITC-AMS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AFC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B5697"/>
                </a:solidFill>
                <a:latin typeface="Calibri"/>
              </a:rPr>
              <a:t>Appendix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4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July 2026  ·  A5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4571</Words>
  <Application>Microsoft Office PowerPoint</Application>
  <PresentationFormat>Widescreen</PresentationFormat>
  <Paragraphs>1022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CHANPOLY LUN</cp:lastModifiedBy>
  <cp:revision>2</cp:revision>
  <dcterms:created xsi:type="dcterms:W3CDTF">2013-01-27T09:14:16Z</dcterms:created>
  <dcterms:modified xsi:type="dcterms:W3CDTF">2026-06-22T10:15:03Z</dcterms:modified>
  <cp:category/>
</cp:coreProperties>
</file>