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14400" cy="901541"/>
          </a:xfrm>
          <a:prstGeom prst="rect">
            <a:avLst/>
          </a:prstGeom>
        </p:spPr>
      </p:pic>
      <p:pic>
        <p:nvPicPr>
          <p:cNvPr id="3" name="Picture 2" descr="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74320"/>
            <a:ext cx="914400" cy="866495"/>
          </a:xfrm>
          <a:prstGeom prst="rect">
            <a:avLst/>
          </a:prstGeom>
        </p:spPr>
      </p:pic>
      <p:pic>
        <p:nvPicPr>
          <p:cNvPr id="4" name="Picture 3" descr="DA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74320"/>
            <a:ext cx="1097280" cy="6172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0" y="320040"/>
            <a:ext cx="6400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A1A1A"/>
                </a:solidFill>
                <a:latin typeface="Times New Roman"/>
              </a:defRPr>
            </a:pPr>
            <a:r>
              <a:t>Institute of Technology of Cambodia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777240"/>
            <a:ext cx="6400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0">
                <a:solidFill>
                  <a:srgbClr val="1A1A1A"/>
                </a:solidFill>
                <a:latin typeface="Times New Roman"/>
              </a:defRPr>
            </a:pPr>
            <a:r>
              <a:t>Department of Applied Mathematics and Statistics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047" y="2103120"/>
            <a:ext cx="10515600" cy="2011680"/>
          </a:xfrm>
          <a:prstGeom prst="round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3200" b="1">
                <a:solidFill>
                  <a:srgbClr val="FFFFFF"/>
                </a:solidFill>
                <a:latin typeface="Times New Roman"/>
              </a:defRPr>
            </a:pPr>
            <a:r>
              <a:t>ADAPTIVE HEALTH INSURANCE UNDERWRITING VIA CONTEXTUAL BANDITS: A REINFORCEMENT LEARNING APPROACH FOR CAMBODIA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1A1A1A"/>
                </a:solidFill>
                <a:latin typeface="Calibri"/>
              </a:defRPr>
            </a:pPr>
            <a:r>
              <a:t>Presented by: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1219169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A1A1A"/>
                </a:solidFill>
                <a:latin typeface="Times New Roman"/>
              </a:defRPr>
            </a:pPr>
            <a:r>
              <a:t>LUN CHANPOLY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394960"/>
            <a:ext cx="4572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Supervisor      : Dr. HAS Sothea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Co-Supervisor   : Mr. PHOK Ponna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5394960"/>
            <a:ext cx="4572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Organization    : DAC (Decent Actuarial Consultants)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5715000"/>
            <a:ext cx="4572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Duration        : March 2026 – May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1A1A1A"/>
                </a:solidFill>
                <a:latin typeface="Calibri"/>
              </a:defRPr>
            </a:pPr>
            <a:r>
              <a:t>June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17" name="Picture 16" descr="DA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54864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530352"/>
            <a:ext cx="54864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94944"/>
            <a:ext cx="54864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27432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🎓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62179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62179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0" y="365760"/>
            <a:ext cx="82296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4000" b="1">
                <a:solidFill>
                  <a:srgbClr val="1A1A1A"/>
                </a:solidFill>
                <a:latin typeface="Times New Roman"/>
              </a:defRPr>
            </a:pPr>
            <a:r>
              <a:t>TABLE OF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463040"/>
            <a:ext cx="594360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463040"/>
            <a:ext cx="3200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1A1A1A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874520"/>
            <a:ext cx="1097280" cy="54864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2468880"/>
            <a:ext cx="594360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468880"/>
            <a:ext cx="3200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1A1A1A"/>
                </a:solidFill>
                <a:latin typeface="Times New Roman"/>
              </a:defRPr>
            </a:pPr>
            <a:r>
              <a:t>LITERATURE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880360"/>
            <a:ext cx="1097280" cy="54864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0" y="3474720"/>
            <a:ext cx="594360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474720"/>
            <a:ext cx="3200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1A1A1A"/>
                </a:solidFill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886200"/>
            <a:ext cx="1097280" cy="54864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4480560"/>
            <a:ext cx="594360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480560"/>
            <a:ext cx="3200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1A1A1A"/>
                </a:solidFill>
                <a:latin typeface="Times New Roman"/>
              </a:defRPr>
            </a:pPr>
            <a:r>
              <a:t>RESULTS AND DISCUSSION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4892040"/>
            <a:ext cx="1097280" cy="54864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0" y="1463040"/>
            <a:ext cx="594360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463040"/>
            <a:ext cx="3200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1A1A1A"/>
                </a:solidFill>
                <a:latin typeface="Times New Roman"/>
              </a:defRPr>
            </a:pPr>
            <a:r>
              <a:t>DEMONSTRATION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1874520"/>
            <a:ext cx="1097280" cy="54864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0" y="2468880"/>
            <a:ext cx="594360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468880"/>
            <a:ext cx="3200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1A1A1A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880360"/>
            <a:ext cx="1097280" cy="54864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pic>
        <p:nvPicPr>
          <p:cNvPr id="31" name="Picture 30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32" name="Picture 31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2103120"/>
            <a:ext cx="9144000" cy="2286000"/>
          </a:xfrm>
          <a:prstGeom prst="round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1</a:t>
            </a:r>
          </a:p>
        </p:txBody>
      </p:sp>
      <p:pic>
        <p:nvPicPr>
          <p:cNvPr id="7" name="Picture 6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8" name="Picture 7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2103120"/>
            <a:ext cx="9144000" cy="2286000"/>
          </a:xfrm>
          <a:prstGeom prst="round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2. 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2</a:t>
            </a:r>
          </a:p>
        </p:txBody>
      </p:sp>
      <p:pic>
        <p:nvPicPr>
          <p:cNvPr id="7" name="Picture 6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8" name="Picture 7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2103120"/>
            <a:ext cx="9144000" cy="2286000"/>
          </a:xfrm>
          <a:prstGeom prst="round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3.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3</a:t>
            </a:r>
          </a:p>
        </p:txBody>
      </p:sp>
      <p:pic>
        <p:nvPicPr>
          <p:cNvPr id="7" name="Picture 6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8" name="Picture 7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2103120"/>
            <a:ext cx="9144000" cy="2286000"/>
          </a:xfrm>
          <a:prstGeom prst="round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4. RESULTS AND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4</a:t>
            </a:r>
          </a:p>
        </p:txBody>
      </p:sp>
      <p:pic>
        <p:nvPicPr>
          <p:cNvPr id="7" name="Picture 6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8" name="Picture 7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2103120"/>
            <a:ext cx="9144000" cy="2286000"/>
          </a:xfrm>
          <a:prstGeom prst="round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5.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5</a:t>
            </a:r>
          </a:p>
        </p:txBody>
      </p:sp>
      <p:pic>
        <p:nvPicPr>
          <p:cNvPr id="7" name="Picture 6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8" name="Picture 7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2103120"/>
            <a:ext cx="9144000" cy="2286000"/>
          </a:xfrm>
          <a:prstGeom prst="round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6.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6</a:t>
            </a:r>
          </a:p>
        </p:txBody>
      </p:sp>
      <p:pic>
        <p:nvPicPr>
          <p:cNvPr id="7" name="Picture 6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8" name="Picture 7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3600" b="1">
                <a:solidFill>
                  <a:srgbClr val="5D2A42"/>
                </a:solidFill>
                <a:latin typeface="Times New Roman"/>
              </a:defRPr>
            </a:pPr>
            <a:r>
              <a:t>General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1</a:t>
            </a:r>
          </a:p>
        </p:txBody>
      </p:sp>
      <p:pic>
        <p:nvPicPr>
          <p:cNvPr id="8" name="Picture 7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9" name="Picture 8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097280"/>
            <a:ext cx="5394960" cy="4846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2200" b="1">
                <a:solidFill>
                  <a:srgbClr val="5D2A42"/>
                </a:solidFill>
                <a:latin typeface="Times New Roman"/>
              </a:defRPr>
            </a:pPr>
            <a:r>
              <a:rPr dirty="0"/>
              <a:t>DAC (Decent Actuarial Consultants)</a:t>
            </a:r>
          </a:p>
          <a:p>
            <a:pPr>
              <a:spcAft>
                <a:spcPts val="12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rPr dirty="0"/>
              <a:t>A Cambodia-based actuarial consulting firm specializing in health insurance pricing, risk assessment, and predictive analytics for emerging markets.</a:t>
            </a:r>
          </a:p>
          <a:p>
            <a:pPr>
              <a:spcAft>
                <a:spcPts val="4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rPr dirty="0"/>
              <a:t>Project Overview</a:t>
            </a:r>
          </a:p>
          <a:p>
            <a:pPr>
              <a:spcAft>
                <a:spcPts val="12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rPr dirty="0"/>
              <a:t>This thesis develops an adaptive health insurance underwriting system using contextual bandits (</a:t>
            </a:r>
            <a:r>
              <a:rPr dirty="0" err="1"/>
              <a:t>LinUCB</a:t>
            </a:r>
            <a:r>
              <a:rPr dirty="0"/>
              <a:t>, </a:t>
            </a:r>
            <a:r>
              <a:rPr dirty="0" err="1"/>
              <a:t>LinTS</a:t>
            </a:r>
            <a:r>
              <a:rPr dirty="0"/>
              <a:t>) to learn optimal accept / rate / decline / refer decisions. A synthetic Cambodia dataset of 2,000 applicants—anchored on CDHS 2021–22—drives three validation experiments: convergence, fairness audit, and benchmark comparison.</a:t>
            </a:r>
          </a:p>
          <a:p>
            <a:pPr>
              <a:spcAft>
                <a:spcPts val="400"/>
              </a:spcAft>
              <a:defRPr sz="1600" b="1">
                <a:solidFill>
                  <a:srgbClr val="5D2A42"/>
                </a:solidFill>
                <a:latin typeface="Times New Roman"/>
              </a:defRPr>
            </a:pPr>
            <a:r>
              <a:rPr dirty="0"/>
              <a:t>Location &amp; Contact</a:t>
            </a:r>
          </a:p>
          <a:p>
            <a:pPr>
              <a:spcAft>
                <a:spcPts val="2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• Building:   [Insert address]</a:t>
            </a:r>
          </a:p>
          <a:p>
            <a:pPr>
              <a:spcAft>
                <a:spcPts val="2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• Phone:      [Insert phone]</a:t>
            </a:r>
          </a:p>
          <a:p>
            <a:pPr>
              <a:spcAft>
                <a:spcPts val="2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• Email:      [Insert email]</a:t>
            </a:r>
          </a:p>
          <a:p>
            <a:pPr>
              <a:spcAft>
                <a:spcPts val="2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• Website:    [Insert website]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394960" cy="237744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rPr dirty="0"/>
              <a:t>Internship Details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rPr dirty="0"/>
              <a:t>POSITION:   </a:t>
            </a:r>
            <a:r>
              <a:rPr lang="en-US" dirty="0"/>
              <a:t>Actuarial Intern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rPr dirty="0"/>
              <a:t>DURATION:   3 Months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rPr dirty="0"/>
              <a:t>START DATE:   </a:t>
            </a:r>
            <a:r>
              <a:rPr lang="en-US" dirty="0"/>
              <a:t>16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dirty="0"/>
              <a:t>March 2026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rPr dirty="0"/>
              <a:t>END DATE:   </a:t>
            </a:r>
            <a:r>
              <a:rPr lang="en-US" dirty="0"/>
              <a:t>16</a:t>
            </a:r>
            <a:r>
              <a:rPr lang="en-US" baseline="30000" dirty="0"/>
              <a:t>th</a:t>
            </a:r>
            <a:r>
              <a:rPr lang="en-US" dirty="0"/>
              <a:t> June</a:t>
            </a:r>
            <a:r>
              <a:rPr dirty="0"/>
              <a:t> 2026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rPr dirty="0"/>
              <a:t>SCHEDULE:   Monday – Friday</a:t>
            </a:r>
            <a:r>
              <a:t>, </a:t>
            </a:r>
            <a:r>
              <a:rPr lang="en-US"/>
              <a:t>8:30AM-5:30PM 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309360" y="3749039"/>
            <a:ext cx="5394960" cy="219456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rPr dirty="0"/>
              <a:t>Advisory Committee</a:t>
            </a:r>
          </a:p>
          <a:p>
            <a:pPr>
              <a:spcAft>
                <a:spcPts val="200"/>
              </a:spcAft>
              <a:defRPr sz="1300">
                <a:solidFill>
                  <a:srgbClr val="808080"/>
                </a:solidFill>
                <a:latin typeface="Calibri"/>
              </a:defRPr>
            </a:pPr>
            <a:r>
              <a:rPr dirty="0"/>
              <a:t>Academic Advisor</a:t>
            </a:r>
          </a:p>
          <a:p>
            <a:pPr>
              <a:spcAft>
                <a:spcPts val="10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rPr dirty="0"/>
              <a:t>Dr. HAS Sothea</a:t>
            </a:r>
          </a:p>
          <a:p>
            <a:pPr>
              <a:spcAft>
                <a:spcPts val="200"/>
              </a:spcAft>
              <a:defRPr sz="1300">
                <a:solidFill>
                  <a:srgbClr val="808080"/>
                </a:solidFill>
                <a:latin typeface="Calibri"/>
              </a:defRPr>
            </a:pPr>
            <a:r>
              <a:rPr dirty="0"/>
              <a:t>Industry Supervisor</a:t>
            </a:r>
          </a:p>
          <a:p>
            <a:pPr>
              <a:spcAft>
                <a:spcPts val="10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rPr lang="en-US" dirty="0"/>
              <a:t>Mr. ON </a:t>
            </a:r>
            <a:r>
              <a:rPr lang="en-US" dirty="0" err="1"/>
              <a:t>Radet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3600" b="1">
                <a:solidFill>
                  <a:srgbClr val="5D2A42"/>
                </a:solidFill>
                <a:latin typeface="Times New Roman"/>
              </a:defRPr>
            </a:pPr>
            <a:r>
              <a:t>About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2</a:t>
            </a:r>
          </a:p>
        </p:txBody>
      </p:sp>
      <p:pic>
        <p:nvPicPr>
          <p:cNvPr id="8" name="Picture 7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9" name="Picture 8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097280"/>
            <a:ext cx="5394960" cy="4846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5D2A42"/>
                </a:solidFill>
                <a:latin typeface="Times New Roman"/>
              </a:defRPr>
            </a:pPr>
            <a:r>
              <a:t>Contextual Bandit Underwriting Engine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The system predicts applicant risk and recommends one of four underwriting actions: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Standard premium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Rated premium (+25%)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Decline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Refer to manual review</a:t>
            </a:r>
          </a:p>
          <a:p>
            <a:pPr>
              <a:spcAft>
                <a:spcPts val="6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Key Components</a:t>
            </a:r>
          </a:p>
          <a:p>
            <a:pPr>
              <a:spcAft>
                <a:spcPts val="3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1. Synthetic Cambodia Health Insurance Dataset</a:t>
            </a:r>
          </a:p>
          <a:p>
            <a:pPr>
              <a:spcAft>
                <a:spcPts val="3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   – 2,000 reproducible records with CDHS 2021–22 demographics</a:t>
            </a:r>
          </a:p>
          <a:p>
            <a:pPr>
              <a:spcAft>
                <a:spcPts val="3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2. Contextual Bandit Algorithms</a:t>
            </a:r>
          </a:p>
          <a:p>
            <a:pPr>
              <a:spcAft>
                <a:spcPts val="3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   – LinUCB, LinTS, Epsilon-Greedy</a:t>
            </a:r>
          </a:p>
          <a:p>
            <a:pPr>
              <a:spcAft>
                <a:spcPts val="3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3. Actuarial Reward Simulator</a:t>
            </a:r>
          </a:p>
          <a:p>
            <a:pPr>
              <a:spcAft>
                <a:spcPts val="3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   – Profit-based reward with expense loading, lapse, and CLV</a:t>
            </a:r>
          </a:p>
          <a:p>
            <a:pPr>
              <a:spcAft>
                <a:spcPts val="3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4. PSI Fairness Guardrails</a:t>
            </a:r>
          </a:p>
          <a:p>
            <a:pPr>
              <a:spcAft>
                <a:spcPts val="3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   – Population Stability Index monitors for portfolio drift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394960" cy="2560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A1A1A"/>
                </a:solidFill>
                <a:latin typeface="Times New Roman"/>
              </a:defRPr>
            </a:pPr>
            <a:r>
              <a:t>Adaptive Health Insurance Underwriting via Contextual Bandits</a:t>
            </a:r>
          </a:p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An automated decision-support system designed for Cambodian health insurance underwriters. By inputting applicant demographic and health features, the system learns risk-appropriate actions and continuously adapts to portfolio drift while maintaining demographic fairness.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394960" cy="201168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System Outputs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→ Segment: risk tier (low / medium / high)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→ Action: optimal underwriting decision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→ Fairness: PSI score per demographic feature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→ Reward: expected profit per accepted policy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3600" b="1">
                <a:solidFill>
                  <a:srgbClr val="5D2A42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3</a:t>
            </a:r>
          </a:p>
        </p:txBody>
      </p:sp>
      <p:pic>
        <p:nvPicPr>
          <p:cNvPr id="8" name="Picture 7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9" name="Picture 8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097280"/>
            <a:ext cx="5394960" cy="4846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Traditional Underwriting Approach</a:t>
            </a:r>
          </a:p>
          <a:p>
            <a:pPr algn="l">
              <a:spcAft>
                <a:spcPts val="10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The customer applies for health insurance</a:t>
            </a:r>
          </a:p>
          <a:p>
            <a:pPr algn="ctr">
              <a:spcAft>
                <a:spcPts val="10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↓</a:t>
            </a:r>
          </a:p>
          <a:p>
            <a:pPr algn="l">
              <a:spcAft>
                <a:spcPts val="10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Underwriter manually reviews medical history &amp; demographics</a:t>
            </a:r>
          </a:p>
          <a:p>
            <a:pPr algn="ctr">
              <a:spcAft>
                <a:spcPts val="10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↓</a:t>
            </a:r>
          </a:p>
          <a:p>
            <a:pPr algn="l">
              <a:spcAft>
                <a:spcPts val="10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Static rule engine approves / rates / declines</a:t>
            </a:r>
          </a:p>
          <a:p>
            <a:pPr algn="ctr">
              <a:spcAft>
                <a:spcPts val="10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↓</a:t>
            </a:r>
          </a:p>
          <a:p>
            <a:pPr algn="l">
              <a:spcAft>
                <a:spcPts val="10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Decision is fixed; no learning from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394960" cy="4846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Problem Impact Matrix</a:t>
            </a:r>
          </a:p>
          <a:p>
            <a:pPr>
              <a:spcAft>
                <a:spcPts val="3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HIGH CLAIM RATIO</a:t>
            </a:r>
          </a:p>
          <a:p>
            <a:pPr>
              <a:spcAft>
                <a:spcPts val="1400"/>
              </a:spcAft>
              <a:defRPr sz="1300">
                <a:solidFill>
                  <a:srgbClr val="808080"/>
                </a:solidFill>
                <a:latin typeface="Calibri"/>
              </a:defRPr>
            </a:pPr>
            <a:r>
              <a:t>Cambodia health insurance loss ratios exceed 75% for informal-sector portfolios.</a:t>
            </a:r>
          </a:p>
          <a:p>
            <a:pPr>
              <a:spcAft>
                <a:spcPts val="3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Customer Dissatisfaction</a:t>
            </a:r>
          </a:p>
          <a:p>
            <a:pPr>
              <a:spcAft>
                <a:spcPts val="1400"/>
              </a:spcAft>
              <a:defRPr sz="1300">
                <a:solidFill>
                  <a:srgbClr val="808080"/>
                </a:solidFill>
                <a:latin typeface="Calibri"/>
              </a:defRPr>
            </a:pPr>
            <a:r>
              <a:t>Static rules decline healthy informal workers due to rigid BMI or income thresholds.</a:t>
            </a:r>
          </a:p>
          <a:p>
            <a:pPr>
              <a:spcAft>
                <a:spcPts val="3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Reputation Damage</a:t>
            </a:r>
          </a:p>
          <a:p>
            <a:pPr>
              <a:spcAft>
                <a:spcPts val="1400"/>
              </a:spcAft>
              <a:defRPr sz="1300">
                <a:solidFill>
                  <a:srgbClr val="808080"/>
                </a:solidFill>
                <a:latin typeface="Calibri"/>
              </a:defRPr>
            </a:pPr>
            <a:r>
              <a:t>Manual review backlog causes 5–7 day turnaround, losing customers to competitors.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3600" b="1">
                <a:solidFill>
                  <a:srgbClr val="5D2A42"/>
                </a:solidFill>
                <a:latin typeface="Times New Roman"/>
              </a:defRPr>
            </a:pPr>
            <a:r>
              <a:t>Goal and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4</a:t>
            </a:r>
          </a:p>
        </p:txBody>
      </p:sp>
      <p:pic>
        <p:nvPicPr>
          <p:cNvPr id="8" name="Picture 7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9" name="Picture 8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1188720"/>
            <a:ext cx="10332720" cy="1280160"/>
          </a:xfrm>
          <a:prstGeom prst="roundRect">
            <a:avLst/>
          </a:prstGeom>
          <a:noFill/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5D2A42"/>
                </a:solidFill>
                <a:latin typeface="Times New Roman"/>
              </a:defRPr>
            </a:pPr>
            <a:r>
              <a:t>Project Goal:</a:t>
            </a:r>
          </a:p>
          <a:p>
            <a:pPr algn="ctr">
              <a:defRPr sz="1500">
                <a:solidFill>
                  <a:srgbClr val="1A1A1A"/>
                </a:solidFill>
                <a:latin typeface="Calibri"/>
              </a:defRPr>
            </a:pPr>
            <a:r>
              <a:t>A data-driven contextual bandit framework that learns optimal accept / rate / decline / refer decisions, improves profitability, and maintains demographic fairness for Cambodian health insurance.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606040"/>
            <a:ext cx="640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5D2A42"/>
                </a:solidFill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108960"/>
            <a:ext cx="12191695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5D2A42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3474720" cy="1463040"/>
          </a:xfrm>
          <a:prstGeom prst="roundRect">
            <a:avLst/>
          </a:prstGeom>
          <a:solidFill>
            <a:srgbClr val="F8E8E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libri"/>
              </a:defRPr>
            </a:pPr>
            <a:r>
              <a:t>Analyze applicant health, demographic, and behavioural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3566160"/>
            <a:ext cx="3474720" cy="146304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Segment risk with contextual bandit algorithms (LinUCB, LinTS)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566160"/>
            <a:ext cx="3474720" cy="1463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libri"/>
              </a:defRPr>
            </a:pPr>
            <a:r>
              <a:t>Recommend fair, profit-maximizing underwriting actions in real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3600" b="1">
                <a:solidFill>
                  <a:srgbClr val="5D2A42"/>
                </a:solidFill>
                <a:latin typeface="Times New Roman"/>
              </a:defRPr>
            </a:pPr>
            <a:r>
              <a:t>Project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5</a:t>
            </a:r>
          </a:p>
        </p:txBody>
      </p:sp>
      <p:pic>
        <p:nvPicPr>
          <p:cNvPr id="8" name="Picture 7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9" name="Picture 8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188720"/>
          <a:ext cx="11247120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03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W3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W4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W5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W6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W7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W8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W9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W10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W11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W12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W13</a:t>
                      </a:r>
                    </a:p>
                  </a:txBody>
                  <a:tcPr>
                    <a:solidFill>
                      <a:srgbClr val="5D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Literature Review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Dataset Generation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Feature Engineering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Model Development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Experiment Design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Fairness Audit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Results &amp; Discussion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Report Writing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Slides Presentation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0" y="5715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█ = Active Period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3600" b="1">
                <a:solidFill>
                  <a:srgbClr val="5D2A42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6</a:t>
            </a:r>
          </a:p>
        </p:txBody>
      </p:sp>
      <p:pic>
        <p:nvPicPr>
          <p:cNvPr id="8" name="Picture 7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9" name="Picture 8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097280"/>
            <a:ext cx="5394960" cy="4846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Completed Objectives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✓ Synthetic Cambodia dataset (2,000 records)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✓ Contextual bandit engine (LinUCB, LinTS, Epsilon-Greedy)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✓ Actuarial reward simulator with CLV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✓ PSI-based fairness guardrails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✓ Three validation experiments (EXP-005, EXP-006, EXP-007)</a:t>
            </a:r>
          </a:p>
          <a:p>
            <a:pPr>
              <a:spcAft>
                <a:spcPts val="6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LinUCB achieves 37% higher cumulative reward than static XGB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Fairness audit: all regional approval rates within parity threshold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Benchmark: LinUCB lowest regret ($14,840), followed by LinTS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394960" cy="4846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rPr dirty="0"/>
              <a:t>Uncompleted / Future Work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○ Live deployment on low-resource mobile infrastructure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○ Integration with insurer policy-admin systems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○ Multi-year portfolio drift monitoring at scale</a:t>
            </a:r>
          </a:p>
          <a:p>
            <a:pPr>
              <a:spcAft>
                <a:spcPts val="6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rPr dirty="0"/>
              <a:t>Perspectives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→ Extend to dynamic pricing (premium optimization)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→ Add natural-language medical report parsing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rPr dirty="0"/>
              <a:t>→ Validate on real Cambodian insurer portfolio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137160"/>
            <a:ext cx="4754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400">
                <a:solidFill>
                  <a:srgbClr val="5D2A42"/>
                </a:solidFill>
                <a:latin typeface="Calibri"/>
              </a:defRPr>
            </a:pPr>
            <a:r>
              <a:t>Adaptive Health Insurance Underwriting via Contextual Bandits</a:t>
            </a:r>
          </a:p>
          <a:p>
            <a:pPr algn="r">
              <a:defRPr sz="1200" i="1">
                <a:solidFill>
                  <a:srgbClr val="5D2A42"/>
                </a:solidFill>
                <a:latin typeface="Calibri"/>
              </a:defRPr>
            </a:pPr>
            <a:r>
              <a:t>LUN CHANPOLY Bhd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3600" b="1">
                <a:solidFill>
                  <a:srgbClr val="5D2A42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0" y="640080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600">
                <a:solidFill>
                  <a:srgbClr val="FFFFFF"/>
                </a:solidFill>
                <a:latin typeface="Calibri"/>
              </a:defRPr>
            </a:pPr>
            <a:r>
              <a:t>Page 7</a:t>
            </a:r>
          </a:p>
        </p:txBody>
      </p:sp>
      <p:pic>
        <p:nvPicPr>
          <p:cNvPr id="9" name="Picture 8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10" name="Picture 9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097280"/>
            <a:ext cx="5394960" cy="4846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Data Layer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CDHS 2021–22 demographics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Synthetic health features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Mortality &amp; claim models</a:t>
            </a:r>
          </a:p>
          <a:p>
            <a:pPr>
              <a:spcAft>
                <a:spcPts val="4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Feature Engineering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One-hot encoding (region, occupation)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Binning (age, BMI, income)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Interaction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94960" cy="4846320"/>
          </a:xfrm>
          <a:prstGeom prst="roundRect">
            <a:avLst/>
          </a:prstGeom>
          <a:noFill/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Bandit Layer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LinUCB (frequentist)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LinTS (Bayesian)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Epsilon-Greedy (baseline)</a:t>
            </a:r>
          </a:p>
          <a:p>
            <a:pPr>
              <a:spcAft>
                <a:spcPts val="400"/>
              </a:spcAft>
              <a:defRPr sz="1800" b="1">
                <a:solidFill>
                  <a:srgbClr val="5D2A42"/>
                </a:solidFill>
                <a:latin typeface="Times New Roman"/>
              </a:defRPr>
            </a:pPr>
            <a:r>
              <a:t>Decision Layer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4 actions: standard / rated / decline / refer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Oracle reward: profit = premium – claims – expenses</a:t>
            </a:r>
          </a:p>
          <a:p>
            <a:pPr>
              <a:spcAft>
                <a:spcPts val="3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PSI guardrails on region, occupation, wealth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23847" y="2286000"/>
            <a:ext cx="9144000" cy="1828800"/>
          </a:xfrm>
          <a:prstGeom prst="round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A1A1A"/>
                </a:solidFill>
                <a:latin typeface="Times New Roman"/>
              </a:defRPr>
            </a:pPr>
            <a: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D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8686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Introduction → Literature Review → Methodology → Results → Demo → Conclusion</a:t>
            </a:r>
          </a:p>
        </p:txBody>
      </p:sp>
      <p:pic>
        <p:nvPicPr>
          <p:cNvPr id="6" name="Picture 5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806440"/>
            <a:ext cx="640080" cy="631079"/>
          </a:xfrm>
          <a:prstGeom prst="rect">
            <a:avLst/>
          </a:prstGeom>
        </p:spPr>
      </p:pic>
      <p:pic>
        <p:nvPicPr>
          <p:cNvPr id="7" name="Picture 6" descr="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806440"/>
            <a:ext cx="640080" cy="3600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1195</Words>
  <Application>Microsoft Office PowerPoint</Application>
  <PresentationFormat>Widescreen</PresentationFormat>
  <Paragraphs>215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CHANPOLY LUN</cp:lastModifiedBy>
  <cp:revision>3</cp:revision>
  <dcterms:created xsi:type="dcterms:W3CDTF">2013-01-27T09:14:16Z</dcterms:created>
  <dcterms:modified xsi:type="dcterms:W3CDTF">2026-05-18T08:19:36Z</dcterms:modified>
  <cp:category/>
</cp:coreProperties>
</file>