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Decent Actuarial Consultants is a Phnom Penh actuarial consultancy serving life, non-life and general insurance companies. The thesis is embedded in a DAC-supervised research internship, March through June 2026, advised at DAC by Mr. ON Radet; the deliverable is the end-to-end adaptive underwriting prototype plus this report. Timeline: March scoping and dataset design, April algorithms, May experiments, June writing and defense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Cambodia context: the National Social Security Fund covers only formal-sector workers, roughly 16 percent; private voluntary insurance is nascent and underwriting is mostly manual and rule-based. Actuaries apply fixed premium rules without learning from outcomes, suboptimal decisions compound over a growing applicant pool, and penetration is below 10 percent (2023 estimate). The opportunity: a contextual bandit learns online from each decision while a PSI guardrail watches demographic fairness. This positions the work against Cambodia's Sustainable Development Goals: SDG 3 good health and well-being through wider insurance access, SDG 1 no poverty by shielding households from catastrophic health costs, and SDG 10 reduced inequalities through the PSI fairness guardrail. Frame these as the project's contribution - the report argues them through the penetration gap and fairness monitoring, not as a separate SDG section.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concrete failures of the status quo. One: fixed age/BMI/income cutoffs ignore context, so a misclassified high-risk applicant generates uncorrected losses. Two: the claims signal is never fed back, so accuracy degrades silently as demographics shift. Three: no parity metric is tracked, so regional or occupational concentration can develop undetected. Four: there is no triage - actuaries spend time on high-volume routine cases instead of genuine edge cases.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goal once, slowly. The four objectives map one-to-one onto the chapters: O1 the algorithms (Chapter IV), O2 the dataset (Chapter IV), O3 the evaluation (Chapter V), O4 fairness plus HITL (Chapter V). These are verbatim from the thesis - the examiners will check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strands inform the method, mirroring Chapter III. First, underwriting in emerging markets - the Cambodia data anchors (CDHS, ILO, ADB) and the sub-10-percent penetration that motivates the work. Second, linear contextual bandits: Li et al. 2010 give the LinUCB regret bound and Agrawal and Goyal 2013 the LinTS guarantee - together they justify the two proposed policies, on the multi-armed-bandit foundations of Robbins, Sutton and Barto, and Lattimore and Szepesvari. Third, neural bandits and dynamic pricing - Zhou, Zhang and Ban relax the linear-reward assumption, scoped as future work. Fourth, fairness in insurance ML - Barocas and Ensign frame protected-attribute constraints and feedback loops. Fifth, population stability - Yurdakul and Naranjo's PSI, built on Lin's Jensen-Shannon divergence, gives the monitoring metric with the 0.10/0.25 thresholds. Every source here is cited in the thesis.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whole pipeline once, left to right, naming each of the six stages. Tell the panel we will now zoom into three of them in turn.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dataset is 2,000 synthetic applicants whose raw attributes one-hot encode into a 34-dimensional standardised context vector (Table 7). Distributions are anchored on CDHS 2021-22 and STEPS 2023; income on ILO labour-force surveys; disease prevalence calibrated from WHO disease-burden reports. Adverse-selection factor 1.35 and price-elasticity slope 3.5 come from DAC actuarial priors. Four arms: RATED accepts with a 25 percent loading, STANDARD accepts at standard rate, DECLINE rejects, REFER escalates to a human. No real applicant data is used anywhere.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dataset at a glance. Left, the feature catalogue from thesis Table 7: raw applicant attributes fall into demographics and vitals, lifestyle behaviours, social determinants, economic and clinical groups; after one-hot encoding region and occupation and standardising, each applicant becomes a 34-dimensional context vector. Right, a four-row snapshot of the 2,000 synthetic records - the real column values before encoding. No real applicant data is used anywhere.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Formally: at each round the context is the standardised 34-dimensional applicant vector, the action is one of four arms, and the reward is revenue minus claims from the actuarial simulator, with adverse selection penalising premium-heavy arms on low-risk applicants. The objective is cumulative reward over T rounds subject to the PSI guardrail. The table sketches the reward structure: for a high-risk applicant DECLINE avoids a loss; for a low-risk one it forfeits revenue; REFER nets the human decision either way.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Signpost the build-up: three slides, each adds one box to the policy and shows what that box outputs for a single applicant.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the build-up with the input: the standardised 34-dimensional context vector — show the example slice, noting region and occupation are one-hot encoded.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 the value-estimation box: each arm gets a score; explain the LinUCB optimism bonus and the LinTS posterior sample.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proposed policies and three reference points. LinUCB plays optimism in the face of uncertainty over a linear reward model with the square-root-T regret bound; LinTS samples from the posterior and is near-optimal with naturally calibrated uncertainty. Epsilon-greedy is the naive explorer with provably worse T-to-the-two-thirds regret. Static XGB is the train-once incumbent. AlwaysRATED rates everyone at +25 percent loading - it scores highest but is neither commercially nor regulatorily viable, which is exactly the admissibility distinction in section 5.0.1 and the baseline-ladder appendix (A1).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safety layers. The PSI guardrail computes the Population Stability Index on region and occupation over a rolling 500-round window: GREEN below 0.10, AMBER to 0.25, RED above. It detects concentration; it does not constrain the policy - enforcement is future work, stated honestly. The HITL wrapper REFERs an applicant to the actuary whenever predicted uncertainty exceeds the conservatism threshold kappa, tested at 0.3, 0.5, 0.7; the human's decision is final and its observed reward still updates the bandit. Design target: keep review cost under two percent of gross reward.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four algorithms under common random numbers. LinTS ranks first at $93,572, LinUCB second at $91,947 - statistically tied (p = 0.87). Epsilon-greedy trails, static XGB last. The log-log plot validates theory: fitted slope 0.572 with R squared 0.992, close to the 0.5 of the O(root-T d) bound - the bandit's regret really is sub-linear, it is learning, not memorising.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LinUCB earns 25.2 percent more cumulative reward than the static XGBoost baseline over 5,000 rounds - $90,540 versus $72,292, twenty seeds, paired Wilcoxon p &lt; 0.001, Cohen's d 2.98. The curves separate around round 1,500 once the bandit's ridge estimates converge. Critical scope: this claim is over ADMISSIBLE policies per section 5.0.1 - the inadmissible AlwaysRATED constant sits above (appendix A1). Oracle recovery is 72 percent.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results on one slide. Cold-start (EXP-010): below a thousand rounds a freshly trained XGBoost beats both bandits; the crossover comes between one and two thousand. At T=2,000 LinTS is significant at the Bonferroni threshold (p = 0.0039, d = 1.48); LinUCB's lead is positive but NOT significant (p = 0.0840, d = 0.55) - softened to 'draws level'. Deploy with warm-start for the first thousand applications. Human-in-the-loop (EXP-008): the wrapper lifts reward 14.8 percent over the vanilla bandit ($103,951 vs $90,540, p &lt; 0.001, d = 2.65) at only 1.3 percent referrals and 2.2 percent review cost. Both scopes are against admissible comparators, not the AlwaysRATED ceiling.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audit (EXP-006): Region PSI GREEN at 0.0821, parity 85.72 percent, PASSED (p = 0.1322). Occupation PSI AMBER at 0.1225 - within the 0.25 threshold - parity 90.12 percent, above the EEOC 80 floor. Criterion 6 is the single failure: occupation-action association is statistically significant but practically small, and occupation is an actuarially valid factor; marked FAILED-with-interpretation in the interest of honesty. Drift (EXP-009): at the round-1,500 shock both bandits re-converge toward pre-shock regret while static XGB lags; sustained-drift handling is future work.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and walk one applicant through scoring, the arm the bandit picks, the PSI monitor, and the HITL queue. If the live run fails, narrate over these three screenshots.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Wins: LinTS/LinUCB lead every admissible policy (+25.2%, d 2.98); HITL adds 14.8 percent at 1.3 percent referrals; five of six fairness criteria pass. Honest limits: the inadmissible AlwaysRATED constant scores higher (appendix A1); data is synthetic, proof-of-concept only; PSI monitors but does not enforce; cold-start needs warm-start below ~1,000 rounds. Future work: discounted/sliding-window UCB for sustained drift, constrained bandits for hard fairness limits, a real-insurer pilot with observed claims, multi-product portfolios. Net: adaptive, auditable, and honest about scope.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sources actually cited across this deck, every one traceable to the thesis bibliography. Left: bandit theory and method - Li and Agrawal &amp; Goyal for the linear policies, Zhou, Zhang and Ban for the neural extensions, Sutton &amp; Barto and Lattimore &amp; Szepesvari for foundations, Barocas for fairness. Right: Ensign on feedback loops, Yurdakul &amp; Naranjo and Lin for the PSI guardrail, then the Cambodia data anchors - the CDHS, the ILO bulletin, ADB, World Bank and Swiss Re. The full APA list lives in thesis Chapter III.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anticipated question, so we lead with it. The full baseline ladder shows AlwaysRATED - rate every applicant at a flat 25 percent loading - at $122,287, above LinTS $93,723 and LinUCB $91,864. Our pre-registered expectation that the bandit beats every simple baseline was FALSIFIED, and we report it. Why the thesis still stands: AlwaysRATED is inadmissible - loading every customer 25 percent collapses commercially and would not survive regulatory scrutiny - per the admissibility definition in section 5.0.1. Within the admissible set the bandits rank first and second.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asked why 25.2, 27.2 and 29.8 percent all appear: the headline uses the paired EXP-005 design; the ladder harness uses common random numbers which yields larger separations; HITL's 14.8 percent is against the vanilla bandit, a different baseline. Same code, different pre-registered questions.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Criteria matrix armor: name each criterion and its verdict; criterion 6 is the single honest failure, framed as actuarial validity.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Sensitivity armor: the result is not knife-edge — alpha, elasticity, and kappa were all swept and the admissible ranking held.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math armor. LinUCB maintains a per-arm gram matrix and reward vector, solves ridge regression, and adds the alpha-scaled confidence width (optimism under uncertainty); LinTS samples theta from the posterior and picks the argmax. PSI is the symmetrised relative-entropy sum over demographic buckets comparing a rolling 500-round window to the training reference, thresholds 0.10 and 0.25; region peaks at 0.0821, occupation at 0.1225.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TC.jpg"/>
          <p:cNvPicPr>
            <a:picLocks noChangeAspect="1"/>
          </p:cNvPicPr>
          <p:nvPr/>
        </p:nvPicPr>
        <p:blipFill>
          <a:blip r:embed="rId2"/>
          <a:stretch>
            <a:fillRect/>
          </a:stretch>
        </p:blipFill>
        <p:spPr>
          <a:xfrm>
            <a:off x="548640" y="274320"/>
            <a:ext cx="914400" cy="901541"/>
          </a:xfrm>
          <a:prstGeom prst="rect">
            <a:avLst/>
          </a:prstGeom>
          <a:effectLst/>
        </p:spPr>
      </p:pic>
      <p:pic>
        <p:nvPicPr>
          <p:cNvPr id="3" name="Picture 2" descr="AMS.png"/>
          <p:cNvPicPr>
            <a:picLocks noChangeAspect="1"/>
          </p:cNvPicPr>
          <p:nvPr/>
        </p:nvPicPr>
        <p:blipFill>
          <a:blip r:embed="rId3"/>
          <a:stretch>
            <a:fillRect/>
          </a:stretch>
        </p:blipFill>
        <p:spPr>
          <a:xfrm>
            <a:off x="1600200" y="365760"/>
            <a:ext cx="1325880" cy="1256418"/>
          </a:xfrm>
          <a:prstGeom prst="rect">
            <a:avLst/>
          </a:prstGeom>
          <a:effectLst/>
        </p:spPr>
      </p:pic>
      <p:pic>
        <p:nvPicPr>
          <p:cNvPr id="4" name="Picture 3" descr="DAC.jpg"/>
          <p:cNvPicPr>
            <a:picLocks noChangeAspect="1"/>
          </p:cNvPicPr>
          <p:nvPr/>
        </p:nvPicPr>
        <p:blipFill>
          <a:blip r:embed="rId4"/>
          <a:stretch>
            <a:fillRect/>
          </a:stretch>
        </p:blipFill>
        <p:spPr>
          <a:xfrm>
            <a:off x="10332720" y="320040"/>
            <a:ext cx="1325880" cy="745808"/>
          </a:xfrm>
          <a:prstGeom prst="rect">
            <a:avLst/>
          </a:prstGeom>
          <a:effectLst/>
        </p:spPr>
      </p:pic>
      <p:sp>
        <p:nvSpPr>
          <p:cNvPr id="5" name="Rectangle 4"/>
          <p:cNvSpPr/>
          <p:nvPr/>
        </p:nvSpPr>
        <p:spPr>
          <a:xfrm>
            <a:off x="3108960" y="384048"/>
            <a:ext cx="658368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200" b="1" i="0">
                <a:solidFill>
                  <a:srgbClr val="1A1A1A"/>
                </a:solidFill>
                <a:latin typeface="Calibri"/>
              </a:defRPr>
            </a:pPr>
            <a:r>
              <a:t>Institute of Technology of Cambodia</a:t>
            </a:r>
          </a:p>
        </p:txBody>
      </p:sp>
      <p:sp>
        <p:nvSpPr>
          <p:cNvPr id="6" name="Rectangle 5"/>
          <p:cNvSpPr/>
          <p:nvPr/>
        </p:nvSpPr>
        <p:spPr>
          <a:xfrm>
            <a:off x="3108960" y="841248"/>
            <a:ext cx="65836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0" i="0">
                <a:solidFill>
                  <a:srgbClr val="777777"/>
                </a:solidFill>
                <a:latin typeface="Calibri"/>
              </a:defRPr>
            </a:pPr>
            <a:r>
              <a:t>Department of Applied Mathematics and Statistics</a:t>
            </a:r>
          </a:p>
        </p:txBody>
      </p:sp>
      <p:sp>
        <p:nvSpPr>
          <p:cNvPr id="7" name="Rectangle 6"/>
          <p:cNvSpPr/>
          <p:nvPr/>
        </p:nvSpPr>
        <p:spPr>
          <a:xfrm>
            <a:off x="5413248" y="1874519"/>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148840"/>
            <a:ext cx="10515600" cy="1554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2700" b="1" i="0">
                <a:solidFill>
                  <a:srgbClr val="1A1A1A"/>
                </a:solidFill>
                <a:latin typeface="Segoe UI"/>
              </a:defRPr>
            </a:pPr>
            <a:r>
              <a:t>ADAPTIVE HEALTH INSURANCE UNDERWRITING VIA CONTEXTUAL BANDITS: A REINFORCEMENT LEARNING APPROACH FOR CAMBODIA</a:t>
            </a:r>
          </a:p>
        </p:txBody>
      </p:sp>
      <p:sp>
        <p:nvSpPr>
          <p:cNvPr id="9" name="Rectangle 8"/>
          <p:cNvSpPr/>
          <p:nvPr/>
        </p:nvSpPr>
        <p:spPr>
          <a:xfrm>
            <a:off x="5413248" y="3886200"/>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0" y="4224528"/>
            <a:ext cx="12191695"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0" i="0">
                <a:solidFill>
                  <a:srgbClr val="777777"/>
                </a:solidFill>
                <a:latin typeface="Calibri"/>
              </a:defRPr>
            </a:pPr>
            <a:r>
              <a:t>Thesis Defense — Presented by</a:t>
            </a:r>
          </a:p>
        </p:txBody>
      </p:sp>
      <p:sp>
        <p:nvSpPr>
          <p:cNvPr id="11" name="Rectangle 10"/>
          <p:cNvSpPr/>
          <p:nvPr/>
        </p:nvSpPr>
        <p:spPr>
          <a:xfrm>
            <a:off x="0" y="4535424"/>
            <a:ext cx="121916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700" b="1" i="0">
                <a:solidFill>
                  <a:srgbClr val="1B5697"/>
                </a:solidFill>
                <a:latin typeface="Calibri"/>
              </a:defRPr>
            </a:pPr>
            <a:r>
              <a:t>LUN CHANPOLY</a:t>
            </a:r>
          </a:p>
        </p:txBody>
      </p:sp>
      <p:sp>
        <p:nvSpPr>
          <p:cNvPr id="12" name="Rectangle 11"/>
          <p:cNvSpPr/>
          <p:nvPr/>
        </p:nvSpPr>
        <p:spPr>
          <a:xfrm>
            <a:off x="1371600" y="5193792"/>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Supervisor  :  Dr. HAS Sothea</a:t>
            </a:r>
          </a:p>
        </p:txBody>
      </p:sp>
      <p:sp>
        <p:nvSpPr>
          <p:cNvPr id="13" name="Rectangle 12"/>
          <p:cNvSpPr/>
          <p:nvPr/>
        </p:nvSpPr>
        <p:spPr>
          <a:xfrm>
            <a:off x="6858000" y="5193792"/>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Organization :  DAC (Decent Actuarial Consultants)</a:t>
            </a:r>
          </a:p>
        </p:txBody>
      </p:sp>
      <p:sp>
        <p:nvSpPr>
          <p:cNvPr id="14" name="Rectangle 13"/>
          <p:cNvSpPr/>
          <p:nvPr/>
        </p:nvSpPr>
        <p:spPr>
          <a:xfrm>
            <a:off x="1371600" y="5522976"/>
            <a:ext cx="5120640"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Duration      :  Mar 2026 – Jun 2026</a:t>
            </a:r>
          </a:p>
        </p:txBody>
      </p:sp>
      <p:sp>
        <p:nvSpPr>
          <p:cNvPr id="15" name="Rectangle 14"/>
          <p:cNvSpPr/>
          <p:nvPr/>
        </p:nvSpPr>
        <p:spPr>
          <a:xfrm>
            <a:off x="0" y="603504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1" i="0">
                <a:solidFill>
                  <a:srgbClr val="777777"/>
                </a:solidFill>
                <a:latin typeface="Calibri"/>
              </a:defRPr>
            </a:pPr>
            <a:r>
              <a:t>July 2026</a:t>
            </a:r>
          </a:p>
        </p:txBody>
      </p:sp>
      <p:sp>
        <p:nvSpPr>
          <p:cNvPr id="16" name="Rectangle 1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18" name="Rectangle 1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Adaptive Underwriting via Contextual Bandits</a:t>
            </a:r>
          </a:p>
        </p:txBody>
      </p:sp>
      <p:sp>
        <p:nvSpPr>
          <p:cNvPr id="20" name="Rectangle 1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TABLE OF CONTENTS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11680" y="13716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a:t>
            </a:r>
          </a:p>
        </p:txBody>
      </p:sp>
      <p:sp>
        <p:nvSpPr>
          <p:cNvPr id="5" name="Rectangle 4"/>
          <p:cNvSpPr/>
          <p:nvPr/>
        </p:nvSpPr>
        <p:spPr>
          <a:xfrm>
            <a:off x="3383280" y="14447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Introduction &amp; Problem Background</a:t>
            </a:r>
          </a:p>
        </p:txBody>
      </p:sp>
      <p:sp>
        <p:nvSpPr>
          <p:cNvPr id="6" name="Rectangle 5"/>
          <p:cNvSpPr/>
          <p:nvPr/>
        </p:nvSpPr>
        <p:spPr>
          <a:xfrm>
            <a:off x="3383280" y="20299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11680" y="22860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II</a:t>
            </a:r>
          </a:p>
        </p:txBody>
      </p:sp>
      <p:sp>
        <p:nvSpPr>
          <p:cNvPr id="8" name="Rectangle 7"/>
          <p:cNvSpPr/>
          <p:nvPr/>
        </p:nvSpPr>
        <p:spPr>
          <a:xfrm>
            <a:off x="3383280" y="23591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Literature Review</a:t>
            </a:r>
          </a:p>
        </p:txBody>
      </p:sp>
      <p:sp>
        <p:nvSpPr>
          <p:cNvPr id="9" name="Rectangle 8"/>
          <p:cNvSpPr/>
          <p:nvPr/>
        </p:nvSpPr>
        <p:spPr>
          <a:xfrm>
            <a:off x="3383280" y="29443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011680" y="32004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III</a:t>
            </a:r>
          </a:p>
        </p:txBody>
      </p:sp>
      <p:sp>
        <p:nvSpPr>
          <p:cNvPr id="11" name="Rectangle 10"/>
          <p:cNvSpPr/>
          <p:nvPr/>
        </p:nvSpPr>
        <p:spPr>
          <a:xfrm>
            <a:off x="3383280" y="32735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Methodology &amp; Model Design</a:t>
            </a:r>
          </a:p>
        </p:txBody>
      </p:sp>
      <p:sp>
        <p:nvSpPr>
          <p:cNvPr id="12" name="Rectangle 11"/>
          <p:cNvSpPr/>
          <p:nvPr/>
        </p:nvSpPr>
        <p:spPr>
          <a:xfrm>
            <a:off x="3383280" y="38587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11680" y="41148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IV</a:t>
            </a:r>
          </a:p>
        </p:txBody>
      </p:sp>
      <p:sp>
        <p:nvSpPr>
          <p:cNvPr id="14" name="Rectangle 13"/>
          <p:cNvSpPr/>
          <p:nvPr/>
        </p:nvSpPr>
        <p:spPr>
          <a:xfrm>
            <a:off x="3383280" y="41879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Results &amp; Evaluation</a:t>
            </a:r>
          </a:p>
        </p:txBody>
      </p:sp>
      <p:sp>
        <p:nvSpPr>
          <p:cNvPr id="15" name="Rectangle 14"/>
          <p:cNvSpPr/>
          <p:nvPr/>
        </p:nvSpPr>
        <p:spPr>
          <a:xfrm>
            <a:off x="3383280" y="47731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011680" y="5029200"/>
            <a:ext cx="1280160"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400" b="1" i="0">
                <a:solidFill>
                  <a:srgbClr val="1B5697"/>
                </a:solidFill>
                <a:latin typeface="Segoe UI"/>
              </a:defRPr>
            </a:pPr>
            <a:r>
              <a:t>V</a:t>
            </a:r>
          </a:p>
        </p:txBody>
      </p:sp>
      <p:sp>
        <p:nvSpPr>
          <p:cNvPr id="17" name="Rectangle 16"/>
          <p:cNvSpPr/>
          <p:nvPr/>
        </p:nvSpPr>
        <p:spPr>
          <a:xfrm>
            <a:off x="3383280" y="5102352"/>
            <a:ext cx="67665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200" b="1" i="0">
                <a:solidFill>
                  <a:srgbClr val="1A1A1A"/>
                </a:solidFill>
                <a:latin typeface="Segoe UI"/>
              </a:defRPr>
            </a:pPr>
            <a:r>
              <a:t>Conclusion &amp; Future Work</a:t>
            </a:r>
          </a:p>
        </p:txBody>
      </p:sp>
      <p:sp>
        <p:nvSpPr>
          <p:cNvPr id="18" name="Rectangle 17"/>
          <p:cNvSpPr/>
          <p:nvPr/>
        </p:nvSpPr>
        <p:spPr>
          <a:xfrm>
            <a:off x="3383280" y="5687568"/>
            <a:ext cx="6400800"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21" name="Rectangle 20"/>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Adaptive Underwriting via Contextual Bandits</a:t>
            </a:r>
          </a:p>
        </p:txBody>
      </p:sp>
      <p:sp>
        <p:nvSpPr>
          <p:cNvPr id="23" name="Rectangle 22"/>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 / 28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Introduction &amp; Problem Background</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ABOUT DECENT ACTUARIAL CONSULTANTS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 / 29</a:t>
            </a:r>
          </a:p>
        </p:txBody>
      </p:sp>
      <p:sp>
        <p:nvSpPr>
          <p:cNvPr id="10" name="Rectangle 9"/>
          <p:cNvSpPr/>
          <p:nvPr/>
        </p:nvSpPr>
        <p:spPr>
          <a:xfrm>
            <a:off x="457200" y="148132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371600"/>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DAC is a Phnom Penh actuarial consultancy</a:t>
            </a:r>
          </a:p>
        </p:txBody>
      </p:sp>
      <p:sp>
        <p:nvSpPr>
          <p:cNvPr id="12" name="Rectangle 11"/>
          <p:cNvSpPr/>
          <p:nvPr/>
        </p:nvSpPr>
        <p:spPr>
          <a:xfrm>
            <a:off x="457200" y="204825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1938528"/>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Clients: life, non-life &amp; general insurance companies</a:t>
            </a:r>
          </a:p>
        </p:txBody>
      </p:sp>
      <p:sp>
        <p:nvSpPr>
          <p:cNvPr id="14" name="Rectangle 13"/>
          <p:cNvSpPr/>
          <p:nvPr/>
        </p:nvSpPr>
        <p:spPr>
          <a:xfrm>
            <a:off x="457200" y="261518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 y="2505456"/>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DAC-supervised research internship (Mar–Jun 2026); advisor Mr. ON Radet</a:t>
            </a:r>
          </a:p>
        </p:txBody>
      </p:sp>
      <p:sp>
        <p:nvSpPr>
          <p:cNvPr id="16" name="Rectangle 15"/>
          <p:cNvSpPr/>
          <p:nvPr/>
        </p:nvSpPr>
        <p:spPr>
          <a:xfrm>
            <a:off x="457200" y="318211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3072384"/>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Deliverable: an adaptive underwriting prototype + this report</a:t>
            </a:r>
          </a:p>
        </p:txBody>
      </p:sp>
      <p:pic>
        <p:nvPicPr>
          <p:cNvPr id="18" name="Picture 17" descr="DAC.jpg"/>
          <p:cNvPicPr>
            <a:picLocks noChangeAspect="1"/>
          </p:cNvPicPr>
          <p:nvPr/>
        </p:nvPicPr>
        <p:blipFill>
          <a:blip r:embed="rId2"/>
          <a:stretch>
            <a:fillRect/>
          </a:stretch>
        </p:blipFill>
        <p:spPr>
          <a:xfrm>
            <a:off x="6492240" y="1825942"/>
            <a:ext cx="5212080" cy="2931795"/>
          </a:xfrm>
          <a:prstGeom prst="rect">
            <a:avLst/>
          </a:prstGeom>
          <a:effectLst/>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INTRODUCTION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3 / 29</a:t>
            </a:r>
          </a:p>
        </p:txBody>
      </p:sp>
      <p:sp>
        <p:nvSpPr>
          <p:cNvPr id="10" name="Rectangle 9"/>
          <p:cNvSpPr/>
          <p:nvPr/>
        </p:nvSpPr>
        <p:spPr>
          <a:xfrm>
            <a:off x="457200" y="118872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5600" b="1" i="0">
                <a:solidFill>
                  <a:srgbClr val="1B5697"/>
                </a:solidFill>
                <a:latin typeface="Segoe UI"/>
              </a:defRPr>
            </a:pPr>
            <a:r>
              <a:t>&lt; 10 %</a:t>
            </a:r>
          </a:p>
        </p:txBody>
      </p:sp>
      <p:sp>
        <p:nvSpPr>
          <p:cNvPr id="11" name="Rectangle 10"/>
          <p:cNvSpPr/>
          <p:nvPr/>
        </p:nvSpPr>
        <p:spPr>
          <a:xfrm>
            <a:off x="457200" y="2057400"/>
            <a:ext cx="5486400"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HEALTH-INSURANCE PENETRATION IN CAMBODIA (2023 EST.)</a:t>
            </a:r>
          </a:p>
        </p:txBody>
      </p:sp>
      <p:sp>
        <p:nvSpPr>
          <p:cNvPr id="12" name="Rectangle 11"/>
          <p:cNvSpPr/>
          <p:nvPr/>
        </p:nvSpPr>
        <p:spPr>
          <a:xfrm>
            <a:off x="457200" y="27614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2651760"/>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NSSF covers formal-sector workers only (~16%)</a:t>
            </a:r>
          </a:p>
        </p:txBody>
      </p:sp>
      <p:sp>
        <p:nvSpPr>
          <p:cNvPr id="14" name="Rectangle 13"/>
          <p:cNvSpPr/>
          <p:nvPr/>
        </p:nvSpPr>
        <p:spPr>
          <a:xfrm>
            <a:off x="457200" y="33284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 y="3218688"/>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Private underwriting is manual and rule-based</a:t>
            </a:r>
          </a:p>
        </p:txBody>
      </p:sp>
      <p:sp>
        <p:nvSpPr>
          <p:cNvPr id="16" name="Rectangle 15"/>
          <p:cNvSpPr/>
          <p:nvPr/>
        </p:nvSpPr>
        <p:spPr>
          <a:xfrm>
            <a:off x="457200" y="38953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3785616"/>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Static rules never learn from outcomes</a:t>
            </a:r>
          </a:p>
        </p:txBody>
      </p:sp>
      <p:sp>
        <p:nvSpPr>
          <p:cNvPr id="18" name="Rectangle 17"/>
          <p:cNvSpPr/>
          <p:nvPr/>
        </p:nvSpPr>
        <p:spPr>
          <a:xfrm>
            <a:off x="457200" y="446227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13232" y="4352544"/>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No demographic-parity monitoring in practice</a:t>
            </a:r>
          </a:p>
        </p:txBody>
      </p:sp>
      <p:sp>
        <p:nvSpPr>
          <p:cNvPr id="20" name="Rectangle 19"/>
          <p:cNvSpPr/>
          <p:nvPr/>
        </p:nvSpPr>
        <p:spPr>
          <a:xfrm>
            <a:off x="6492240" y="1188720"/>
            <a:ext cx="5212080" cy="4206240"/>
          </a:xfrm>
          <a:prstGeom prst="rect">
            <a:avLst/>
          </a:prstGeom>
          <a:solidFill>
            <a:srgbClr val="F3F6FB"/>
          </a:solidFill>
          <a:ln w="19050">
            <a:solidFill>
              <a:srgbClr val="AFC4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66560" y="1389888"/>
            <a:ext cx="4663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Segoe UI"/>
              </a:defRPr>
            </a:pPr>
            <a:r>
              <a:rPr spc="60"/>
              <a:t>CONTRIBUTION TOWARD CAMBODIA'S SDGs</a:t>
            </a:r>
          </a:p>
        </p:txBody>
      </p:sp>
      <p:sp>
        <p:nvSpPr>
          <p:cNvPr id="22" name="Rectangle 21"/>
          <p:cNvSpPr/>
          <p:nvPr/>
        </p:nvSpPr>
        <p:spPr>
          <a:xfrm>
            <a:off x="6766560" y="2011680"/>
            <a:ext cx="1234440" cy="502920"/>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766560" y="2011680"/>
            <a:ext cx="1234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500" b="1" i="0">
                <a:solidFill>
                  <a:srgbClr val="FFFFFF"/>
                </a:solidFill>
                <a:latin typeface="Segoe UI"/>
              </a:defRPr>
            </a:pPr>
            <a:r>
              <a:t>SDG 3</a:t>
            </a:r>
          </a:p>
        </p:txBody>
      </p:sp>
      <p:sp>
        <p:nvSpPr>
          <p:cNvPr id="24" name="Rectangle 23"/>
          <p:cNvSpPr/>
          <p:nvPr/>
        </p:nvSpPr>
        <p:spPr>
          <a:xfrm>
            <a:off x="8183880" y="1975104"/>
            <a:ext cx="32918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Segoe UI"/>
              </a:defRPr>
            </a:pPr>
            <a:r>
              <a:t>Good Health &amp; Well-being</a:t>
            </a:r>
          </a:p>
        </p:txBody>
      </p:sp>
      <p:sp>
        <p:nvSpPr>
          <p:cNvPr id="25" name="Rectangle 24"/>
          <p:cNvSpPr/>
          <p:nvPr/>
        </p:nvSpPr>
        <p:spPr>
          <a:xfrm>
            <a:off x="8183880" y="2340864"/>
            <a:ext cx="3246120" cy="7132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3A3A3A"/>
                </a:solidFill>
                <a:latin typeface="Calibri"/>
              </a:defRPr>
            </a:pPr>
            <a:r>
              <a:t>Widen voluntary health-insurance access beyond the ~16% NSSF formal sector</a:t>
            </a:r>
          </a:p>
        </p:txBody>
      </p:sp>
      <p:sp>
        <p:nvSpPr>
          <p:cNvPr id="26" name="Rectangle 25"/>
          <p:cNvSpPr/>
          <p:nvPr/>
        </p:nvSpPr>
        <p:spPr>
          <a:xfrm>
            <a:off x="6766560" y="3108960"/>
            <a:ext cx="1234440" cy="502920"/>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766560" y="3108960"/>
            <a:ext cx="1234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500" b="1" i="0">
                <a:solidFill>
                  <a:srgbClr val="FFFFFF"/>
                </a:solidFill>
                <a:latin typeface="Segoe UI"/>
              </a:defRPr>
            </a:pPr>
            <a:r>
              <a:t>SDG 1</a:t>
            </a:r>
          </a:p>
        </p:txBody>
      </p:sp>
      <p:sp>
        <p:nvSpPr>
          <p:cNvPr id="28" name="Rectangle 27"/>
          <p:cNvSpPr/>
          <p:nvPr/>
        </p:nvSpPr>
        <p:spPr>
          <a:xfrm>
            <a:off x="8183880" y="3072384"/>
            <a:ext cx="32918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Segoe UI"/>
              </a:defRPr>
            </a:pPr>
            <a:r>
              <a:t>No Poverty</a:t>
            </a:r>
          </a:p>
        </p:txBody>
      </p:sp>
      <p:sp>
        <p:nvSpPr>
          <p:cNvPr id="29" name="Rectangle 28"/>
          <p:cNvSpPr/>
          <p:nvPr/>
        </p:nvSpPr>
        <p:spPr>
          <a:xfrm>
            <a:off x="8183880" y="3438144"/>
            <a:ext cx="3246120" cy="7132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3A3A3A"/>
                </a:solidFill>
                <a:latin typeface="Calibri"/>
              </a:defRPr>
            </a:pPr>
            <a:r>
              <a:t>Shield households from catastrophic out-of-pocket health costs</a:t>
            </a:r>
          </a:p>
        </p:txBody>
      </p:sp>
      <p:sp>
        <p:nvSpPr>
          <p:cNvPr id="30" name="Rectangle 29"/>
          <p:cNvSpPr/>
          <p:nvPr/>
        </p:nvSpPr>
        <p:spPr>
          <a:xfrm>
            <a:off x="6766560" y="4206240"/>
            <a:ext cx="1234440" cy="502920"/>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766560" y="4206240"/>
            <a:ext cx="1234440"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500" b="1" i="0">
                <a:solidFill>
                  <a:srgbClr val="FFFFFF"/>
                </a:solidFill>
                <a:latin typeface="Segoe UI"/>
              </a:defRPr>
            </a:pPr>
            <a:r>
              <a:t>SDG 10</a:t>
            </a:r>
          </a:p>
        </p:txBody>
      </p:sp>
      <p:sp>
        <p:nvSpPr>
          <p:cNvPr id="32" name="Rectangle 31"/>
          <p:cNvSpPr/>
          <p:nvPr/>
        </p:nvSpPr>
        <p:spPr>
          <a:xfrm>
            <a:off x="8183880" y="4169664"/>
            <a:ext cx="32918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Segoe UI"/>
              </a:defRPr>
            </a:pPr>
            <a:r>
              <a:t>Reduced Inequalities</a:t>
            </a:r>
          </a:p>
        </p:txBody>
      </p:sp>
      <p:sp>
        <p:nvSpPr>
          <p:cNvPr id="33" name="Rectangle 32"/>
          <p:cNvSpPr/>
          <p:nvPr/>
        </p:nvSpPr>
        <p:spPr>
          <a:xfrm>
            <a:off x="8183880" y="4535424"/>
            <a:ext cx="3246120" cy="71323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3A3A3A"/>
                </a:solidFill>
                <a:latin typeface="Calibri"/>
              </a:defRPr>
            </a:pPr>
            <a:r>
              <a:t>PSI guardrail keeps underwriting demographically fair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PROBLEM STATEMENT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4 / 29</a:t>
            </a:r>
          </a:p>
        </p:txBody>
      </p:sp>
      <p:sp>
        <p:nvSpPr>
          <p:cNvPr id="10" name="Rectangle 9"/>
          <p:cNvSpPr/>
          <p:nvPr/>
        </p:nvSpPr>
        <p:spPr>
          <a:xfrm>
            <a:off x="457200" y="137160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37160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31520" y="164592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Static thresholds</a:t>
            </a:r>
          </a:p>
        </p:txBody>
      </p:sp>
      <p:sp>
        <p:nvSpPr>
          <p:cNvPr id="13" name="Rectangle 12"/>
          <p:cNvSpPr/>
          <p:nvPr/>
        </p:nvSpPr>
        <p:spPr>
          <a:xfrm>
            <a:off x="731520" y="224028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Fixed cutoffs ignore applicant context</a:t>
            </a:r>
          </a:p>
        </p:txBody>
      </p:sp>
      <p:sp>
        <p:nvSpPr>
          <p:cNvPr id="14" name="Rectangle 13"/>
          <p:cNvSpPr/>
          <p:nvPr/>
        </p:nvSpPr>
        <p:spPr>
          <a:xfrm>
            <a:off x="6309360" y="137160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37160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583680" y="164592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No online adaptation</a:t>
            </a:r>
          </a:p>
        </p:txBody>
      </p:sp>
      <p:sp>
        <p:nvSpPr>
          <p:cNvPr id="17" name="Rectangle 16"/>
          <p:cNvSpPr/>
          <p:nvPr/>
        </p:nvSpPr>
        <p:spPr>
          <a:xfrm>
            <a:off x="6583680" y="224028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Claims feedback never reaches the model</a:t>
            </a:r>
          </a:p>
        </p:txBody>
      </p:sp>
      <p:sp>
        <p:nvSpPr>
          <p:cNvPr id="18" name="Rectangle 17"/>
          <p:cNvSpPr/>
          <p:nvPr/>
        </p:nvSpPr>
        <p:spPr>
          <a:xfrm>
            <a:off x="457200" y="370332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70332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 y="397764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Demographic blindspot</a:t>
            </a:r>
          </a:p>
        </p:txBody>
      </p:sp>
      <p:sp>
        <p:nvSpPr>
          <p:cNvPr id="21" name="Rectangle 20"/>
          <p:cNvSpPr/>
          <p:nvPr/>
        </p:nvSpPr>
        <p:spPr>
          <a:xfrm>
            <a:off x="731520" y="457200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No parity metric is tracked</a:t>
            </a:r>
          </a:p>
        </p:txBody>
      </p:sp>
      <p:sp>
        <p:nvSpPr>
          <p:cNvPr id="22" name="Rectangle 21"/>
          <p:cNvSpPr/>
          <p:nvPr/>
        </p:nvSpPr>
        <p:spPr>
          <a:xfrm>
            <a:off x="6309360" y="3703320"/>
            <a:ext cx="5486400" cy="210312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09360" y="3703320"/>
            <a:ext cx="64008" cy="210312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977640"/>
            <a:ext cx="49377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A1A1A"/>
                </a:solidFill>
                <a:latin typeface="Segoe UI"/>
              </a:defRPr>
            </a:pPr>
            <a:r>
              <a:t>No triage</a:t>
            </a:r>
          </a:p>
        </p:txBody>
      </p:sp>
      <p:sp>
        <p:nvSpPr>
          <p:cNvPr id="25" name="Rectangle 24"/>
          <p:cNvSpPr/>
          <p:nvPr/>
        </p:nvSpPr>
        <p:spPr>
          <a:xfrm>
            <a:off x="6583680" y="4572000"/>
            <a:ext cx="493776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3A3A3A"/>
                </a:solidFill>
                <a:latin typeface="Calibri"/>
              </a:defRPr>
            </a:pPr>
            <a:r>
              <a:t>Experts review routine, not borderline, cases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PROJECT OBJECTIVE</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Introduction &amp; Problem Background</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5 / 29</a:t>
            </a:r>
          </a:p>
        </p:txBody>
      </p:sp>
      <p:sp>
        <p:nvSpPr>
          <p:cNvPr id="10" name="Rectangle 9"/>
          <p:cNvSpPr/>
          <p:nvPr/>
        </p:nvSpPr>
        <p:spPr>
          <a:xfrm>
            <a:off x="457200" y="1188720"/>
            <a:ext cx="3657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120"/>
              <a:t>RESEARCH GOAL</a:t>
            </a:r>
          </a:p>
        </p:txBody>
      </p:sp>
      <p:sp>
        <p:nvSpPr>
          <p:cNvPr id="11" name="Rectangle 10"/>
          <p:cNvSpPr/>
          <p:nvPr/>
        </p:nvSpPr>
        <p:spPr>
          <a:xfrm>
            <a:off x="457200" y="1536192"/>
            <a:ext cx="11277295"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Design and evaluate an adaptive health insurance underwriting system using contextual bandit algorithms on a synthetic Cambodia applicant dataset, incorporating demographic fairness monitoring and human-in-the-loop augmentation.</a:t>
            </a:r>
          </a:p>
        </p:txBody>
      </p:sp>
      <p:sp>
        <p:nvSpPr>
          <p:cNvPr id="12" name="Rectangle 11"/>
          <p:cNvSpPr/>
          <p:nvPr/>
        </p:nvSpPr>
        <p:spPr>
          <a:xfrm>
            <a:off x="457200" y="2423160"/>
            <a:ext cx="36576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120"/>
              <a:t>OBJECTIVES</a:t>
            </a:r>
          </a:p>
        </p:txBody>
      </p:sp>
      <p:sp>
        <p:nvSpPr>
          <p:cNvPr id="13" name="Rectangle 12"/>
          <p:cNvSpPr/>
          <p:nvPr/>
        </p:nvSpPr>
        <p:spPr>
          <a:xfrm>
            <a:off x="457200" y="283464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B5697"/>
                </a:solidFill>
                <a:latin typeface="Segoe UI"/>
              </a:defRPr>
            </a:pPr>
            <a:r>
              <a:t>O1</a:t>
            </a:r>
          </a:p>
        </p:txBody>
      </p:sp>
      <p:sp>
        <p:nvSpPr>
          <p:cNvPr id="14" name="Rectangle 13"/>
          <p:cNvSpPr/>
          <p:nvPr/>
        </p:nvSpPr>
        <p:spPr>
          <a:xfrm>
            <a:off x="1234440" y="285292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Implement and adapt linear contextual bandit algorithms (LinUCB, LinTS) for multi-arm health insurance underwriting decisions.</a:t>
            </a:r>
          </a:p>
        </p:txBody>
      </p:sp>
      <p:sp>
        <p:nvSpPr>
          <p:cNvPr id="15" name="Rectangle 14"/>
          <p:cNvSpPr/>
          <p:nvPr/>
        </p:nvSpPr>
        <p:spPr>
          <a:xfrm>
            <a:off x="457200" y="370332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B5697"/>
                </a:solidFill>
                <a:latin typeface="Segoe UI"/>
              </a:defRPr>
            </a:pPr>
            <a:r>
              <a:t>O2</a:t>
            </a:r>
          </a:p>
        </p:txBody>
      </p:sp>
      <p:sp>
        <p:nvSpPr>
          <p:cNvPr id="16" name="Rectangle 15"/>
          <p:cNvSpPr/>
          <p:nvPr/>
        </p:nvSpPr>
        <p:spPr>
          <a:xfrm>
            <a:off x="1234440" y="372160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Construct a 2,000-record synthetic Cambodia applicant dataset anchored on CDHS, STEPS, ILO, and WHO demographic distributions.</a:t>
            </a:r>
          </a:p>
        </p:txBody>
      </p:sp>
      <p:sp>
        <p:nvSpPr>
          <p:cNvPr id="17" name="Rectangle 16"/>
          <p:cNvSpPr/>
          <p:nvPr/>
        </p:nvSpPr>
        <p:spPr>
          <a:xfrm>
            <a:off x="457200" y="3611880"/>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57200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B5697"/>
                </a:solidFill>
                <a:latin typeface="Segoe UI"/>
              </a:defRPr>
            </a:pPr>
            <a:r>
              <a:t>O3</a:t>
            </a:r>
          </a:p>
        </p:txBody>
      </p:sp>
      <p:sp>
        <p:nvSpPr>
          <p:cNvPr id="19" name="Rectangle 18"/>
          <p:cNvSpPr/>
          <p:nvPr/>
        </p:nvSpPr>
        <p:spPr>
          <a:xfrm>
            <a:off x="1234440" y="459028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Evaluate bandit performance versus static rule-based baselines via 20-seed multi-run trials, bootstrap CIs, and paired Wilcoxon tests.</a:t>
            </a:r>
          </a:p>
        </p:txBody>
      </p:sp>
      <p:sp>
        <p:nvSpPr>
          <p:cNvPr id="20" name="Rectangle 19"/>
          <p:cNvSpPr/>
          <p:nvPr/>
        </p:nvSpPr>
        <p:spPr>
          <a:xfrm>
            <a:off x="457200" y="4480560"/>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440680"/>
            <a:ext cx="6858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2000" b="1" i="0">
                <a:solidFill>
                  <a:srgbClr val="1B5697"/>
                </a:solidFill>
                <a:latin typeface="Segoe UI"/>
              </a:defRPr>
            </a:pPr>
            <a:r>
              <a:t>O4</a:t>
            </a:r>
          </a:p>
        </p:txBody>
      </p:sp>
      <p:sp>
        <p:nvSpPr>
          <p:cNvPr id="22" name="Rectangle 21"/>
          <p:cNvSpPr/>
          <p:nvPr/>
        </p:nvSpPr>
        <p:spPr>
          <a:xfrm>
            <a:off x="1234440" y="5458968"/>
            <a:ext cx="10500055" cy="7772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Assess demographic fairness via PSI monitoring across region and occupation, and integrate a human-in-the-loop underwriting wrapper.</a:t>
            </a:r>
          </a:p>
        </p:txBody>
      </p:sp>
      <p:sp>
        <p:nvSpPr>
          <p:cNvPr id="23" name="Rectangle 22"/>
          <p:cNvSpPr/>
          <p:nvPr/>
        </p:nvSpPr>
        <p:spPr>
          <a:xfrm>
            <a:off x="457200" y="5349240"/>
            <a:ext cx="11277295" cy="10972"/>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Literature Review</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Literature Review</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7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LITERATURE REVIEW</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Literature Review</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6 / 29</a:t>
            </a:r>
          </a:p>
        </p:txBody>
      </p:sp>
      <p:sp>
        <p:nvSpPr>
          <p:cNvPr id="10" name="Rectangle 9"/>
          <p:cNvSpPr/>
          <p:nvPr/>
        </p:nvSpPr>
        <p:spPr>
          <a:xfrm>
            <a:off x="512064" y="1325880"/>
            <a:ext cx="26334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Topic</a:t>
            </a:r>
          </a:p>
        </p:txBody>
      </p:sp>
      <p:sp>
        <p:nvSpPr>
          <p:cNvPr id="11" name="Rectangle 10"/>
          <p:cNvSpPr/>
          <p:nvPr/>
        </p:nvSpPr>
        <p:spPr>
          <a:xfrm>
            <a:off x="3255264" y="1325880"/>
            <a:ext cx="31821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Key authors</a:t>
            </a:r>
          </a:p>
        </p:txBody>
      </p:sp>
      <p:sp>
        <p:nvSpPr>
          <p:cNvPr id="12" name="Rectangle 11"/>
          <p:cNvSpPr/>
          <p:nvPr/>
        </p:nvSpPr>
        <p:spPr>
          <a:xfrm>
            <a:off x="6547104" y="1325880"/>
            <a:ext cx="51023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Contribution</a:t>
            </a:r>
          </a:p>
        </p:txBody>
      </p:sp>
      <p:sp>
        <p:nvSpPr>
          <p:cNvPr id="13" name="Rectangle 12"/>
          <p:cNvSpPr/>
          <p:nvPr/>
        </p:nvSpPr>
        <p:spPr>
          <a:xfrm>
            <a:off x="457200" y="1655064"/>
            <a:ext cx="112471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172821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 y="176479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Underwriting in emerging markets</a:t>
            </a:r>
          </a:p>
        </p:txBody>
      </p:sp>
      <p:sp>
        <p:nvSpPr>
          <p:cNvPr id="16" name="Rectangle 15"/>
          <p:cNvSpPr/>
          <p:nvPr/>
        </p:nvSpPr>
        <p:spPr>
          <a:xfrm>
            <a:off x="3255264" y="176479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NIS/CDHS (2023); ILO (2022); ADB (2023)</a:t>
            </a:r>
          </a:p>
        </p:txBody>
      </p:sp>
      <p:sp>
        <p:nvSpPr>
          <p:cNvPr id="17" name="Rectangle 16"/>
          <p:cNvSpPr/>
          <p:nvPr/>
        </p:nvSpPr>
        <p:spPr>
          <a:xfrm>
            <a:off x="6547104" y="176479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Cambodia: &lt;10% penetration, manual rule-based underwriting, data anchors</a:t>
            </a:r>
          </a:p>
        </p:txBody>
      </p:sp>
      <p:sp>
        <p:nvSpPr>
          <p:cNvPr id="18" name="Rectangle 17"/>
          <p:cNvSpPr/>
          <p:nvPr/>
        </p:nvSpPr>
        <p:spPr>
          <a:xfrm>
            <a:off x="512064" y="254203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Linear contextual bandits</a:t>
            </a:r>
          </a:p>
        </p:txBody>
      </p:sp>
      <p:sp>
        <p:nvSpPr>
          <p:cNvPr id="19" name="Rectangle 18"/>
          <p:cNvSpPr/>
          <p:nvPr/>
        </p:nvSpPr>
        <p:spPr>
          <a:xfrm>
            <a:off x="3255264" y="254203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 et al. (2010); Agrawal &amp; Goyal (2013)</a:t>
            </a:r>
          </a:p>
        </p:txBody>
      </p:sp>
      <p:sp>
        <p:nvSpPr>
          <p:cNvPr id="20" name="Rectangle 19"/>
          <p:cNvSpPr/>
          <p:nvPr/>
        </p:nvSpPr>
        <p:spPr>
          <a:xfrm>
            <a:off x="6547104" y="254203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 O(sqrt(T) d log T) regret; LinTS posterior sampling - the two policies</a:t>
            </a:r>
          </a:p>
        </p:txBody>
      </p:sp>
      <p:sp>
        <p:nvSpPr>
          <p:cNvPr id="21" name="Rectangle 20"/>
          <p:cNvSpPr/>
          <p:nvPr/>
        </p:nvSpPr>
        <p:spPr>
          <a:xfrm>
            <a:off x="457200" y="328269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331927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Neural bandits &amp; dynamic pricing</a:t>
            </a:r>
          </a:p>
        </p:txBody>
      </p:sp>
      <p:sp>
        <p:nvSpPr>
          <p:cNvPr id="23" name="Rectangle 22"/>
          <p:cNvSpPr/>
          <p:nvPr/>
        </p:nvSpPr>
        <p:spPr>
          <a:xfrm>
            <a:off x="3255264" y="331927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Zhou (2020); Zhang (2021); Ban (2022)</a:t>
            </a:r>
          </a:p>
        </p:txBody>
      </p:sp>
      <p:sp>
        <p:nvSpPr>
          <p:cNvPr id="24" name="Rectangle 23"/>
          <p:cNvSpPr/>
          <p:nvPr/>
        </p:nvSpPr>
        <p:spPr>
          <a:xfrm>
            <a:off x="6547104" y="331927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NeuralUCB / NeuralTS / EE-Net relax the linear-reward assumption</a:t>
            </a:r>
          </a:p>
        </p:txBody>
      </p:sp>
      <p:sp>
        <p:nvSpPr>
          <p:cNvPr id="25" name="Rectangle 24"/>
          <p:cNvSpPr/>
          <p:nvPr/>
        </p:nvSpPr>
        <p:spPr>
          <a:xfrm>
            <a:off x="512064" y="409651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Fairness in insurance ML</a:t>
            </a:r>
          </a:p>
        </p:txBody>
      </p:sp>
      <p:sp>
        <p:nvSpPr>
          <p:cNvPr id="26" name="Rectangle 25"/>
          <p:cNvSpPr/>
          <p:nvPr/>
        </p:nvSpPr>
        <p:spPr>
          <a:xfrm>
            <a:off x="3255264" y="409651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Barocas et al. (2019); Ensign et al. (2018)</a:t>
            </a:r>
          </a:p>
        </p:txBody>
      </p:sp>
      <p:sp>
        <p:nvSpPr>
          <p:cNvPr id="27" name="Rectangle 26"/>
          <p:cNvSpPr/>
          <p:nvPr/>
        </p:nvSpPr>
        <p:spPr>
          <a:xfrm>
            <a:off x="6547104" y="409651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Protected-attribute constraints; runaway feedback loops</a:t>
            </a:r>
          </a:p>
        </p:txBody>
      </p:sp>
      <p:sp>
        <p:nvSpPr>
          <p:cNvPr id="28" name="Rectangle 27"/>
          <p:cNvSpPr/>
          <p:nvPr/>
        </p:nvSpPr>
        <p:spPr>
          <a:xfrm>
            <a:off x="457200" y="4837176"/>
            <a:ext cx="1124712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12064" y="4873752"/>
            <a:ext cx="263347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Population stability (PSI)</a:t>
            </a:r>
          </a:p>
        </p:txBody>
      </p:sp>
      <p:sp>
        <p:nvSpPr>
          <p:cNvPr id="30" name="Rectangle 29"/>
          <p:cNvSpPr/>
          <p:nvPr/>
        </p:nvSpPr>
        <p:spPr>
          <a:xfrm>
            <a:off x="3255264" y="4873752"/>
            <a:ext cx="318211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Yurdakul &amp; Naranjo (2020); Lin (1991)</a:t>
            </a:r>
          </a:p>
        </p:txBody>
      </p:sp>
      <p:sp>
        <p:nvSpPr>
          <p:cNvPr id="31" name="Rectangle 30"/>
          <p:cNvSpPr/>
          <p:nvPr/>
        </p:nvSpPr>
        <p:spPr>
          <a:xfrm>
            <a:off x="6547104" y="4873752"/>
            <a:ext cx="510235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PSI drift zones (GREEN / AMBER / RED); Jensen-Shannon basis</a:t>
            </a:r>
          </a:p>
        </p:txBody>
      </p:sp>
      <p:sp>
        <p:nvSpPr>
          <p:cNvPr id="32" name="Rectangle 31"/>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Full review: thesis Chapter III (25 cited sources, APA).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III.</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Methodology &amp; Model Design</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9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METHODOLOGY OVERVIEW</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8 / 29</a:t>
            </a:r>
          </a:p>
        </p:txBody>
      </p:sp>
      <p:sp>
        <p:nvSpPr>
          <p:cNvPr id="10" name="Rectangle 9"/>
          <p:cNvSpPr/>
          <p:nvPr/>
        </p:nvSpPr>
        <p:spPr>
          <a:xfrm>
            <a:off x="874623" y="1463040"/>
            <a:ext cx="1572768" cy="128016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463040"/>
            <a:ext cx="1572768" cy="128016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99339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463040"/>
            <a:ext cx="1572768" cy="128016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463040"/>
            <a:ext cx="1481328" cy="12801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457200" y="3383280"/>
            <a:ext cx="11277295"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0" i="0">
                <a:solidFill>
                  <a:srgbClr val="3A3A3A"/>
                </a:solidFill>
                <a:latin typeface="Calibri"/>
              </a:defRPr>
            </a:pPr>
            <a:r>
              <a:t>Each applicant flows left to right: their context drives a bandit policy that picks an underwriting action; the actuarial simulator returns a reward that updates the policy; a PSI guardrail and a human-in-the-loop wrapper watch fairness before the final decision.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ZOOM-IN: DATASET &amp; CONTEXT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9 / 29</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801471"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B5697"/>
                </a:solidFill>
                <a:latin typeface="Calibri"/>
              </a:defRPr>
            </a:pPr>
            <a:r>
              <a:t>2,000</a:t>
            </a:r>
          </a:p>
        </p:txBody>
      </p:sp>
      <p:sp>
        <p:nvSpPr>
          <p:cNvPr id="29" name="Rectangle 28"/>
          <p:cNvSpPr/>
          <p:nvPr/>
        </p:nvSpPr>
        <p:spPr>
          <a:xfrm>
            <a:off x="457200"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SYNTHETIC APPLICATIONS</a:t>
            </a:r>
          </a:p>
        </p:txBody>
      </p:sp>
      <p:sp>
        <p:nvSpPr>
          <p:cNvPr id="30" name="Rectangle 29"/>
          <p:cNvSpPr/>
          <p:nvPr/>
        </p:nvSpPr>
        <p:spPr>
          <a:xfrm>
            <a:off x="3276523"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34</a:t>
            </a:r>
          </a:p>
        </p:txBody>
      </p:sp>
      <p:sp>
        <p:nvSpPr>
          <p:cNvPr id="31" name="Rectangle 30"/>
          <p:cNvSpPr/>
          <p:nvPr/>
        </p:nvSpPr>
        <p:spPr>
          <a:xfrm>
            <a:off x="3276523"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CONTEXT FEATURES</a:t>
            </a:r>
          </a:p>
        </p:txBody>
      </p:sp>
      <p:sp>
        <p:nvSpPr>
          <p:cNvPr id="32" name="Rectangle 31"/>
          <p:cNvSpPr/>
          <p:nvPr/>
        </p:nvSpPr>
        <p:spPr>
          <a:xfrm>
            <a:off x="3166795"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095846"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4</a:t>
            </a:r>
          </a:p>
        </p:txBody>
      </p:sp>
      <p:sp>
        <p:nvSpPr>
          <p:cNvPr id="34" name="Rectangle 33"/>
          <p:cNvSpPr/>
          <p:nvPr/>
        </p:nvSpPr>
        <p:spPr>
          <a:xfrm>
            <a:off x="6095846"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UNDERWRITING ARMS</a:t>
            </a:r>
          </a:p>
        </p:txBody>
      </p:sp>
      <p:sp>
        <p:nvSpPr>
          <p:cNvPr id="35" name="Rectangle 34"/>
          <p:cNvSpPr/>
          <p:nvPr/>
        </p:nvSpPr>
        <p:spPr>
          <a:xfrm>
            <a:off x="5986118"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915169" y="2377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4</a:t>
            </a:r>
          </a:p>
        </p:txBody>
      </p:sp>
      <p:sp>
        <p:nvSpPr>
          <p:cNvPr id="37" name="Rectangle 36"/>
          <p:cNvSpPr/>
          <p:nvPr/>
        </p:nvSpPr>
        <p:spPr>
          <a:xfrm>
            <a:off x="8915169" y="2944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ANCHORING SOURCES</a:t>
            </a:r>
          </a:p>
        </p:txBody>
      </p:sp>
      <p:sp>
        <p:nvSpPr>
          <p:cNvPr id="38" name="Rectangle 37"/>
          <p:cNvSpPr/>
          <p:nvPr/>
        </p:nvSpPr>
        <p:spPr>
          <a:xfrm>
            <a:off x="8805441" y="2423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13232" y="3566160"/>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Anchored on CDHS, STEPS, ILO, WHO data</a:t>
            </a:r>
          </a:p>
        </p:txBody>
      </p:sp>
      <p:sp>
        <p:nvSpPr>
          <p:cNvPr id="41" name="Rectangle 40"/>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13232" y="4133088"/>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Adverse selection AF = 1.35; elasticity 3.5</a:t>
            </a:r>
          </a:p>
        </p:txBody>
      </p:sp>
      <p:sp>
        <p:nvSpPr>
          <p:cNvPr id="43" name="Rectangle 42"/>
          <p:cNvSpPr/>
          <p:nvPr/>
        </p:nvSpPr>
        <p:spPr>
          <a:xfrm>
            <a:off x="457200" y="48097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13232" y="4700016"/>
            <a:ext cx="54132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Fully synthetic — no real applicant PII</a:t>
            </a:r>
          </a:p>
        </p:txBody>
      </p:sp>
      <p:sp>
        <p:nvSpPr>
          <p:cNvPr id="45" name="Rectangle 44"/>
          <p:cNvSpPr/>
          <p:nvPr/>
        </p:nvSpPr>
        <p:spPr>
          <a:xfrm>
            <a:off x="6675120" y="347472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RATED</a:t>
            </a:r>
          </a:p>
        </p:txBody>
      </p:sp>
      <p:sp>
        <p:nvSpPr>
          <p:cNvPr id="46" name="Rectangle 45"/>
          <p:cNvSpPr/>
          <p:nvPr/>
        </p:nvSpPr>
        <p:spPr>
          <a:xfrm>
            <a:off x="8412480" y="349300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Accept + premium loading (+25%)</a:t>
            </a:r>
          </a:p>
        </p:txBody>
      </p:sp>
      <p:sp>
        <p:nvSpPr>
          <p:cNvPr id="47" name="Rectangle 46"/>
          <p:cNvSpPr/>
          <p:nvPr/>
        </p:nvSpPr>
        <p:spPr>
          <a:xfrm>
            <a:off x="6675120" y="402336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STANDARD</a:t>
            </a:r>
          </a:p>
        </p:txBody>
      </p:sp>
      <p:sp>
        <p:nvSpPr>
          <p:cNvPr id="48" name="Rectangle 47"/>
          <p:cNvSpPr/>
          <p:nvPr/>
        </p:nvSpPr>
        <p:spPr>
          <a:xfrm>
            <a:off x="8412480" y="404164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Accept at standard premium</a:t>
            </a:r>
          </a:p>
        </p:txBody>
      </p:sp>
      <p:sp>
        <p:nvSpPr>
          <p:cNvPr id="49" name="Rectangle 48"/>
          <p:cNvSpPr/>
          <p:nvPr/>
        </p:nvSpPr>
        <p:spPr>
          <a:xfrm>
            <a:off x="6675120" y="457200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DECLINE</a:t>
            </a:r>
          </a:p>
        </p:txBody>
      </p:sp>
      <p:sp>
        <p:nvSpPr>
          <p:cNvPr id="50" name="Rectangle 49"/>
          <p:cNvSpPr/>
          <p:nvPr/>
        </p:nvSpPr>
        <p:spPr>
          <a:xfrm>
            <a:off x="8412480" y="459028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Reject application</a:t>
            </a:r>
          </a:p>
        </p:txBody>
      </p:sp>
      <p:sp>
        <p:nvSpPr>
          <p:cNvPr id="51" name="Rectangle 50"/>
          <p:cNvSpPr/>
          <p:nvPr/>
        </p:nvSpPr>
        <p:spPr>
          <a:xfrm>
            <a:off x="6675120" y="5120640"/>
            <a:ext cx="17373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REFER</a:t>
            </a:r>
          </a:p>
        </p:txBody>
      </p:sp>
      <p:sp>
        <p:nvSpPr>
          <p:cNvPr id="52" name="Rectangle 51"/>
          <p:cNvSpPr/>
          <p:nvPr/>
        </p:nvSpPr>
        <p:spPr>
          <a:xfrm>
            <a:off x="8412480" y="5138928"/>
            <a:ext cx="329184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3A3A3A"/>
                </a:solidFill>
                <a:latin typeface="Calibri"/>
              </a:defRPr>
            </a:pPr>
            <a:r>
              <a:t>Escalate to human underwriter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THE DATASET AT A GLANCE</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10 / 29</a:t>
            </a:r>
          </a:p>
        </p:txBody>
      </p:sp>
      <p:sp>
        <p:nvSpPr>
          <p:cNvPr id="10" name="Rectangle 9"/>
          <p:cNvSpPr/>
          <p:nvPr/>
        </p:nvSpPr>
        <p:spPr>
          <a:xfrm>
            <a:off x="457200" y="1143000"/>
            <a:ext cx="112772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2,000 synthetic applicants -&gt; a 34-dimensional standardised context vector, from raw features organised by category (thesis Table 7). Fully synthetic — no real applicant PII.</a:t>
            </a:r>
          </a:p>
        </p:txBody>
      </p:sp>
      <p:sp>
        <p:nvSpPr>
          <p:cNvPr id="11" name="Rectangle 10"/>
          <p:cNvSpPr/>
          <p:nvPr/>
        </p:nvSpPr>
        <p:spPr>
          <a:xfrm>
            <a:off x="457200" y="1691640"/>
            <a:ext cx="54864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Segoe UI"/>
              </a:defRPr>
            </a:pPr>
            <a:r>
              <a:rPr spc="60"/>
              <a:t>FEATURE CATEGORIES</a:t>
            </a:r>
          </a:p>
        </p:txBody>
      </p:sp>
      <p:sp>
        <p:nvSpPr>
          <p:cNvPr id="12" name="Rectangle 11"/>
          <p:cNvSpPr/>
          <p:nvPr/>
        </p:nvSpPr>
        <p:spPr>
          <a:xfrm>
            <a:off x="512064" y="2029968"/>
            <a:ext cx="1764791"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Category</a:t>
            </a:r>
          </a:p>
        </p:txBody>
      </p:sp>
      <p:sp>
        <p:nvSpPr>
          <p:cNvPr id="13" name="Rectangle 12"/>
          <p:cNvSpPr/>
          <p:nvPr/>
        </p:nvSpPr>
        <p:spPr>
          <a:xfrm>
            <a:off x="2386583" y="2029968"/>
            <a:ext cx="2862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Raw features</a:t>
            </a:r>
          </a:p>
        </p:txBody>
      </p:sp>
      <p:sp>
        <p:nvSpPr>
          <p:cNvPr id="14" name="Rectangle 13"/>
          <p:cNvSpPr/>
          <p:nvPr/>
        </p:nvSpPr>
        <p:spPr>
          <a:xfrm>
            <a:off x="5358383" y="2029968"/>
            <a:ext cx="438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Dim</a:t>
            </a:r>
          </a:p>
        </p:txBody>
      </p:sp>
      <p:sp>
        <p:nvSpPr>
          <p:cNvPr id="15" name="Rectangle 14"/>
          <p:cNvSpPr/>
          <p:nvPr/>
        </p:nvSpPr>
        <p:spPr>
          <a:xfrm>
            <a:off x="457200" y="2359152"/>
            <a:ext cx="5394959"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432304"/>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12064" y="2468880"/>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Demographics &amp; vitals</a:t>
            </a:r>
          </a:p>
        </p:txBody>
      </p:sp>
      <p:sp>
        <p:nvSpPr>
          <p:cNvPr id="18" name="Rectangle 17"/>
          <p:cNvSpPr/>
          <p:nvPr/>
        </p:nvSpPr>
        <p:spPr>
          <a:xfrm>
            <a:off x="2386583" y="2468880"/>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age, gender, BMI</a:t>
            </a:r>
          </a:p>
        </p:txBody>
      </p:sp>
      <p:sp>
        <p:nvSpPr>
          <p:cNvPr id="19" name="Rectangle 18"/>
          <p:cNvSpPr/>
          <p:nvPr/>
        </p:nvSpPr>
        <p:spPr>
          <a:xfrm>
            <a:off x="5358383" y="2468880"/>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3</a:t>
            </a:r>
          </a:p>
        </p:txBody>
      </p:sp>
      <p:sp>
        <p:nvSpPr>
          <p:cNvPr id="20" name="Rectangle 19"/>
          <p:cNvSpPr/>
          <p:nvPr/>
        </p:nvSpPr>
        <p:spPr>
          <a:xfrm>
            <a:off x="512064" y="2889504"/>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Lifestyle</a:t>
            </a:r>
          </a:p>
        </p:txBody>
      </p:sp>
      <p:sp>
        <p:nvSpPr>
          <p:cNvPr id="21" name="Rectangle 20"/>
          <p:cNvSpPr/>
          <p:nvPr/>
        </p:nvSpPr>
        <p:spPr>
          <a:xfrm>
            <a:off x="2386583" y="2889504"/>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smoking, alcohol, exercise</a:t>
            </a:r>
          </a:p>
        </p:txBody>
      </p:sp>
      <p:sp>
        <p:nvSpPr>
          <p:cNvPr id="22" name="Rectangle 21"/>
          <p:cNvSpPr/>
          <p:nvPr/>
        </p:nvSpPr>
        <p:spPr>
          <a:xfrm>
            <a:off x="5358383" y="2889504"/>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3</a:t>
            </a:r>
          </a:p>
        </p:txBody>
      </p:sp>
      <p:sp>
        <p:nvSpPr>
          <p:cNvPr id="23" name="Rectangle 22"/>
          <p:cNvSpPr/>
          <p:nvPr/>
        </p:nvSpPr>
        <p:spPr>
          <a:xfrm>
            <a:off x="457200" y="3273552"/>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3310128"/>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Social determinants</a:t>
            </a:r>
          </a:p>
        </p:txBody>
      </p:sp>
      <p:sp>
        <p:nvSpPr>
          <p:cNvPr id="25" name="Rectangle 24"/>
          <p:cNvSpPr/>
          <p:nvPr/>
        </p:nvSpPr>
        <p:spPr>
          <a:xfrm>
            <a:off x="2386583" y="3310128"/>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education, wealth, self-rated health</a:t>
            </a:r>
          </a:p>
        </p:txBody>
      </p:sp>
      <p:sp>
        <p:nvSpPr>
          <p:cNvPr id="26" name="Rectangle 25"/>
          <p:cNvSpPr/>
          <p:nvPr/>
        </p:nvSpPr>
        <p:spPr>
          <a:xfrm>
            <a:off x="5358383" y="3310128"/>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3</a:t>
            </a:r>
          </a:p>
        </p:txBody>
      </p:sp>
      <p:sp>
        <p:nvSpPr>
          <p:cNvPr id="27" name="Rectangle 26"/>
          <p:cNvSpPr/>
          <p:nvPr/>
        </p:nvSpPr>
        <p:spPr>
          <a:xfrm>
            <a:off x="512064" y="3730752"/>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Economic</a:t>
            </a:r>
          </a:p>
        </p:txBody>
      </p:sp>
      <p:sp>
        <p:nvSpPr>
          <p:cNvPr id="28" name="Rectangle 27"/>
          <p:cNvSpPr/>
          <p:nvPr/>
        </p:nvSpPr>
        <p:spPr>
          <a:xfrm>
            <a:off x="2386583" y="3730752"/>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income, family history</a:t>
            </a:r>
          </a:p>
        </p:txBody>
      </p:sp>
      <p:sp>
        <p:nvSpPr>
          <p:cNvPr id="29" name="Rectangle 28"/>
          <p:cNvSpPr/>
          <p:nvPr/>
        </p:nvSpPr>
        <p:spPr>
          <a:xfrm>
            <a:off x="5358383" y="3730752"/>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2</a:t>
            </a:r>
          </a:p>
        </p:txBody>
      </p:sp>
      <p:sp>
        <p:nvSpPr>
          <p:cNvPr id="30" name="Rectangle 29"/>
          <p:cNvSpPr/>
          <p:nvPr/>
        </p:nvSpPr>
        <p:spPr>
          <a:xfrm>
            <a:off x="457200" y="4114800"/>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2064" y="4151376"/>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Clinical</a:t>
            </a:r>
          </a:p>
        </p:txBody>
      </p:sp>
      <p:sp>
        <p:nvSpPr>
          <p:cNvPr id="32" name="Rectangle 31"/>
          <p:cNvSpPr/>
          <p:nvPr/>
        </p:nvSpPr>
        <p:spPr>
          <a:xfrm>
            <a:off x="2386583" y="4151376"/>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7 condition flags + count</a:t>
            </a:r>
          </a:p>
        </p:txBody>
      </p:sp>
      <p:sp>
        <p:nvSpPr>
          <p:cNvPr id="33" name="Rectangle 32"/>
          <p:cNvSpPr/>
          <p:nvPr/>
        </p:nvSpPr>
        <p:spPr>
          <a:xfrm>
            <a:off x="5358383" y="4151376"/>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8</a:t>
            </a:r>
          </a:p>
        </p:txBody>
      </p:sp>
      <p:sp>
        <p:nvSpPr>
          <p:cNvPr id="34" name="Rectangle 33"/>
          <p:cNvSpPr/>
          <p:nvPr/>
        </p:nvSpPr>
        <p:spPr>
          <a:xfrm>
            <a:off x="512064" y="4572000"/>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Region</a:t>
            </a:r>
          </a:p>
        </p:txBody>
      </p:sp>
      <p:sp>
        <p:nvSpPr>
          <p:cNvPr id="35" name="Rectangle 34"/>
          <p:cNvSpPr/>
          <p:nvPr/>
        </p:nvSpPr>
        <p:spPr>
          <a:xfrm>
            <a:off x="2386583" y="4572000"/>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8 regions (one-hot)</a:t>
            </a:r>
          </a:p>
        </p:txBody>
      </p:sp>
      <p:sp>
        <p:nvSpPr>
          <p:cNvPr id="36" name="Rectangle 35"/>
          <p:cNvSpPr/>
          <p:nvPr/>
        </p:nvSpPr>
        <p:spPr>
          <a:xfrm>
            <a:off x="5358383" y="4572000"/>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8</a:t>
            </a:r>
          </a:p>
        </p:txBody>
      </p:sp>
      <p:sp>
        <p:nvSpPr>
          <p:cNvPr id="37" name="Rectangle 36"/>
          <p:cNvSpPr/>
          <p:nvPr/>
        </p:nvSpPr>
        <p:spPr>
          <a:xfrm>
            <a:off x="457200" y="4956048"/>
            <a:ext cx="5394959" cy="42062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 y="4992624"/>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Occupation</a:t>
            </a:r>
          </a:p>
        </p:txBody>
      </p:sp>
      <p:sp>
        <p:nvSpPr>
          <p:cNvPr id="39" name="Rectangle 38"/>
          <p:cNvSpPr/>
          <p:nvPr/>
        </p:nvSpPr>
        <p:spPr>
          <a:xfrm>
            <a:off x="2386583" y="4992624"/>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7 occupations (one-hot)</a:t>
            </a:r>
          </a:p>
        </p:txBody>
      </p:sp>
      <p:sp>
        <p:nvSpPr>
          <p:cNvPr id="40" name="Rectangle 39"/>
          <p:cNvSpPr/>
          <p:nvPr/>
        </p:nvSpPr>
        <p:spPr>
          <a:xfrm>
            <a:off x="5358383" y="4992624"/>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7</a:t>
            </a:r>
          </a:p>
        </p:txBody>
      </p:sp>
      <p:sp>
        <p:nvSpPr>
          <p:cNvPr id="41" name="Rectangle 40"/>
          <p:cNvSpPr/>
          <p:nvPr/>
        </p:nvSpPr>
        <p:spPr>
          <a:xfrm>
            <a:off x="512064" y="5413248"/>
            <a:ext cx="1764791"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Total</a:t>
            </a:r>
          </a:p>
        </p:txBody>
      </p:sp>
      <p:sp>
        <p:nvSpPr>
          <p:cNvPr id="42" name="Rectangle 41"/>
          <p:cNvSpPr/>
          <p:nvPr/>
        </p:nvSpPr>
        <p:spPr>
          <a:xfrm>
            <a:off x="2386583" y="5413248"/>
            <a:ext cx="286207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p>
        </p:txBody>
      </p:sp>
      <p:sp>
        <p:nvSpPr>
          <p:cNvPr id="43" name="Rectangle 42"/>
          <p:cNvSpPr/>
          <p:nvPr/>
        </p:nvSpPr>
        <p:spPr>
          <a:xfrm>
            <a:off x="5358383" y="5413248"/>
            <a:ext cx="43891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B5697"/>
                </a:solidFill>
                <a:latin typeface="Calibri"/>
              </a:defRPr>
            </a:pPr>
            <a:r>
              <a:t>34</a:t>
            </a:r>
          </a:p>
        </p:txBody>
      </p:sp>
      <p:sp>
        <p:nvSpPr>
          <p:cNvPr id="44" name="Rectangle 43"/>
          <p:cNvSpPr/>
          <p:nvPr/>
        </p:nvSpPr>
        <p:spPr>
          <a:xfrm>
            <a:off x="6355080" y="1691640"/>
            <a:ext cx="548640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Segoe UI"/>
              </a:defRPr>
            </a:pPr>
            <a:r>
              <a:rPr spc="60"/>
              <a:t>DATA SNAPSHOT  ·  4 OF 2,000 RECORDS</a:t>
            </a:r>
          </a:p>
        </p:txBody>
      </p:sp>
      <p:sp>
        <p:nvSpPr>
          <p:cNvPr id="45" name="Rectangle 44"/>
          <p:cNvSpPr/>
          <p:nvPr/>
        </p:nvSpPr>
        <p:spPr>
          <a:xfrm>
            <a:off x="6409944" y="2029968"/>
            <a:ext cx="438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Age</a:t>
            </a:r>
          </a:p>
        </p:txBody>
      </p:sp>
      <p:sp>
        <p:nvSpPr>
          <p:cNvPr id="46" name="Rectangle 45"/>
          <p:cNvSpPr/>
          <p:nvPr/>
        </p:nvSpPr>
        <p:spPr>
          <a:xfrm>
            <a:off x="6958584" y="2029968"/>
            <a:ext cx="3474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Sex</a:t>
            </a:r>
          </a:p>
        </p:txBody>
      </p:sp>
      <p:sp>
        <p:nvSpPr>
          <p:cNvPr id="47" name="Rectangle 46"/>
          <p:cNvSpPr/>
          <p:nvPr/>
        </p:nvSpPr>
        <p:spPr>
          <a:xfrm>
            <a:off x="7415784" y="2029968"/>
            <a:ext cx="1444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Region</a:t>
            </a:r>
          </a:p>
        </p:txBody>
      </p:sp>
      <p:sp>
        <p:nvSpPr>
          <p:cNvPr id="48" name="Rectangle 47"/>
          <p:cNvSpPr/>
          <p:nvPr/>
        </p:nvSpPr>
        <p:spPr>
          <a:xfrm>
            <a:off x="8970264" y="2029968"/>
            <a:ext cx="14904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Occupation</a:t>
            </a:r>
          </a:p>
        </p:txBody>
      </p:sp>
      <p:sp>
        <p:nvSpPr>
          <p:cNvPr id="49" name="Rectangle 48"/>
          <p:cNvSpPr/>
          <p:nvPr/>
        </p:nvSpPr>
        <p:spPr>
          <a:xfrm>
            <a:off x="10570464" y="2029968"/>
            <a:ext cx="438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BMI</a:t>
            </a:r>
          </a:p>
        </p:txBody>
      </p:sp>
      <p:sp>
        <p:nvSpPr>
          <p:cNvPr id="50" name="Rectangle 49"/>
          <p:cNvSpPr/>
          <p:nvPr/>
        </p:nvSpPr>
        <p:spPr>
          <a:xfrm>
            <a:off x="11119104" y="2029968"/>
            <a:ext cx="576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A1A1A"/>
                </a:solidFill>
                <a:latin typeface="Calibri"/>
              </a:defRPr>
            </a:pPr>
            <a:r>
              <a:t>Smoker</a:t>
            </a:r>
          </a:p>
        </p:txBody>
      </p:sp>
      <p:sp>
        <p:nvSpPr>
          <p:cNvPr id="51" name="Rectangle 50"/>
          <p:cNvSpPr/>
          <p:nvPr/>
        </p:nvSpPr>
        <p:spPr>
          <a:xfrm>
            <a:off x="6355080" y="2359152"/>
            <a:ext cx="539496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355080" y="2432304"/>
            <a:ext cx="53949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9944" y="246888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36</a:t>
            </a:r>
          </a:p>
        </p:txBody>
      </p:sp>
      <p:sp>
        <p:nvSpPr>
          <p:cNvPr id="54" name="Rectangle 53"/>
          <p:cNvSpPr/>
          <p:nvPr/>
        </p:nvSpPr>
        <p:spPr>
          <a:xfrm>
            <a:off x="6958584" y="246888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F</a:t>
            </a:r>
          </a:p>
        </p:txBody>
      </p:sp>
      <p:sp>
        <p:nvSpPr>
          <p:cNvPr id="55" name="Rectangle 54"/>
          <p:cNvSpPr/>
          <p:nvPr/>
        </p:nvSpPr>
        <p:spPr>
          <a:xfrm>
            <a:off x="7415784" y="246888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Other Provinces</a:t>
            </a:r>
          </a:p>
        </p:txBody>
      </p:sp>
      <p:sp>
        <p:nvSpPr>
          <p:cNvPr id="56" name="Rectangle 55"/>
          <p:cNvSpPr/>
          <p:nvPr/>
        </p:nvSpPr>
        <p:spPr>
          <a:xfrm>
            <a:off x="8970264" y="246888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Rice Farmer</a:t>
            </a:r>
          </a:p>
        </p:txBody>
      </p:sp>
      <p:sp>
        <p:nvSpPr>
          <p:cNvPr id="57" name="Rectangle 56"/>
          <p:cNvSpPr/>
          <p:nvPr/>
        </p:nvSpPr>
        <p:spPr>
          <a:xfrm>
            <a:off x="10570464" y="246888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23.2</a:t>
            </a:r>
          </a:p>
        </p:txBody>
      </p:sp>
      <p:sp>
        <p:nvSpPr>
          <p:cNvPr id="58" name="Rectangle 57"/>
          <p:cNvSpPr/>
          <p:nvPr/>
        </p:nvSpPr>
        <p:spPr>
          <a:xfrm>
            <a:off x="11119104" y="246888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
        <p:nvSpPr>
          <p:cNvPr id="59" name="Rectangle 58"/>
          <p:cNvSpPr/>
          <p:nvPr/>
        </p:nvSpPr>
        <p:spPr>
          <a:xfrm>
            <a:off x="6409944" y="301752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34</a:t>
            </a:r>
          </a:p>
        </p:txBody>
      </p:sp>
      <p:sp>
        <p:nvSpPr>
          <p:cNvPr id="60" name="Rectangle 59"/>
          <p:cNvSpPr/>
          <p:nvPr/>
        </p:nvSpPr>
        <p:spPr>
          <a:xfrm>
            <a:off x="6958584" y="301752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F</a:t>
            </a:r>
          </a:p>
        </p:txBody>
      </p:sp>
      <p:sp>
        <p:nvSpPr>
          <p:cNvPr id="61" name="Rectangle 60"/>
          <p:cNvSpPr/>
          <p:nvPr/>
        </p:nvSpPr>
        <p:spPr>
          <a:xfrm>
            <a:off x="7415784" y="301752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Phnom Penh</a:t>
            </a:r>
          </a:p>
        </p:txBody>
      </p:sp>
      <p:sp>
        <p:nvSpPr>
          <p:cNvPr id="62" name="Rectangle 61"/>
          <p:cNvSpPr/>
          <p:nvPr/>
        </p:nvSpPr>
        <p:spPr>
          <a:xfrm>
            <a:off x="8970264" y="301752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Rice Farmer</a:t>
            </a:r>
          </a:p>
        </p:txBody>
      </p:sp>
      <p:sp>
        <p:nvSpPr>
          <p:cNvPr id="63" name="Rectangle 62"/>
          <p:cNvSpPr/>
          <p:nvPr/>
        </p:nvSpPr>
        <p:spPr>
          <a:xfrm>
            <a:off x="10570464" y="301752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27.0</a:t>
            </a:r>
          </a:p>
        </p:txBody>
      </p:sp>
      <p:sp>
        <p:nvSpPr>
          <p:cNvPr id="64" name="Rectangle 63"/>
          <p:cNvSpPr/>
          <p:nvPr/>
        </p:nvSpPr>
        <p:spPr>
          <a:xfrm>
            <a:off x="11119104" y="301752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
        <p:nvSpPr>
          <p:cNvPr id="65" name="Rectangle 64"/>
          <p:cNvSpPr/>
          <p:nvPr/>
        </p:nvSpPr>
        <p:spPr>
          <a:xfrm>
            <a:off x="6355080" y="3529584"/>
            <a:ext cx="53949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9944" y="356616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39</a:t>
            </a:r>
          </a:p>
        </p:txBody>
      </p:sp>
      <p:sp>
        <p:nvSpPr>
          <p:cNvPr id="67" name="Rectangle 66"/>
          <p:cNvSpPr/>
          <p:nvPr/>
        </p:nvSpPr>
        <p:spPr>
          <a:xfrm>
            <a:off x="6958584" y="356616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M</a:t>
            </a:r>
          </a:p>
        </p:txBody>
      </p:sp>
      <p:sp>
        <p:nvSpPr>
          <p:cNvPr id="68" name="Rectangle 67"/>
          <p:cNvSpPr/>
          <p:nvPr/>
        </p:nvSpPr>
        <p:spPr>
          <a:xfrm>
            <a:off x="7415784" y="356616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Other Provinces</a:t>
            </a:r>
          </a:p>
        </p:txBody>
      </p:sp>
      <p:sp>
        <p:nvSpPr>
          <p:cNvPr id="69" name="Rectangle 68"/>
          <p:cNvSpPr/>
          <p:nvPr/>
        </p:nvSpPr>
        <p:spPr>
          <a:xfrm>
            <a:off x="8970264" y="356616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Civil Servant</a:t>
            </a:r>
          </a:p>
        </p:txBody>
      </p:sp>
      <p:sp>
        <p:nvSpPr>
          <p:cNvPr id="70" name="Rectangle 69"/>
          <p:cNvSpPr/>
          <p:nvPr/>
        </p:nvSpPr>
        <p:spPr>
          <a:xfrm>
            <a:off x="10570464" y="356616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19.0</a:t>
            </a:r>
          </a:p>
        </p:txBody>
      </p:sp>
      <p:sp>
        <p:nvSpPr>
          <p:cNvPr id="71" name="Rectangle 70"/>
          <p:cNvSpPr/>
          <p:nvPr/>
        </p:nvSpPr>
        <p:spPr>
          <a:xfrm>
            <a:off x="11119104" y="356616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
        <p:nvSpPr>
          <p:cNvPr id="72" name="Rectangle 71"/>
          <p:cNvSpPr/>
          <p:nvPr/>
        </p:nvSpPr>
        <p:spPr>
          <a:xfrm>
            <a:off x="6409944" y="411480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43</a:t>
            </a:r>
          </a:p>
        </p:txBody>
      </p:sp>
      <p:sp>
        <p:nvSpPr>
          <p:cNvPr id="73" name="Rectangle 72"/>
          <p:cNvSpPr/>
          <p:nvPr/>
        </p:nvSpPr>
        <p:spPr>
          <a:xfrm>
            <a:off x="6958584" y="4114800"/>
            <a:ext cx="347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F</a:t>
            </a:r>
          </a:p>
        </p:txBody>
      </p:sp>
      <p:sp>
        <p:nvSpPr>
          <p:cNvPr id="74" name="Rectangle 73"/>
          <p:cNvSpPr/>
          <p:nvPr/>
        </p:nvSpPr>
        <p:spPr>
          <a:xfrm>
            <a:off x="7415784" y="4114800"/>
            <a:ext cx="144475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Other Provinces</a:t>
            </a:r>
          </a:p>
        </p:txBody>
      </p:sp>
      <p:sp>
        <p:nvSpPr>
          <p:cNvPr id="75" name="Rectangle 74"/>
          <p:cNvSpPr/>
          <p:nvPr/>
        </p:nvSpPr>
        <p:spPr>
          <a:xfrm>
            <a:off x="8970264" y="4114800"/>
            <a:ext cx="14904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Garment Worker</a:t>
            </a:r>
          </a:p>
        </p:txBody>
      </p:sp>
      <p:sp>
        <p:nvSpPr>
          <p:cNvPr id="76" name="Rectangle 75"/>
          <p:cNvSpPr/>
          <p:nvPr/>
        </p:nvSpPr>
        <p:spPr>
          <a:xfrm>
            <a:off x="10570464" y="4114800"/>
            <a:ext cx="4389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25.7</a:t>
            </a:r>
          </a:p>
        </p:txBody>
      </p:sp>
      <p:sp>
        <p:nvSpPr>
          <p:cNvPr id="77" name="Rectangle 76"/>
          <p:cNvSpPr/>
          <p:nvPr/>
        </p:nvSpPr>
        <p:spPr>
          <a:xfrm>
            <a:off x="11119104" y="4114800"/>
            <a:ext cx="5760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No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REWARD SIMULATOR</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11 / 29</a:t>
            </a:r>
          </a:p>
        </p:txBody>
      </p:sp>
      <p:sp>
        <p:nvSpPr>
          <p:cNvPr id="10" name="Rectangle 9"/>
          <p:cNvSpPr/>
          <p:nvPr/>
        </p:nvSpPr>
        <p:spPr>
          <a:xfrm>
            <a:off x="457200" y="132588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Context  x_t ∈ R^34</a:t>
            </a:r>
          </a:p>
        </p:txBody>
      </p:sp>
      <p:sp>
        <p:nvSpPr>
          <p:cNvPr id="11" name="Rectangle 10"/>
          <p:cNvSpPr/>
          <p:nvPr/>
        </p:nvSpPr>
        <p:spPr>
          <a:xfrm>
            <a:off x="457200" y="170992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age, BMI, region &amp; occupation one-hots, clinical flags -- standardised</a:t>
            </a:r>
          </a:p>
        </p:txBody>
      </p:sp>
      <p:sp>
        <p:nvSpPr>
          <p:cNvPr id="12" name="Rectangle 11"/>
          <p:cNvSpPr/>
          <p:nvPr/>
        </p:nvSpPr>
        <p:spPr>
          <a:xfrm>
            <a:off x="457200" y="219456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Action  a_t</a:t>
            </a:r>
          </a:p>
        </p:txBody>
      </p:sp>
      <p:sp>
        <p:nvSpPr>
          <p:cNvPr id="13" name="Rectangle 12"/>
          <p:cNvSpPr/>
          <p:nvPr/>
        </p:nvSpPr>
        <p:spPr>
          <a:xfrm>
            <a:off x="457200" y="257860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one of RATED / STANDARD / DECLINE / REFER</a:t>
            </a:r>
          </a:p>
        </p:txBody>
      </p:sp>
      <p:sp>
        <p:nvSpPr>
          <p:cNvPr id="14" name="Rectangle 13"/>
          <p:cNvSpPr/>
          <p:nvPr/>
        </p:nvSpPr>
        <p:spPr>
          <a:xfrm>
            <a:off x="457200" y="3063240"/>
            <a:ext cx="26517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Reward  r_t</a:t>
            </a:r>
          </a:p>
        </p:txBody>
      </p:sp>
      <p:sp>
        <p:nvSpPr>
          <p:cNvPr id="15" name="Rectangle 14"/>
          <p:cNvSpPr/>
          <p:nvPr/>
        </p:nvSpPr>
        <p:spPr>
          <a:xfrm>
            <a:off x="457200" y="3447288"/>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revenue minus claims, actuarial simulator</a:t>
            </a:r>
          </a:p>
        </p:txBody>
      </p:sp>
      <p:sp>
        <p:nvSpPr>
          <p:cNvPr id="16" name="Rectangle 15"/>
          <p:cNvSpPr/>
          <p:nvPr/>
        </p:nvSpPr>
        <p:spPr>
          <a:xfrm>
            <a:off x="457200" y="4114800"/>
            <a:ext cx="5394960" cy="91440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400" b="1">
                <a:solidFill>
                  <a:srgbClr val="1A1A1A"/>
                </a:solidFill>
                <a:latin typeface="Calibri"/>
              </a:defRPr>
            </a:pPr>
            <a:r>
              <a:t>Objective: maximise cumulative reward Σ r_t over T rounds, subject to demographic PSI guardrails.</a:t>
            </a:r>
          </a:p>
        </p:txBody>
      </p:sp>
      <p:sp>
        <p:nvSpPr>
          <p:cNvPr id="17" name="Rectangle 16"/>
          <p:cNvSpPr/>
          <p:nvPr/>
        </p:nvSpPr>
        <p:spPr>
          <a:xfrm>
            <a:off x="6455664" y="1325880"/>
            <a:ext cx="1444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Action</a:t>
            </a:r>
          </a:p>
        </p:txBody>
      </p:sp>
      <p:sp>
        <p:nvSpPr>
          <p:cNvPr id="18" name="Rectangle 17"/>
          <p:cNvSpPr/>
          <p:nvPr/>
        </p:nvSpPr>
        <p:spPr>
          <a:xfrm>
            <a:off x="8010144" y="1325880"/>
            <a:ext cx="1810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High-risk</a:t>
            </a:r>
          </a:p>
        </p:txBody>
      </p:sp>
      <p:sp>
        <p:nvSpPr>
          <p:cNvPr id="19" name="Rectangle 18"/>
          <p:cNvSpPr/>
          <p:nvPr/>
        </p:nvSpPr>
        <p:spPr>
          <a:xfrm>
            <a:off x="9930384" y="1325880"/>
            <a:ext cx="1719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Low-risk</a:t>
            </a:r>
          </a:p>
        </p:txBody>
      </p:sp>
      <p:sp>
        <p:nvSpPr>
          <p:cNvPr id="20" name="Rectangle 19"/>
          <p:cNvSpPr/>
          <p:nvPr/>
        </p:nvSpPr>
        <p:spPr>
          <a:xfrm>
            <a:off x="6400800" y="1655064"/>
            <a:ext cx="53035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400800" y="1728216"/>
            <a:ext cx="5303520" cy="65836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55664" y="1764792"/>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RATED</a:t>
            </a:r>
          </a:p>
        </p:txBody>
      </p:sp>
      <p:sp>
        <p:nvSpPr>
          <p:cNvPr id="23" name="Rectangle 22"/>
          <p:cNvSpPr/>
          <p:nvPr/>
        </p:nvSpPr>
        <p:spPr>
          <a:xfrm>
            <a:off x="8010144" y="1764792"/>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+premium − claims</a:t>
            </a:r>
          </a:p>
        </p:txBody>
      </p:sp>
      <p:sp>
        <p:nvSpPr>
          <p:cNvPr id="24" name="Rectangle 23"/>
          <p:cNvSpPr/>
          <p:nvPr/>
        </p:nvSpPr>
        <p:spPr>
          <a:xfrm>
            <a:off x="9930384" y="1764792"/>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 adverse-sel. penalty</a:t>
            </a:r>
          </a:p>
        </p:txBody>
      </p:sp>
      <p:sp>
        <p:nvSpPr>
          <p:cNvPr id="25" name="Rectangle 24"/>
          <p:cNvSpPr/>
          <p:nvPr/>
        </p:nvSpPr>
        <p:spPr>
          <a:xfrm>
            <a:off x="6455664" y="2423160"/>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STANDARD</a:t>
            </a:r>
          </a:p>
        </p:txBody>
      </p:sp>
      <p:sp>
        <p:nvSpPr>
          <p:cNvPr id="26" name="Rectangle 25"/>
          <p:cNvSpPr/>
          <p:nvPr/>
        </p:nvSpPr>
        <p:spPr>
          <a:xfrm>
            <a:off x="8010144" y="2423160"/>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+premium − claims</a:t>
            </a:r>
          </a:p>
        </p:txBody>
      </p:sp>
      <p:sp>
        <p:nvSpPr>
          <p:cNvPr id="27" name="Rectangle 26"/>
          <p:cNvSpPr/>
          <p:nvPr/>
        </p:nvSpPr>
        <p:spPr>
          <a:xfrm>
            <a:off x="9930384" y="2423160"/>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+optimal margin</a:t>
            </a:r>
          </a:p>
        </p:txBody>
      </p:sp>
      <p:sp>
        <p:nvSpPr>
          <p:cNvPr id="28" name="Rectangle 27"/>
          <p:cNvSpPr/>
          <p:nvPr/>
        </p:nvSpPr>
        <p:spPr>
          <a:xfrm>
            <a:off x="6400800" y="3044952"/>
            <a:ext cx="5303520" cy="65836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55664" y="3081528"/>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DECLINE</a:t>
            </a:r>
          </a:p>
        </p:txBody>
      </p:sp>
      <p:sp>
        <p:nvSpPr>
          <p:cNvPr id="30" name="Rectangle 29"/>
          <p:cNvSpPr/>
          <p:nvPr/>
        </p:nvSpPr>
        <p:spPr>
          <a:xfrm>
            <a:off x="8010144" y="3081528"/>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0 (avoided loss)</a:t>
            </a:r>
          </a:p>
        </p:txBody>
      </p:sp>
      <p:sp>
        <p:nvSpPr>
          <p:cNvPr id="31" name="Rectangle 30"/>
          <p:cNvSpPr/>
          <p:nvPr/>
        </p:nvSpPr>
        <p:spPr>
          <a:xfrm>
            <a:off x="9930384" y="3081528"/>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 missed revenue</a:t>
            </a:r>
          </a:p>
        </p:txBody>
      </p:sp>
      <p:sp>
        <p:nvSpPr>
          <p:cNvPr id="32" name="Rectangle 31"/>
          <p:cNvSpPr/>
          <p:nvPr/>
        </p:nvSpPr>
        <p:spPr>
          <a:xfrm>
            <a:off x="6455664" y="3739896"/>
            <a:ext cx="144475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REFER</a:t>
            </a:r>
          </a:p>
        </p:txBody>
      </p:sp>
      <p:sp>
        <p:nvSpPr>
          <p:cNvPr id="33" name="Rectangle 32"/>
          <p:cNvSpPr/>
          <p:nvPr/>
        </p:nvSpPr>
        <p:spPr>
          <a:xfrm>
            <a:off x="8010144" y="3739896"/>
            <a:ext cx="181051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+human decision net</a:t>
            </a:r>
          </a:p>
        </p:txBody>
      </p:sp>
      <p:sp>
        <p:nvSpPr>
          <p:cNvPr id="34" name="Rectangle 33"/>
          <p:cNvSpPr/>
          <p:nvPr/>
        </p:nvSpPr>
        <p:spPr>
          <a:xfrm>
            <a:off x="9930384" y="3739896"/>
            <a:ext cx="1719072" cy="58521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+human decision net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ZOOM-IN: BANDIT POLICY</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12 / 29</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2575407"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2468880"/>
            <a:ext cx="11277295"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700" b="0" i="0">
                <a:solidFill>
                  <a:srgbClr val="3A3A3A"/>
                </a:solidFill>
                <a:latin typeface="Calibri"/>
              </a:defRPr>
            </a:pPr>
            <a:r>
              <a:t>We now build the bandit policy one component at a time — context in, value estimates, then selection — each step with a concrete output.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BANDIT BUILD-UP: CONTEXT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13 / 29</a:t>
            </a:r>
          </a:p>
        </p:txBody>
      </p:sp>
      <p:sp>
        <p:nvSpPr>
          <p:cNvPr id="10" name="Rectangle 9"/>
          <p:cNvSpPr/>
          <p:nvPr/>
        </p:nvSpPr>
        <p:spPr>
          <a:xfrm>
            <a:off x="4495647" y="164592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0537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2E9E5B"/>
                </a:solidFill>
                <a:latin typeface="Segoe UI"/>
              </a:defRPr>
            </a:pPr>
            <a:r>
              <a:t>Context vector  x_t ∈ R^34</a:t>
            </a:r>
          </a:p>
        </p:txBody>
      </p:sp>
      <p:sp>
        <p:nvSpPr>
          <p:cNvPr id="12" name="Rectangle 11"/>
          <p:cNvSpPr/>
          <p:nvPr/>
        </p:nvSpPr>
        <p:spPr>
          <a:xfrm>
            <a:off x="460537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[age 0.4, BMI 0.8, smoker 1, ... , PhnomPenh 1, RiceFarmer 0]</a:t>
            </a:r>
          </a:p>
        </p:txBody>
      </p:sp>
      <p:sp>
        <p:nvSpPr>
          <p:cNvPr id="13" name="Rectangle 12"/>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13232" y="3566160"/>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34 standardised dims: demographics, lifestyle, clinical flags, region &amp; occupation one-hots</a:t>
            </a:r>
          </a:p>
        </p:txBody>
      </p:sp>
      <p:sp>
        <p:nvSpPr>
          <p:cNvPr id="15" name="Rectangle 14"/>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13232" y="4133088"/>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This is the bandit's only view of each applicant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BANDIT BUILD-UP: VALUE ESTIMATES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14 / 29</a:t>
            </a:r>
          </a:p>
        </p:txBody>
      </p:sp>
      <p:sp>
        <p:nvSpPr>
          <p:cNvPr id="10" name="Rectangle 9"/>
          <p:cNvSpPr/>
          <p:nvPr/>
        </p:nvSpPr>
        <p:spPr>
          <a:xfrm>
            <a:off x="2689707" y="164592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9943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1B5697"/>
                </a:solidFill>
                <a:latin typeface="Segoe UI"/>
              </a:defRPr>
            </a:pPr>
            <a:r>
              <a:t>Context  x_t</a:t>
            </a:r>
          </a:p>
        </p:txBody>
      </p:sp>
      <p:sp>
        <p:nvSpPr>
          <p:cNvPr id="12" name="Rectangle 11"/>
          <p:cNvSpPr/>
          <p:nvPr/>
        </p:nvSpPr>
        <p:spPr>
          <a:xfrm>
            <a:off x="279943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[0.4, -1.1, 0, 2, 0.8]</a:t>
            </a:r>
          </a:p>
        </p:txBody>
      </p:sp>
      <p:sp>
        <p:nvSpPr>
          <p:cNvPr id="13" name="Right Arrow 12"/>
          <p:cNvSpPr/>
          <p:nvPr/>
        </p:nvSpPr>
        <p:spPr>
          <a:xfrm>
            <a:off x="5890107" y="221284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1587" y="164592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11315" y="173736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2E9E5B"/>
                </a:solidFill>
                <a:latin typeface="Segoe UI"/>
              </a:defRPr>
            </a:pPr>
            <a:r>
              <a:t>Per-arm value</a:t>
            </a:r>
            <a:br/>
            <a:r>
              <a:t>(LinUCB / LinTS)</a:t>
            </a:r>
          </a:p>
        </p:txBody>
      </p:sp>
      <p:sp>
        <p:nvSpPr>
          <p:cNvPr id="16" name="Rectangle 15"/>
          <p:cNvSpPr/>
          <p:nvPr/>
        </p:nvSpPr>
        <p:spPr>
          <a:xfrm>
            <a:off x="6411315" y="230428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RATED 0.31 · STD 0.52 · DEC 0.10 · REF 0.28</a:t>
            </a:r>
          </a:p>
        </p:txBody>
      </p:sp>
      <p:sp>
        <p:nvSpPr>
          <p:cNvPr id="17" name="Rectangle 16"/>
          <p:cNvSpPr/>
          <p:nvPr/>
        </p:nvSpPr>
        <p:spPr>
          <a:xfrm>
            <a:off x="457200" y="3675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13232" y="3566160"/>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LinUCB: θ̂ᵀx + α·√(xᵀA⁻¹x)  — optimism under uncertainty</a:t>
            </a:r>
          </a:p>
        </p:txBody>
      </p:sp>
      <p:sp>
        <p:nvSpPr>
          <p:cNvPr id="19" name="Rectangle 18"/>
          <p:cNvSpPr/>
          <p:nvPr/>
        </p:nvSpPr>
        <p:spPr>
          <a:xfrm>
            <a:off x="457200" y="4242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13232" y="4133088"/>
            <a:ext cx="110212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LinTS: sample θ̃ from the posterior — exploration by randomisation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BANDIT BUILD-UP: SELECTION &amp; ACTION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15 / 29</a:t>
            </a:r>
          </a:p>
        </p:txBody>
      </p:sp>
      <p:sp>
        <p:nvSpPr>
          <p:cNvPr id="10" name="Rectangle 9"/>
          <p:cNvSpPr/>
          <p:nvPr/>
        </p:nvSpPr>
        <p:spPr>
          <a:xfrm>
            <a:off x="883767" y="146304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9349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1B5697"/>
                </a:solidFill>
                <a:latin typeface="Segoe UI"/>
              </a:defRPr>
            </a:pPr>
            <a:r>
              <a:t>Context  x_t</a:t>
            </a:r>
          </a:p>
        </p:txBody>
      </p:sp>
      <p:sp>
        <p:nvSpPr>
          <p:cNvPr id="12" name="Rectangle 11"/>
          <p:cNvSpPr/>
          <p:nvPr/>
        </p:nvSpPr>
        <p:spPr>
          <a:xfrm>
            <a:off x="99349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[0.4, -1.1, 0, 2, 0.8]</a:t>
            </a:r>
          </a:p>
        </p:txBody>
      </p:sp>
      <p:sp>
        <p:nvSpPr>
          <p:cNvPr id="13" name="Right Arrow 12"/>
          <p:cNvSpPr/>
          <p:nvPr/>
        </p:nvSpPr>
        <p:spPr>
          <a:xfrm>
            <a:off x="4084167" y="202996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95647" y="1463040"/>
            <a:ext cx="3200400" cy="1371600"/>
          </a:xfrm>
          <a:prstGeom prst="rect">
            <a:avLst/>
          </a:prstGeom>
          <a:solidFill>
            <a:srgbClr val="F3F6F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60537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1B5697"/>
                </a:solidFill>
                <a:latin typeface="Segoe UI"/>
              </a:defRPr>
            </a:pPr>
            <a:r>
              <a:t>Per-arm value</a:t>
            </a:r>
          </a:p>
        </p:txBody>
      </p:sp>
      <p:sp>
        <p:nvSpPr>
          <p:cNvPr id="16" name="Rectangle 15"/>
          <p:cNvSpPr/>
          <p:nvPr/>
        </p:nvSpPr>
        <p:spPr>
          <a:xfrm>
            <a:off x="460537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RATED 0.31 · STD 0.52 · DEC 0.10 · REF 0.28</a:t>
            </a:r>
          </a:p>
        </p:txBody>
      </p:sp>
      <p:sp>
        <p:nvSpPr>
          <p:cNvPr id="17" name="Right Arrow 16"/>
          <p:cNvSpPr/>
          <p:nvPr/>
        </p:nvSpPr>
        <p:spPr>
          <a:xfrm>
            <a:off x="7696047" y="2029968"/>
            <a:ext cx="411480" cy="237744"/>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7527" y="1463040"/>
            <a:ext cx="3200400" cy="1371600"/>
          </a:xfrm>
          <a:prstGeom prst="rect">
            <a:avLst/>
          </a:prstGeom>
          <a:solidFill>
            <a:srgbClr val="F3F6FB"/>
          </a:solidFill>
          <a:ln w="3175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17255" y="1554480"/>
            <a:ext cx="2980944"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1" i="0">
                <a:solidFill>
                  <a:srgbClr val="2E9E5B"/>
                </a:solidFill>
                <a:latin typeface="Segoe UI"/>
              </a:defRPr>
            </a:pPr>
            <a:r>
              <a:t>argmax → action</a:t>
            </a:r>
            <a:br/>
            <a:r>
              <a:t>+ reward update</a:t>
            </a:r>
          </a:p>
        </p:txBody>
      </p:sp>
      <p:sp>
        <p:nvSpPr>
          <p:cNvPr id="20" name="Rectangle 19"/>
          <p:cNvSpPr/>
          <p:nvPr/>
        </p:nvSpPr>
        <p:spPr>
          <a:xfrm>
            <a:off x="8217255" y="2121408"/>
            <a:ext cx="2980944" cy="6400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200" b="0" i="0">
                <a:solidFill>
                  <a:srgbClr val="3A3A3A"/>
                </a:solidFill>
                <a:latin typeface="Consolas"/>
              </a:defRPr>
            </a:pPr>
            <a:r>
              <a:t>output:</a:t>
            </a:r>
            <a:br/>
            <a:r>
              <a:t>STANDARD; r_t = +premium − claims; A←A+xxᵀ</a:t>
            </a:r>
          </a:p>
        </p:txBody>
      </p:sp>
      <p:sp>
        <p:nvSpPr>
          <p:cNvPr id="21" name="Rectangle 20"/>
          <p:cNvSpPr/>
          <p:nvPr/>
        </p:nvSpPr>
        <p:spPr>
          <a:xfrm>
            <a:off x="457200" y="3419856"/>
            <a:ext cx="146304" cy="310896"/>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338328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LinUCB / LinTS</a:t>
            </a:r>
          </a:p>
        </p:txBody>
      </p:sp>
      <p:sp>
        <p:nvSpPr>
          <p:cNvPr id="23" name="Rectangle 22"/>
          <p:cNvSpPr/>
          <p:nvPr/>
        </p:nvSpPr>
        <p:spPr>
          <a:xfrm>
            <a:off x="3749040" y="3410712"/>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the two proposed admissible policies</a:t>
            </a:r>
          </a:p>
        </p:txBody>
      </p:sp>
      <p:sp>
        <p:nvSpPr>
          <p:cNvPr id="24" name="Rectangle 23"/>
          <p:cNvSpPr/>
          <p:nvPr/>
        </p:nvSpPr>
        <p:spPr>
          <a:xfrm>
            <a:off x="457200" y="3895344"/>
            <a:ext cx="146304" cy="310896"/>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22960" y="3858768"/>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ε-Greedy</a:t>
            </a:r>
          </a:p>
        </p:txBody>
      </p:sp>
      <p:sp>
        <p:nvSpPr>
          <p:cNvPr id="26" name="Rectangle 25"/>
          <p:cNvSpPr/>
          <p:nvPr/>
        </p:nvSpPr>
        <p:spPr>
          <a:xfrm>
            <a:off x="3749040" y="3886200"/>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naive explorer — provably worse O(T^2/3)</a:t>
            </a:r>
          </a:p>
        </p:txBody>
      </p:sp>
      <p:sp>
        <p:nvSpPr>
          <p:cNvPr id="27" name="Rectangle 26"/>
          <p:cNvSpPr/>
          <p:nvPr/>
        </p:nvSpPr>
        <p:spPr>
          <a:xfrm>
            <a:off x="457200" y="4370832"/>
            <a:ext cx="146304" cy="310896"/>
          </a:xfrm>
          <a:prstGeom prst="rect">
            <a:avLst/>
          </a:prstGeom>
          <a:solidFill>
            <a:srgbClr val="8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22960" y="4334256"/>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Static XGB</a:t>
            </a:r>
          </a:p>
        </p:txBody>
      </p:sp>
      <p:sp>
        <p:nvSpPr>
          <p:cNvPr id="29" name="Rectangle 28"/>
          <p:cNvSpPr/>
          <p:nvPr/>
        </p:nvSpPr>
        <p:spPr>
          <a:xfrm>
            <a:off x="3749040" y="4361688"/>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train-once incumbent baseline</a:t>
            </a:r>
          </a:p>
        </p:txBody>
      </p:sp>
      <p:sp>
        <p:nvSpPr>
          <p:cNvPr id="30" name="Rectangle 29"/>
          <p:cNvSpPr/>
          <p:nvPr/>
        </p:nvSpPr>
        <p:spPr>
          <a:xfrm>
            <a:off x="457200" y="4846320"/>
            <a:ext cx="146304" cy="310896"/>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22960" y="4809744"/>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AlwaysRATED</a:t>
            </a:r>
          </a:p>
        </p:txBody>
      </p:sp>
      <p:sp>
        <p:nvSpPr>
          <p:cNvPr id="32" name="Rectangle 31"/>
          <p:cNvSpPr/>
          <p:nvPr/>
        </p:nvSpPr>
        <p:spPr>
          <a:xfrm>
            <a:off x="3749040" y="4837176"/>
            <a:ext cx="7863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constant +25% loading — inadmissible ceiling</a:t>
            </a:r>
          </a:p>
        </p:txBody>
      </p:sp>
      <p:sp>
        <p:nvSpPr>
          <p:cNvPr id="33" name="Rectangle 3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Admissibility (§5.0.1): deployable AND commercially/regulatorily viable. AlwaysRATED is the inadmissible ceiling; LinUCB/LinTS are the top-2 admissible policies.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ZOOM-IN: FAIRNESS GUARDRAIL &amp; HITL</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Methodology &amp; Model Design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16 / 29</a:t>
            </a:r>
          </a:p>
        </p:txBody>
      </p:sp>
      <p:sp>
        <p:nvSpPr>
          <p:cNvPr id="10" name="Rectangle 9"/>
          <p:cNvSpPr/>
          <p:nvPr/>
        </p:nvSpPr>
        <p:spPr>
          <a:xfrm>
            <a:off x="874623" y="1188720"/>
            <a:ext cx="1572768" cy="868680"/>
          </a:xfrm>
          <a:prstGeom prst="rect">
            <a:avLst/>
          </a:prstGeom>
          <a:solidFill>
            <a:srgbClr val="2E9E5B"/>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2034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Applicant Context</a:t>
            </a:r>
          </a:p>
        </p:txBody>
      </p:sp>
      <p:sp>
        <p:nvSpPr>
          <p:cNvPr id="12" name="Right Arrow 11"/>
          <p:cNvSpPr/>
          <p:nvPr/>
        </p:nvSpPr>
        <p:spPr>
          <a:xfrm>
            <a:off x="2447391"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48559"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694279"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Bandit Policy</a:t>
            </a:r>
          </a:p>
        </p:txBody>
      </p:sp>
      <p:sp>
        <p:nvSpPr>
          <p:cNvPr id="15" name="Right Arrow 14"/>
          <p:cNvSpPr/>
          <p:nvPr/>
        </p:nvSpPr>
        <p:spPr>
          <a:xfrm>
            <a:off x="4221327"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422495"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68215"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Underwriting Action</a:t>
            </a:r>
          </a:p>
        </p:txBody>
      </p:sp>
      <p:sp>
        <p:nvSpPr>
          <p:cNvPr id="18" name="Right Arrow 17"/>
          <p:cNvSpPr/>
          <p:nvPr/>
        </p:nvSpPr>
        <p:spPr>
          <a:xfrm>
            <a:off x="5995263"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96431"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42151"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Actuarial Reward</a:t>
            </a:r>
          </a:p>
        </p:txBody>
      </p:sp>
      <p:sp>
        <p:nvSpPr>
          <p:cNvPr id="21" name="Right Arrow 20"/>
          <p:cNvSpPr/>
          <p:nvPr/>
        </p:nvSpPr>
        <p:spPr>
          <a:xfrm>
            <a:off x="7769199"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970367" y="1188720"/>
            <a:ext cx="1572768" cy="868680"/>
          </a:xfrm>
          <a:prstGeom prst="rect">
            <a:avLst/>
          </a:prstGeom>
          <a:solidFill>
            <a:srgbClr val="DCE8F6"/>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16087"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1A1A1A"/>
                </a:solidFill>
                <a:latin typeface="Calibri"/>
              </a:defRPr>
            </a:pPr>
            <a:r>
              <a:t>PSI Fairness + HITL</a:t>
            </a:r>
          </a:p>
        </p:txBody>
      </p:sp>
      <p:sp>
        <p:nvSpPr>
          <p:cNvPr id="24" name="Right Arrow 23"/>
          <p:cNvSpPr/>
          <p:nvPr/>
        </p:nvSpPr>
        <p:spPr>
          <a:xfrm>
            <a:off x="9543135" y="1513332"/>
            <a:ext cx="201168" cy="219456"/>
          </a:xfrm>
          <a:prstGeom prst="rightArrow">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744303" y="1188720"/>
            <a:ext cx="1572768" cy="868680"/>
          </a:xfrm>
          <a:prstGeom prst="rect">
            <a:avLst/>
          </a:prstGeom>
          <a:solidFill>
            <a:srgbClr val="E68A2E"/>
          </a:solidFill>
          <a:ln w="12700">
            <a:solidFill>
              <a:srgbClr val="1B569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790023" y="1188720"/>
            <a:ext cx="1481328" cy="8686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1" i="0">
                <a:solidFill>
                  <a:srgbClr val="FFFFFF"/>
                </a:solidFill>
                <a:latin typeface="Calibri"/>
              </a:defRPr>
            </a:pPr>
            <a:r>
              <a:t>Decision</a:t>
            </a:r>
          </a:p>
        </p:txBody>
      </p:sp>
      <p:sp>
        <p:nvSpPr>
          <p:cNvPr id="27" name="Rectangle 26"/>
          <p:cNvSpPr/>
          <p:nvPr/>
        </p:nvSpPr>
        <p:spPr>
          <a:xfrm>
            <a:off x="7897215" y="1115568"/>
            <a:ext cx="1719072" cy="1014984"/>
          </a:xfrm>
          <a:prstGeom prst="rect">
            <a:avLst/>
          </a:prstGeom>
          <a:noFill/>
          <a:ln w="38100">
            <a:solidFill>
              <a:srgbClr val="2E9E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2331720"/>
            <a:ext cx="539496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120"/>
              <a:t>PSI DEMOGRAPHIC GUARDRAIL</a:t>
            </a:r>
          </a:p>
        </p:txBody>
      </p:sp>
      <p:sp>
        <p:nvSpPr>
          <p:cNvPr id="29" name="Rectangle 28"/>
          <p:cNvSpPr/>
          <p:nvPr/>
        </p:nvSpPr>
        <p:spPr>
          <a:xfrm>
            <a:off x="457200" y="2788920"/>
            <a:ext cx="146304" cy="45720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2788920"/>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alibri"/>
              </a:defRPr>
            </a:pPr>
            <a:r>
              <a:t>GREEN</a:t>
            </a:r>
          </a:p>
        </p:txBody>
      </p:sp>
      <p:sp>
        <p:nvSpPr>
          <p:cNvPr id="31" name="Rectangle 30"/>
          <p:cNvSpPr/>
          <p:nvPr/>
        </p:nvSpPr>
        <p:spPr>
          <a:xfrm>
            <a:off x="2286000" y="2825496"/>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PSI &lt; 0.10</a:t>
            </a:r>
          </a:p>
        </p:txBody>
      </p:sp>
      <p:sp>
        <p:nvSpPr>
          <p:cNvPr id="32" name="Rectangle 31"/>
          <p:cNvSpPr/>
          <p:nvPr/>
        </p:nvSpPr>
        <p:spPr>
          <a:xfrm>
            <a:off x="4297680" y="2825496"/>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stable</a:t>
            </a:r>
          </a:p>
        </p:txBody>
      </p:sp>
      <p:sp>
        <p:nvSpPr>
          <p:cNvPr id="33" name="Rectangle 32"/>
          <p:cNvSpPr/>
          <p:nvPr/>
        </p:nvSpPr>
        <p:spPr>
          <a:xfrm>
            <a:off x="457200" y="3355848"/>
            <a:ext cx="146304" cy="457200"/>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22960" y="3355848"/>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alibri"/>
              </a:defRPr>
            </a:pPr>
            <a:r>
              <a:t>AMBER</a:t>
            </a:r>
          </a:p>
        </p:txBody>
      </p:sp>
      <p:sp>
        <p:nvSpPr>
          <p:cNvPr id="35" name="Rectangle 34"/>
          <p:cNvSpPr/>
          <p:nvPr/>
        </p:nvSpPr>
        <p:spPr>
          <a:xfrm>
            <a:off x="2286000" y="3392424"/>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0.10-0.25</a:t>
            </a:r>
          </a:p>
        </p:txBody>
      </p:sp>
      <p:sp>
        <p:nvSpPr>
          <p:cNvPr id="36" name="Rectangle 35"/>
          <p:cNvSpPr/>
          <p:nvPr/>
        </p:nvSpPr>
        <p:spPr>
          <a:xfrm>
            <a:off x="4297680" y="3392424"/>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monitor</a:t>
            </a:r>
          </a:p>
        </p:txBody>
      </p:sp>
      <p:sp>
        <p:nvSpPr>
          <p:cNvPr id="37" name="Rectangle 36"/>
          <p:cNvSpPr/>
          <p:nvPr/>
        </p:nvSpPr>
        <p:spPr>
          <a:xfrm>
            <a:off x="457200" y="3922776"/>
            <a:ext cx="146304" cy="457200"/>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22960" y="3922776"/>
            <a:ext cx="13716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alibri"/>
              </a:defRPr>
            </a:pPr>
            <a:r>
              <a:t>RED</a:t>
            </a:r>
          </a:p>
        </p:txBody>
      </p:sp>
      <p:sp>
        <p:nvSpPr>
          <p:cNvPr id="39" name="Rectangle 38"/>
          <p:cNvSpPr/>
          <p:nvPr/>
        </p:nvSpPr>
        <p:spPr>
          <a:xfrm>
            <a:off x="2286000" y="3959352"/>
            <a:ext cx="19202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PSI ≥ 0.25</a:t>
            </a:r>
          </a:p>
        </p:txBody>
      </p:sp>
      <p:sp>
        <p:nvSpPr>
          <p:cNvPr id="40" name="Rectangle 39"/>
          <p:cNvSpPr/>
          <p:nvPr/>
        </p:nvSpPr>
        <p:spPr>
          <a:xfrm>
            <a:off x="4297680" y="3959352"/>
            <a:ext cx="155448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3A3A3A"/>
                </a:solidFill>
                <a:latin typeface="Calibri"/>
              </a:defRPr>
            </a:pPr>
            <a:r>
              <a:t>review</a:t>
            </a:r>
          </a:p>
        </p:txBody>
      </p:sp>
      <p:sp>
        <p:nvSpPr>
          <p:cNvPr id="41" name="Rectangle 40"/>
          <p:cNvSpPr/>
          <p:nvPr/>
        </p:nvSpPr>
        <p:spPr>
          <a:xfrm>
            <a:off x="457200" y="4535424"/>
            <a:ext cx="5394960" cy="5486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Computed on region &amp; occupation, rolling 500-round window.</a:t>
            </a:r>
          </a:p>
        </p:txBody>
      </p:sp>
      <p:sp>
        <p:nvSpPr>
          <p:cNvPr id="42" name="Rectangle 41"/>
          <p:cNvSpPr/>
          <p:nvPr/>
        </p:nvSpPr>
        <p:spPr>
          <a:xfrm>
            <a:off x="6492240" y="2331720"/>
            <a:ext cx="5212080" cy="29260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1" i="0">
                <a:solidFill>
                  <a:srgbClr val="1B5697"/>
                </a:solidFill>
                <a:latin typeface="Calibri"/>
              </a:defRPr>
            </a:pPr>
            <a:r>
              <a:rPr spc="120"/>
              <a:t>HUMAN-IN-THE-LOOP WRAPPER</a:t>
            </a:r>
          </a:p>
        </p:txBody>
      </p:sp>
      <p:sp>
        <p:nvSpPr>
          <p:cNvPr id="43" name="Rectangle 42"/>
          <p:cNvSpPr/>
          <p:nvPr/>
        </p:nvSpPr>
        <p:spPr>
          <a:xfrm>
            <a:off x="6492240" y="289864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748272" y="2788920"/>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Uncertainty &gt; κ  →  REFER to actuary</a:t>
            </a:r>
          </a:p>
        </p:txBody>
      </p:sp>
      <p:sp>
        <p:nvSpPr>
          <p:cNvPr id="45" name="Rectangle 44"/>
          <p:cNvSpPr/>
          <p:nvPr/>
        </p:nvSpPr>
        <p:spPr>
          <a:xfrm>
            <a:off x="6492240" y="346557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748272" y="3355848"/>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Conservatism κ ∈ {0.3, 0.5, 0.7}</a:t>
            </a:r>
          </a:p>
        </p:txBody>
      </p:sp>
      <p:sp>
        <p:nvSpPr>
          <p:cNvPr id="47" name="Rectangle 46"/>
          <p:cNvSpPr/>
          <p:nvPr/>
        </p:nvSpPr>
        <p:spPr>
          <a:xfrm>
            <a:off x="6492240" y="403250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748272" y="3922776"/>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Human decides; reward still trains bandit</a:t>
            </a:r>
          </a:p>
        </p:txBody>
      </p:sp>
      <p:sp>
        <p:nvSpPr>
          <p:cNvPr id="49" name="Rectangle 48"/>
          <p:cNvSpPr/>
          <p:nvPr/>
        </p:nvSpPr>
        <p:spPr>
          <a:xfrm>
            <a:off x="6492240" y="459943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48272" y="4489704"/>
            <a:ext cx="495604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0" i="0">
                <a:solidFill>
                  <a:srgbClr val="1A1A1A"/>
                </a:solidFill>
                <a:latin typeface="Calibri"/>
              </a:defRPr>
            </a:pPr>
            <a:r>
              <a:t>Target: review cost &lt; 2% of reward</a:t>
            </a:r>
          </a:p>
        </p:txBody>
      </p:sp>
      <p:sp>
        <p:nvSpPr>
          <p:cNvPr id="51" name="Rectangle 50"/>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PSI is a monitor, not an enforcer -- constrained-action enforcement is future 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IV.</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Results &amp; Evaluation</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19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HEADLINE BENCHMARK</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17 / 29</a:t>
            </a:r>
          </a:p>
        </p:txBody>
      </p:sp>
      <p:pic>
        <p:nvPicPr>
          <p:cNvPr id="10" name="Picture 9" descr="slide_loglog_regret.png"/>
          <p:cNvPicPr>
            <a:picLocks noChangeAspect="1"/>
          </p:cNvPicPr>
          <p:nvPr/>
        </p:nvPicPr>
        <p:blipFill>
          <a:blip r:embed="rId2"/>
          <a:stretch>
            <a:fillRect/>
          </a:stretch>
        </p:blipFill>
        <p:spPr>
          <a:xfrm>
            <a:off x="470762" y="1280160"/>
            <a:ext cx="6007915" cy="4654296"/>
          </a:xfrm>
          <a:prstGeom prst="rect">
            <a:avLst/>
          </a:prstGeom>
          <a:effectLst/>
        </p:spPr>
      </p:pic>
      <p:sp>
        <p:nvSpPr>
          <p:cNvPr id="11" name="Rectangle 10"/>
          <p:cNvSpPr/>
          <p:nvPr/>
        </p:nvSpPr>
        <p:spPr>
          <a:xfrm>
            <a:off x="6912864" y="150876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t>
            </a:r>
          </a:p>
        </p:txBody>
      </p:sp>
      <p:sp>
        <p:nvSpPr>
          <p:cNvPr id="12" name="Rectangle 11"/>
          <p:cNvSpPr/>
          <p:nvPr/>
        </p:nvSpPr>
        <p:spPr>
          <a:xfrm>
            <a:off x="7644384" y="1508760"/>
            <a:ext cx="20848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Algorithm</a:t>
            </a:r>
          </a:p>
        </p:txBody>
      </p:sp>
      <p:sp>
        <p:nvSpPr>
          <p:cNvPr id="13" name="Rectangle 12"/>
          <p:cNvSpPr/>
          <p:nvPr/>
        </p:nvSpPr>
        <p:spPr>
          <a:xfrm>
            <a:off x="9838944" y="1508760"/>
            <a:ext cx="18105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Reward</a:t>
            </a:r>
          </a:p>
        </p:txBody>
      </p:sp>
      <p:sp>
        <p:nvSpPr>
          <p:cNvPr id="14" name="Rectangle 13"/>
          <p:cNvSpPr/>
          <p:nvPr/>
        </p:nvSpPr>
        <p:spPr>
          <a:xfrm>
            <a:off x="6858000" y="1837944"/>
            <a:ext cx="48463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858000" y="1911096"/>
            <a:ext cx="48463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12864" y="1947672"/>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1</a:t>
            </a:r>
          </a:p>
        </p:txBody>
      </p:sp>
      <p:sp>
        <p:nvSpPr>
          <p:cNvPr id="17" name="Rectangle 16"/>
          <p:cNvSpPr/>
          <p:nvPr/>
        </p:nvSpPr>
        <p:spPr>
          <a:xfrm>
            <a:off x="7644384" y="1947672"/>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LinTS</a:t>
            </a:r>
          </a:p>
        </p:txBody>
      </p:sp>
      <p:sp>
        <p:nvSpPr>
          <p:cNvPr id="18" name="Rectangle 17"/>
          <p:cNvSpPr/>
          <p:nvPr/>
        </p:nvSpPr>
        <p:spPr>
          <a:xfrm>
            <a:off x="9838944" y="1947672"/>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$93,572</a:t>
            </a:r>
          </a:p>
        </p:txBody>
      </p:sp>
      <p:sp>
        <p:nvSpPr>
          <p:cNvPr id="19" name="Rectangle 18"/>
          <p:cNvSpPr/>
          <p:nvPr/>
        </p:nvSpPr>
        <p:spPr>
          <a:xfrm>
            <a:off x="6912864" y="2514600"/>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2</a:t>
            </a:r>
          </a:p>
        </p:txBody>
      </p:sp>
      <p:sp>
        <p:nvSpPr>
          <p:cNvPr id="20" name="Rectangle 19"/>
          <p:cNvSpPr/>
          <p:nvPr/>
        </p:nvSpPr>
        <p:spPr>
          <a:xfrm>
            <a:off x="7644384" y="2514600"/>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LinUCB</a:t>
            </a:r>
          </a:p>
        </p:txBody>
      </p:sp>
      <p:sp>
        <p:nvSpPr>
          <p:cNvPr id="21" name="Rectangle 20"/>
          <p:cNvSpPr/>
          <p:nvPr/>
        </p:nvSpPr>
        <p:spPr>
          <a:xfrm>
            <a:off x="9838944" y="2514600"/>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$91,947</a:t>
            </a:r>
          </a:p>
        </p:txBody>
      </p:sp>
      <p:sp>
        <p:nvSpPr>
          <p:cNvPr id="22" name="Rectangle 21"/>
          <p:cNvSpPr/>
          <p:nvPr/>
        </p:nvSpPr>
        <p:spPr>
          <a:xfrm>
            <a:off x="6858000" y="3044952"/>
            <a:ext cx="48463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12864" y="3081528"/>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3</a:t>
            </a:r>
          </a:p>
        </p:txBody>
      </p:sp>
      <p:sp>
        <p:nvSpPr>
          <p:cNvPr id="24" name="Rectangle 23"/>
          <p:cNvSpPr/>
          <p:nvPr/>
        </p:nvSpPr>
        <p:spPr>
          <a:xfrm>
            <a:off x="7644384" y="3081528"/>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EpsilonGreedy</a:t>
            </a:r>
          </a:p>
        </p:txBody>
      </p:sp>
      <p:sp>
        <p:nvSpPr>
          <p:cNvPr id="25" name="Rectangle 24"/>
          <p:cNvSpPr/>
          <p:nvPr/>
        </p:nvSpPr>
        <p:spPr>
          <a:xfrm>
            <a:off x="9838944" y="3081528"/>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$76,441</a:t>
            </a:r>
          </a:p>
        </p:txBody>
      </p:sp>
      <p:sp>
        <p:nvSpPr>
          <p:cNvPr id="26" name="Rectangle 25"/>
          <p:cNvSpPr/>
          <p:nvPr/>
        </p:nvSpPr>
        <p:spPr>
          <a:xfrm>
            <a:off x="6912864" y="3648456"/>
            <a:ext cx="62179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4</a:t>
            </a:r>
          </a:p>
        </p:txBody>
      </p:sp>
      <p:sp>
        <p:nvSpPr>
          <p:cNvPr id="27" name="Rectangle 26"/>
          <p:cNvSpPr/>
          <p:nvPr/>
        </p:nvSpPr>
        <p:spPr>
          <a:xfrm>
            <a:off x="7644384" y="3648456"/>
            <a:ext cx="208483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StaticXGB</a:t>
            </a:r>
          </a:p>
        </p:txBody>
      </p:sp>
      <p:sp>
        <p:nvSpPr>
          <p:cNvPr id="28" name="Rectangle 27"/>
          <p:cNvSpPr/>
          <p:nvPr/>
        </p:nvSpPr>
        <p:spPr>
          <a:xfrm>
            <a:off x="9838944" y="3648456"/>
            <a:ext cx="18105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$72,173</a:t>
            </a:r>
          </a:p>
        </p:txBody>
      </p:sp>
      <p:sp>
        <p:nvSpPr>
          <p:cNvPr id="29" name="Rectangle 28"/>
          <p:cNvSpPr/>
          <p:nvPr/>
        </p:nvSpPr>
        <p:spPr>
          <a:xfrm>
            <a:off x="6858000" y="4389120"/>
            <a:ext cx="484632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Log-log regret slope 0.572 (R² = 0.992) -- sub-linear, consistent with O(√T·d).</a:t>
            </a:r>
          </a:p>
        </p:txBody>
      </p:sp>
      <p:sp>
        <p:nvSpPr>
          <p:cNvPr id="30" name="Rectangle 29"/>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Scope: admissible policies only (§5.0.1). LinTS vs LinUCB p = 0.87 (n.s. — tied at 20 seeds); same CRN harness.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CONVERGENCE &amp; REGRET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18 / 29</a:t>
            </a:r>
          </a:p>
        </p:txBody>
      </p:sp>
      <p:sp>
        <p:nvSpPr>
          <p:cNvPr id="10" name="Rectangle 9"/>
          <p:cNvSpPr/>
          <p:nvPr/>
        </p:nvSpPr>
        <p:spPr>
          <a:xfrm>
            <a:off x="457200"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B5697"/>
                </a:solidFill>
                <a:latin typeface="Calibri"/>
              </a:defRPr>
            </a:pPr>
            <a:r>
              <a:t>+25.2%</a:t>
            </a:r>
          </a:p>
        </p:txBody>
      </p:sp>
      <p:sp>
        <p:nvSpPr>
          <p:cNvPr id="11" name="Rectangle 10"/>
          <p:cNvSpPr/>
          <p:nvPr/>
        </p:nvSpPr>
        <p:spPr>
          <a:xfrm>
            <a:off x="457200"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REWARD LIFT VS STATIC XGB</a:t>
            </a:r>
          </a:p>
        </p:txBody>
      </p:sp>
      <p:sp>
        <p:nvSpPr>
          <p:cNvPr id="12" name="Rectangle 11"/>
          <p:cNvSpPr/>
          <p:nvPr/>
        </p:nvSpPr>
        <p:spPr>
          <a:xfrm>
            <a:off x="3276523"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d = 2.98</a:t>
            </a:r>
          </a:p>
        </p:txBody>
      </p:sp>
      <p:sp>
        <p:nvSpPr>
          <p:cNvPr id="13" name="Rectangle 12"/>
          <p:cNvSpPr/>
          <p:nvPr/>
        </p:nvSpPr>
        <p:spPr>
          <a:xfrm>
            <a:off x="3276523"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EFFECT SIZE</a:t>
            </a:r>
          </a:p>
        </p:txBody>
      </p:sp>
      <p:sp>
        <p:nvSpPr>
          <p:cNvPr id="14" name="Rectangle 13"/>
          <p:cNvSpPr/>
          <p:nvPr/>
        </p:nvSpPr>
        <p:spPr>
          <a:xfrm>
            <a:off x="3166795"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5846"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p &lt; 0.001</a:t>
            </a:r>
          </a:p>
        </p:txBody>
      </p:sp>
      <p:sp>
        <p:nvSpPr>
          <p:cNvPr id="16" name="Rectangle 15"/>
          <p:cNvSpPr/>
          <p:nvPr/>
        </p:nvSpPr>
        <p:spPr>
          <a:xfrm>
            <a:off x="6095846"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PAIRED WILCOXON · 20 SEEDS</a:t>
            </a:r>
          </a:p>
        </p:txBody>
      </p:sp>
      <p:sp>
        <p:nvSpPr>
          <p:cNvPr id="17" name="Rectangle 16"/>
          <p:cNvSpPr/>
          <p:nvPr/>
        </p:nvSpPr>
        <p:spPr>
          <a:xfrm>
            <a:off x="5986118"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15169"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$90,540</a:t>
            </a:r>
          </a:p>
        </p:txBody>
      </p:sp>
      <p:sp>
        <p:nvSpPr>
          <p:cNvPr id="19" name="Rectangle 18"/>
          <p:cNvSpPr/>
          <p:nvPr/>
        </p:nvSpPr>
        <p:spPr>
          <a:xfrm>
            <a:off x="8915169"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LINUCB CUMULATIVE REWARD</a:t>
            </a:r>
          </a:p>
        </p:txBody>
      </p:sp>
      <p:sp>
        <p:nvSpPr>
          <p:cNvPr id="20" name="Rectangle 19"/>
          <p:cNvSpPr/>
          <p:nvPr/>
        </p:nvSpPr>
        <p:spPr>
          <a:xfrm>
            <a:off x="8805441"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lide_reward_curves.png"/>
          <p:cNvPicPr>
            <a:picLocks noChangeAspect="1"/>
          </p:cNvPicPr>
          <p:nvPr/>
        </p:nvPicPr>
        <p:blipFill>
          <a:blip r:embed="rId2"/>
          <a:stretch>
            <a:fillRect/>
          </a:stretch>
        </p:blipFill>
        <p:spPr>
          <a:xfrm>
            <a:off x="1933712" y="2331720"/>
            <a:ext cx="8324270" cy="3557016"/>
          </a:xfrm>
          <a:prstGeom prst="rect">
            <a:avLst/>
          </a:prstGeom>
          <a:effectLst/>
        </p:spPr>
      </p:pic>
      <p:sp>
        <p:nvSpPr>
          <p:cNvPr id="22" name="Rectangle 21"/>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Scope: admissible policies only (§5.0.1). Static XGB $72,292 · Oracle $126,804 (72% recovered).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COLD-START &amp; HUMAN-IN-THE-LOOP</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19 / 29</a:t>
            </a:r>
          </a:p>
        </p:txBody>
      </p:sp>
      <p:sp>
        <p:nvSpPr>
          <p:cNvPr id="10" name="Rectangle 9"/>
          <p:cNvSpPr/>
          <p:nvPr/>
        </p:nvSpPr>
        <p:spPr>
          <a:xfrm>
            <a:off x="457200"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2E8B57"/>
                </a:solidFill>
                <a:latin typeface="Calibri"/>
              </a:defRPr>
            </a:pPr>
            <a:r>
              <a:t>p = 0.0039</a:t>
            </a:r>
          </a:p>
        </p:txBody>
      </p:sp>
      <p:sp>
        <p:nvSpPr>
          <p:cNvPr id="11" name="Rectangle 10"/>
          <p:cNvSpPr/>
          <p:nvPr/>
        </p:nvSpPr>
        <p:spPr>
          <a:xfrm>
            <a:off x="457200"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LINTS PASSED @ T=2,000</a:t>
            </a:r>
          </a:p>
        </p:txBody>
      </p:sp>
      <p:sp>
        <p:nvSpPr>
          <p:cNvPr id="12" name="Rectangle 11"/>
          <p:cNvSpPr/>
          <p:nvPr/>
        </p:nvSpPr>
        <p:spPr>
          <a:xfrm>
            <a:off x="3276523"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E6A62E"/>
                </a:solidFill>
                <a:latin typeface="Calibri"/>
              </a:defRPr>
            </a:pPr>
            <a:r>
              <a:t>p = 0.0840</a:t>
            </a:r>
          </a:p>
        </p:txBody>
      </p:sp>
      <p:sp>
        <p:nvSpPr>
          <p:cNvPr id="13" name="Rectangle 12"/>
          <p:cNvSpPr/>
          <p:nvPr/>
        </p:nvSpPr>
        <p:spPr>
          <a:xfrm>
            <a:off x="3276523"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LINUCB DRAWS LEVEL @ T=2,000</a:t>
            </a:r>
          </a:p>
        </p:txBody>
      </p:sp>
      <p:sp>
        <p:nvSpPr>
          <p:cNvPr id="14" name="Rectangle 13"/>
          <p:cNvSpPr/>
          <p:nvPr/>
        </p:nvSpPr>
        <p:spPr>
          <a:xfrm>
            <a:off x="3166795"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5846"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2E8B57"/>
                </a:solidFill>
                <a:latin typeface="Calibri"/>
              </a:defRPr>
            </a:pPr>
            <a:r>
              <a:t>+14.8%</a:t>
            </a:r>
          </a:p>
        </p:txBody>
      </p:sp>
      <p:sp>
        <p:nvSpPr>
          <p:cNvPr id="16" name="Rectangle 15"/>
          <p:cNvSpPr/>
          <p:nvPr/>
        </p:nvSpPr>
        <p:spPr>
          <a:xfrm>
            <a:off x="6095846"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HITL LIFT VS VANILLA BANDIT</a:t>
            </a:r>
          </a:p>
        </p:txBody>
      </p:sp>
      <p:sp>
        <p:nvSpPr>
          <p:cNvPr id="17" name="Rectangle 16"/>
          <p:cNvSpPr/>
          <p:nvPr/>
        </p:nvSpPr>
        <p:spPr>
          <a:xfrm>
            <a:off x="5986118"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15169" y="1234440"/>
            <a:ext cx="2682163"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000" b="1" i="0">
                <a:solidFill>
                  <a:srgbClr val="1A1A1A"/>
                </a:solidFill>
                <a:latin typeface="Calibri"/>
              </a:defRPr>
            </a:pPr>
            <a:r>
              <a:t>1.3%</a:t>
            </a:r>
          </a:p>
        </p:txBody>
      </p:sp>
      <p:sp>
        <p:nvSpPr>
          <p:cNvPr id="19" name="Rectangle 18"/>
          <p:cNvSpPr/>
          <p:nvPr/>
        </p:nvSpPr>
        <p:spPr>
          <a:xfrm>
            <a:off x="8915169" y="1801368"/>
            <a:ext cx="2682163"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00" b="0" i="0">
                <a:solidFill>
                  <a:srgbClr val="777777"/>
                </a:solidFill>
                <a:latin typeface="Calibri"/>
              </a:defRPr>
            </a:pPr>
            <a:r>
              <a:rPr spc="80"/>
              <a:t>REFERRAL RATE</a:t>
            </a:r>
          </a:p>
        </p:txBody>
      </p:sp>
      <p:sp>
        <p:nvSpPr>
          <p:cNvPr id="20" name="Rectangle 19"/>
          <p:cNvSpPr/>
          <p:nvPr/>
        </p:nvSpPr>
        <p:spPr>
          <a:xfrm>
            <a:off x="8805441" y="1280160"/>
            <a:ext cx="10972" cy="822960"/>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lide_cold_start.png"/>
          <p:cNvPicPr>
            <a:picLocks noChangeAspect="1"/>
          </p:cNvPicPr>
          <p:nvPr/>
        </p:nvPicPr>
        <p:blipFill>
          <a:blip r:embed="rId2"/>
          <a:stretch>
            <a:fillRect/>
          </a:stretch>
        </p:blipFill>
        <p:spPr>
          <a:xfrm>
            <a:off x="549250" y="2331720"/>
            <a:ext cx="5668059" cy="3557016"/>
          </a:xfrm>
          <a:prstGeom prst="rect">
            <a:avLst/>
          </a:prstGeom>
          <a:effectLst/>
        </p:spPr>
      </p:pic>
      <p:pic>
        <p:nvPicPr>
          <p:cNvPr id="22" name="Picture 21" descr="slide_hitl.png"/>
          <p:cNvPicPr>
            <a:picLocks noChangeAspect="1"/>
          </p:cNvPicPr>
          <p:nvPr/>
        </p:nvPicPr>
        <p:blipFill>
          <a:blip r:embed="rId3"/>
          <a:stretch>
            <a:fillRect/>
          </a:stretch>
        </p:blipFill>
        <p:spPr>
          <a:xfrm>
            <a:off x="6400800" y="2398993"/>
            <a:ext cx="5303520" cy="3422469"/>
          </a:xfrm>
          <a:prstGeom prst="rect">
            <a:avLst/>
          </a:prstGeom>
          <a:effectLst/>
        </p:spPr>
      </p:pic>
      <p:sp>
        <p:nvSpPr>
          <p:cNvPr id="23" name="Rectangle 2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Only LinTS is certified at T = 2,000 (p = 0.0039); LinUCB's lead is not significant (p = 0.0840, d = 0.55) and is reported as 'draws level'. HITL +14.8% is vs the vanilla bandit, not the AlwaysRATED ceiling (§5.4.2).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FAIRNESS AUDIT &amp; DRIFT</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20 / 29</a:t>
            </a:r>
          </a:p>
        </p:txBody>
      </p:sp>
      <p:sp>
        <p:nvSpPr>
          <p:cNvPr id="10" name="Rectangle 9"/>
          <p:cNvSpPr/>
          <p:nvPr/>
        </p:nvSpPr>
        <p:spPr>
          <a:xfrm>
            <a:off x="457200" y="1207008"/>
            <a:ext cx="5852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800" b="1" i="0">
                <a:solidFill>
                  <a:srgbClr val="1A1A1A"/>
                </a:solidFill>
                <a:latin typeface="Calibri"/>
              </a:defRPr>
            </a:pPr>
            <a:r>
              <a:t>5 of 6 fairness criteria PASSED</a:t>
            </a:r>
          </a:p>
        </p:txBody>
      </p:sp>
      <p:sp>
        <p:nvSpPr>
          <p:cNvPr id="11" name="Rectangle 10"/>
          <p:cNvSpPr/>
          <p:nvPr/>
        </p:nvSpPr>
        <p:spPr>
          <a:xfrm>
            <a:off x="457200" y="1737360"/>
            <a:ext cx="28346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B5697"/>
                </a:solidFill>
                <a:latin typeface="Calibri"/>
              </a:defRPr>
            </a:pPr>
            <a:r>
              <a:t>Region</a:t>
            </a:r>
          </a:p>
        </p:txBody>
      </p:sp>
      <p:sp>
        <p:nvSpPr>
          <p:cNvPr id="12" name="Rectangle 11"/>
          <p:cNvSpPr/>
          <p:nvPr/>
        </p:nvSpPr>
        <p:spPr>
          <a:xfrm>
            <a:off x="512064" y="214884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Check</a:t>
            </a:r>
          </a:p>
        </p:txBody>
      </p:sp>
      <p:sp>
        <p:nvSpPr>
          <p:cNvPr id="13" name="Rectangle 12"/>
          <p:cNvSpPr/>
          <p:nvPr/>
        </p:nvSpPr>
        <p:spPr>
          <a:xfrm>
            <a:off x="1883664" y="2148840"/>
            <a:ext cx="13533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Result</a:t>
            </a:r>
          </a:p>
        </p:txBody>
      </p:sp>
      <p:sp>
        <p:nvSpPr>
          <p:cNvPr id="14" name="Rectangle 13"/>
          <p:cNvSpPr/>
          <p:nvPr/>
        </p:nvSpPr>
        <p:spPr>
          <a:xfrm>
            <a:off x="457200" y="2478024"/>
            <a:ext cx="28346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255117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 y="25877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PSI zone</a:t>
            </a:r>
          </a:p>
        </p:txBody>
      </p:sp>
      <p:sp>
        <p:nvSpPr>
          <p:cNvPr id="17" name="Rectangle 16"/>
          <p:cNvSpPr/>
          <p:nvPr/>
        </p:nvSpPr>
        <p:spPr>
          <a:xfrm>
            <a:off x="1883664" y="258775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GREEN (0.0821)</a:t>
            </a:r>
          </a:p>
        </p:txBody>
      </p:sp>
      <p:sp>
        <p:nvSpPr>
          <p:cNvPr id="18" name="Rectangle 17"/>
          <p:cNvSpPr/>
          <p:nvPr/>
        </p:nvSpPr>
        <p:spPr>
          <a:xfrm>
            <a:off x="512064" y="31363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EEOC parity</a:t>
            </a:r>
          </a:p>
        </p:txBody>
      </p:sp>
      <p:sp>
        <p:nvSpPr>
          <p:cNvPr id="19" name="Rectangle 18"/>
          <p:cNvSpPr/>
          <p:nvPr/>
        </p:nvSpPr>
        <p:spPr>
          <a:xfrm>
            <a:off x="1883664" y="313639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85.72%</a:t>
            </a:r>
          </a:p>
        </p:txBody>
      </p:sp>
      <p:sp>
        <p:nvSpPr>
          <p:cNvPr id="20" name="Rectangle 19"/>
          <p:cNvSpPr/>
          <p:nvPr/>
        </p:nvSpPr>
        <p:spPr>
          <a:xfrm>
            <a:off x="457200" y="364845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12064" y="36850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Crit. 6</a:t>
            </a:r>
          </a:p>
        </p:txBody>
      </p:sp>
      <p:sp>
        <p:nvSpPr>
          <p:cNvPr id="22" name="Rectangle 21"/>
          <p:cNvSpPr/>
          <p:nvPr/>
        </p:nvSpPr>
        <p:spPr>
          <a:xfrm>
            <a:off x="1883664" y="368503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2E8B57"/>
                </a:solidFill>
                <a:latin typeface="Calibri"/>
              </a:defRPr>
            </a:pPr>
            <a:r>
              <a:t>PASSED</a:t>
            </a:r>
          </a:p>
        </p:txBody>
      </p:sp>
      <p:sp>
        <p:nvSpPr>
          <p:cNvPr id="23" name="Rectangle 22"/>
          <p:cNvSpPr/>
          <p:nvPr/>
        </p:nvSpPr>
        <p:spPr>
          <a:xfrm>
            <a:off x="3474720" y="1737360"/>
            <a:ext cx="28346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B5697"/>
                </a:solidFill>
                <a:latin typeface="Calibri"/>
              </a:defRPr>
            </a:pPr>
            <a:r>
              <a:t>Occupation</a:t>
            </a:r>
          </a:p>
        </p:txBody>
      </p:sp>
      <p:sp>
        <p:nvSpPr>
          <p:cNvPr id="24" name="Rectangle 23"/>
          <p:cNvSpPr/>
          <p:nvPr/>
        </p:nvSpPr>
        <p:spPr>
          <a:xfrm>
            <a:off x="3529584" y="214884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Check</a:t>
            </a:r>
          </a:p>
        </p:txBody>
      </p:sp>
      <p:sp>
        <p:nvSpPr>
          <p:cNvPr id="25" name="Rectangle 24"/>
          <p:cNvSpPr/>
          <p:nvPr/>
        </p:nvSpPr>
        <p:spPr>
          <a:xfrm>
            <a:off x="4901184" y="2148840"/>
            <a:ext cx="13533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Result</a:t>
            </a:r>
          </a:p>
        </p:txBody>
      </p:sp>
      <p:sp>
        <p:nvSpPr>
          <p:cNvPr id="26" name="Rectangle 25"/>
          <p:cNvSpPr/>
          <p:nvPr/>
        </p:nvSpPr>
        <p:spPr>
          <a:xfrm>
            <a:off x="3474720" y="2478024"/>
            <a:ext cx="28346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74720" y="255117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529584" y="25877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PSI zone</a:t>
            </a:r>
          </a:p>
        </p:txBody>
      </p:sp>
      <p:sp>
        <p:nvSpPr>
          <p:cNvPr id="29" name="Rectangle 28"/>
          <p:cNvSpPr/>
          <p:nvPr/>
        </p:nvSpPr>
        <p:spPr>
          <a:xfrm>
            <a:off x="4901184" y="258775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E6A62E"/>
                </a:solidFill>
                <a:latin typeface="Calibri"/>
              </a:defRPr>
            </a:pPr>
            <a:r>
              <a:t>AMBER (0.1225)</a:t>
            </a:r>
          </a:p>
        </p:txBody>
      </p:sp>
      <p:sp>
        <p:nvSpPr>
          <p:cNvPr id="30" name="Rectangle 29"/>
          <p:cNvSpPr/>
          <p:nvPr/>
        </p:nvSpPr>
        <p:spPr>
          <a:xfrm>
            <a:off x="3529584" y="31363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EEOC parity</a:t>
            </a:r>
          </a:p>
        </p:txBody>
      </p:sp>
      <p:sp>
        <p:nvSpPr>
          <p:cNvPr id="31" name="Rectangle 30"/>
          <p:cNvSpPr/>
          <p:nvPr/>
        </p:nvSpPr>
        <p:spPr>
          <a:xfrm>
            <a:off x="4901184" y="313639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1A1A1A"/>
                </a:solidFill>
                <a:latin typeface="Calibri"/>
              </a:defRPr>
            </a:pPr>
            <a:r>
              <a:t>90.12%</a:t>
            </a:r>
          </a:p>
        </p:txBody>
      </p:sp>
      <p:sp>
        <p:nvSpPr>
          <p:cNvPr id="32" name="Rectangle 31"/>
          <p:cNvSpPr/>
          <p:nvPr/>
        </p:nvSpPr>
        <p:spPr>
          <a:xfrm>
            <a:off x="3474720" y="3648456"/>
            <a:ext cx="283464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29584" y="36850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0" i="0">
                <a:solidFill>
                  <a:srgbClr val="1A1A1A"/>
                </a:solidFill>
                <a:latin typeface="Calibri"/>
              </a:defRPr>
            </a:pPr>
            <a:r>
              <a:t>Crit. 6</a:t>
            </a:r>
          </a:p>
        </p:txBody>
      </p:sp>
      <p:sp>
        <p:nvSpPr>
          <p:cNvPr id="34" name="Rectangle 33"/>
          <p:cNvSpPr/>
          <p:nvPr/>
        </p:nvSpPr>
        <p:spPr>
          <a:xfrm>
            <a:off x="4901184" y="3685032"/>
            <a:ext cx="135331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200" b="1" i="0">
                <a:solidFill>
                  <a:srgbClr val="D93B3B"/>
                </a:solidFill>
                <a:latin typeface="Calibri"/>
              </a:defRPr>
            </a:pPr>
            <a:r>
              <a:t>FAILED</a:t>
            </a:r>
          </a:p>
        </p:txBody>
      </p:sp>
      <p:sp>
        <p:nvSpPr>
          <p:cNvPr id="35" name="Rectangle 34"/>
          <p:cNvSpPr/>
          <p:nvPr/>
        </p:nvSpPr>
        <p:spPr>
          <a:xfrm>
            <a:off x="7315200" y="1554480"/>
            <a:ext cx="43891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B5697"/>
                </a:solidFill>
                <a:latin typeface="Calibri"/>
              </a:defRPr>
            </a:pPr>
            <a:r>
              <a:t>Drift: post/pre regret ratio (shock @ 1,500)</a:t>
            </a:r>
          </a:p>
        </p:txBody>
      </p:sp>
      <p:sp>
        <p:nvSpPr>
          <p:cNvPr id="36" name="Rectangle 35"/>
          <p:cNvSpPr/>
          <p:nvPr/>
        </p:nvSpPr>
        <p:spPr>
          <a:xfrm>
            <a:off x="7370064" y="2057400"/>
            <a:ext cx="22677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Algorithm</a:t>
            </a:r>
          </a:p>
        </p:txBody>
      </p:sp>
      <p:sp>
        <p:nvSpPr>
          <p:cNvPr id="37" name="Rectangle 36"/>
          <p:cNvSpPr/>
          <p:nvPr/>
        </p:nvSpPr>
        <p:spPr>
          <a:xfrm>
            <a:off x="9747504" y="2057400"/>
            <a:ext cx="1719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Ratio</a:t>
            </a:r>
          </a:p>
        </p:txBody>
      </p:sp>
      <p:sp>
        <p:nvSpPr>
          <p:cNvPr id="38" name="Rectangle 37"/>
          <p:cNvSpPr/>
          <p:nvPr/>
        </p:nvSpPr>
        <p:spPr>
          <a:xfrm>
            <a:off x="7315200" y="2386584"/>
            <a:ext cx="420624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7315200" y="2459736"/>
            <a:ext cx="420624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370064" y="2496312"/>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a:t>
            </a:r>
          </a:p>
        </p:txBody>
      </p:sp>
      <p:sp>
        <p:nvSpPr>
          <p:cNvPr id="41" name="Rectangle 40"/>
          <p:cNvSpPr/>
          <p:nvPr/>
        </p:nvSpPr>
        <p:spPr>
          <a:xfrm>
            <a:off x="9747504" y="2496312"/>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0.29×</a:t>
            </a:r>
          </a:p>
        </p:txBody>
      </p:sp>
      <p:sp>
        <p:nvSpPr>
          <p:cNvPr id="42" name="Rectangle 41"/>
          <p:cNvSpPr/>
          <p:nvPr/>
        </p:nvSpPr>
        <p:spPr>
          <a:xfrm>
            <a:off x="7370064" y="3026664"/>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LinTS</a:t>
            </a:r>
          </a:p>
        </p:txBody>
      </p:sp>
      <p:sp>
        <p:nvSpPr>
          <p:cNvPr id="43" name="Rectangle 42"/>
          <p:cNvSpPr/>
          <p:nvPr/>
        </p:nvSpPr>
        <p:spPr>
          <a:xfrm>
            <a:off x="9747504" y="3026664"/>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0.29×</a:t>
            </a:r>
          </a:p>
        </p:txBody>
      </p:sp>
      <p:sp>
        <p:nvSpPr>
          <p:cNvPr id="44" name="Rectangle 43"/>
          <p:cNvSpPr/>
          <p:nvPr/>
        </p:nvSpPr>
        <p:spPr>
          <a:xfrm>
            <a:off x="7315200" y="3520440"/>
            <a:ext cx="4206240" cy="530352"/>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370064" y="3557016"/>
            <a:ext cx="226771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StaticXGB</a:t>
            </a:r>
          </a:p>
        </p:txBody>
      </p:sp>
      <p:sp>
        <p:nvSpPr>
          <p:cNvPr id="46" name="Rectangle 45"/>
          <p:cNvSpPr/>
          <p:nvPr/>
        </p:nvSpPr>
        <p:spPr>
          <a:xfrm>
            <a:off x="9747504" y="3557016"/>
            <a:ext cx="1719072"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E6A62E"/>
                </a:solidFill>
                <a:latin typeface="Calibri"/>
              </a:defRPr>
            </a:pPr>
            <a:r>
              <a:t>0.85×</a:t>
            </a:r>
          </a:p>
        </p:txBody>
      </p:sp>
      <p:sp>
        <p:nvSpPr>
          <p:cNvPr id="47" name="Rectangle 46"/>
          <p:cNvSpPr/>
          <p:nvPr/>
        </p:nvSpPr>
        <p:spPr>
          <a:xfrm>
            <a:off x="457200" y="4389120"/>
            <a:ext cx="11277295"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300" b="0">
                <a:solidFill>
                  <a:srgbClr val="1A1A1A"/>
                </a:solidFill>
                <a:latin typeface="Calibri"/>
              </a:defRPr>
            </a:pPr>
            <a:r>
              <a:t>Occupation association reflects actuarially justified risk differences (§5.2.4); no regulatory threshold (EEOC 80%, PSI 0.25) is breached.</a:t>
            </a:r>
          </a:p>
        </p:txBody>
      </p:sp>
      <p:sp>
        <p:nvSpPr>
          <p:cNvPr id="48" name="Rectangle 47"/>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Criterion 6 (occupation→action) FAILED-with-interpretation: p &lt; 0.001 — statistically significant but practically small. Reported honestly.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LIVE DEMONSTRATION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Results &amp; Evaluation</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21 / 29</a:t>
            </a:r>
          </a:p>
        </p:txBody>
      </p:sp>
      <p:pic>
        <p:nvPicPr>
          <p:cNvPr id="10" name="Picture 9" descr="shot_dashboard.png"/>
          <p:cNvPicPr>
            <a:picLocks noChangeAspect="1"/>
          </p:cNvPicPr>
          <p:nvPr/>
        </p:nvPicPr>
        <p:blipFill>
          <a:blip r:embed="rId2"/>
          <a:stretch>
            <a:fillRect/>
          </a:stretch>
        </p:blipFill>
        <p:spPr>
          <a:xfrm>
            <a:off x="380847" y="1874520"/>
            <a:ext cx="3657600" cy="2286000"/>
          </a:xfrm>
          <a:prstGeom prst="rect">
            <a:avLst/>
          </a:prstGeom>
          <a:effectLst/>
        </p:spPr>
      </p:pic>
      <p:sp>
        <p:nvSpPr>
          <p:cNvPr id="11" name="Rectangle 10"/>
          <p:cNvSpPr/>
          <p:nvPr/>
        </p:nvSpPr>
        <p:spPr>
          <a:xfrm>
            <a:off x="3808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100" b="0" i="1">
                <a:solidFill>
                  <a:srgbClr val="777777"/>
                </a:solidFill>
                <a:latin typeface="Calibri"/>
              </a:defRPr>
            </a:pPr>
            <a:r>
              <a:t>Applicant scoring &amp; bandit arm selection</a:t>
            </a:r>
          </a:p>
        </p:txBody>
      </p:sp>
      <p:pic>
        <p:nvPicPr>
          <p:cNvPr id="12" name="Picture 11" descr="shot_pricing.png"/>
          <p:cNvPicPr>
            <a:picLocks noChangeAspect="1"/>
          </p:cNvPicPr>
          <p:nvPr/>
        </p:nvPicPr>
        <p:blipFill>
          <a:blip r:embed="rId3"/>
          <a:stretch>
            <a:fillRect/>
          </a:stretch>
        </p:blipFill>
        <p:spPr>
          <a:xfrm>
            <a:off x="4267047" y="1874520"/>
            <a:ext cx="3657600" cy="2286000"/>
          </a:xfrm>
          <a:prstGeom prst="rect">
            <a:avLst/>
          </a:prstGeom>
          <a:effectLst/>
        </p:spPr>
      </p:pic>
      <p:sp>
        <p:nvSpPr>
          <p:cNvPr id="13" name="Rectangle 12"/>
          <p:cNvSpPr/>
          <p:nvPr/>
        </p:nvSpPr>
        <p:spPr>
          <a:xfrm>
            <a:off x="42670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100" b="0" i="1">
                <a:solidFill>
                  <a:srgbClr val="777777"/>
                </a:solidFill>
                <a:latin typeface="Calibri"/>
              </a:defRPr>
            </a:pPr>
            <a:r>
              <a:t>Premium optimiser &amp; pricing curve</a:t>
            </a:r>
          </a:p>
        </p:txBody>
      </p:sp>
      <p:pic>
        <p:nvPicPr>
          <p:cNvPr id="14" name="Picture 13" descr="shot_hitl.png"/>
          <p:cNvPicPr>
            <a:picLocks noChangeAspect="1"/>
          </p:cNvPicPr>
          <p:nvPr/>
        </p:nvPicPr>
        <p:blipFill>
          <a:blip r:embed="rId4"/>
          <a:stretch>
            <a:fillRect/>
          </a:stretch>
        </p:blipFill>
        <p:spPr>
          <a:xfrm>
            <a:off x="8153247" y="1874520"/>
            <a:ext cx="3657600" cy="2286000"/>
          </a:xfrm>
          <a:prstGeom prst="rect">
            <a:avLst/>
          </a:prstGeom>
          <a:effectLst/>
        </p:spPr>
      </p:pic>
      <p:sp>
        <p:nvSpPr>
          <p:cNvPr id="15" name="Rectangle 14"/>
          <p:cNvSpPr/>
          <p:nvPr/>
        </p:nvSpPr>
        <p:spPr>
          <a:xfrm>
            <a:off x="8153247" y="4407408"/>
            <a:ext cx="36576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100" b="0" i="1">
                <a:solidFill>
                  <a:srgbClr val="777777"/>
                </a:solidFill>
                <a:latin typeface="Calibri"/>
              </a:defRPr>
            </a:pPr>
            <a:r>
              <a:t>Human-in-the-loop referral queue &amp; cost</a:t>
            </a:r>
          </a:p>
        </p:txBody>
      </p:sp>
      <p:sp>
        <p:nvSpPr>
          <p:cNvPr id="16" name="Rectangle 15"/>
          <p:cNvSpPr/>
          <p:nvPr/>
        </p:nvSpPr>
        <p:spPr>
          <a:xfrm>
            <a:off x="457200" y="1188720"/>
            <a:ext cx="11277295"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0" i="1">
                <a:solidFill>
                  <a:srgbClr val="777777"/>
                </a:solidFill>
                <a:latin typeface="Calibri"/>
              </a:defRPr>
            </a:pPr>
            <a:r>
              <a:t>Same FastAPI stack as the architecture — live at localhost:8000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822960" y="2148840"/>
            <a:ext cx="10058400" cy="14630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2000" b="1" i="0">
                <a:solidFill>
                  <a:srgbClr val="FFFFFF"/>
                </a:solidFill>
                <a:latin typeface="Segoe UI"/>
              </a:defRPr>
            </a:pPr>
            <a:r>
              <a:t>V.</a:t>
            </a:r>
          </a:p>
        </p:txBody>
      </p:sp>
      <p:sp>
        <p:nvSpPr>
          <p:cNvPr id="4" name="Rectangle 3"/>
          <p:cNvSpPr/>
          <p:nvPr/>
        </p:nvSpPr>
        <p:spPr>
          <a:xfrm>
            <a:off x="914400" y="3794760"/>
            <a:ext cx="292608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 y="3977639"/>
            <a:ext cx="1042416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3200" b="1" i="0">
                <a:solidFill>
                  <a:srgbClr val="FFFFFF"/>
                </a:solidFill>
                <a:latin typeface="Segoe UI"/>
              </a:defRPr>
            </a:pPr>
            <a:r>
              <a:t>Conclusion &amp; Future Work</a:t>
            </a:r>
          </a:p>
        </p:txBody>
      </p:sp>
      <p:sp>
        <p:nvSpPr>
          <p:cNvPr id="6" name="Rectangle 5"/>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8" name="Rectangle 7"/>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Conclusion &amp; Future Work</a:t>
            </a:r>
          </a:p>
        </p:txBody>
      </p:sp>
      <p:sp>
        <p:nvSpPr>
          <p:cNvPr id="10" name="Rectangle 9"/>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25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CONCLUSION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Conclusion &amp; Future Work</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22 / 29</a:t>
            </a:r>
          </a:p>
        </p:txBody>
      </p:sp>
      <p:sp>
        <p:nvSpPr>
          <p:cNvPr id="10" name="Rectangle 9"/>
          <p:cNvSpPr/>
          <p:nvPr/>
        </p:nvSpPr>
        <p:spPr>
          <a:xfrm>
            <a:off x="457200" y="138988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13232" y="1280160"/>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LinTS/LinUCB lead every admissible policy (+25.2%, d=2.98)</a:t>
            </a:r>
          </a:p>
        </p:txBody>
      </p:sp>
      <p:sp>
        <p:nvSpPr>
          <p:cNvPr id="12" name="Rectangle 11"/>
          <p:cNvSpPr/>
          <p:nvPr/>
        </p:nvSpPr>
        <p:spPr>
          <a:xfrm>
            <a:off x="457200" y="1956816"/>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13232" y="1847088"/>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HITL adds +14.8% at 1.3% referrals</a:t>
            </a:r>
          </a:p>
        </p:txBody>
      </p:sp>
      <p:sp>
        <p:nvSpPr>
          <p:cNvPr id="14" name="Rectangle 13"/>
          <p:cNvSpPr/>
          <p:nvPr/>
        </p:nvSpPr>
        <p:spPr>
          <a:xfrm>
            <a:off x="457200" y="2523744"/>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13232" y="2414016"/>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5 of 6 fairness criteria PASSED; PSI within thresholds</a:t>
            </a:r>
          </a:p>
        </p:txBody>
      </p:sp>
      <p:sp>
        <p:nvSpPr>
          <p:cNvPr id="16" name="Rectangle 15"/>
          <p:cNvSpPr/>
          <p:nvPr/>
        </p:nvSpPr>
        <p:spPr>
          <a:xfrm>
            <a:off x="457200" y="3090672"/>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13232" y="2980944"/>
            <a:ext cx="5230368"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700" b="0" i="0">
                <a:solidFill>
                  <a:srgbClr val="1A1A1A"/>
                </a:solidFill>
                <a:latin typeface="Calibri"/>
              </a:defRPr>
            </a:pPr>
            <a:r>
              <a:t>Honest scope: inadmissible AlwaysRATED ceiling sits above (§5.0.1)</a:t>
            </a:r>
          </a:p>
        </p:txBody>
      </p:sp>
      <p:sp>
        <p:nvSpPr>
          <p:cNvPr id="18" name="Rectangle 17"/>
          <p:cNvSpPr/>
          <p:nvPr/>
        </p:nvSpPr>
        <p:spPr>
          <a:xfrm>
            <a:off x="6455664" y="137160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a:t>
            </a:r>
          </a:p>
        </p:txBody>
      </p:sp>
      <p:sp>
        <p:nvSpPr>
          <p:cNvPr id="19" name="Rectangle 18"/>
          <p:cNvSpPr/>
          <p:nvPr/>
        </p:nvSpPr>
        <p:spPr>
          <a:xfrm>
            <a:off x="7187184" y="1371600"/>
            <a:ext cx="3547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Objective outcome</a:t>
            </a:r>
          </a:p>
        </p:txBody>
      </p:sp>
      <p:sp>
        <p:nvSpPr>
          <p:cNvPr id="20" name="Rectangle 19"/>
          <p:cNvSpPr/>
          <p:nvPr/>
        </p:nvSpPr>
        <p:spPr>
          <a:xfrm>
            <a:off x="10844784" y="13716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Status</a:t>
            </a:r>
          </a:p>
        </p:txBody>
      </p:sp>
      <p:sp>
        <p:nvSpPr>
          <p:cNvPr id="21" name="Rectangle 20"/>
          <p:cNvSpPr/>
          <p:nvPr/>
        </p:nvSpPr>
        <p:spPr>
          <a:xfrm>
            <a:off x="6400800" y="1700784"/>
            <a:ext cx="57607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0" y="1773936"/>
            <a:ext cx="576072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55664" y="181051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O1</a:t>
            </a:r>
          </a:p>
        </p:txBody>
      </p:sp>
      <p:sp>
        <p:nvSpPr>
          <p:cNvPr id="24" name="Rectangle 23"/>
          <p:cNvSpPr/>
          <p:nvPr/>
        </p:nvSpPr>
        <p:spPr>
          <a:xfrm>
            <a:off x="7187184" y="181051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 + LinTS implemented &amp; adapted</a:t>
            </a:r>
          </a:p>
        </p:txBody>
      </p:sp>
      <p:sp>
        <p:nvSpPr>
          <p:cNvPr id="25" name="Rectangle 24"/>
          <p:cNvSpPr/>
          <p:nvPr/>
        </p:nvSpPr>
        <p:spPr>
          <a:xfrm>
            <a:off x="10844784" y="181051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ACHIEVED</a:t>
            </a:r>
          </a:p>
        </p:txBody>
      </p:sp>
      <p:sp>
        <p:nvSpPr>
          <p:cNvPr id="26" name="Rectangle 25"/>
          <p:cNvSpPr/>
          <p:nvPr/>
        </p:nvSpPr>
        <p:spPr>
          <a:xfrm>
            <a:off x="6455664" y="245059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O2</a:t>
            </a:r>
          </a:p>
        </p:txBody>
      </p:sp>
      <p:sp>
        <p:nvSpPr>
          <p:cNvPr id="27" name="Rectangle 26"/>
          <p:cNvSpPr/>
          <p:nvPr/>
        </p:nvSpPr>
        <p:spPr>
          <a:xfrm>
            <a:off x="7187184" y="245059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2,000-record CDHS-anchored dataset built</a:t>
            </a:r>
          </a:p>
        </p:txBody>
      </p:sp>
      <p:sp>
        <p:nvSpPr>
          <p:cNvPr id="28" name="Rectangle 27"/>
          <p:cNvSpPr/>
          <p:nvPr/>
        </p:nvSpPr>
        <p:spPr>
          <a:xfrm>
            <a:off x="10844784" y="245059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ACHIEVED</a:t>
            </a:r>
          </a:p>
        </p:txBody>
      </p:sp>
      <p:sp>
        <p:nvSpPr>
          <p:cNvPr id="29" name="Rectangle 28"/>
          <p:cNvSpPr/>
          <p:nvPr/>
        </p:nvSpPr>
        <p:spPr>
          <a:xfrm>
            <a:off x="6400800" y="3054096"/>
            <a:ext cx="5760720" cy="64008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55664" y="309067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O3</a:t>
            </a:r>
          </a:p>
        </p:txBody>
      </p:sp>
      <p:sp>
        <p:nvSpPr>
          <p:cNvPr id="31" name="Rectangle 30"/>
          <p:cNvSpPr/>
          <p:nvPr/>
        </p:nvSpPr>
        <p:spPr>
          <a:xfrm>
            <a:off x="7187184" y="309067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20-seed eval, bootstrap CI, Wilcoxon</a:t>
            </a:r>
          </a:p>
        </p:txBody>
      </p:sp>
      <p:sp>
        <p:nvSpPr>
          <p:cNvPr id="32" name="Rectangle 31"/>
          <p:cNvSpPr/>
          <p:nvPr/>
        </p:nvSpPr>
        <p:spPr>
          <a:xfrm>
            <a:off x="10844784" y="309067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ACHIEVED</a:t>
            </a:r>
          </a:p>
        </p:txBody>
      </p:sp>
      <p:sp>
        <p:nvSpPr>
          <p:cNvPr id="33" name="Rectangle 32"/>
          <p:cNvSpPr/>
          <p:nvPr/>
        </p:nvSpPr>
        <p:spPr>
          <a:xfrm>
            <a:off x="6455664" y="3730752"/>
            <a:ext cx="62179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O4</a:t>
            </a:r>
          </a:p>
        </p:txBody>
      </p:sp>
      <p:sp>
        <p:nvSpPr>
          <p:cNvPr id="34" name="Rectangle 33"/>
          <p:cNvSpPr/>
          <p:nvPr/>
        </p:nvSpPr>
        <p:spPr>
          <a:xfrm>
            <a:off x="7187184" y="3730752"/>
            <a:ext cx="3547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PSI fairness monitoring + HITL wrapper</a:t>
            </a:r>
          </a:p>
        </p:txBody>
      </p:sp>
      <p:sp>
        <p:nvSpPr>
          <p:cNvPr id="35" name="Rectangle 34"/>
          <p:cNvSpPr/>
          <p:nvPr/>
        </p:nvSpPr>
        <p:spPr>
          <a:xfrm>
            <a:off x="10844784" y="3730752"/>
            <a:ext cx="1261872"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ACHIEVED</a:t>
            </a:r>
          </a:p>
        </p:txBody>
      </p:sp>
      <p:sp>
        <p:nvSpPr>
          <p:cNvPr id="36" name="Rectangle 35"/>
          <p:cNvSpPr/>
          <p:nvPr/>
        </p:nvSpPr>
        <p:spPr>
          <a:xfrm>
            <a:off x="457200" y="4754880"/>
            <a:ext cx="11277295"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500" b="1">
                <a:solidFill>
                  <a:srgbClr val="1A1A1A"/>
                </a:solidFill>
                <a:latin typeface="Calibri"/>
              </a:defRPr>
            </a:pPr>
            <a:r>
              <a:t>Contextual bandits give a principled, adaptive, auditable alternative to static rule-based underwriting in the Cambodian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REFERENCES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References</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23 / 29</a:t>
            </a:r>
          </a:p>
        </p:txBody>
      </p:sp>
      <p:sp>
        <p:nvSpPr>
          <p:cNvPr id="10" name="Rectangle 9"/>
          <p:cNvSpPr/>
          <p:nvPr/>
        </p:nvSpPr>
        <p:spPr>
          <a:xfrm>
            <a:off x="457200" y="118872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  Li, L., Chu, W., Langford, J., &amp; Schapire, R. (2010). A contextual-bandit approach to personalized news article recommendation. WWW.</a:t>
            </a:r>
          </a:p>
        </p:txBody>
      </p:sp>
      <p:sp>
        <p:nvSpPr>
          <p:cNvPr id="11" name="Rectangle 10"/>
          <p:cNvSpPr/>
          <p:nvPr/>
        </p:nvSpPr>
        <p:spPr>
          <a:xfrm>
            <a:off x="457200" y="179222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[2]  Agrawal, S., &amp; Goyal, N. (2013). Thompson sampling for contextual bandits with linear payoffs. ICML.</a:t>
            </a:r>
          </a:p>
        </p:txBody>
      </p:sp>
      <p:sp>
        <p:nvSpPr>
          <p:cNvPr id="12" name="Rectangle 11"/>
          <p:cNvSpPr/>
          <p:nvPr/>
        </p:nvSpPr>
        <p:spPr>
          <a:xfrm>
            <a:off x="457200" y="239572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[3]  Zhou, D., Li, L., &amp; Gu, Q. (2020). Neural contextual bandits with UCB-based exploration. ICML.</a:t>
            </a:r>
          </a:p>
        </p:txBody>
      </p:sp>
      <p:sp>
        <p:nvSpPr>
          <p:cNvPr id="13" name="Rectangle 12"/>
          <p:cNvSpPr/>
          <p:nvPr/>
        </p:nvSpPr>
        <p:spPr>
          <a:xfrm>
            <a:off x="457200" y="2999232"/>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[4]  Zhang, W., Zhou, D., Li, L., &amp; Gu, Q. (2021). Neural Thompson sampling. ICLR.</a:t>
            </a:r>
          </a:p>
        </p:txBody>
      </p:sp>
      <p:sp>
        <p:nvSpPr>
          <p:cNvPr id="14" name="Rectangle 13"/>
          <p:cNvSpPr/>
          <p:nvPr/>
        </p:nvSpPr>
        <p:spPr>
          <a:xfrm>
            <a:off x="457200" y="3602736"/>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[5]  Ban, Y., Yan, Y., Banerjee, A., &amp; He, J. (2022). EE-Net: Exploitation-exploration neural networks in contextual bandits. ICLR.</a:t>
            </a:r>
          </a:p>
        </p:txBody>
      </p:sp>
      <p:sp>
        <p:nvSpPr>
          <p:cNvPr id="15" name="Rectangle 14"/>
          <p:cNvSpPr/>
          <p:nvPr/>
        </p:nvSpPr>
        <p:spPr>
          <a:xfrm>
            <a:off x="457200" y="420624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[6]  Sutton, R. S., &amp; Barto, A. G. (2018). Reinforcement Learning: An Introduction (2nd ed.). MIT Press.</a:t>
            </a:r>
          </a:p>
        </p:txBody>
      </p:sp>
      <p:sp>
        <p:nvSpPr>
          <p:cNvPr id="16" name="Rectangle 15"/>
          <p:cNvSpPr/>
          <p:nvPr/>
        </p:nvSpPr>
        <p:spPr>
          <a:xfrm>
            <a:off x="457200" y="480974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[7]  Lattimore, T., &amp; Szepesvári, C. (2020). Bandit Algorithms. Cambridge Univ. Press.</a:t>
            </a:r>
          </a:p>
        </p:txBody>
      </p:sp>
      <p:sp>
        <p:nvSpPr>
          <p:cNvPr id="17" name="Rectangle 16"/>
          <p:cNvSpPr/>
          <p:nvPr/>
        </p:nvSpPr>
        <p:spPr>
          <a:xfrm>
            <a:off x="457200" y="541324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[8]  Barocas, S., Hardt, M., &amp; Narayanan, A. (2019). Fairness and Machine Learning. fairmlbook.org.</a:t>
            </a:r>
          </a:p>
        </p:txBody>
      </p:sp>
      <p:sp>
        <p:nvSpPr>
          <p:cNvPr id="18" name="Rectangle 17"/>
          <p:cNvSpPr/>
          <p:nvPr/>
        </p:nvSpPr>
        <p:spPr>
          <a:xfrm>
            <a:off x="6309360" y="118872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[9]  Ensign, D., Friedler, S. A., Neville, S., Scheidegger, C., &amp; Venkatasubramanian, S. (2018). Runaway feedback loops in predictive policing. FAccT.</a:t>
            </a:r>
          </a:p>
        </p:txBody>
      </p:sp>
      <p:sp>
        <p:nvSpPr>
          <p:cNvPr id="19" name="Rectangle 18"/>
          <p:cNvSpPr/>
          <p:nvPr/>
        </p:nvSpPr>
        <p:spPr>
          <a:xfrm>
            <a:off x="6309360" y="179222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[10]  Yurdakul, B., &amp; Naranjo, J. (2020). Statistical properties of the population stability index. J. Risk Model Validation.</a:t>
            </a:r>
          </a:p>
        </p:txBody>
      </p:sp>
      <p:sp>
        <p:nvSpPr>
          <p:cNvPr id="20" name="Rectangle 19"/>
          <p:cNvSpPr/>
          <p:nvPr/>
        </p:nvSpPr>
        <p:spPr>
          <a:xfrm>
            <a:off x="6309360" y="239572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[11]  Lin, J. (1991). Divergence measures based on the Shannon entropy. IEEE Trans. Information Theory.</a:t>
            </a:r>
          </a:p>
        </p:txBody>
      </p:sp>
      <p:sp>
        <p:nvSpPr>
          <p:cNvPr id="21" name="Rectangle 20"/>
          <p:cNvSpPr/>
          <p:nvPr/>
        </p:nvSpPr>
        <p:spPr>
          <a:xfrm>
            <a:off x="6309360" y="2999232"/>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[12]  National Institute of Statistics, MoH, &amp; ICF (2023). Cambodia Demographic &amp; Health Survey 2021–22 (CDHS).</a:t>
            </a:r>
          </a:p>
        </p:txBody>
      </p:sp>
      <p:sp>
        <p:nvSpPr>
          <p:cNvPr id="22" name="Rectangle 21"/>
          <p:cNvSpPr/>
          <p:nvPr/>
        </p:nvSpPr>
        <p:spPr>
          <a:xfrm>
            <a:off x="6309360" y="3602736"/>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[13]  International Labour Organization (2022). Cambodian Garment &amp; Footwear Sector Bulletin.</a:t>
            </a:r>
          </a:p>
        </p:txBody>
      </p:sp>
      <p:sp>
        <p:nvSpPr>
          <p:cNvPr id="23" name="Rectangle 22"/>
          <p:cNvSpPr/>
          <p:nvPr/>
        </p:nvSpPr>
        <p:spPr>
          <a:xfrm>
            <a:off x="6309360" y="4206240"/>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[14]  Asian Development Bank (2023). Asian Development Outlook: Cambodia.</a:t>
            </a:r>
          </a:p>
        </p:txBody>
      </p:sp>
      <p:sp>
        <p:nvSpPr>
          <p:cNvPr id="24" name="Rectangle 23"/>
          <p:cNvSpPr/>
          <p:nvPr/>
        </p:nvSpPr>
        <p:spPr>
          <a:xfrm>
            <a:off x="6309360" y="4809744"/>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[15]  World Bank (2023). World Development Indicators: Cambodia.</a:t>
            </a:r>
          </a:p>
        </p:txBody>
      </p:sp>
      <p:sp>
        <p:nvSpPr>
          <p:cNvPr id="25" name="Rectangle 24"/>
          <p:cNvSpPr/>
          <p:nvPr/>
        </p:nvSpPr>
        <p:spPr>
          <a:xfrm>
            <a:off x="6309360" y="5413248"/>
            <a:ext cx="5486400" cy="8229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100" b="0" i="0">
                <a:solidFill>
                  <a:srgbClr val="1A1A1A"/>
                </a:solidFill>
                <a:latin typeface="Calibri"/>
              </a:defRPr>
            </a:pPr>
            <a:r>
              <a:t>[16]  Swiss Re Institute (2023). Sigma 3/2023: World insurance.</a:t>
            </a:r>
          </a:p>
        </p:txBody>
      </p:sp>
      <p:sp>
        <p:nvSpPr>
          <p:cNvPr id="26" name="Rectangle 25"/>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Full bibliography: thesis Chapter III (25 cited sources, APA).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13248" y="1828800"/>
            <a:ext cx="1371600" cy="41148"/>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48840"/>
            <a:ext cx="12191695" cy="9144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5400" b="1" i="0">
                <a:solidFill>
                  <a:srgbClr val="1B5697"/>
                </a:solidFill>
                <a:latin typeface="Segoe UI"/>
              </a:defRPr>
            </a:pPr>
            <a:r>
              <a:t>Thank you.</a:t>
            </a:r>
          </a:p>
        </p:txBody>
      </p:sp>
      <p:sp>
        <p:nvSpPr>
          <p:cNvPr id="4" name="Rectangle 3"/>
          <p:cNvSpPr/>
          <p:nvPr/>
        </p:nvSpPr>
        <p:spPr>
          <a:xfrm>
            <a:off x="0" y="3154680"/>
            <a:ext cx="12191695"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000" b="0" i="0">
                <a:solidFill>
                  <a:srgbClr val="1B5697"/>
                </a:solidFill>
                <a:latin typeface="Calibri"/>
              </a:defRPr>
            </a:pPr>
            <a:r>
              <a:t>Questions &amp; Answers</a:t>
            </a:r>
          </a:p>
        </p:txBody>
      </p:sp>
      <p:sp>
        <p:nvSpPr>
          <p:cNvPr id="5" name="Rectangle 4"/>
          <p:cNvSpPr/>
          <p:nvPr/>
        </p:nvSpPr>
        <p:spPr>
          <a:xfrm>
            <a:off x="0" y="4297680"/>
            <a:ext cx="1219169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000" b="1" i="0">
                <a:solidFill>
                  <a:srgbClr val="1A1A1A"/>
                </a:solidFill>
                <a:latin typeface="Calibri"/>
              </a:defRPr>
            </a:pPr>
            <a:r>
              <a:t>LUN CHANPOLY</a:t>
            </a:r>
          </a:p>
        </p:txBody>
      </p:sp>
      <p:sp>
        <p:nvSpPr>
          <p:cNvPr id="6" name="Rectangle 5"/>
          <p:cNvSpPr/>
          <p:nvPr/>
        </p:nvSpPr>
        <p:spPr>
          <a:xfrm>
            <a:off x="0" y="470916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500" b="0" i="0">
                <a:solidFill>
                  <a:srgbClr val="777777"/>
                </a:solidFill>
                <a:latin typeface="Calibri"/>
              </a:defRPr>
            </a:pPr>
            <a:r>
              <a:t>chanpoly3@gmail.com</a:t>
            </a:r>
          </a:p>
        </p:txBody>
      </p:sp>
      <p:sp>
        <p:nvSpPr>
          <p:cNvPr id="7" name="Rectangle 6"/>
          <p:cNvSpPr/>
          <p:nvPr/>
        </p:nvSpPr>
        <p:spPr>
          <a:xfrm>
            <a:off x="0" y="5074920"/>
            <a:ext cx="12191695"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1400" b="0" i="0">
                <a:solidFill>
                  <a:srgbClr val="777777"/>
                </a:solidFill>
                <a:latin typeface="Calibri"/>
              </a:defRPr>
            </a:pPr>
            <a:r>
              <a:t>Institute of Technology of Cambodia</a:t>
            </a:r>
          </a:p>
        </p:txBody>
      </p:sp>
      <p:pic>
        <p:nvPicPr>
          <p:cNvPr id="8" name="Picture 7" descr="ITC.jpg"/>
          <p:cNvPicPr>
            <a:picLocks noChangeAspect="1"/>
          </p:cNvPicPr>
          <p:nvPr/>
        </p:nvPicPr>
        <p:blipFill>
          <a:blip r:embed="rId2"/>
          <a:stretch>
            <a:fillRect/>
          </a:stretch>
        </p:blipFill>
        <p:spPr>
          <a:xfrm>
            <a:off x="4983480" y="5623560"/>
            <a:ext cx="640080" cy="631079"/>
          </a:xfrm>
          <a:prstGeom prst="rect">
            <a:avLst/>
          </a:prstGeom>
          <a:effectLst/>
        </p:spPr>
      </p:pic>
      <p:pic>
        <p:nvPicPr>
          <p:cNvPr id="9" name="Picture 8" descr="AMS.png"/>
          <p:cNvPicPr>
            <a:picLocks noChangeAspect="1"/>
          </p:cNvPicPr>
          <p:nvPr/>
        </p:nvPicPr>
        <p:blipFill>
          <a:blip r:embed="rId3"/>
          <a:stretch>
            <a:fillRect/>
          </a:stretch>
        </p:blipFill>
        <p:spPr>
          <a:xfrm>
            <a:off x="5715000" y="5623560"/>
            <a:ext cx="640080" cy="606547"/>
          </a:xfrm>
          <a:prstGeom prst="rect">
            <a:avLst/>
          </a:prstGeom>
          <a:effectLst/>
        </p:spPr>
      </p:pic>
      <p:pic>
        <p:nvPicPr>
          <p:cNvPr id="10" name="Picture 9" descr="DAC.jpg"/>
          <p:cNvPicPr>
            <a:picLocks noChangeAspect="1"/>
          </p:cNvPicPr>
          <p:nvPr/>
        </p:nvPicPr>
        <p:blipFill>
          <a:blip r:embed="rId4"/>
          <a:stretch>
            <a:fillRect/>
          </a:stretch>
        </p:blipFill>
        <p:spPr>
          <a:xfrm>
            <a:off x="6537960" y="5623560"/>
            <a:ext cx="640080" cy="360045"/>
          </a:xfrm>
          <a:prstGeom prst="rect">
            <a:avLst/>
          </a:prstGeom>
          <a:effectLst/>
        </p:spPr>
      </p:pic>
      <p:sp>
        <p:nvSpPr>
          <p:cNvPr id="11" name="Rectangle 10"/>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13" name="Rectangle 12"/>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Adaptive Underwriting via Contextual Bandits</a:t>
            </a:r>
          </a:p>
        </p:txBody>
      </p:sp>
      <p:sp>
        <p:nvSpPr>
          <p:cNvPr id="15" name="Rectangle 14"/>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28 / 28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A1  BASELINE LADDER (EXP-014)</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A1</a:t>
            </a:r>
          </a:p>
        </p:txBody>
      </p:sp>
      <p:sp>
        <p:nvSpPr>
          <p:cNvPr id="10" name="Rectangle 9"/>
          <p:cNvSpPr/>
          <p:nvPr/>
        </p:nvSpPr>
        <p:spPr>
          <a:xfrm>
            <a:off x="457200" y="1207008"/>
            <a:ext cx="11277295"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500" b="1" i="0">
                <a:solidFill>
                  <a:srgbClr val="1A1A1A"/>
                </a:solidFill>
                <a:latin typeface="Calibri"/>
              </a:defRPr>
            </a:pPr>
            <a:r>
              <a:t>Why AlwaysRATED is inadmissible -- and why the headline claim still holds</a:t>
            </a:r>
          </a:p>
        </p:txBody>
      </p:sp>
      <p:pic>
        <p:nvPicPr>
          <p:cNvPr id="11" name="Picture 10" descr="slide_ladder.png"/>
          <p:cNvPicPr>
            <a:picLocks noChangeAspect="1"/>
          </p:cNvPicPr>
          <p:nvPr/>
        </p:nvPicPr>
        <p:blipFill>
          <a:blip r:embed="rId2"/>
          <a:stretch>
            <a:fillRect/>
          </a:stretch>
        </p:blipFill>
        <p:spPr>
          <a:xfrm>
            <a:off x="525882" y="1645920"/>
            <a:ext cx="6446315" cy="4242816"/>
          </a:xfrm>
          <a:prstGeom prst="rect">
            <a:avLst/>
          </a:prstGeom>
          <a:effectLst/>
        </p:spPr>
      </p:pic>
      <p:sp>
        <p:nvSpPr>
          <p:cNvPr id="12" name="Rectangle 11"/>
          <p:cNvSpPr/>
          <p:nvPr/>
        </p:nvSpPr>
        <p:spPr>
          <a:xfrm>
            <a:off x="7370064" y="1828800"/>
            <a:ext cx="16276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Policy</a:t>
            </a:r>
          </a:p>
        </p:txBody>
      </p:sp>
      <p:sp>
        <p:nvSpPr>
          <p:cNvPr id="13" name="Rectangle 12"/>
          <p:cNvSpPr/>
          <p:nvPr/>
        </p:nvSpPr>
        <p:spPr>
          <a:xfrm>
            <a:off x="9107424" y="18288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Reward</a:t>
            </a:r>
          </a:p>
        </p:txBody>
      </p:sp>
      <p:sp>
        <p:nvSpPr>
          <p:cNvPr id="14" name="Rectangle 13"/>
          <p:cNvSpPr/>
          <p:nvPr/>
        </p:nvSpPr>
        <p:spPr>
          <a:xfrm>
            <a:off x="10479024" y="1828800"/>
            <a:ext cx="1261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Status</a:t>
            </a:r>
          </a:p>
        </p:txBody>
      </p:sp>
      <p:sp>
        <p:nvSpPr>
          <p:cNvPr id="15" name="Rectangle 14"/>
          <p:cNvSpPr/>
          <p:nvPr/>
        </p:nvSpPr>
        <p:spPr>
          <a:xfrm>
            <a:off x="7315200" y="2157984"/>
            <a:ext cx="448056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315200" y="2231136"/>
            <a:ext cx="44805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70064" y="226771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LinTS</a:t>
            </a:r>
          </a:p>
        </p:txBody>
      </p:sp>
      <p:sp>
        <p:nvSpPr>
          <p:cNvPr id="18" name="Rectangle 17"/>
          <p:cNvSpPr/>
          <p:nvPr/>
        </p:nvSpPr>
        <p:spPr>
          <a:xfrm>
            <a:off x="9107424" y="226771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$93,723</a:t>
            </a:r>
          </a:p>
        </p:txBody>
      </p:sp>
      <p:sp>
        <p:nvSpPr>
          <p:cNvPr id="19" name="Rectangle 18"/>
          <p:cNvSpPr/>
          <p:nvPr/>
        </p:nvSpPr>
        <p:spPr>
          <a:xfrm>
            <a:off x="10479024" y="226771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admissible</a:t>
            </a:r>
          </a:p>
        </p:txBody>
      </p:sp>
      <p:sp>
        <p:nvSpPr>
          <p:cNvPr id="20" name="Rectangle 19"/>
          <p:cNvSpPr/>
          <p:nvPr/>
        </p:nvSpPr>
        <p:spPr>
          <a:xfrm>
            <a:off x="7370064" y="281635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LinUCB</a:t>
            </a:r>
          </a:p>
        </p:txBody>
      </p:sp>
      <p:sp>
        <p:nvSpPr>
          <p:cNvPr id="21" name="Rectangle 20"/>
          <p:cNvSpPr/>
          <p:nvPr/>
        </p:nvSpPr>
        <p:spPr>
          <a:xfrm>
            <a:off x="9107424" y="28163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$91,864</a:t>
            </a:r>
          </a:p>
        </p:txBody>
      </p:sp>
      <p:sp>
        <p:nvSpPr>
          <p:cNvPr id="22" name="Rectangle 21"/>
          <p:cNvSpPr/>
          <p:nvPr/>
        </p:nvSpPr>
        <p:spPr>
          <a:xfrm>
            <a:off x="10479024" y="281635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admissible</a:t>
            </a:r>
          </a:p>
        </p:txBody>
      </p:sp>
      <p:sp>
        <p:nvSpPr>
          <p:cNvPr id="23" name="Rectangle 22"/>
          <p:cNvSpPr/>
          <p:nvPr/>
        </p:nvSpPr>
        <p:spPr>
          <a:xfrm>
            <a:off x="7315200" y="3328416"/>
            <a:ext cx="4480560" cy="5486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370064" y="336499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Static XGB</a:t>
            </a:r>
          </a:p>
        </p:txBody>
      </p:sp>
      <p:sp>
        <p:nvSpPr>
          <p:cNvPr id="25" name="Rectangle 24"/>
          <p:cNvSpPr/>
          <p:nvPr/>
        </p:nvSpPr>
        <p:spPr>
          <a:xfrm>
            <a:off x="9107424" y="33649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$72,206</a:t>
            </a:r>
          </a:p>
        </p:txBody>
      </p:sp>
      <p:sp>
        <p:nvSpPr>
          <p:cNvPr id="26" name="Rectangle 25"/>
          <p:cNvSpPr/>
          <p:nvPr/>
        </p:nvSpPr>
        <p:spPr>
          <a:xfrm>
            <a:off x="10479024" y="336499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2E8B57"/>
                </a:solidFill>
                <a:latin typeface="Calibri"/>
              </a:defRPr>
            </a:pPr>
            <a:r>
              <a:t>admissible</a:t>
            </a:r>
          </a:p>
        </p:txBody>
      </p:sp>
      <p:sp>
        <p:nvSpPr>
          <p:cNvPr id="27" name="Rectangle 26"/>
          <p:cNvSpPr/>
          <p:nvPr/>
        </p:nvSpPr>
        <p:spPr>
          <a:xfrm>
            <a:off x="7370064" y="3913632"/>
            <a:ext cx="162763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AlwaysRATED</a:t>
            </a:r>
          </a:p>
        </p:txBody>
      </p:sp>
      <p:sp>
        <p:nvSpPr>
          <p:cNvPr id="28" name="Rectangle 27"/>
          <p:cNvSpPr/>
          <p:nvPr/>
        </p:nvSpPr>
        <p:spPr>
          <a:xfrm>
            <a:off x="9107424" y="39136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$122,287</a:t>
            </a:r>
          </a:p>
        </p:txBody>
      </p:sp>
      <p:sp>
        <p:nvSpPr>
          <p:cNvPr id="29" name="Rectangle 28"/>
          <p:cNvSpPr/>
          <p:nvPr/>
        </p:nvSpPr>
        <p:spPr>
          <a:xfrm>
            <a:off x="10479024" y="3913632"/>
            <a:ext cx="1261872" cy="4754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D93B3B"/>
                </a:solidFill>
                <a:latin typeface="Calibri"/>
              </a:defRPr>
            </a:pPr>
            <a:r>
              <a:t>inadmissible</a:t>
            </a:r>
          </a:p>
        </p:txBody>
      </p:sp>
      <p:sp>
        <p:nvSpPr>
          <p:cNvPr id="30" name="Rectangle 29"/>
          <p:cNvSpPr/>
          <p:nvPr/>
        </p:nvSpPr>
        <p:spPr>
          <a:xfrm>
            <a:off x="7315200" y="468172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571232" y="457200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Rates 100% at flat +25% loading</a:t>
            </a:r>
          </a:p>
        </p:txBody>
      </p:sp>
      <p:sp>
        <p:nvSpPr>
          <p:cNvPr id="32" name="Rectangle 31"/>
          <p:cNvSpPr/>
          <p:nvPr/>
        </p:nvSpPr>
        <p:spPr>
          <a:xfrm>
            <a:off x="7315200" y="518464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571232" y="507492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Not commercially / regulatorily viable</a:t>
            </a:r>
          </a:p>
        </p:txBody>
      </p:sp>
      <p:sp>
        <p:nvSpPr>
          <p:cNvPr id="34" name="Rectangle 33"/>
          <p:cNvSpPr/>
          <p:nvPr/>
        </p:nvSpPr>
        <p:spPr>
          <a:xfrm>
            <a:off x="7315200" y="5687568"/>
            <a:ext cx="91440" cy="9144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571232" y="5577840"/>
            <a:ext cx="4133088" cy="5029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Bandits rank 1-2 of admissible set</a:t>
            </a:r>
          </a:p>
        </p:txBody>
      </p:sp>
      <p:sp>
        <p:nvSpPr>
          <p:cNvPr id="36" name="Rectangle 35"/>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Pre-registered expectation FALSIFIED: AlwaysRATED $122,287 tops the ladder (§5.0.1) -- reported as the scientifically informative outcome; headline is scoped to admissible policies.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A2  NUMBER RECONCILIATION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A2</a:t>
            </a:r>
          </a:p>
        </p:txBody>
      </p:sp>
      <p:sp>
        <p:nvSpPr>
          <p:cNvPr id="10" name="Rectangle 9"/>
          <p:cNvSpPr/>
          <p:nvPr/>
        </p:nvSpPr>
        <p:spPr>
          <a:xfrm>
            <a:off x="512064" y="1371600"/>
            <a:ext cx="39136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Comparison pair</a:t>
            </a:r>
          </a:p>
        </p:txBody>
      </p:sp>
      <p:sp>
        <p:nvSpPr>
          <p:cNvPr id="11" name="Rectangle 10"/>
          <p:cNvSpPr/>
          <p:nvPr/>
        </p:nvSpPr>
        <p:spPr>
          <a:xfrm>
            <a:off x="4535424" y="1371600"/>
            <a:ext cx="11704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Lift</a:t>
            </a:r>
          </a:p>
        </p:txBody>
      </p:sp>
      <p:sp>
        <p:nvSpPr>
          <p:cNvPr id="12" name="Rectangle 11"/>
          <p:cNvSpPr/>
          <p:nvPr/>
        </p:nvSpPr>
        <p:spPr>
          <a:xfrm>
            <a:off x="5815584" y="1371600"/>
            <a:ext cx="574243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A1A1A"/>
                </a:solidFill>
                <a:latin typeface="Calibri"/>
              </a:defRPr>
            </a:pPr>
            <a:r>
              <a:t>Basis / why different</a:t>
            </a:r>
          </a:p>
        </p:txBody>
      </p:sp>
      <p:sp>
        <p:nvSpPr>
          <p:cNvPr id="13" name="Rectangle 12"/>
          <p:cNvSpPr/>
          <p:nvPr/>
        </p:nvSpPr>
        <p:spPr>
          <a:xfrm>
            <a:off x="457200" y="1700784"/>
            <a:ext cx="1115568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1773936"/>
            <a:ext cx="1115568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 y="181051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 vs Static XGB (EXP-005)</a:t>
            </a:r>
          </a:p>
        </p:txBody>
      </p:sp>
      <p:sp>
        <p:nvSpPr>
          <p:cNvPr id="16" name="Rectangle 15"/>
          <p:cNvSpPr/>
          <p:nvPr/>
        </p:nvSpPr>
        <p:spPr>
          <a:xfrm>
            <a:off x="4535424" y="181051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+25.2%</a:t>
            </a:r>
          </a:p>
        </p:txBody>
      </p:sp>
      <p:sp>
        <p:nvSpPr>
          <p:cNvPr id="17" name="Rectangle 16"/>
          <p:cNvSpPr/>
          <p:nvPr/>
        </p:nvSpPr>
        <p:spPr>
          <a:xfrm>
            <a:off x="5815584" y="181051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Paired design, standardised eval -- the pre-registered primary metric</a:t>
            </a:r>
          </a:p>
        </p:txBody>
      </p:sp>
      <p:sp>
        <p:nvSpPr>
          <p:cNvPr id="18" name="Rectangle 17"/>
          <p:cNvSpPr/>
          <p:nvPr/>
        </p:nvSpPr>
        <p:spPr>
          <a:xfrm>
            <a:off x="512064" y="258775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LinUCB vs Static XGB (EXP-014 ladder)</a:t>
            </a:r>
          </a:p>
        </p:txBody>
      </p:sp>
      <p:sp>
        <p:nvSpPr>
          <p:cNvPr id="19" name="Rectangle 18"/>
          <p:cNvSpPr/>
          <p:nvPr/>
        </p:nvSpPr>
        <p:spPr>
          <a:xfrm>
            <a:off x="4535424" y="258775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+27.2%</a:t>
            </a:r>
          </a:p>
        </p:txBody>
      </p:sp>
      <p:sp>
        <p:nvSpPr>
          <p:cNvPr id="20" name="Rectangle 19"/>
          <p:cNvSpPr/>
          <p:nvPr/>
        </p:nvSpPr>
        <p:spPr>
          <a:xfrm>
            <a:off x="5815584" y="258775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CRN harness, reward-maximising policy (Table 9, §5.0.1)</a:t>
            </a:r>
          </a:p>
        </p:txBody>
      </p:sp>
      <p:sp>
        <p:nvSpPr>
          <p:cNvPr id="21" name="Rectangle 20"/>
          <p:cNvSpPr/>
          <p:nvPr/>
        </p:nvSpPr>
        <p:spPr>
          <a:xfrm>
            <a:off x="457200" y="3328416"/>
            <a:ext cx="11155680" cy="77724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336499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LinTS vs Static XGB (EXP-014 ladder)</a:t>
            </a:r>
          </a:p>
        </p:txBody>
      </p:sp>
      <p:sp>
        <p:nvSpPr>
          <p:cNvPr id="23" name="Rectangle 22"/>
          <p:cNvSpPr/>
          <p:nvPr/>
        </p:nvSpPr>
        <p:spPr>
          <a:xfrm>
            <a:off x="4535424" y="336499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+29.8%</a:t>
            </a:r>
          </a:p>
        </p:txBody>
      </p:sp>
      <p:sp>
        <p:nvSpPr>
          <p:cNvPr id="24" name="Rectangle 23"/>
          <p:cNvSpPr/>
          <p:nvPr/>
        </p:nvSpPr>
        <p:spPr>
          <a:xfrm>
            <a:off x="5815584" y="336499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CRN harness, LinTS reward-maximising (Table 9, §5.0.1)</a:t>
            </a:r>
          </a:p>
        </p:txBody>
      </p:sp>
      <p:sp>
        <p:nvSpPr>
          <p:cNvPr id="25" name="Rectangle 24"/>
          <p:cNvSpPr/>
          <p:nvPr/>
        </p:nvSpPr>
        <p:spPr>
          <a:xfrm>
            <a:off x="512064" y="4142232"/>
            <a:ext cx="39136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HITL vs vanilla LinUCB (EXP-008)</a:t>
            </a:r>
          </a:p>
        </p:txBody>
      </p:sp>
      <p:sp>
        <p:nvSpPr>
          <p:cNvPr id="26" name="Rectangle 25"/>
          <p:cNvSpPr/>
          <p:nvPr/>
        </p:nvSpPr>
        <p:spPr>
          <a:xfrm>
            <a:off x="4535424" y="4142232"/>
            <a:ext cx="1170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1" i="0">
                <a:solidFill>
                  <a:srgbClr val="1B5697"/>
                </a:solidFill>
                <a:latin typeface="Calibri"/>
              </a:defRPr>
            </a:pPr>
            <a:r>
              <a:t>+14.8%</a:t>
            </a:r>
          </a:p>
        </p:txBody>
      </p:sp>
      <p:sp>
        <p:nvSpPr>
          <p:cNvPr id="27" name="Rectangle 26"/>
          <p:cNvSpPr/>
          <p:nvPr/>
        </p:nvSpPr>
        <p:spPr>
          <a:xfrm>
            <a:off x="5815584" y="4142232"/>
            <a:ext cx="5742432" cy="70408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Augmented bandit vs vanilla bandit -- different baseline entirely</a:t>
            </a:r>
          </a:p>
        </p:txBody>
      </p:sp>
      <p:sp>
        <p:nvSpPr>
          <p:cNvPr id="28" name="Rectangle 27"/>
          <p:cNvSpPr/>
          <p:nvPr/>
        </p:nvSpPr>
        <p:spPr>
          <a:xfrm>
            <a:off x="457200" y="5120640"/>
            <a:ext cx="11277295" cy="822960"/>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defRPr sz="1400" b="0">
                <a:solidFill>
                  <a:srgbClr val="1A1A1A"/>
                </a:solidFill>
                <a:latin typeface="Calibri"/>
              </a:defRPr>
            </a:pPr>
            <a:r>
              <a:t>All three answer different questions and are mutually consistent. EXP-005 (+25.2%) is the conservative pre-registered primary.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A3  FAIRNESS CRITERIA VERDICTS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A3</a:t>
            </a:r>
          </a:p>
        </p:txBody>
      </p:sp>
      <p:sp>
        <p:nvSpPr>
          <p:cNvPr id="10" name="Rectangle 9"/>
          <p:cNvSpPr/>
          <p:nvPr/>
        </p:nvSpPr>
        <p:spPr>
          <a:xfrm>
            <a:off x="512064" y="1463040"/>
            <a:ext cx="62179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t>
            </a:r>
          </a:p>
        </p:txBody>
      </p:sp>
      <p:sp>
        <p:nvSpPr>
          <p:cNvPr id="11" name="Rectangle 10"/>
          <p:cNvSpPr/>
          <p:nvPr/>
        </p:nvSpPr>
        <p:spPr>
          <a:xfrm>
            <a:off x="1243584" y="1463040"/>
            <a:ext cx="62910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Pre-registered criterion</a:t>
            </a:r>
          </a:p>
        </p:txBody>
      </p:sp>
      <p:sp>
        <p:nvSpPr>
          <p:cNvPr id="12" name="Rectangle 11"/>
          <p:cNvSpPr/>
          <p:nvPr/>
        </p:nvSpPr>
        <p:spPr>
          <a:xfrm>
            <a:off x="7644384" y="1463040"/>
            <a:ext cx="354787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Verdict</a:t>
            </a:r>
          </a:p>
        </p:txBody>
      </p:sp>
      <p:sp>
        <p:nvSpPr>
          <p:cNvPr id="13" name="Rectangle 12"/>
          <p:cNvSpPr/>
          <p:nvPr/>
        </p:nvSpPr>
        <p:spPr>
          <a:xfrm>
            <a:off x="457200" y="1792224"/>
            <a:ext cx="107899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1865376"/>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12064" y="1901952"/>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1</a:t>
            </a:r>
          </a:p>
        </p:txBody>
      </p:sp>
      <p:sp>
        <p:nvSpPr>
          <p:cNvPr id="16" name="Rectangle 15"/>
          <p:cNvSpPr/>
          <p:nvPr/>
        </p:nvSpPr>
        <p:spPr>
          <a:xfrm>
            <a:off x="1243584" y="1901952"/>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Region PSI within threshold</a:t>
            </a:r>
          </a:p>
        </p:txBody>
      </p:sp>
      <p:sp>
        <p:nvSpPr>
          <p:cNvPr id="17" name="Rectangle 16"/>
          <p:cNvSpPr/>
          <p:nvPr/>
        </p:nvSpPr>
        <p:spPr>
          <a:xfrm>
            <a:off x="7644384" y="1901952"/>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18" name="Rectangle 17"/>
          <p:cNvSpPr/>
          <p:nvPr/>
        </p:nvSpPr>
        <p:spPr>
          <a:xfrm>
            <a:off x="512064" y="2505456"/>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2</a:t>
            </a:r>
          </a:p>
        </p:txBody>
      </p:sp>
      <p:sp>
        <p:nvSpPr>
          <p:cNvPr id="19" name="Rectangle 18"/>
          <p:cNvSpPr/>
          <p:nvPr/>
        </p:nvSpPr>
        <p:spPr>
          <a:xfrm>
            <a:off x="1243584" y="2505456"/>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Occupation PSI within threshold</a:t>
            </a:r>
          </a:p>
        </p:txBody>
      </p:sp>
      <p:sp>
        <p:nvSpPr>
          <p:cNvPr id="20" name="Rectangle 19"/>
          <p:cNvSpPr/>
          <p:nvPr/>
        </p:nvSpPr>
        <p:spPr>
          <a:xfrm>
            <a:off x="7644384" y="2505456"/>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21" name="Rectangle 20"/>
          <p:cNvSpPr/>
          <p:nvPr/>
        </p:nvSpPr>
        <p:spPr>
          <a:xfrm>
            <a:off x="457200" y="3072384"/>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2064" y="3108960"/>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3</a:t>
            </a:r>
          </a:p>
        </p:txBody>
      </p:sp>
      <p:sp>
        <p:nvSpPr>
          <p:cNvPr id="23" name="Rectangle 22"/>
          <p:cNvSpPr/>
          <p:nvPr/>
        </p:nvSpPr>
        <p:spPr>
          <a:xfrm>
            <a:off x="1243584" y="3108960"/>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Region EEOC parity ≥ 80%</a:t>
            </a:r>
          </a:p>
        </p:txBody>
      </p:sp>
      <p:sp>
        <p:nvSpPr>
          <p:cNvPr id="24" name="Rectangle 23"/>
          <p:cNvSpPr/>
          <p:nvPr/>
        </p:nvSpPr>
        <p:spPr>
          <a:xfrm>
            <a:off x="7644384" y="3108960"/>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25" name="Rectangle 24"/>
          <p:cNvSpPr/>
          <p:nvPr/>
        </p:nvSpPr>
        <p:spPr>
          <a:xfrm>
            <a:off x="512064" y="3712464"/>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4</a:t>
            </a:r>
          </a:p>
        </p:txBody>
      </p:sp>
      <p:sp>
        <p:nvSpPr>
          <p:cNvPr id="26" name="Rectangle 25"/>
          <p:cNvSpPr/>
          <p:nvPr/>
        </p:nvSpPr>
        <p:spPr>
          <a:xfrm>
            <a:off x="1243584" y="3712464"/>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Occupation EEOC parity ≥ 80%</a:t>
            </a:r>
          </a:p>
        </p:txBody>
      </p:sp>
      <p:sp>
        <p:nvSpPr>
          <p:cNvPr id="27" name="Rectangle 26"/>
          <p:cNvSpPr/>
          <p:nvPr/>
        </p:nvSpPr>
        <p:spPr>
          <a:xfrm>
            <a:off x="7644384" y="3712464"/>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28" name="Rectangle 27"/>
          <p:cNvSpPr/>
          <p:nvPr/>
        </p:nvSpPr>
        <p:spPr>
          <a:xfrm>
            <a:off x="457200" y="4279392"/>
            <a:ext cx="10789920" cy="603504"/>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12064" y="4315968"/>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5</a:t>
            </a:r>
          </a:p>
        </p:txBody>
      </p:sp>
      <p:sp>
        <p:nvSpPr>
          <p:cNvPr id="30" name="Rectangle 29"/>
          <p:cNvSpPr/>
          <p:nvPr/>
        </p:nvSpPr>
        <p:spPr>
          <a:xfrm>
            <a:off x="1243584" y="4315968"/>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Region → action independence</a:t>
            </a:r>
          </a:p>
        </p:txBody>
      </p:sp>
      <p:sp>
        <p:nvSpPr>
          <p:cNvPr id="31" name="Rectangle 30"/>
          <p:cNvSpPr/>
          <p:nvPr/>
        </p:nvSpPr>
        <p:spPr>
          <a:xfrm>
            <a:off x="7644384" y="4315968"/>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2E8B57"/>
                </a:solidFill>
                <a:latin typeface="Calibri"/>
              </a:defRPr>
            </a:pPr>
            <a:r>
              <a:t>PASSED</a:t>
            </a:r>
          </a:p>
        </p:txBody>
      </p:sp>
      <p:sp>
        <p:nvSpPr>
          <p:cNvPr id="32" name="Rectangle 31"/>
          <p:cNvSpPr/>
          <p:nvPr/>
        </p:nvSpPr>
        <p:spPr>
          <a:xfrm>
            <a:off x="512064" y="4919472"/>
            <a:ext cx="62179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6</a:t>
            </a:r>
          </a:p>
        </p:txBody>
      </p:sp>
      <p:sp>
        <p:nvSpPr>
          <p:cNvPr id="33" name="Rectangle 32"/>
          <p:cNvSpPr/>
          <p:nvPr/>
        </p:nvSpPr>
        <p:spPr>
          <a:xfrm>
            <a:off x="1243584" y="4919472"/>
            <a:ext cx="62910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Occupation → action independence</a:t>
            </a:r>
          </a:p>
        </p:txBody>
      </p:sp>
      <p:sp>
        <p:nvSpPr>
          <p:cNvPr id="34" name="Rectangle 33"/>
          <p:cNvSpPr/>
          <p:nvPr/>
        </p:nvSpPr>
        <p:spPr>
          <a:xfrm>
            <a:off x="7644384" y="4919472"/>
            <a:ext cx="3547872"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D93B3B"/>
                </a:solidFill>
                <a:latin typeface="Calibri"/>
              </a:defRPr>
            </a:pPr>
            <a:r>
              <a:t>FAILED-with-interpretation</a:t>
            </a:r>
          </a:p>
        </p:txBody>
      </p:sp>
      <p:sp>
        <p:nvSpPr>
          <p:cNvPr id="35" name="Rectangle 34"/>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5 of 6 PASSED. Criterion 6: occupation→action p &lt; 0.001 — significant but practically small; occupation is an actuarially valid factor.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A4  SENSITIVITY &amp; ABLATION</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A4</a:t>
            </a:r>
          </a:p>
        </p:txBody>
      </p:sp>
      <p:sp>
        <p:nvSpPr>
          <p:cNvPr id="10" name="Rectangle 9"/>
          <p:cNvSpPr/>
          <p:nvPr/>
        </p:nvSpPr>
        <p:spPr>
          <a:xfrm>
            <a:off x="512064" y="1463040"/>
            <a:ext cx="373075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Parameter</a:t>
            </a:r>
          </a:p>
        </p:txBody>
      </p:sp>
      <p:sp>
        <p:nvSpPr>
          <p:cNvPr id="11" name="Rectangle 10"/>
          <p:cNvSpPr/>
          <p:nvPr/>
        </p:nvSpPr>
        <p:spPr>
          <a:xfrm>
            <a:off x="4352544" y="1463040"/>
            <a:ext cx="7296912" cy="31089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Value / range tested</a:t>
            </a:r>
          </a:p>
        </p:txBody>
      </p:sp>
      <p:sp>
        <p:nvSpPr>
          <p:cNvPr id="12" name="Rectangle 11"/>
          <p:cNvSpPr/>
          <p:nvPr/>
        </p:nvSpPr>
        <p:spPr>
          <a:xfrm>
            <a:off x="457200" y="1792224"/>
            <a:ext cx="11247120" cy="22860"/>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65376"/>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12064" y="1901952"/>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α  (LinUCB exploration)</a:t>
            </a:r>
          </a:p>
        </p:txBody>
      </p:sp>
      <p:sp>
        <p:nvSpPr>
          <p:cNvPr id="15" name="Rectangle 14"/>
          <p:cNvSpPr/>
          <p:nvPr/>
        </p:nvSpPr>
        <p:spPr>
          <a:xfrm>
            <a:off x="4352544" y="1901952"/>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1.0 headline — regret-minimising in EXP-012 sweep</a:t>
            </a:r>
          </a:p>
        </p:txBody>
      </p:sp>
      <p:sp>
        <p:nvSpPr>
          <p:cNvPr id="16" name="Rectangle 15"/>
          <p:cNvSpPr/>
          <p:nvPr/>
        </p:nvSpPr>
        <p:spPr>
          <a:xfrm>
            <a:off x="512064" y="2468880"/>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v  (LinTS variance)</a:t>
            </a:r>
          </a:p>
        </p:txBody>
      </p:sp>
      <p:sp>
        <p:nvSpPr>
          <p:cNvPr id="17" name="Rectangle 16"/>
          <p:cNvSpPr/>
          <p:nvPr/>
        </p:nvSpPr>
        <p:spPr>
          <a:xfrm>
            <a:off x="4352544" y="2468880"/>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0.1 — posterior-width calibration</a:t>
            </a:r>
          </a:p>
        </p:txBody>
      </p:sp>
      <p:sp>
        <p:nvSpPr>
          <p:cNvPr id="18" name="Rectangle 17"/>
          <p:cNvSpPr/>
          <p:nvPr/>
        </p:nvSpPr>
        <p:spPr>
          <a:xfrm>
            <a:off x="457200" y="2999232"/>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2064" y="3035808"/>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λ  (ridge penalty)</a:t>
            </a:r>
          </a:p>
        </p:txBody>
      </p:sp>
      <p:sp>
        <p:nvSpPr>
          <p:cNvPr id="20" name="Rectangle 19"/>
          <p:cNvSpPr/>
          <p:nvPr/>
        </p:nvSpPr>
        <p:spPr>
          <a:xfrm>
            <a:off x="4352544" y="3035808"/>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1.0 — identity prior</a:t>
            </a:r>
          </a:p>
        </p:txBody>
      </p:sp>
      <p:sp>
        <p:nvSpPr>
          <p:cNvPr id="21" name="Rectangle 20"/>
          <p:cNvSpPr/>
          <p:nvPr/>
        </p:nvSpPr>
        <p:spPr>
          <a:xfrm>
            <a:off x="512064" y="3602736"/>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κ  (HITL conservatism)</a:t>
            </a:r>
          </a:p>
        </p:txBody>
      </p:sp>
      <p:sp>
        <p:nvSpPr>
          <p:cNvPr id="22" name="Rectangle 21"/>
          <p:cNvSpPr/>
          <p:nvPr/>
        </p:nvSpPr>
        <p:spPr>
          <a:xfrm>
            <a:off x="4352544" y="3602736"/>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0.7 headline; 0.3 / 0.5 also tested (EXP-008)</a:t>
            </a:r>
          </a:p>
        </p:txBody>
      </p:sp>
      <p:sp>
        <p:nvSpPr>
          <p:cNvPr id="23" name="Rectangle 22"/>
          <p:cNvSpPr/>
          <p:nvPr/>
        </p:nvSpPr>
        <p:spPr>
          <a:xfrm>
            <a:off x="457200" y="4133088"/>
            <a:ext cx="11247120" cy="566928"/>
          </a:xfrm>
          <a:prstGeom prst="rect">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4169664"/>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Price elasticity β</a:t>
            </a:r>
          </a:p>
        </p:txBody>
      </p:sp>
      <p:sp>
        <p:nvSpPr>
          <p:cNvPr id="25" name="Rectangle 24"/>
          <p:cNvSpPr/>
          <p:nvPr/>
        </p:nvSpPr>
        <p:spPr>
          <a:xfrm>
            <a:off x="4352544" y="4169664"/>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3.5 base; 2.5 / 4.5 stress (EXP-012)</a:t>
            </a:r>
          </a:p>
        </p:txBody>
      </p:sp>
      <p:sp>
        <p:nvSpPr>
          <p:cNvPr id="26" name="Rectangle 25"/>
          <p:cNvSpPr/>
          <p:nvPr/>
        </p:nvSpPr>
        <p:spPr>
          <a:xfrm>
            <a:off x="512064" y="4736592"/>
            <a:ext cx="373075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Adverse-selection AF</a:t>
            </a:r>
          </a:p>
        </p:txBody>
      </p:sp>
      <p:sp>
        <p:nvSpPr>
          <p:cNvPr id="27" name="Rectangle 26"/>
          <p:cNvSpPr/>
          <p:nvPr/>
        </p:nvSpPr>
        <p:spPr>
          <a:xfrm>
            <a:off x="4352544" y="4736592"/>
            <a:ext cx="7296912" cy="49377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alibri"/>
              </a:defRPr>
            </a:pPr>
            <a:r>
              <a:t>1.35 (DAC actuarial prior)</a:t>
            </a:r>
          </a:p>
        </p:txBody>
      </p:sp>
      <p:sp>
        <p:nvSpPr>
          <p:cNvPr id="28" name="Rectangle 27"/>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Headline ranking is stable across the EXP-011 ablation and the EXP-012 sensitivity grid.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10896"/>
            <a:ext cx="11277295"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ctr">
              <a:defRPr sz="2600" b="1" i="0">
                <a:solidFill>
                  <a:srgbClr val="1B5697"/>
                </a:solidFill>
                <a:latin typeface="Segoe UI"/>
              </a:defRPr>
            </a:pPr>
            <a:r>
              <a:t>A5  BANDIT MATH &amp; PSI MECHANICS</a:t>
            </a:r>
          </a:p>
        </p:txBody>
      </p:sp>
      <p:sp>
        <p:nvSpPr>
          <p:cNvPr id="3" name="Rectangle 2"/>
          <p:cNvSpPr/>
          <p:nvPr/>
        </p:nvSpPr>
        <p:spPr>
          <a:xfrm>
            <a:off x="5090007" y="932688"/>
            <a:ext cx="2011680" cy="36576"/>
          </a:xfrm>
          <a:prstGeom prst="rect">
            <a:avLst/>
          </a:prstGeom>
          <a:solidFill>
            <a:srgbClr val="1B56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437376"/>
            <a:ext cx="3108960"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6437376"/>
            <a:ext cx="283464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defRPr sz="1100" b="1" i="0">
                <a:solidFill>
                  <a:srgbClr val="FFFFFF"/>
                </a:solidFill>
                <a:latin typeface="Segoe UI"/>
              </a:defRPr>
            </a:pPr>
            <a:r>
              <a:t>DAC  ·  ITC-AMS</a:t>
            </a:r>
          </a:p>
        </p:txBody>
      </p:sp>
      <p:sp>
        <p:nvSpPr>
          <p:cNvPr id="6" name="Rectangle 5"/>
          <p:cNvSpPr/>
          <p:nvPr/>
        </p:nvSpPr>
        <p:spPr>
          <a:xfrm>
            <a:off x="3108960" y="6437376"/>
            <a:ext cx="6126480" cy="420624"/>
          </a:xfrm>
          <a:prstGeom prst="rect">
            <a:avLst/>
          </a:prstGeom>
          <a:solidFill>
            <a:srgbClr val="AFC4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200400" y="6437376"/>
            <a:ext cx="59436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defRPr sz="1100" b="0" i="0">
                <a:solidFill>
                  <a:srgbClr val="143D6B"/>
                </a:solidFill>
                <a:latin typeface="Calibri"/>
              </a:defRPr>
            </a:pPr>
            <a:r>
              <a:t>Appendix</a:t>
            </a:r>
          </a:p>
        </p:txBody>
      </p:sp>
      <p:sp>
        <p:nvSpPr>
          <p:cNvPr id="8" name="Rectangle 7"/>
          <p:cNvSpPr/>
          <p:nvPr/>
        </p:nvSpPr>
        <p:spPr>
          <a:xfrm>
            <a:off x="9235440" y="6437376"/>
            <a:ext cx="2956255" cy="420624"/>
          </a:xfrm>
          <a:prstGeom prst="rect">
            <a:avLst/>
          </a:prstGeom>
          <a:solidFill>
            <a:srgbClr val="143D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326880" y="6437376"/>
            <a:ext cx="274320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r">
              <a:defRPr sz="1100" b="1" i="0">
                <a:solidFill>
                  <a:srgbClr val="FFFFFF"/>
                </a:solidFill>
                <a:latin typeface="Segoe UI"/>
              </a:defRPr>
            </a:pPr>
            <a:r>
              <a:t>July 2026   ·   A5</a:t>
            </a:r>
          </a:p>
        </p:txBody>
      </p:sp>
      <p:sp>
        <p:nvSpPr>
          <p:cNvPr id="10" name="Rectangle 9"/>
          <p:cNvSpPr/>
          <p:nvPr/>
        </p:nvSpPr>
        <p:spPr>
          <a:xfrm>
            <a:off x="457200" y="123444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LinUCB (OFUL)</a:t>
            </a:r>
          </a:p>
        </p:txBody>
      </p:sp>
      <p:sp>
        <p:nvSpPr>
          <p:cNvPr id="11" name="Rectangle 10"/>
          <p:cNvSpPr/>
          <p:nvPr/>
        </p:nvSpPr>
        <p:spPr>
          <a:xfrm>
            <a:off x="594360" y="16916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A_a ← A_a + x_t x_tᵀ</a:t>
            </a:r>
          </a:p>
        </p:txBody>
      </p:sp>
      <p:sp>
        <p:nvSpPr>
          <p:cNvPr id="12" name="Rectangle 11"/>
          <p:cNvSpPr/>
          <p:nvPr/>
        </p:nvSpPr>
        <p:spPr>
          <a:xfrm>
            <a:off x="594360" y="21488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b_a ← b_a + r_t x_t</a:t>
            </a:r>
          </a:p>
        </p:txBody>
      </p:sp>
      <p:sp>
        <p:nvSpPr>
          <p:cNvPr id="13" name="Rectangle 12"/>
          <p:cNvSpPr/>
          <p:nvPr/>
        </p:nvSpPr>
        <p:spPr>
          <a:xfrm>
            <a:off x="594360" y="26060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θ_a = A_a⁻¹ b_a</a:t>
            </a:r>
          </a:p>
        </p:txBody>
      </p:sp>
      <p:sp>
        <p:nvSpPr>
          <p:cNvPr id="14" name="Rectangle 13"/>
          <p:cNvSpPr/>
          <p:nvPr/>
        </p:nvSpPr>
        <p:spPr>
          <a:xfrm>
            <a:off x="594360" y="30632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a* = argmax θ_aᵀx_t + α√(x_tᵀA_a⁻¹x_t)</a:t>
            </a:r>
          </a:p>
        </p:txBody>
      </p:sp>
      <p:sp>
        <p:nvSpPr>
          <p:cNvPr id="15" name="Rectangle 14"/>
          <p:cNvSpPr/>
          <p:nvPr/>
        </p:nvSpPr>
        <p:spPr>
          <a:xfrm>
            <a:off x="6400800" y="1234440"/>
            <a:ext cx="53035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B5697"/>
                </a:solidFill>
                <a:latin typeface="Calibri"/>
              </a:defRPr>
            </a:pPr>
            <a:r>
              <a:t>LinTS (Thompson)</a:t>
            </a:r>
          </a:p>
        </p:txBody>
      </p:sp>
      <p:sp>
        <p:nvSpPr>
          <p:cNvPr id="16" name="Rectangle 15"/>
          <p:cNvSpPr/>
          <p:nvPr/>
        </p:nvSpPr>
        <p:spPr>
          <a:xfrm>
            <a:off x="6537960" y="16916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Prior: θ_a ~ N(μ_a, λ⁻¹I)</a:t>
            </a:r>
          </a:p>
        </p:txBody>
      </p:sp>
      <p:sp>
        <p:nvSpPr>
          <p:cNvPr id="17" name="Rectangle 16"/>
          <p:cNvSpPr/>
          <p:nvPr/>
        </p:nvSpPr>
        <p:spPr>
          <a:xfrm>
            <a:off x="6537960" y="21488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Σ_a⁻¹ = λI + A_a ;  μ_a = Σ_a b_a</a:t>
            </a:r>
          </a:p>
        </p:txBody>
      </p:sp>
      <p:sp>
        <p:nvSpPr>
          <p:cNvPr id="18" name="Rectangle 17"/>
          <p:cNvSpPr/>
          <p:nvPr/>
        </p:nvSpPr>
        <p:spPr>
          <a:xfrm>
            <a:off x="6537960" y="26060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Sample: θ̃_a ~ N(μ_a, v²Σ_a)</a:t>
            </a:r>
          </a:p>
        </p:txBody>
      </p:sp>
      <p:sp>
        <p:nvSpPr>
          <p:cNvPr id="19" name="Rectangle 18"/>
          <p:cNvSpPr/>
          <p:nvPr/>
        </p:nvSpPr>
        <p:spPr>
          <a:xfrm>
            <a:off x="6537960" y="3063240"/>
            <a:ext cx="5212080" cy="42062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0" i="0">
                <a:solidFill>
                  <a:srgbClr val="1A1A1A"/>
                </a:solidFill>
                <a:latin typeface="Consolas"/>
              </a:defRPr>
            </a:pPr>
            <a:r>
              <a:t>Select: a* = argmax θ̃_aᵀ x_t</a:t>
            </a:r>
          </a:p>
        </p:txBody>
      </p:sp>
      <p:sp>
        <p:nvSpPr>
          <p:cNvPr id="20" name="Rectangle 19"/>
          <p:cNvSpPr/>
          <p:nvPr/>
        </p:nvSpPr>
        <p:spPr>
          <a:xfrm>
            <a:off x="457200" y="3886200"/>
            <a:ext cx="11277295"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600" b="1" i="0">
                <a:solidFill>
                  <a:srgbClr val="1A1A1A"/>
                </a:solidFill>
                <a:latin typeface="Consolas"/>
              </a:defRPr>
            </a:pPr>
            <a:r>
              <a:t>PSI = Σ (Actual% − Expected%) × ln(Actual% / Expected%)</a:t>
            </a:r>
          </a:p>
        </p:txBody>
      </p:sp>
      <p:sp>
        <p:nvSpPr>
          <p:cNvPr id="21" name="Rectangle 20"/>
          <p:cNvSpPr/>
          <p:nvPr/>
        </p:nvSpPr>
        <p:spPr>
          <a:xfrm>
            <a:off x="457200" y="4480560"/>
            <a:ext cx="146304" cy="41148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22960" y="448056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GREEN</a:t>
            </a:r>
          </a:p>
        </p:txBody>
      </p:sp>
      <p:sp>
        <p:nvSpPr>
          <p:cNvPr id="23" name="Rectangle 22"/>
          <p:cNvSpPr/>
          <p:nvPr/>
        </p:nvSpPr>
        <p:spPr>
          <a:xfrm>
            <a:off x="2194560" y="450799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PSI &lt; 0.10</a:t>
            </a:r>
          </a:p>
        </p:txBody>
      </p:sp>
      <p:sp>
        <p:nvSpPr>
          <p:cNvPr id="24" name="Rectangle 23"/>
          <p:cNvSpPr/>
          <p:nvPr/>
        </p:nvSpPr>
        <p:spPr>
          <a:xfrm>
            <a:off x="4754880" y="450799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stable — no action</a:t>
            </a:r>
          </a:p>
        </p:txBody>
      </p:sp>
      <p:sp>
        <p:nvSpPr>
          <p:cNvPr id="25" name="Rectangle 24"/>
          <p:cNvSpPr/>
          <p:nvPr/>
        </p:nvSpPr>
        <p:spPr>
          <a:xfrm>
            <a:off x="457200" y="4983480"/>
            <a:ext cx="146304" cy="411480"/>
          </a:xfrm>
          <a:prstGeom prst="rect">
            <a:avLst/>
          </a:prstGeom>
          <a:solidFill>
            <a:srgbClr val="E6A6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22960" y="498348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AMBER</a:t>
            </a:r>
          </a:p>
        </p:txBody>
      </p:sp>
      <p:sp>
        <p:nvSpPr>
          <p:cNvPr id="27" name="Rectangle 26"/>
          <p:cNvSpPr/>
          <p:nvPr/>
        </p:nvSpPr>
        <p:spPr>
          <a:xfrm>
            <a:off x="2194560" y="501091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0.10 ≤ PSI &lt; 0.25</a:t>
            </a:r>
          </a:p>
        </p:txBody>
      </p:sp>
      <p:sp>
        <p:nvSpPr>
          <p:cNvPr id="28" name="Rectangle 27"/>
          <p:cNvSpPr/>
          <p:nvPr/>
        </p:nvSpPr>
        <p:spPr>
          <a:xfrm>
            <a:off x="4754880" y="501091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monitor closely</a:t>
            </a:r>
          </a:p>
        </p:txBody>
      </p:sp>
      <p:sp>
        <p:nvSpPr>
          <p:cNvPr id="29" name="Rectangle 28"/>
          <p:cNvSpPr/>
          <p:nvPr/>
        </p:nvSpPr>
        <p:spPr>
          <a:xfrm>
            <a:off x="457200" y="5486400"/>
            <a:ext cx="146304" cy="411480"/>
          </a:xfrm>
          <a:prstGeom prst="rect">
            <a:avLst/>
          </a:prstGeom>
          <a:solidFill>
            <a:srgbClr val="D9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22960" y="5486400"/>
            <a:ext cx="128016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400" b="1" i="0">
                <a:solidFill>
                  <a:srgbClr val="1A1A1A"/>
                </a:solidFill>
                <a:latin typeface="Calibri"/>
              </a:defRPr>
            </a:pPr>
            <a:r>
              <a:t>RED</a:t>
            </a:r>
          </a:p>
        </p:txBody>
      </p:sp>
      <p:sp>
        <p:nvSpPr>
          <p:cNvPr id="31" name="Rectangle 30"/>
          <p:cNvSpPr/>
          <p:nvPr/>
        </p:nvSpPr>
        <p:spPr>
          <a:xfrm>
            <a:off x="2194560" y="5513832"/>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1A1A1A"/>
                </a:solidFill>
                <a:latin typeface="Calibri"/>
              </a:defRPr>
            </a:pPr>
            <a:r>
              <a:t>PSI ≥ 0.25</a:t>
            </a:r>
          </a:p>
        </p:txBody>
      </p:sp>
      <p:sp>
        <p:nvSpPr>
          <p:cNvPr id="32" name="Rectangle 31"/>
          <p:cNvSpPr/>
          <p:nvPr/>
        </p:nvSpPr>
        <p:spPr>
          <a:xfrm>
            <a:off x="4754880" y="5513832"/>
            <a:ext cx="6858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300" b="0" i="0">
                <a:solidFill>
                  <a:srgbClr val="3A3A3A"/>
                </a:solidFill>
                <a:latin typeface="Calibri"/>
              </a:defRPr>
            </a:pPr>
            <a:r>
              <a:t>mandatory review</a:t>
            </a:r>
          </a:p>
        </p:txBody>
      </p:sp>
      <p:sp>
        <p:nvSpPr>
          <p:cNvPr id="33" name="Rectangle 32"/>
          <p:cNvSpPr/>
          <p:nvPr/>
        </p:nvSpPr>
        <p:spPr>
          <a:xfrm>
            <a:off x="457200" y="6053328"/>
            <a:ext cx="11277295" cy="32918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45720" rIns="45720" tIns="18288" bIns="18288"/>
          <a:lstStyle/>
          <a:p>
            <a:pPr algn="l">
              <a:defRPr sz="1050" b="0" i="1">
                <a:solidFill>
                  <a:srgbClr val="777777"/>
                </a:solidFill>
                <a:latin typeface="Calibri"/>
              </a:defRPr>
            </a:pPr>
            <a:r>
              <a:t>EXP-006: region PSI 0.0821 (GREEN) · occupation max 0.1225 (AMBER) — both within threshold.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