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Cambodia context: the National Social Security Fund covers only formal-sector workers, roughly 16 percent; private voluntary insurance is nascent and underwriting is mostly manual and rule-based. Actuaries apply fixed premium rules without learning from outcomes, suboptimal decisions compound over a growing applicant pool, and penetration is below 10 percent (2023 estimate). The opportunity: a contextual bandit learns online from each decision while a PSI guardrail watches demographic fairness.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concrete failures of the status quo. One: fixed age/BMI/income cutoffs ignore context, so a misclassified high-risk applicant generates uncorrected losses. Two: the claims signal is never fed back, so accuracy degrades silently as demographics shift. Three: no parity metric is tracked, so regional or occupational concentration can develop undetected. Four: there is no triage - actuaries spend time on high-volume routine cases instead of genuine edge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goal once, slowly. The four objectives map one-to-one onto the chapters: O1 the algorithms (Chapter IV), O2 the dataset (Chapter IV), O3 the evaluation (Chapter V), O4 fairness plus HITL (Chapter V). These are verbatim from the thesis - the examiners will check the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Decent Actuarial Consultants is a Phnom Penh actuarial consultancy serving insurers, pension funds and regulators across Southeast Asia. The thesis is embedded in a DAC-supervised research internship, March through June 2026; the deliverable is the end-to-end adaptive underwriting prototype plus this report. Timeline: March scoping and dataset design, April algorithms, May experiments, June writing and defense preparation.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strands inform the method. Bouneffouf showed LinUCB works for clinical decisions. Li et al. 2010 give the LinUCB regret bound, Agrawal and Goyal 2013 the LinTS guarantee - together they justify the two proposed policies. Frees and Kusner frame insurance fairness constraints; Yurdakul's PSI gives the monitoring metric with the 0.10/0.25 thresholds; Christiano motivates the human-in-the-loop wrapper. The thesis reviews thirty-plus sources; this is the load-bearing subset.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the browser. Walk one applicant through scoring, show the arm the bandit picks and the uncertainty-driven REFER, then the PSI monitor staying GREEN/AMBER, and finally the HITL queue with per-referral cost. If anything breaks, jump to appendix slides A6-A8 and narrate over the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914400" cy="901541"/>
          </a:xfrm>
          <a:prstGeom prst="rect">
            <a:avLst/>
          </a:prstGeom>
          <a:effectLst/>
        </p:spPr>
      </p:pic>
      <p:pic>
        <p:nvPicPr>
          <p:cNvPr id="3" name="Picture 2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365760"/>
            <a:ext cx="1325880" cy="1256418"/>
          </a:xfrm>
          <a:prstGeom prst="rect">
            <a:avLst/>
          </a:prstGeom>
          <a:effectLst/>
        </p:spPr>
      </p:pic>
      <p:pic>
        <p:nvPicPr>
          <p:cNvPr id="4" name="Picture 3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0" y="320040"/>
            <a:ext cx="1325880" cy="745808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3108960" y="384048"/>
            <a:ext cx="6583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200" b="1" i="0">
                <a:solidFill>
                  <a:srgbClr val="1A1A1A"/>
                </a:solidFill>
                <a:latin typeface="Calibri"/>
              </a:defRPr>
            </a:pPr>
            <a:r>
              <a:t>Institute of Technology of Cambodia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841248"/>
            <a:ext cx="6583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500" b="0" i="0">
                <a:solidFill>
                  <a:srgbClr val="777777"/>
                </a:solidFill>
                <a:latin typeface="Calibri"/>
              </a:defRPr>
            </a:pPr>
            <a:r>
              <a:t>Department of Applied Mathematics and Statistics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13248" y="1874519"/>
            <a:ext cx="137160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10515600" cy="1554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2700" b="1" i="0">
                <a:solidFill>
                  <a:srgbClr val="1A1A1A"/>
                </a:solidFill>
                <a:latin typeface="Calibri"/>
              </a:defRPr>
            </a:pPr>
            <a:r>
              <a:t>ADAPTIVE HEALTH INSURANCE UNDERWRITING VIA CONTEXTUAL BANDITS: A REINFORCEMENT LEARNING APPROACH FOR CAMBODIA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3248" y="3886200"/>
            <a:ext cx="137160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4224528"/>
            <a:ext cx="12191695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0" i="0">
                <a:solidFill>
                  <a:srgbClr val="777777"/>
                </a:solidFill>
                <a:latin typeface="Calibri"/>
              </a:defRPr>
            </a:pPr>
            <a:r>
              <a:t>Thesis Defense — Presented by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2191695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700" b="1" i="0">
                <a:solidFill>
                  <a:srgbClr val="5D2A42"/>
                </a:solidFill>
                <a:latin typeface="Calibri"/>
              </a:defRPr>
            </a:pPr>
            <a:r>
              <a:t>LUN CHANPOLY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5193792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Supervisor      :  Dr. HAS Sothea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5193792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Organization :  DAC (Decent Actuarial Consultants)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5522976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Co-Supervisor  :  Mr. PHOK Ponna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5522976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Duration        :  Mar 2026 – Jun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035040"/>
            <a:ext cx="121916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500" b="1" i="0">
                <a:solidFill>
                  <a:srgbClr val="777777"/>
                </a:solidFill>
                <a:latin typeface="Calibri"/>
              </a:defRPr>
            </a:pPr>
            <a: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1A1A1A"/>
                </a:solidFill>
                <a:latin typeface="Calibri"/>
              </a:defRPr>
            </a:pPr>
            <a:r>
              <a:t>Table of 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07008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i</a:t>
            </a:r>
          </a:p>
        </p:txBody>
      </p:sp>
      <p:sp>
        <p:nvSpPr>
          <p:cNvPr id="5" name="Rectangle 4"/>
          <p:cNvSpPr/>
          <p:nvPr/>
        </p:nvSpPr>
        <p:spPr>
          <a:xfrm>
            <a:off x="1965960" y="183794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965960" y="235000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20040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ii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325526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Internship at DAC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76732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461772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iii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65960" y="467258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Literature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65960" y="518464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178308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iv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83794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235000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320040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325526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Results &amp; Discussion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376732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461772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467258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Limitations &amp; Conclusions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35240" y="518464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 ·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1.1  </a:t>
            </a:r>
            <a:r>
              <a:rPr sz="2600" b="1">
                <a:solidFill>
                  <a:srgbClr val="1A1A1A"/>
                </a:solidFill>
                <a:latin typeface="Calibri"/>
              </a:rPr>
              <a:t>Research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585216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6000" b="1" i="0">
                <a:solidFill>
                  <a:srgbClr val="5D2A42"/>
                </a:solidFill>
                <a:latin typeface="Calibri"/>
              </a:defRPr>
            </a:pPr>
            <a:r>
              <a:t>&lt; 10 %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67128"/>
            <a:ext cx="585216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0" i="0">
                <a:solidFill>
                  <a:srgbClr val="777777"/>
                </a:solidFill>
                <a:latin typeface="Calibri"/>
              </a:defRPr>
            </a:pPr>
            <a:r>
              <a:rPr spc="80"/>
              <a:t>HEALTH-INSURANCE PENETRATION IN CAMBODIA (2023 EST.)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962656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852928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NSSF covers formal-sector workers only (~16%)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29584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3419856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Private underwriting is manual and rule-based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96512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3986784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Static rules never learn from outcomes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663440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4553712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No demographic-parity monitoring in practice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1298448"/>
            <a:ext cx="5029200" cy="42062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Research opportunity</a:t>
            </a:r>
            <a:br/>
            <a:br/>
            <a:r>
              <a:t>Contextual bandits can learn from every underwriting decision in real time, adapting to Cambodia-specific risk patterns while demographic fairness is monitored automatically.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 ·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1.2  </a:t>
            </a:r>
            <a:r>
              <a:rPr sz="2600" b="1">
                <a:solidFill>
                  <a:srgbClr val="1A1A1A"/>
                </a:solidFill>
                <a:latin typeface="Calibri"/>
              </a:rPr>
              <a:t>Research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21488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89888"/>
            <a:ext cx="64008" cy="21488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09928"/>
            <a:ext cx="49377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1A1A1A"/>
                </a:solidFill>
                <a:latin typeface="Calibri"/>
              </a:defRPr>
            </a:pPr>
            <a:r>
              <a:t>Static thresholds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04288"/>
            <a:ext cx="493776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3A3A3A"/>
                </a:solidFill>
                <a:latin typeface="Calibri"/>
              </a:defRPr>
            </a:pPr>
            <a:r>
              <a:t>Fixed cutoffs ignore applicant context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89888"/>
            <a:ext cx="5486400" cy="21488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89888"/>
            <a:ext cx="64008" cy="21488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1709928"/>
            <a:ext cx="49377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1A1A1A"/>
                </a:solidFill>
                <a:latin typeface="Calibri"/>
              </a:defRPr>
            </a:pPr>
            <a:r>
              <a:t>No online adaptation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304288"/>
            <a:ext cx="493776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3A3A3A"/>
                </a:solidFill>
                <a:latin typeface="Calibri"/>
              </a:defRPr>
            </a:pPr>
            <a:r>
              <a:t>Claims feedback never reaches the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13048"/>
            <a:ext cx="5486400" cy="21488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13048"/>
            <a:ext cx="64008" cy="21488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133088"/>
            <a:ext cx="49377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1A1A1A"/>
                </a:solidFill>
                <a:latin typeface="Calibri"/>
              </a:defRPr>
            </a:pPr>
            <a:r>
              <a:t>Demographic blindspot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727448"/>
            <a:ext cx="493776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3A3A3A"/>
                </a:solidFill>
                <a:latin typeface="Calibri"/>
              </a:defRPr>
            </a:pPr>
            <a:r>
              <a:t>No parity metric is tracked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13048"/>
            <a:ext cx="5486400" cy="21488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3813048"/>
            <a:ext cx="64008" cy="21488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133088"/>
            <a:ext cx="49377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1A1A1A"/>
                </a:solidFill>
                <a:latin typeface="Calibri"/>
              </a:defRPr>
            </a:pPr>
            <a:r>
              <a:t>No triage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4727448"/>
            <a:ext cx="493776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3A3A3A"/>
                </a:solidFill>
                <a:latin typeface="Calibri"/>
              </a:defRPr>
            </a:pPr>
            <a:r>
              <a:t>Experts review routine, not borderline, cases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 ·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1.3  </a:t>
            </a:r>
            <a:r>
              <a:rPr sz="2600" b="1">
                <a:solidFill>
                  <a:srgbClr val="1A1A1A"/>
                </a:solidFill>
                <a:latin typeface="Calibri"/>
              </a:rPr>
              <a:t>Research Goal &amp;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36576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5D2A42"/>
                </a:solidFill>
                <a:latin typeface="Calibri"/>
              </a:defRPr>
            </a:pPr>
            <a:r>
              <a:rPr spc="120"/>
              <a:t>RESEARCH 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7295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Design and evaluate an adaptive health insurance underwriting system using contextual bandit algorithms on a synthetic Cambodia applicant dataset, incorporating demographic fairness monitoring and human-in-the-loop augmentation.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41448"/>
            <a:ext cx="36576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5D2A42"/>
                </a:solidFill>
                <a:latin typeface="Calibri"/>
              </a:defRPr>
            </a:pPr>
            <a:r>
              <a:rPr spc="120"/>
              <a:t>OBJECTIVES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52928"/>
            <a:ext cx="685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5D2A42"/>
                </a:solidFill>
                <a:latin typeface="Calibri"/>
              </a:defRPr>
            </a:pPr>
            <a:r>
              <a:t>O1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34440" y="2871216"/>
            <a:ext cx="10500055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Implement and adapt linear contextual bandit algorithms (LinUCB, LinTS) for multi-arm health insurance underwriting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21608"/>
            <a:ext cx="685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5D2A42"/>
                </a:solidFill>
                <a:latin typeface="Calibri"/>
              </a:defRPr>
            </a:pPr>
            <a:r>
              <a:t>O2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3739896"/>
            <a:ext cx="10500055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Construct a 2,000-record synthetic Cambodia applicant dataset anchored on CDHS, STEPS, ILO, and WHO demographic distributions.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30168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590288"/>
            <a:ext cx="685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5D2A42"/>
                </a:solidFill>
                <a:latin typeface="Calibri"/>
              </a:defRPr>
            </a:pPr>
            <a:r>
              <a:t>O3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34440" y="4608576"/>
            <a:ext cx="10500055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Evaluate bandit performance versus static rule-based baselines via 20-seed multi-run trials, bootstrap CIs, and paired Wilcoxon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98848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458968"/>
            <a:ext cx="685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5D2A42"/>
                </a:solidFill>
                <a:latin typeface="Calibri"/>
              </a:defRPr>
            </a:pPr>
            <a:r>
              <a:t>O4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34440" y="5477256"/>
            <a:ext cx="10500055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Assess demographic fairness via PSI monitoring across region and occupation, and integrate a human-in-the-loop underwriting wrapper.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367528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II · INTERNSHIP AT DAC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2.1  </a:t>
            </a:r>
            <a:r>
              <a:rPr sz="2600" b="1">
                <a:solidFill>
                  <a:srgbClr val="1A1A1A"/>
                </a:solidFill>
                <a:latin typeface="Calibri"/>
              </a:rPr>
              <a:t>Internship at DAC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08176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298448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DAC -- actuarial consulting, Phnom Penh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865376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Clients: insurers, pension funds, regulators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42032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432304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Role: research intern, Mar-Jun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08960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2999232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Deliverable: underwriting prototype +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1298448"/>
            <a:ext cx="5029200" cy="228600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Supervision</a:t>
            </a:r>
            <a:br/>
            <a:br/>
            <a:r>
              <a:t>Thesis advisor: Dr. HAS Sothea (ITC)</a:t>
            </a:r>
            <a:br/>
            <a:r>
              <a:t>Field supervisor: Mr. PHOK Ponna (DAC)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95928"/>
            <a:ext cx="36576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5D2A42"/>
                </a:solidFill>
                <a:latin typeface="Calibri"/>
              </a:defRPr>
            </a:pPr>
            <a:r>
              <a:rPr spc="120"/>
              <a:t>INTERNSHIP TIMELINE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07408"/>
            <a:ext cx="2743200" cy="457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544568"/>
            <a:ext cx="25603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Mar 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910328"/>
            <a:ext cx="256032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Problem scoping &amp; dataset design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4407408"/>
            <a:ext cx="2743200" cy="457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4544568"/>
            <a:ext cx="25603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Apr 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4910328"/>
            <a:ext cx="256032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Algorithm implementation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4407408"/>
            <a:ext cx="2743200" cy="457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80" y="4544568"/>
            <a:ext cx="25603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May 2026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4910328"/>
            <a:ext cx="256032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Experiments &amp; analysis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4407408"/>
            <a:ext cx="2743200" cy="457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61120" y="4544568"/>
            <a:ext cx="25603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Jun 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20" y="4910328"/>
            <a:ext cx="256032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Thesis writing &amp; defense prep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III · LITERATURE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3.1  </a:t>
            </a:r>
            <a:r>
              <a:rPr sz="2600" b="1">
                <a:solidFill>
                  <a:srgbClr val="1A1A1A"/>
                </a:solidFill>
                <a:latin typeface="Calibri"/>
              </a:rPr>
              <a:t>Literature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344168"/>
            <a:ext cx="263347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Topic</a:t>
            </a:r>
          </a:p>
        </p:txBody>
      </p:sp>
      <p:sp>
        <p:nvSpPr>
          <p:cNvPr id="8" name="Rectangle 7"/>
          <p:cNvSpPr/>
          <p:nvPr/>
        </p:nvSpPr>
        <p:spPr>
          <a:xfrm>
            <a:off x="3255264" y="1344168"/>
            <a:ext cx="318211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Key authors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47104" y="1344168"/>
            <a:ext cx="51023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Contribution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73352"/>
            <a:ext cx="11247120" cy="2286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46504"/>
            <a:ext cx="11247120" cy="7772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1783080"/>
            <a:ext cx="263347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Bandits in healthcare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55264" y="1783080"/>
            <a:ext cx="318211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Bouneffouf et al. (2017)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104" y="1783080"/>
            <a:ext cx="510235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Clinical decision support via LinUCB; reward = patient outcome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2560320"/>
            <a:ext cx="263347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Linear bandit theory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55264" y="2560320"/>
            <a:ext cx="318211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Li et al. (2010); Agrawal &amp; Goyal (2013)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104" y="2560320"/>
            <a:ext cx="510235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LinUCB O(sqrt(T) d log T) regret; LinTS posterior sampling, near-optimal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00984"/>
            <a:ext cx="11247120" cy="7772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3337560"/>
            <a:ext cx="263347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Fairness in insurance 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55264" y="3337560"/>
            <a:ext cx="318211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Frees et al. (2014); Kusner et al. (2017)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47104" y="3337560"/>
            <a:ext cx="510235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Regulatory constraints on protected attributes; counterfactual fairness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4114800"/>
            <a:ext cx="263347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PSI model monitoring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5264" y="4114800"/>
            <a:ext cx="318211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Yurdakul (2018)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47104" y="4114800"/>
            <a:ext cx="510235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Population Stability Index drift zones (GREEN / AMBER / RED)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5464"/>
            <a:ext cx="11247120" cy="7772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4892040"/>
            <a:ext cx="263347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Human-in-the-loop RL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5264" y="4892040"/>
            <a:ext cx="318211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Christiano et al. (2017)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47104" y="4892040"/>
            <a:ext cx="510235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Expert overrides improve alignment; cost-benefit of referral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272784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50" b="0" i="1">
                <a:solidFill>
                  <a:srgbClr val="777777"/>
                </a:solidFill>
                <a:latin typeface="Calibri"/>
              </a:defRPr>
            </a:pPr>
            <a:r>
              <a:t>Full review: thesis Chapter III (30+ sources).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4.1  </a:t>
            </a:r>
            <a:r>
              <a:rPr sz="2600" b="1">
                <a:solidFill>
                  <a:srgbClr val="1A1A1A"/>
                </a:solidFill>
                <a:latin typeface="Calibri"/>
              </a:rPr>
              <a:t>System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pic>
        <p:nvPicPr>
          <p:cNvPr id="7" name="Picture 6" descr="fig_ch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201" y="1207008"/>
            <a:ext cx="8379292" cy="5312664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4.2  </a:t>
            </a:r>
            <a:r>
              <a:rPr sz="2600" b="1">
                <a:solidFill>
                  <a:srgbClr val="1A1A1A"/>
                </a:solidFill>
                <a:latin typeface="Calibri"/>
              </a:rPr>
              <a:t>Synthetic Cambodia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2560320" cy="14173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5603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2,000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25603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Synthetic</a:t>
            </a:r>
            <a:br/>
            <a:r>
              <a:t>Applications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07008"/>
            <a:ext cx="2560320" cy="14173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280160"/>
            <a:ext cx="25603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011680"/>
            <a:ext cx="25603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Demographic</a:t>
            </a:r>
            <a:br/>
            <a:r>
              <a:t>Features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07008"/>
            <a:ext cx="2560320" cy="14173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0" y="1280160"/>
            <a:ext cx="25603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011680"/>
            <a:ext cx="25603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Underwriting</a:t>
            </a:r>
            <a:br/>
            <a:r>
              <a:t>Arms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207008"/>
            <a:ext cx="2560320" cy="14173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0" y="1280160"/>
            <a:ext cx="25603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011680"/>
            <a:ext cx="25603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Anchoring</a:t>
            </a:r>
            <a:br/>
            <a:r>
              <a:t>Sources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779776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Dataset construction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145536"/>
            <a:ext cx="5486400" cy="2926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Age, sex, region, occupation, BMI from CDHS 2021-22 &amp; STEPS 2021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Income distribution anchored on ILO Cambodia labour force surveys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Claim probabilities calibrated from WHO SEARO health expenditure data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Adverse-selection factor AF = 1.35; price elasticity slope β = 3.5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Fully synthetic -- no real applicant PII included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779776"/>
            <a:ext cx="539496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Underwriting arms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145536"/>
            <a:ext cx="1417320" cy="6400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91072" y="3255264"/>
            <a:ext cx="1261872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3255264"/>
            <a:ext cx="37947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Accept + premium loading (+25%)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849624"/>
            <a:ext cx="1417320" cy="640080"/>
          </a:xfrm>
          <a:prstGeom prst="rect">
            <a:avLst/>
          </a:prstGeom>
          <a:solidFill>
            <a:srgbClr val="4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3959352"/>
            <a:ext cx="1261872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0" y="3959352"/>
            <a:ext cx="37947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Accept at standard premium rate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553712"/>
            <a:ext cx="1417320" cy="64008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1072" y="4663440"/>
            <a:ext cx="1261872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DECLINE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4663440"/>
            <a:ext cx="37947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Reject application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5257800"/>
            <a:ext cx="1417320" cy="640080"/>
          </a:xfrm>
          <a:prstGeom prst="rect">
            <a:avLst/>
          </a:prstGeom>
          <a:solidFill>
            <a:srgbClr val="4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91072" y="5367528"/>
            <a:ext cx="1261872" cy="4389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REFER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0" y="5367528"/>
            <a:ext cx="37947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Escalate to human underwriter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4.3  </a:t>
            </a:r>
            <a:r>
              <a:rPr sz="2600" b="1">
                <a:solidFill>
                  <a:srgbClr val="1A1A1A"/>
                </a:solidFill>
                <a:latin typeface="Calibri"/>
              </a:rPr>
              <a:t>Bandit Formulation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Problem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486400" cy="2514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Context  x_t ∈ ℝ⁵: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Age, sex, region, occupation, BMI -- standardised at application time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Action  a_t ∈ {RATED, STANDARD, DECLINE, REFER}: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Policy selects one arm per applicant per round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Reward  r_t: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Revenue-minus-claims actuarial simulator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Adverse-selection penalises premium-heavy arms for low-risk applicants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7024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Objective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5486400" cy="7772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Maximise cumulative reward Σ r_t over T rounds, subject to demographic PSI guardrails.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Reward structure (illustrative)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09344"/>
            <a:ext cx="5303520" cy="75895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46520" y="1682496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1682496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High-risk applicant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1682496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Low-risk applicant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04872"/>
            <a:ext cx="5303520" cy="75895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2478024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2478024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+premium − claims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75520" y="2478024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− adverse-sel. penalty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200400"/>
            <a:ext cx="5303520" cy="758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6520" y="3273552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3273552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+premium − claims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75520" y="3273552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+optimal margin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995928"/>
            <a:ext cx="5303520" cy="75895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46520" y="4069080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DECLINE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09560" y="4069080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0 (avoided loss)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20" y="4069080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− missed revenue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791456"/>
            <a:ext cx="5303520" cy="758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46520" y="4864608"/>
            <a:ext cx="132588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REFER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4864608"/>
            <a:ext cx="182880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+human decision net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0" y="4864608"/>
            <a:ext cx="1737360" cy="6126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+human decision net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4.4  </a:t>
            </a:r>
            <a:r>
              <a:rPr sz="2600" b="1">
                <a:solidFill>
                  <a:srgbClr val="1A1A1A"/>
                </a:solidFill>
                <a:latin typeface="Calibri"/>
              </a:rPr>
              <a:t>Algorithms &amp;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Proposed policies (ranked by admissibility)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82496"/>
            <a:ext cx="201168" cy="43891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618488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618488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Upper Confidence Bound over a linear reward model. Optimism in the face of uncertainty; O(√T·d·log T) regret.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04288"/>
            <a:ext cx="201168" cy="43891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2240280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2240280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Thompson Sampling from posterior over reward parameters. Near-optimal regret; naturally calibrated uncertainty.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201168" cy="438912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2862072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ε-Greedy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2862072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Uniform exploration with probability ε. Simple baseline; suboptimal O(T^{2/3}) regret asymptotics.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47872"/>
            <a:ext cx="201168" cy="438912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3483864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Static XGB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14600" y="3483864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XGBoost trained once on a historical snapshot. Incumbent production baseline.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69664"/>
            <a:ext cx="201168" cy="438912"/>
          </a:xfrm>
          <a:prstGeom prst="rect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105656"/>
            <a:ext cx="16916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AlwaysRATED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4105656"/>
            <a:ext cx="923544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Constant: rate 100% of applicants at +25% loading. Inadmissible ceiling (not commercially/regulatorily viable -- §5.0.1 / §6.2).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00600"/>
            <a:ext cx="11277295" cy="27432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892040"/>
            <a:ext cx="11277295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Other constants (inadmissible floor/ceiling): AlwaysSTANDARD, AlwaysDECLINE, Random  |  Not deployable: LogisticOracle, Oracle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321808"/>
            <a:ext cx="11277295" cy="73152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Admissibility (§5.0.1): a policy is admissible if it is both deployable (uses only observable features) AND commercially/regulatorily viable as an underwriting rule. LinUCB and LinTS are the top-2 admissible policies.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4.5  </a:t>
            </a:r>
            <a:r>
              <a:rPr sz="2600" b="1">
                <a:solidFill>
                  <a:srgbClr val="1A1A1A"/>
                </a:solidFill>
                <a:latin typeface="Calibri"/>
              </a:rPr>
              <a:t>Guardrail + HITL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PSI Demographic Guardrail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4864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Population Stability Index computed on region and occupation in a rolling 500-round window.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67128"/>
            <a:ext cx="1051560" cy="5029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" y="2258568"/>
            <a:ext cx="941832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GREEN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0" y="2167128"/>
            <a:ext cx="19202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PSI &lt; 0.10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2167128"/>
            <a:ext cx="21945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Stable -- no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61488"/>
            <a:ext cx="1051560" cy="502920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2852928"/>
            <a:ext cx="941832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45920" y="2761488"/>
            <a:ext cx="19202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0.10 ≤ PSI &lt; 0.25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2761488"/>
            <a:ext cx="21945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Monitor closely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55848"/>
            <a:ext cx="1051560" cy="502920"/>
          </a:xfrm>
          <a:prstGeom prst="rect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3447288"/>
            <a:ext cx="941832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0" y="3355848"/>
            <a:ext cx="19202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PSI ≥ 0.25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3355848"/>
            <a:ext cx="21945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Trigger review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59936"/>
            <a:ext cx="54864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Note: PSI is a MONITOR, not an enforcer. Constrained-action enforcement is deferred to future work.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207008"/>
            <a:ext cx="52120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Human-in-the-loop Wrapper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1591056"/>
            <a:ext cx="521208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Bandit selects arm; if predicted uncertainty &gt; κ threshold → REFER to actuary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Conservatism κ ∈ {0.3, 0.5, 0.7} controls referral rate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Human overrides bandit action; outcome reward used for bandit update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Alignment rate: 60% of overrides agree with bandit (κ=0.7)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Review cost charged per referral; net benefit computed over N=5,000 rounds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4453128"/>
            <a:ext cx="5212080" cy="86868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Design target: reduce worst-case regret via human expertise while keeping review cost below 2% of gross reward.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5.1  </a:t>
            </a:r>
            <a:r>
              <a:rPr sz="2600" b="1">
                <a:solidFill>
                  <a:srgbClr val="1A1A1A"/>
                </a:solidFill>
                <a:latin typeface="Calibri"/>
              </a:rPr>
              <a:t>Convergence  (EXP-005)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+25.2%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Cumulative reward lift</a:t>
            </a:r>
            <a:br/>
            <a:r>
              <a:t>vs. Static XGB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7832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27832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d = 2.98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7832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Cohen's d</a:t>
            </a:r>
            <a:br/>
            <a:r>
              <a:t>(effect size)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98464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98464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p &lt; 0.001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98464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Paired Wilcoxon</a:t>
            </a:r>
            <a:br/>
            <a:r>
              <a:t>(20 seeds)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69096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9096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$90,540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69096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LinUCB cumulative</a:t>
            </a:r>
            <a:br/>
            <a:r>
              <a:t>reward (mean)</a:t>
            </a:r>
          </a:p>
        </p:txBody>
      </p:sp>
      <p:pic>
        <p:nvPicPr>
          <p:cNvPr id="19" name="Picture 18" descr="fig_reward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230" y="2487168"/>
            <a:ext cx="6429235" cy="3849624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457200" y="5779008"/>
            <a:ext cx="11277295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Scope: admissible policies only (§5.0.1). Static XGB = $72,292 | Oracle = $126,804 | Oracle recovered: 72%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5.2  </a:t>
            </a:r>
            <a:r>
              <a:rPr sz="2600" b="1">
                <a:solidFill>
                  <a:srgbClr val="1A1A1A"/>
                </a:solidFill>
                <a:latin typeface="Calibri"/>
              </a:rPr>
              <a:t>Benchmark vs Static XGB  (EXP-007)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pic>
        <p:nvPicPr>
          <p:cNvPr id="7" name="Picture 6" descr="fig_loglog_regr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28642"/>
            <a:ext cx="6217920" cy="4103635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6949440" y="1207008"/>
            <a:ext cx="47548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20-seed ranking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591056"/>
            <a:ext cx="594360" cy="329184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95160" y="1627632"/>
            <a:ext cx="50292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Rank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591056"/>
            <a:ext cx="1828800" cy="329184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5240" y="1627632"/>
            <a:ext cx="17373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Algorithm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64040" y="1591056"/>
            <a:ext cx="2148840" cy="329184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0" y="1627632"/>
            <a:ext cx="205740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Reward (mean)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1956816"/>
            <a:ext cx="59436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0" y="1956816"/>
            <a:ext cx="182880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464040" y="1956816"/>
            <a:ext cx="214884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95160" y="204825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04825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0" y="204825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$93,572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2551176"/>
            <a:ext cx="594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89520" y="2551176"/>
            <a:ext cx="1828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64040" y="2551176"/>
            <a:ext cx="21488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95160" y="264261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264261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09760" y="264261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$91,947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3145536"/>
            <a:ext cx="59436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89520" y="3145536"/>
            <a:ext cx="182880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64040" y="3145536"/>
            <a:ext cx="214884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95160" y="323697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35240" y="323697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EpsilonGreedy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0" y="323697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$76,441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739896"/>
            <a:ext cx="594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89520" y="3739896"/>
            <a:ext cx="1828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64040" y="3739896"/>
            <a:ext cx="21488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95160" y="383133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35240" y="383133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StaticXGB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09760" y="383133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$72,173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49440" y="4379976"/>
            <a:ext cx="475488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LinTS vs LinUCB: p = 0.87 (ns -- tied at 20 seeds)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9440" y="4791456"/>
            <a:ext cx="4754880" cy="8229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Log-log slope = 0.572 (R²=0.992): sub-linear regret consistent with O(√T·d) bound.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5.3  </a:t>
            </a:r>
            <a:r>
              <a:rPr sz="2600" b="1">
                <a:solidFill>
                  <a:srgbClr val="1A1A1A"/>
                </a:solidFill>
                <a:latin typeface="Calibri"/>
              </a:rPr>
              <a:t>Cold-start Evaluation  (EXP-010)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394960" cy="10789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43584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LinTS @ T = 2,000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572768"/>
            <a:ext cx="51206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PASSED   p = 0.0039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56816"/>
            <a:ext cx="51206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d = 1.48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07008"/>
            <a:ext cx="5394960" cy="1078992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243584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LinUCB @ T = 2,000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572768"/>
            <a:ext cx="51206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SOFTENED   p = 0.084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956816"/>
            <a:ext cx="51206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d = 0.55, n.s.</a:t>
            </a:r>
          </a:p>
        </p:txBody>
      </p:sp>
      <p:pic>
        <p:nvPicPr>
          <p:cNvPr id="15" name="Picture 14" descr="fig_010_cold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2395728"/>
            <a:ext cx="6598310" cy="4123944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8321040" y="2395728"/>
            <a:ext cx="33832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Implication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2779776"/>
            <a:ext cx="338328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Deploy with warm-start (pre-train or shadow mode) for the first ~1,000 applications; a fresh XGBoost wins below the crossover. At T=2,000 the LinTS crossover is significant (p = 0.0039, d = 1.48); LinUCB's lead is positive but not significant (p = 0.0840, d = 0.55) and is reported as 'draws level'.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5.4  </a:t>
            </a:r>
            <a:r>
              <a:rPr sz="2600" b="1">
                <a:solidFill>
                  <a:srgbClr val="1A1A1A"/>
                </a:solidFill>
                <a:latin typeface="Calibri"/>
              </a:rPr>
              <a:t>Human-in-the-loop  (EXP-008)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2679192" cy="117043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+14.8%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Reward lift</a:t>
            </a:r>
            <a:br/>
            <a:r>
              <a:t>vs. vanilla bandit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7832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27832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d = 2.65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7832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Cohen's 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98464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98464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p &lt; 0.001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98464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Wilcoxon</a:t>
            </a:r>
            <a:br/>
            <a:r>
              <a:t>20 seeds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69096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9096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1.3%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69096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Referral rate</a:t>
            </a:r>
            <a:br/>
            <a:r>
              <a:t>(review cost)</a:t>
            </a:r>
          </a:p>
        </p:txBody>
      </p:sp>
      <p:pic>
        <p:nvPicPr>
          <p:cNvPr id="19" name="Picture 18" descr="fig_hitl_experi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995" y="2487168"/>
            <a:ext cx="5183530" cy="3895344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7406640" y="2487168"/>
            <a:ext cx="42976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Interpretation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2871216"/>
            <a:ext cx="4297680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HITL reward $103,951 vs. vanilla bandit $90,540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Lift certified over the vanilla bandit (EXP-005 baseline)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Human review cost = 2.2% of gross reward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Alignment rate 60% (κ=0.7): experts agree with bandit most of the time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Scope: HITL does NOT beat inadmissible AlwaysRATED ceiling (§5.4.2)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5.5  </a:t>
            </a:r>
            <a:r>
              <a:rPr sz="2600" b="1">
                <a:solidFill>
                  <a:srgbClr val="1A1A1A"/>
                </a:solidFill>
                <a:latin typeface="Calibri"/>
              </a:rPr>
              <a:t>Fairness Audit  (EXP-006)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39496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5506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zone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65506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GREEN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3969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0370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max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20370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0.0821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8833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75234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Parity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75234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85.72%  (&gt; 80% EEOC)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3697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0098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Criterion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30098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PASSED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207008"/>
            <a:ext cx="539496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Occupation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59105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65506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zone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165506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E6A62E"/>
                </a:solidFill>
                <a:latin typeface="Calibri"/>
              </a:defRPr>
            </a:pPr>
            <a:r>
              <a:t>AMBER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213969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20370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max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220370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0.1225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268833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275234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Parity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0" y="275234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90.12%  (&gt; 80% EEOC)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323697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330098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Criterion 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330098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D93B3B"/>
                </a:solidFill>
                <a:latin typeface="Calibri"/>
              </a:defRPr>
            </a:pPr>
            <a:r>
              <a:t>FAILED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858768"/>
            <a:ext cx="11277295" cy="16916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5 of 6 pre-registered criteria PASSED.</a:t>
            </a:r>
            <a:br/>
            <a:br/>
            <a:r>
              <a:t>Criterion 6 (occupation → action association) FAILED-with-interpretation: statistically significant (p &lt; 0.001) but practically small. Parity 90.12% &gt;&gt; 80% EEOC. PSI AMBER (0.1225 &lt; 0.25 RED threshold). Association reflects actuarially-justified risk differences (§5.2.4). Reported honestly.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5.6  </a:t>
            </a:r>
            <a:r>
              <a:rPr sz="2600" b="1">
                <a:solidFill>
                  <a:srgbClr val="1A1A1A"/>
                </a:solidFill>
                <a:latin typeface="Calibri"/>
              </a:rPr>
              <a:t>Drift Adaptation  (EXP-009)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Shock at round 1,500: TB prevalence doubled (~6.3% -&gt; 12.5%) + garment-worker income -30% at round 1500</a:t>
            </a:r>
          </a:p>
        </p:txBody>
      </p:sp>
      <p:pic>
        <p:nvPicPr>
          <p:cNvPr id="8" name="Picture 7" descr="fig_009_drift_adap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49285"/>
            <a:ext cx="6675120" cy="4003014"/>
          </a:xfrm>
          <a:prstGeom prst="rect">
            <a:avLst/>
          </a:prstGeom>
          <a:effectLst/>
        </p:spPr>
      </p:pic>
      <p:sp>
        <p:nvSpPr>
          <p:cNvPr id="9" name="Rectangle 8"/>
          <p:cNvSpPr/>
          <p:nvPr/>
        </p:nvSpPr>
        <p:spPr>
          <a:xfrm>
            <a:off x="7406640" y="1645920"/>
            <a:ext cx="42976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Post/pre regret ratio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2029968"/>
            <a:ext cx="4297680" cy="71323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2139696"/>
            <a:ext cx="201168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0" y="2139696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0.29× post/pre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779776"/>
            <a:ext cx="429768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2889504"/>
            <a:ext cx="201168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2889504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0.29× post/pre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529584"/>
            <a:ext cx="4297680" cy="71323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639312"/>
            <a:ext cx="201168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StaticXGB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3639312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E6A62E"/>
                </a:solidFill>
                <a:latin typeface="Calibri"/>
              </a:defRPr>
            </a:pPr>
            <a:r>
              <a:t>0.85× post/pre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4361688"/>
            <a:ext cx="4297680" cy="12344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Bandits adapt within the learning window: post-shock regret drops to 0.29× of pre-shock level. Static XGB stays at 0.85×. DiscountedLinUCB is proposed future work.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VI ·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6.1  </a:t>
            </a:r>
            <a:r>
              <a:rPr sz="2600" b="1">
                <a:solidFill>
                  <a:srgbClr val="1A1A1A"/>
                </a:solidFill>
                <a:latin typeface="Calibri"/>
              </a:rPr>
              <a:t>Achievements &amp;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Achievements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48640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LinTS leads every admissible policy: $93,723 vs. Static XGB $72,206  (+25.2%, d=2.98)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LinTS cold-start crossover certified: Wilcoxon PASSED at T=2,000 (p=0.0039, d=1.48)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HITL augmentation: +14.8% at 1.3% review cost (p&lt; 0.001, d=2.65)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Region PSI GREEN (0.0821); occupation PSI AMBER (0.1225) -- within threshold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5 of 6 pre-registered fairness criteria PASSED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Log-log regret slope 0.572 (R²=0.992) consistent with O(√T·d)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D93B3B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91056"/>
            <a:ext cx="530352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AlwaysRATED ($122,287) is the inadmissible ceiling -- see §6.2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Synthetic data limits external validity; real claims data needed for production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monitors but does not constrain -- enforcement layer is future work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Criterion-6 FAILED-with-interpretation (occupation–action, p &lt; 0.001)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Cold-start period ~1,000 rounds requires warm-start in deployment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10328"/>
            <a:ext cx="11277295" cy="5943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Overall: contextual bandits provide a principled, adaptive, and auditable alternative to static rule-based underwriting in the Cambodian insurance context.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VI ·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6.2  </a:t>
            </a:r>
            <a:r>
              <a:rPr sz="2600" b="1">
                <a:solidFill>
                  <a:srgbClr val="1A1A1A"/>
                </a:solidFill>
                <a:latin typeface="Calibri"/>
              </a:rPr>
              <a:t>Limitation: Baseline Ladder  (EXP-014)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Why AlwaysRATED is inadmissible -- and why the headline claim is still valid</a:t>
            </a:r>
          </a:p>
        </p:txBody>
      </p:sp>
      <p:pic>
        <p:nvPicPr>
          <p:cNvPr id="8" name="Picture 7" descr="fig_exp_014_base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33836"/>
            <a:ext cx="6583680" cy="3933327"/>
          </a:xfrm>
          <a:prstGeom prst="rect">
            <a:avLst/>
          </a:prstGeom>
          <a:effectLst/>
        </p:spPr>
      </p:pic>
      <p:sp>
        <p:nvSpPr>
          <p:cNvPr id="9" name="Rectangle 8"/>
          <p:cNvSpPr/>
          <p:nvPr/>
        </p:nvSpPr>
        <p:spPr>
          <a:xfrm>
            <a:off x="7406640" y="1618488"/>
            <a:ext cx="43891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Admissibility verdicts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2029968"/>
            <a:ext cx="4389120" cy="69494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212140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Static XGB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20" y="212140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761488"/>
            <a:ext cx="4389120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285292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0" y="285292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493008"/>
            <a:ext cx="4389120" cy="69494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58444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0" y="358444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4224528"/>
            <a:ext cx="4389120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79" y="431596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AlwaysRATED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431596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D93B3B"/>
                </a:solidFill>
                <a:latin typeface="Calibri"/>
              </a:defRPr>
            </a:pPr>
            <a:r>
              <a:t>inadmissible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4956047"/>
            <a:ext cx="4389120" cy="132588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AlwaysRATED ($122,287) rates 100% at +25% loading -- not commercially or regulatorily viable → inadmissible. Within the admissible set, LinTS ($93,723) and LinUCB ($91,864) rank 1st and 2nd.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VI ·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6.3  </a:t>
            </a:r>
            <a:r>
              <a:rPr sz="2600" b="1">
                <a:solidFill>
                  <a:srgbClr val="1A1A1A"/>
                </a:solidFill>
                <a:latin typeface="Calibri"/>
              </a:rPr>
              <a:t>Other 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D93B3B"/>
                </a:solidFill>
                <a:latin typeface="Calibri"/>
              </a:defRPr>
            </a:pPr>
            <a:r>
              <a:t>Remaining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48640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Synthetic data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CDHS-anchored demographics; real insurer claims data unavailable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External validity limited -- proof-of-concept, not production estimates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Monitoring-only fairness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guardrail detects, does not prevent demographic concentration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Cold-start penalty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Bandits underperform FreshXGB below T~1,000; warm-start essential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Experiment scope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Single-market simulation; multi-product extension not tested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3B6EA5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91056"/>
            <a:ext cx="530352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DiscountedLinUCB / SW-UCB for non-stationary / seasonal drift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Constrained contextual bandits for hard fairness enforcement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Real insurer pilot: replace synthetic rewards with observed claims data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Neural linear bandit for higher-dimensional feature spaces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Multi-product portfolio: life + health + motor underwriting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Formal regulatory engagement: SERC Cambodia approval pathway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10328"/>
            <a:ext cx="11277295" cy="5943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Thesis contribution: end-to-end adaptive underwriting prototype + evaluation framework with demographic fairness monitoring for the Cambodian context.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640080"/>
            <a:ext cx="548640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5D2A42"/>
                </a:solidFill>
                <a:latin typeface="Calibri"/>
              </a:defRPr>
            </a:pPr>
            <a:r>
              <a:rPr spc="200"/>
              <a:t>LIVE DEMONSTRATION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09728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1A1A1A"/>
                </a:solidFill>
                <a:latin typeface="Calibri"/>
              </a:defRPr>
            </a:pPr>
            <a:r>
              <a:t>Adaptive Underwriting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55648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0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200" b="1" i="0">
                <a:solidFill>
                  <a:srgbClr val="5D2A42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423160"/>
            <a:ext cx="10972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441448"/>
            <a:ext cx="9601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onsolas"/>
              </a:defRPr>
            </a:pPr>
            <a:r>
              <a:t>uvicorn demo.main:app --reload --port 8000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07792"/>
            <a:ext cx="1088136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090672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200" b="1" i="0">
                <a:solidFill>
                  <a:srgbClr val="5D2A42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3136392"/>
            <a:ext cx="10972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Open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3154680"/>
            <a:ext cx="9601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onsolas"/>
              </a:defRPr>
            </a:pPr>
            <a:r>
              <a:t>http://localhost:8000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21024"/>
            <a:ext cx="1088136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803904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200" b="1" i="0">
                <a:solidFill>
                  <a:srgbClr val="5D2A42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3849624"/>
            <a:ext cx="10972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Show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3867912"/>
            <a:ext cx="9601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onsolas"/>
              </a:defRPr>
            </a:pPr>
            <a:r>
              <a:t>Score applicant -&gt; bandit arm selection -&gt; PSI monitor panel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34256"/>
            <a:ext cx="1088136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5171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200" b="1" i="0">
                <a:solidFill>
                  <a:srgbClr val="5D2A42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4562856"/>
            <a:ext cx="10972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Show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4581144"/>
            <a:ext cx="9601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onsolas"/>
              </a:defRPr>
            </a:pPr>
            <a:r>
              <a:t>Human-in-the-loop referral queue + cost accounting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047488"/>
            <a:ext cx="1088136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6272784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50" b="0" i="1">
                <a:solidFill>
                  <a:srgbClr val="777777"/>
                </a:solidFill>
                <a:latin typeface="Calibri"/>
              </a:defRPr>
            </a:pPr>
            <a:r>
              <a:t>Fallback: demo screenshots in appendix (A6-A8) if the live run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13248" y="1828800"/>
            <a:ext cx="137160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48840"/>
            <a:ext cx="12191695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5400" b="1" i="0">
                <a:solidFill>
                  <a:srgbClr val="1A1A1A"/>
                </a:solidFill>
                <a:latin typeface="Calibri"/>
              </a:defRPr>
            </a:pPr>
            <a:r>
              <a:t>Thank you.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154680"/>
            <a:ext cx="12191695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000" b="0" i="0">
                <a:solidFill>
                  <a:srgbClr val="5D2A42"/>
                </a:solidFill>
                <a:latin typeface="Calibri"/>
              </a:defRPr>
            </a:pPr>
            <a:r>
              <a:t>Questions &amp;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297680"/>
            <a:ext cx="12191695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000" b="1" i="0">
                <a:solidFill>
                  <a:srgbClr val="1A1A1A"/>
                </a:solidFill>
                <a:latin typeface="Calibri"/>
              </a:defRPr>
            </a:pPr>
            <a:r>
              <a:t>LUN CHANPOLY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709160"/>
            <a:ext cx="121916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500" b="0" i="0">
                <a:solidFill>
                  <a:srgbClr val="777777"/>
                </a:solidFill>
                <a:latin typeface="Calibri"/>
              </a:defRPr>
            </a:pPr>
            <a:r>
              <a:t>chanpoly3@gmail.com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74920"/>
            <a:ext cx="121916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0" i="0">
                <a:solidFill>
                  <a:srgbClr val="777777"/>
                </a:solidFill>
                <a:latin typeface="Calibri"/>
              </a:defRPr>
            </a:pPr>
            <a:r>
              <a:t>Institute of Technology of Cambodia</a:t>
            </a:r>
          </a:p>
        </p:txBody>
      </p:sp>
      <p:pic>
        <p:nvPicPr>
          <p:cNvPr id="8" name="Picture 7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5623560"/>
            <a:ext cx="640080" cy="631079"/>
          </a:xfrm>
          <a:prstGeom prst="rect">
            <a:avLst/>
          </a:prstGeom>
          <a:effectLst/>
        </p:spPr>
      </p:pic>
      <p:pic>
        <p:nvPicPr>
          <p:cNvPr id="9" name="Picture 8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5623560"/>
            <a:ext cx="640080" cy="606547"/>
          </a:xfrm>
          <a:prstGeom prst="rect">
            <a:avLst/>
          </a:prstGeom>
          <a:effectLst/>
        </p:spPr>
      </p:pic>
      <p:pic>
        <p:nvPicPr>
          <p:cNvPr id="10" name="Picture 9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5623560"/>
            <a:ext cx="640080" cy="360045"/>
          </a:xfrm>
          <a:prstGeom prst="rect">
            <a:avLst/>
          </a:prstGeom>
          <a:effectLst/>
        </p:spPr>
      </p:pic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22960"/>
            <a:ext cx="9144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4800" b="1" i="0">
                <a:solidFill>
                  <a:srgbClr val="5D2A42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74519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331720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0" y="233172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Q2: Number Reconciliation -- EXP-005 vs ladder harness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953512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2953512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Fairness Criterion-6 Detail -- FAILED-with-interpretation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75304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3575304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PSI Guardrail Mechanics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97096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0" y="4197096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LinUCB / LinTS Update Equations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818888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4818888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Dataset Construction -- CDHS / STEPS / ILO / WHO anchoring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440680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A6-A8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544068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Demo Screenshots (fallback if live demo fails)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A1  </a:t>
            </a:r>
            <a:r>
              <a:rPr sz="2600" b="1">
                <a:solidFill>
                  <a:srgbClr val="1A1A1A"/>
                </a:solidFill>
                <a:latin typeface="Calibri"/>
              </a:rPr>
              <a:t>Q2: Number Reconciliation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Why do different sections quote different percentage lifts?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384048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1636776"/>
            <a:ext cx="373075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Comparison pair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591056"/>
            <a:ext cx="128016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636776"/>
            <a:ext cx="117043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Lift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591056"/>
            <a:ext cx="594360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24144" y="1636776"/>
            <a:ext cx="58338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Basis / why different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75104"/>
            <a:ext cx="384048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975104"/>
            <a:ext cx="128016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0" y="1975104"/>
            <a:ext cx="594360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2029968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LinUCB vs Static XGB (EXP-005)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98264" y="2029968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1A1A1A"/>
                </a:solidFill>
                <a:latin typeface="Calibri"/>
              </a:defRPr>
            </a:pPr>
            <a:r>
              <a:t>+25.2%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24144" y="2029968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Paired design, same seed sequence, standardised eval (primary metric, Table 5.1.1)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724912"/>
            <a:ext cx="38404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2724912"/>
            <a:ext cx="128016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0" y="2724912"/>
            <a:ext cx="59436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2779776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LinUCB vs Static XGB (EXP-014 ladder)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98264" y="2779776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+27.2%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24144" y="2779776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CRN harness, reward-maximising policy (Table 9 §5.0.1); larger due to CRN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74720"/>
            <a:ext cx="384048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3474720"/>
            <a:ext cx="128016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0" y="3474720"/>
            <a:ext cx="594360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3529584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LinTS vs Static XGB (EXP-014 ladder)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98264" y="3529584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+29.8%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24144" y="3529584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CRN harness, LinTS reward-maximising (Table 9 §5.0.1)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224528"/>
            <a:ext cx="38404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43400" y="4224528"/>
            <a:ext cx="128016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0" y="4224528"/>
            <a:ext cx="59436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064" y="4279392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HITL vs vanilla LinUCB (EXP-008)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98264" y="4279392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+14.8%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24144" y="4279392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Augmented bandit vs. vanilla bandit -- different baseline entirely (Table 13)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56047"/>
            <a:ext cx="11277295" cy="96012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Headline (+25.2%) uses the conservative paired design. Ladder harness lifts are larger due to CRN setup -- all three answer different questions and are mutually consistent. EXP-005 is the pre-registered primary metric.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A2  </a:t>
            </a:r>
            <a:r>
              <a:rPr sz="2600" b="1">
                <a:solidFill>
                  <a:srgbClr val="1A1A1A"/>
                </a:solidFill>
                <a:latin typeface="Calibri"/>
              </a:rPr>
              <a:t>Fairness Criterion-6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Occupation → action association (criterion 6 -- FAILED-with-interpretation)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11277295" cy="1920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FAILED verdict -- reported in the interest of scientific honesty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Permutation test: p = &lt; 0.001 (criterion: p ≥ 0.05 to PASS)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EEOC parity: 90.12%  (well above 80% regulatory floor)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AMBER: 0.1225 &lt; 0.25 RED threshold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The association is statistically significant but practically small.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Interpretation: occupation is an actuarially valid risk predictor; the bandit adjusts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 premiums for legitimate risk differences, NOT for discriminatory reasons.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63016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730752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Region (PASSED -- for reference)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5486400" cy="1417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GREEN: 0.0821 &lt; 0.10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Parity: 85.72%  |  Permutation p = 0.1322 (ns)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Region criterion 6: PASSED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730752"/>
            <a:ext cx="5303520" cy="21945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Regulatory position:</a:t>
            </a:r>
            <a:br/>
            <a:br/>
            <a:r>
              <a:t>No formal algorithmic fairness standard exists for insurance in Cambodia. The EEOC 80% rule is applied as an international best-practice benchmark. All EEOC parity criteria PASS (both region and occupation).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A3  </a:t>
            </a:r>
            <a:r>
              <a:rPr sz="2600" b="1">
                <a:solidFill>
                  <a:srgbClr val="1A1A1A"/>
                </a:solidFill>
                <a:latin typeface="Calibri"/>
              </a:rPr>
              <a:t>PSI Guardrail Mechanics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Population Stability Index -- definition and thresholds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9344"/>
            <a:ext cx="91440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ourier New"/>
              </a:defRPr>
            </a:pPr>
            <a:r>
              <a:t>PSI = Σ (Actual% − Expected%) × ln(Actual% / Expected%)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84832"/>
            <a:ext cx="11277295" cy="1554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Actual%  = fraction of applicants in each demographic bucket (rolling window)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Expected% = reference distribution (training-set proportions)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Computed on region and occupation every 500 rounds in EXP-006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67328"/>
            <a:ext cx="3474720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858768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GREEN   PSI &lt; 0.10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3858768"/>
            <a:ext cx="71323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Stable -- no corrective action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434840"/>
            <a:ext cx="3474720" cy="566928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526280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AMBER  0.10 ≤ PSI &lt; 0.25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4526280"/>
            <a:ext cx="71323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Monitor closely -- investigate trend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02352"/>
            <a:ext cx="3474720" cy="566928"/>
          </a:xfrm>
          <a:prstGeom prst="rect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193792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RED      PSI ≥ 0.25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5193792"/>
            <a:ext cx="71323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Trigger mandatory review; consider policy rollback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998464"/>
            <a:ext cx="112772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1">
                <a:solidFill>
                  <a:srgbClr val="3A3A3A"/>
                </a:solidFill>
                <a:latin typeface="Calibri"/>
              </a:defRPr>
            </a:pPr>
            <a:r>
              <a:t>EXP-006 results: region PSI = 0.0821 (GREEN), occupation PSI max = 0.1225 (AMBER) -- both within threshold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A4  </a:t>
            </a:r>
            <a:r>
              <a:rPr sz="2600" b="1">
                <a:solidFill>
                  <a:srgbClr val="1A1A1A"/>
                </a:solidFill>
                <a:latin typeface="Calibri"/>
              </a:rPr>
              <a:t>LinUCB / LinTS Update Equations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LinUCB (OFUL)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A_a  ←  A_a + x_t x_tᵀ          (gram matrix update)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21408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b_a  ←  b_a + r_t x_t            (reward accumulation)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θ_a  =  A_a⁻¹ b_a             (ridge-regression estimate)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82112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a*  =  argmax  θ_aᵀ x_t + α √(x_tᵀ A_a⁻¹ x_t)   (UCB selection)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LinTS (Thompson Sampling)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591056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Prior:   θ_a ~ N(μ_a, λ⁻¹ I)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121408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Update:  Σ_a⁻¹ = λ I + A_a  ;  μ_a = Σ_a b_a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2651760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Sample:  θ̃_a ~ N(μ_a, v² Σ_a)   per 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182112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Select:  a*  =  argmax  θ̃_aᵀ x_t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1304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502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Key hyperparameters used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61688"/>
            <a:ext cx="11277295" cy="53035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434840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α (LinUCB exploration)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4434840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1.0 (regret-minimising from EXP-012)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28616"/>
            <a:ext cx="11277295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001768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v (LinTS variance)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5001768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0.1 (posterior width calibration)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95544"/>
            <a:ext cx="11277295" cy="53035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568696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λ (ridge penalty)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5568696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1.0 (L2 regulariser, identity prior)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062472"/>
            <a:ext cx="11277295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6135624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κ (HITL conservatism)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6135624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0.7 (headline; 0.3/0.5 also tested in EXP-008)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A5  </a:t>
            </a:r>
            <a:r>
              <a:rPr sz="2600" b="1">
                <a:solidFill>
                  <a:srgbClr val="1A1A1A"/>
                </a:solidFill>
                <a:latin typeface="Calibri"/>
              </a:rPr>
              <a:t>Dataset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CDHS / STEPS / ILO / WHO anchoring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182880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1636776"/>
            <a:ext cx="17190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1591056"/>
            <a:ext cx="320040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86584" y="1636776"/>
            <a:ext cx="30906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Variable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591056"/>
            <a:ext cx="603504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32704" y="1636776"/>
            <a:ext cx="592531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Full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75104"/>
            <a:ext cx="18288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1975104"/>
            <a:ext cx="32004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77840" y="1975104"/>
            <a:ext cx="603504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20482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CDHS 2021-22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6584" y="20482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Age, sex, region, BMI distributions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32704" y="20482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Cambodia Demographic &amp; Health Survey (NIS / ICF)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60904"/>
            <a:ext cx="18288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31720" y="2660904"/>
            <a:ext cx="32004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77840" y="2660904"/>
            <a:ext cx="60350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27340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STEPS 2021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86584" y="27340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Hypertension / chronic disease prevalence by occupation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32704" y="27340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STEPwise approach to NCD risk-factor surveillance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46704"/>
            <a:ext cx="18288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31720" y="3346704"/>
            <a:ext cx="32004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77840" y="3346704"/>
            <a:ext cx="603504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34198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ILO Labour Force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86584" y="34198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Income distribution by occupation / sector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32704" y="34198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Cambodia Labour Force &amp; Child Labour Survey 2021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32504"/>
            <a:ext cx="18288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032504"/>
            <a:ext cx="32004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77840" y="4032504"/>
            <a:ext cx="60350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064" y="41056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SEARO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86584" y="41056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Health expenditure per capita by income quintile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32704" y="41056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South-East Asia Regional Office data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745736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Simulator parameters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111496"/>
            <a:ext cx="11277295" cy="4937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17550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0" y="5175504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2,000 applicants / 20 seeds, 5,000 rounds each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41848"/>
            <a:ext cx="11277295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5705856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Adverse-selection factor AF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5705856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1.35 (calibrated from DAC actuarial priors)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172200"/>
            <a:ext cx="11277295" cy="4937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6236208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Price elasticity slope β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0" y="6236208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3.5 (base case; 2.5 and 4.5 tested in EXP-012)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6702552"/>
            <a:ext cx="11277295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6766560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Claim probability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0" y="6766560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Logistic function of BMI, age, chronic disease status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A6.  Demo Screenshot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Main underwriting dashboard: applicant scoring and arm selection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A7.  Demo Screenshot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PSI fairness monitor panel: sliding-window drift visualization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A8.  Demo Screenshot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Human-in-the-loop queue: referral management and cost accounting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