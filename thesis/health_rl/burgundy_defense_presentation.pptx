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6" d="100"/>
          <a:sy n="86" d="100"/>
        </p:scale>
        <p:origin x="533"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68E11C-F0F4-4C6B-8B86-7F103E5B5BB4}" type="datetimeFigureOut">
              <a:rPr lang="en-US" smtClean="0"/>
              <a:t>6/15/2026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8992D3-313B-472C-971E-864B8096A47E}" type="slidenum">
              <a:rPr lang="en-US" smtClean="0"/>
              <a:t>‹#›</a:t>
            </a:fld>
            <a:endParaRPr lang="en-US"/>
          </a:p>
        </p:txBody>
      </p:sp>
    </p:spTree>
    <p:extLst>
      <p:ext uri="{BB962C8B-B14F-4D97-AF65-F5344CB8AC3E}">
        <p14:creationId xmlns:p14="http://schemas.microsoft.com/office/powerpoint/2010/main" val="17126952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Decent Actuarial Consultants is a Phnom Penh actuarial consultancy serving life, non-life and general insurance companies. The thesis is embedded in a DAC-supervised research internship, March through June 2026; the deliverable is the end-to-end adaptive underwriting prototype plus this report. Timeline: March scoping and dataset design, April algorithms, May experiments, June writing and defense preparation.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Cambodia context: the National Social Security Fund covers only formal-sector workers, roughly 16 percent; private voluntary insurance is nascent and underwriting is mostly manual and rule-based. Actuaries apply fixed premium rules without learning from outcomes, suboptimal decisions compound over a growing applicant pool, and penetration is below 10 percent (2023 estimate). The opportunity: a contextual bandit learns online from each decision while a PSI guardrail watches demographic fairness.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concrete failures of the status quo. One: fixed age/BMI/income cutoffs ignore context, so a misclassified high-risk applicant generates uncorrected losses. Two: the claims signal is never fed back, so accuracy degrades silently as demographics shift. Three: no parity metric is tracked, so regional or occupational concentration can develop undetected. Four: there is no triage - actuaries spend time on high-volume routine cases instead of genuine edge cases.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goal once, slowly. The four objectives map one-to-one onto the chapters: O1 the algorithms (Chapter IV), O2 the dataset (Chapter IV), O3 the evaluation (Chapter V), O4 fairness plus HITL (Chapter V). These are verbatim from the thesis - the examiners will check the wording.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strands inform the method. Bouneffouf showed LinUCB works for clinical decisions. Li et al. 2010 give the LinUCB regret bound, Agrawal and Goyal 2013 the LinTS guarantee - together they justify the two proposed policies. Frees and Kusner frame insurance fairness constraints; Yurdakul's PSI gives the monitoring metric with the 0.10/0.25 thresholds; Christiano motivates the human-in-the-loop wrapper. The thesis reviews thirty-plus sources; this is the load-bearing subset.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whole pipeline once, left to right, naming each of the six stages. Tell the panel we will now zoom into three of them in turn.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dataset is 2,000 synthetic applicants with five features: age, sex, region, occupation, BMI. Distributions are anchored on CDHS 2021-22 and STEPS 2021; income on ILO labour-force surveys; claim probabilities calibrated from WHO SEARO health-expenditure data. Adverse-selection factor 1.35 and price-elasticity slope 3.5 come from DAC actuarial priors. Four arms: RATED accepts with a 25 percent loading, STANDARD accepts at standard rate, DECLINE rejects, REFER escalates to a human. No real applicant data is used anywhere.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Formally: at each round the context is the standardised five-feature applicant vector, the action is one of four arms, and the reward is revenue minus claims from the actuarial simulator, with adverse selection penalising premium-heavy arms on low-risk applicants. The objective is cumulative reward over T rounds subject to the PSI guardrail. The table sketches the reward structure: for a high-risk applicant DECLINE avoids a loss; for a low-risk one it forfeits revenue; REFER nets the human decision either way.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build-up: three slides, each adds one box to the policy and shows what that box outputs for a single applicant.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the build-up with the input: the standardised five-feature context vector — show the example numbers.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the value-estimation box: each arm gets a score; explain the LinUCB optimism bonus and the LinTS posterior sample.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proposed policies and three reference points. LinUCB plays optimism in the face of uncertainty over a linear reward model with the square-root-T regret bound; LinTS samples from the posterior and is near-optimal with naturally calibrated uncertainty. Epsilon-greedy is the naive explorer with provably worse T-to-the-two-thirds regret. Static XGB is the train-once incumbent. AlwaysRATED rates everyone at +25 percent loading - it scores highest but is neither commercially nor regulatorily viable, which is exactly the admissibility distinction in section 5.0.1 and the baseline-ladder appendix (A1).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safety layers. The PSI guardrail computes the Population Stability Index on region and occupation over a rolling 500-round window: GREEN below 0.10, AMBER to 0.25, RED above. It detects concentration; it does not constrain the policy - enforcement is future work, stated honestly. The HITL wrapper REFERs an applicant to the actuary whenever predicted uncertainty exceeds the conservatism threshold kappa, tested at 0.3, 0.5, 0.7; the human's decision is final and its observed reward still updates the bandit. Design target: keep review cost under two percent of gross reward.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four algorithms under common random numbers. LinTS ranks first at $93,572, LinUCB second at $91,947 - statistically tied (p = 0.87). Epsilon-greedy trails, static XGB last. The log-log plot validates theory: fitted slope 0.572 with R squared 0.992, close to the 0.5 of the O(root-T d) bound - the bandit's regret really is sub-linear, it is learning, not memorising.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LinUCB earns 25.2 percent more cumulative reward than the static XGBoost baseline over 5,000 rounds - $90,540 versus $72,292, twenty seeds, paired Wilcoxon p &lt; 0.001, Cohen's d 2.98. The curves separate around round 1,500 once the bandit's ridge estimates converge. Critical scope: this claim is over ADMISSIBLE policies per section 5.0.1 - the inadmissible AlwaysRATED constant sits above (appendix A1). Oracle recovery is 72 percent.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on one slide. Cold-start (EXP-010): below a thousand rounds a freshly trained XGBoost beats both bandits; the crossover comes between one and two thousand. At T=2,000 LinTS is significant at the Bonferroni threshold (p = 0.0039, d = 1.48); LinUCB's lead is positive but NOT significant (p = 0.0840, d = 0.55) - softened to 'draws level'. Deploy with warm-start for the first thousand applications. Human-in-the-loop (EXP-008): the wrapper lifts reward 14.8 percent over the vanilla bandit ($103,951 vs $90,540, p &lt; 0.001, d = 2.65) at only 1.3 percent referrals and 2.2 percent review cost. Both scopes are against admissible comparators, not the AlwaysRATED ceiling.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Fairness audit (EXP-006): Region PSI GREEN at 0.0821, parity 85.72 percent, PASSED (p = 0.1322). Occupation PSI AMBER at 0.1225 - within the 0.25 threshold - parity 90.12 percent, above the EEOC 80 floor. Criterion 6 is the single failure: occupation-action association is statistically significant but practically small, and occupation is an actuarially valid factor; marked FAILED-with-interpretation in the interest of honesty. Drift (EXP-009): at the round-1,500 shock both bandits re-converge toward pre-shock regret while static XGB lags; sustained-drift handling is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browser and walk one applicant through scoring, the arm the bandit picks, the PSI monitor, and the HITL queue. If the live run fails, narrate over these three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Balance sheet. Wins: LinTS/LinUCB lead every admissible policy (+25.2%, d 2.98); HITL adds 14.8 percent at 1.3 percent referrals; five of six fairness criteria pass. Honest limits: the inadmissible AlwaysRATED constant scores higher (appendix A1); data is synthetic, proof-of-concept only; PSI monitors but does not enforce; cold-start needs warm-start below ~1,000 rounds. Future work: discounted/sliding-window UCB for sustained drift, constrained bandits for hard fairness limits, a real-insurer pilot with observed claims, multi-product portfolios. Net: adaptive, auditable, and honest about scope.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sources behind the method and the dataset. Left: bandit theory (Li; Agrawal &amp; Goyal), healthcare bandits (Bouneffouf), actuarial modelling (Frees), fairness (Kusner), PSI monitoring (Yurdakul), and human-in-the-loop RL (Christiano). Right: the Cambodia data sources (CDHS, STEPS, ILO, WHO). Full APA list is in thesis Chapter III.</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anticipated question, so we lead with it. The full baseline ladder shows AlwaysRATED - rate every applicant at a flat 25 percent loading - at $122,287, above LinTS $93,723 and LinUCB $91,864. Our pre-registered expectation that the bandit beats every simple baseline was FALSIFIED, and we report it. Why the thesis still stands: AlwaysRATED is inadmissible - loading every customer 25 percent collapses commercially and would not survive regulatory scrutiny - per the admissibility definition in section 5.0.1. Within the admissible set the bandits rank first and second.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asked why 25.2, 27.2 and 29.8 percent all appear: the headline uses the paired EXP-005 design; the ladder harness uses common random numbers which yields larger separations; HITL's 14.8 percent is against the vanilla bandit, a different baseline. Same code, different pre-registered questions.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Criteria matrix armor: name each criterion and its verdict; criterion 6 is the single honest failure, framed as actuarial validity.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Sensitivity armor: the result is not knife-edge — alpha, elasticity, and kappa were all swept and the admissible ranking held.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Combined math armor. LinUCB maintains a per-arm gram matrix and reward vector, solves ridge regression, and adds the alpha-scaled confidence width (optimism under uncertainty); LinTS samples theta from the posterior and picks the argmax. PSI is the symmetrised relative-entropy sum over demographic buckets comparing a rolling 500-round window to the training reference, thresholds 0.10 and 0.25; region peaks at 0.0821, occupation at 0.1225.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TC.jpg"/>
          <p:cNvPicPr>
            <a:picLocks noChangeAspect="1"/>
          </p:cNvPicPr>
          <p:nvPr/>
        </p:nvPicPr>
        <p:blipFill>
          <a:blip r:embed="rId2"/>
          <a:stretch>
            <a:fillRect/>
          </a:stretch>
        </p:blipFill>
        <p:spPr>
          <a:xfrm>
            <a:off x="548640" y="274320"/>
            <a:ext cx="914400" cy="901541"/>
          </a:xfrm>
          <a:prstGeom prst="rect">
            <a:avLst/>
          </a:prstGeom>
          <a:effectLst/>
        </p:spPr>
      </p:pic>
      <p:pic>
        <p:nvPicPr>
          <p:cNvPr id="3" name="Picture 2" descr="AMS.png"/>
          <p:cNvPicPr>
            <a:picLocks noChangeAspect="1"/>
          </p:cNvPicPr>
          <p:nvPr/>
        </p:nvPicPr>
        <p:blipFill>
          <a:blip r:embed="rId3"/>
          <a:stretch>
            <a:fillRect/>
          </a:stretch>
        </p:blipFill>
        <p:spPr>
          <a:xfrm>
            <a:off x="1600200" y="365760"/>
            <a:ext cx="1325880" cy="1256418"/>
          </a:xfrm>
          <a:prstGeom prst="rect">
            <a:avLst/>
          </a:prstGeom>
          <a:effectLst/>
        </p:spPr>
      </p:pic>
      <p:pic>
        <p:nvPicPr>
          <p:cNvPr id="4" name="Picture 3" descr="DAC.jpg"/>
          <p:cNvPicPr>
            <a:picLocks noChangeAspect="1"/>
          </p:cNvPicPr>
          <p:nvPr/>
        </p:nvPicPr>
        <p:blipFill>
          <a:blip r:embed="rId4"/>
          <a:stretch>
            <a:fillRect/>
          </a:stretch>
        </p:blipFill>
        <p:spPr>
          <a:xfrm>
            <a:off x="10332720" y="320040"/>
            <a:ext cx="1325880" cy="745808"/>
          </a:xfrm>
          <a:prstGeom prst="rect">
            <a:avLst/>
          </a:prstGeom>
          <a:effectLst/>
        </p:spPr>
      </p:pic>
      <p:sp>
        <p:nvSpPr>
          <p:cNvPr id="5" name="Rectangle 4"/>
          <p:cNvSpPr/>
          <p:nvPr/>
        </p:nvSpPr>
        <p:spPr>
          <a:xfrm>
            <a:off x="3108960" y="384048"/>
            <a:ext cx="6583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200" b="1" i="0">
                <a:solidFill>
                  <a:srgbClr val="1A1A1A"/>
                </a:solidFill>
                <a:latin typeface="Calibri"/>
              </a:defRPr>
            </a:pPr>
            <a:r>
              <a:t>Institute of Technology of Cambodia</a:t>
            </a:r>
          </a:p>
        </p:txBody>
      </p:sp>
      <p:sp>
        <p:nvSpPr>
          <p:cNvPr id="6" name="Rectangle 5"/>
          <p:cNvSpPr/>
          <p:nvPr/>
        </p:nvSpPr>
        <p:spPr>
          <a:xfrm>
            <a:off x="3108960" y="841248"/>
            <a:ext cx="6583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500" b="0" i="0">
                <a:solidFill>
                  <a:srgbClr val="777777"/>
                </a:solidFill>
                <a:latin typeface="Calibri"/>
              </a:defRPr>
            </a:pPr>
            <a:r>
              <a:t>Department of Applied Mathematics and Statistics</a:t>
            </a:r>
          </a:p>
        </p:txBody>
      </p:sp>
      <p:sp>
        <p:nvSpPr>
          <p:cNvPr id="7" name="Rectangle 6"/>
          <p:cNvSpPr/>
          <p:nvPr/>
        </p:nvSpPr>
        <p:spPr>
          <a:xfrm>
            <a:off x="5413248" y="1874519"/>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2148840"/>
            <a:ext cx="10515600"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2700" b="1" i="0">
                <a:solidFill>
                  <a:srgbClr val="1A1A1A"/>
                </a:solidFill>
                <a:latin typeface="Segoe UI"/>
              </a:defRPr>
            </a:pPr>
            <a:r>
              <a:t>ADAPTIVE HEALTH INSURANCE UNDERWRITING VIA CONTEXTUAL BANDITS: A REINFORCEMENT LEARNING APPROACH FOR CAMBODIA</a:t>
            </a:r>
          </a:p>
        </p:txBody>
      </p:sp>
      <p:sp>
        <p:nvSpPr>
          <p:cNvPr id="9" name="Rectangle 8"/>
          <p:cNvSpPr/>
          <p:nvPr/>
        </p:nvSpPr>
        <p:spPr>
          <a:xfrm>
            <a:off x="5413248" y="38862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4224528"/>
            <a:ext cx="12191695"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0" i="0">
                <a:solidFill>
                  <a:srgbClr val="777777"/>
                </a:solidFill>
                <a:latin typeface="Calibri"/>
              </a:defRPr>
            </a:pPr>
            <a:r>
              <a:t>Thesis Defense — Presented by</a:t>
            </a:r>
          </a:p>
        </p:txBody>
      </p:sp>
      <p:sp>
        <p:nvSpPr>
          <p:cNvPr id="11" name="Rectangle 10"/>
          <p:cNvSpPr/>
          <p:nvPr/>
        </p:nvSpPr>
        <p:spPr>
          <a:xfrm>
            <a:off x="0" y="4535424"/>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700" b="1" i="0">
                <a:solidFill>
                  <a:srgbClr val="1B5697"/>
                </a:solidFill>
                <a:latin typeface="Calibri"/>
              </a:defRPr>
            </a:pPr>
            <a:r>
              <a:t>LUN CHANPOLY</a:t>
            </a:r>
          </a:p>
        </p:txBody>
      </p:sp>
      <p:sp>
        <p:nvSpPr>
          <p:cNvPr id="12" name="Rectangle 11"/>
          <p:cNvSpPr/>
          <p:nvPr/>
        </p:nvSpPr>
        <p:spPr>
          <a:xfrm>
            <a:off x="13716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Supervisor  :  Dr. HAS Sothea</a:t>
            </a:r>
          </a:p>
        </p:txBody>
      </p:sp>
      <p:sp>
        <p:nvSpPr>
          <p:cNvPr id="13" name="Rectangle 12"/>
          <p:cNvSpPr/>
          <p:nvPr/>
        </p:nvSpPr>
        <p:spPr>
          <a:xfrm>
            <a:off x="68580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Organization :  DAC (Decent Actuarial Consultants)</a:t>
            </a:r>
          </a:p>
        </p:txBody>
      </p:sp>
      <p:sp>
        <p:nvSpPr>
          <p:cNvPr id="14" name="Rectangle 13"/>
          <p:cNvSpPr/>
          <p:nvPr/>
        </p:nvSpPr>
        <p:spPr>
          <a:xfrm>
            <a:off x="1371600" y="5522976"/>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Duration      :  Mar 2026 – Jun 2026</a:t>
            </a:r>
          </a:p>
        </p:txBody>
      </p:sp>
      <p:sp>
        <p:nvSpPr>
          <p:cNvPr id="15" name="Rectangle 14"/>
          <p:cNvSpPr/>
          <p:nvPr/>
        </p:nvSpPr>
        <p:spPr>
          <a:xfrm>
            <a:off x="0" y="603504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500" b="1" i="0">
                <a:solidFill>
                  <a:srgbClr val="777777"/>
                </a:solidFill>
                <a:latin typeface="Calibri"/>
              </a:defRPr>
            </a:pPr>
            <a:r>
              <a:t>July 2026</a:t>
            </a:r>
          </a:p>
        </p:txBody>
      </p:sp>
      <p:sp>
        <p:nvSpPr>
          <p:cNvPr id="16" name="Rectangle 1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18" name="Rectangle 1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Adaptive Underwriting via Contextual Bandits</a:t>
            </a:r>
          </a:p>
        </p:txBody>
      </p:sp>
      <p:sp>
        <p:nvSpPr>
          <p:cNvPr id="20" name="Rectangle 1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 / 28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TABLE OF CONTENTS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011680" y="13716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400" b="1" i="0">
                <a:solidFill>
                  <a:srgbClr val="1B5697"/>
                </a:solidFill>
                <a:latin typeface="Segoe UI"/>
              </a:defRPr>
            </a:pPr>
            <a:r>
              <a:t>I</a:t>
            </a:r>
          </a:p>
        </p:txBody>
      </p:sp>
      <p:sp>
        <p:nvSpPr>
          <p:cNvPr id="5" name="Rectangle 4"/>
          <p:cNvSpPr/>
          <p:nvPr/>
        </p:nvSpPr>
        <p:spPr>
          <a:xfrm>
            <a:off x="3383280" y="14447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200" b="1" i="0">
                <a:solidFill>
                  <a:srgbClr val="1A1A1A"/>
                </a:solidFill>
                <a:latin typeface="Segoe UI"/>
              </a:defRPr>
            </a:pPr>
            <a:r>
              <a:t>Introduction &amp; Problem Background</a:t>
            </a:r>
          </a:p>
        </p:txBody>
      </p:sp>
      <p:sp>
        <p:nvSpPr>
          <p:cNvPr id="6" name="Rectangle 5"/>
          <p:cNvSpPr/>
          <p:nvPr/>
        </p:nvSpPr>
        <p:spPr>
          <a:xfrm>
            <a:off x="3383280" y="20299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011680" y="22860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400" b="1" i="0">
                <a:solidFill>
                  <a:srgbClr val="1B5697"/>
                </a:solidFill>
                <a:latin typeface="Segoe UI"/>
              </a:defRPr>
            </a:pPr>
            <a:r>
              <a:t>II</a:t>
            </a:r>
          </a:p>
        </p:txBody>
      </p:sp>
      <p:sp>
        <p:nvSpPr>
          <p:cNvPr id="8" name="Rectangle 7"/>
          <p:cNvSpPr/>
          <p:nvPr/>
        </p:nvSpPr>
        <p:spPr>
          <a:xfrm>
            <a:off x="3383280" y="23591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200" b="1" i="0">
                <a:solidFill>
                  <a:srgbClr val="1A1A1A"/>
                </a:solidFill>
                <a:latin typeface="Segoe UI"/>
              </a:defRPr>
            </a:pPr>
            <a:r>
              <a:t>Literature Review</a:t>
            </a:r>
          </a:p>
        </p:txBody>
      </p:sp>
      <p:sp>
        <p:nvSpPr>
          <p:cNvPr id="9" name="Rectangle 8"/>
          <p:cNvSpPr/>
          <p:nvPr/>
        </p:nvSpPr>
        <p:spPr>
          <a:xfrm>
            <a:off x="3383280" y="29443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011680" y="32004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400" b="1" i="0">
                <a:solidFill>
                  <a:srgbClr val="1B5697"/>
                </a:solidFill>
                <a:latin typeface="Segoe UI"/>
              </a:defRPr>
            </a:pPr>
            <a:r>
              <a:t>III</a:t>
            </a:r>
          </a:p>
        </p:txBody>
      </p:sp>
      <p:sp>
        <p:nvSpPr>
          <p:cNvPr id="11" name="Rectangle 10"/>
          <p:cNvSpPr/>
          <p:nvPr/>
        </p:nvSpPr>
        <p:spPr>
          <a:xfrm>
            <a:off x="3383280" y="32735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200" b="1" i="0">
                <a:solidFill>
                  <a:srgbClr val="1A1A1A"/>
                </a:solidFill>
                <a:latin typeface="Segoe UI"/>
              </a:defRPr>
            </a:pPr>
            <a:r>
              <a:t>Methodology &amp; Model Design</a:t>
            </a:r>
          </a:p>
        </p:txBody>
      </p:sp>
      <p:sp>
        <p:nvSpPr>
          <p:cNvPr id="12" name="Rectangle 11"/>
          <p:cNvSpPr/>
          <p:nvPr/>
        </p:nvSpPr>
        <p:spPr>
          <a:xfrm>
            <a:off x="3383280" y="38587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011680" y="41148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400" b="1" i="0">
                <a:solidFill>
                  <a:srgbClr val="1B5697"/>
                </a:solidFill>
                <a:latin typeface="Segoe UI"/>
              </a:defRPr>
            </a:pPr>
            <a:r>
              <a:t>IV</a:t>
            </a:r>
          </a:p>
        </p:txBody>
      </p:sp>
      <p:sp>
        <p:nvSpPr>
          <p:cNvPr id="14" name="Rectangle 13"/>
          <p:cNvSpPr/>
          <p:nvPr/>
        </p:nvSpPr>
        <p:spPr>
          <a:xfrm>
            <a:off x="3383280" y="41879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200" b="1" i="0">
                <a:solidFill>
                  <a:srgbClr val="1A1A1A"/>
                </a:solidFill>
                <a:latin typeface="Segoe UI"/>
              </a:defRPr>
            </a:pPr>
            <a:r>
              <a:t>Results &amp; Evaluation</a:t>
            </a:r>
          </a:p>
        </p:txBody>
      </p:sp>
      <p:sp>
        <p:nvSpPr>
          <p:cNvPr id="15" name="Rectangle 14"/>
          <p:cNvSpPr/>
          <p:nvPr/>
        </p:nvSpPr>
        <p:spPr>
          <a:xfrm>
            <a:off x="3383280" y="47731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011680" y="50292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400" b="1" i="0">
                <a:solidFill>
                  <a:srgbClr val="1B5697"/>
                </a:solidFill>
                <a:latin typeface="Segoe UI"/>
              </a:defRPr>
            </a:pPr>
            <a:r>
              <a:t>V</a:t>
            </a:r>
          </a:p>
        </p:txBody>
      </p:sp>
      <p:sp>
        <p:nvSpPr>
          <p:cNvPr id="17" name="Rectangle 16"/>
          <p:cNvSpPr/>
          <p:nvPr/>
        </p:nvSpPr>
        <p:spPr>
          <a:xfrm>
            <a:off x="3383280" y="51023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200" b="1" i="0">
                <a:solidFill>
                  <a:srgbClr val="1A1A1A"/>
                </a:solidFill>
                <a:latin typeface="Segoe UI"/>
              </a:defRPr>
            </a:pPr>
            <a:r>
              <a:t>Conclusion &amp; Future Work</a:t>
            </a:r>
          </a:p>
        </p:txBody>
      </p:sp>
      <p:sp>
        <p:nvSpPr>
          <p:cNvPr id="18" name="Rectangle 17"/>
          <p:cNvSpPr/>
          <p:nvPr/>
        </p:nvSpPr>
        <p:spPr>
          <a:xfrm>
            <a:off x="3383280" y="56875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21" name="Rectangle 20"/>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Adaptive Underwriting via Contextual Bandits</a:t>
            </a:r>
          </a:p>
        </p:txBody>
      </p:sp>
      <p:sp>
        <p:nvSpPr>
          <p:cNvPr id="23" name="Rectangle 22"/>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 / 28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2000" b="1" i="0">
                <a:solidFill>
                  <a:srgbClr val="FFFFFF"/>
                </a:solidFill>
                <a:latin typeface="Segoe UI"/>
              </a:defRPr>
            </a:pPr>
            <a:r>
              <a:t>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200" b="1" i="0">
                <a:solidFill>
                  <a:srgbClr val="FFFFFF"/>
                </a:solidFill>
                <a:latin typeface="Segoe UI"/>
              </a:defRPr>
            </a:pPr>
            <a:r>
              <a:t>Introduction &amp; Problem Background</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Introduction &amp; Problem Background</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 /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ABOUT DECENT ACTUARIAL CONSULTANTS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 / 28</a:t>
            </a:r>
          </a:p>
        </p:txBody>
      </p:sp>
      <p:sp>
        <p:nvSpPr>
          <p:cNvPr id="10" name="Rectangle 9"/>
          <p:cNvSpPr/>
          <p:nvPr/>
        </p:nvSpPr>
        <p:spPr>
          <a:xfrm>
            <a:off x="457200" y="14813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13232" y="137160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DAC is a Phnom Penh actuarial consultancy</a:t>
            </a:r>
          </a:p>
        </p:txBody>
      </p:sp>
      <p:sp>
        <p:nvSpPr>
          <p:cNvPr id="12" name="Rectangle 11"/>
          <p:cNvSpPr/>
          <p:nvPr/>
        </p:nvSpPr>
        <p:spPr>
          <a:xfrm>
            <a:off x="457200" y="204825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13232" y="193852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Clients: life, non-life &amp; general insurance companies</a:t>
            </a:r>
          </a:p>
        </p:txBody>
      </p:sp>
      <p:sp>
        <p:nvSpPr>
          <p:cNvPr id="14" name="Rectangle 13"/>
          <p:cNvSpPr/>
          <p:nvPr/>
        </p:nvSpPr>
        <p:spPr>
          <a:xfrm>
            <a:off x="457200" y="261518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13232" y="250545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This thesis is a DAC-supervised research internship (Mar–Jun 2026)</a:t>
            </a:r>
          </a:p>
        </p:txBody>
      </p:sp>
      <p:sp>
        <p:nvSpPr>
          <p:cNvPr id="16" name="Rectangle 15"/>
          <p:cNvSpPr/>
          <p:nvPr/>
        </p:nvSpPr>
        <p:spPr>
          <a:xfrm>
            <a:off x="457200" y="318211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 y="3072384"/>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Deliverable: an adaptive underwriting prototype + this report</a:t>
            </a:r>
          </a:p>
        </p:txBody>
      </p:sp>
      <p:pic>
        <p:nvPicPr>
          <p:cNvPr id="18" name="Picture 17" descr="DAC.jpg"/>
          <p:cNvPicPr>
            <a:picLocks noChangeAspect="1"/>
          </p:cNvPicPr>
          <p:nvPr/>
        </p:nvPicPr>
        <p:blipFill>
          <a:blip r:embed="rId3"/>
          <a:stretch>
            <a:fillRect/>
          </a:stretch>
        </p:blipFill>
        <p:spPr>
          <a:xfrm>
            <a:off x="6492240" y="1825942"/>
            <a:ext cx="5212080" cy="2931795"/>
          </a:xfrm>
          <a:prstGeom prst="rect">
            <a:avLst/>
          </a:prstGeom>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INTRODUCTION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3 / 28</a:t>
            </a:r>
          </a:p>
        </p:txBody>
      </p:sp>
      <p:sp>
        <p:nvSpPr>
          <p:cNvPr id="10" name="Rectangle 9"/>
          <p:cNvSpPr/>
          <p:nvPr/>
        </p:nvSpPr>
        <p:spPr>
          <a:xfrm>
            <a:off x="45720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5600" b="1" i="0">
                <a:solidFill>
                  <a:srgbClr val="1B5697"/>
                </a:solidFill>
                <a:latin typeface="Segoe UI"/>
              </a:defRPr>
            </a:pPr>
            <a:r>
              <a:t>&lt; 10 %</a:t>
            </a:r>
          </a:p>
        </p:txBody>
      </p:sp>
      <p:sp>
        <p:nvSpPr>
          <p:cNvPr id="11" name="Rectangle 10"/>
          <p:cNvSpPr/>
          <p:nvPr/>
        </p:nvSpPr>
        <p:spPr>
          <a:xfrm>
            <a:off x="457200" y="2057400"/>
            <a:ext cx="54864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HEALTH-INSURANCE PENETRATION IN CAMBODIA (2023 EST.)</a:t>
            </a:r>
          </a:p>
        </p:txBody>
      </p:sp>
      <p:sp>
        <p:nvSpPr>
          <p:cNvPr id="12" name="Rectangle 11"/>
          <p:cNvSpPr/>
          <p:nvPr/>
        </p:nvSpPr>
        <p:spPr>
          <a:xfrm>
            <a:off x="457200" y="27614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13232" y="26517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NSSF covers formal-sector workers only (~16%)</a:t>
            </a:r>
          </a:p>
        </p:txBody>
      </p:sp>
      <p:sp>
        <p:nvSpPr>
          <p:cNvPr id="14" name="Rectangle 13"/>
          <p:cNvSpPr/>
          <p:nvPr/>
        </p:nvSpPr>
        <p:spPr>
          <a:xfrm>
            <a:off x="457200" y="33284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13232" y="32186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Private underwriting is manual and rule-based</a:t>
            </a:r>
          </a:p>
        </p:txBody>
      </p:sp>
      <p:sp>
        <p:nvSpPr>
          <p:cNvPr id="16" name="Rectangle 15"/>
          <p:cNvSpPr/>
          <p:nvPr/>
        </p:nvSpPr>
        <p:spPr>
          <a:xfrm>
            <a:off x="457200" y="38953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 y="37856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Static rules never learn from outcomes</a:t>
            </a:r>
          </a:p>
        </p:txBody>
      </p:sp>
      <p:sp>
        <p:nvSpPr>
          <p:cNvPr id="18" name="Rectangle 17"/>
          <p:cNvSpPr/>
          <p:nvPr/>
        </p:nvSpPr>
        <p:spPr>
          <a:xfrm>
            <a:off x="457200" y="44622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13232" y="43525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No demographic-parity monitoring in practice</a:t>
            </a:r>
          </a:p>
        </p:txBody>
      </p:sp>
      <p:sp>
        <p:nvSpPr>
          <p:cNvPr id="20" name="Rectangle 19"/>
          <p:cNvSpPr/>
          <p:nvPr/>
        </p:nvSpPr>
        <p:spPr>
          <a:xfrm>
            <a:off x="6492240" y="1188720"/>
            <a:ext cx="5212080" cy="4206240"/>
          </a:xfrm>
          <a:prstGeom prst="rect">
            <a:avLst/>
          </a:prstGeom>
          <a:solidFill>
            <a:srgbClr val="F3F6FB"/>
          </a:solidFill>
          <a:ln w="19050">
            <a:solidFill>
              <a:srgbClr val="AFC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92240" y="1188720"/>
            <a:ext cx="5212080" cy="4206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400" b="0" i="0">
                <a:solidFill>
                  <a:srgbClr val="777777"/>
                </a:solidFill>
                <a:latin typeface="Calibri"/>
              </a:defRPr>
            </a:pPr>
            <a:r>
              <a:t>[ PHOTO PLACEHOLDER ]</a:t>
            </a:r>
            <a:br/>
            <a:br/>
            <a:r>
              <a:t>Cambodian clinic / insurance context</a:t>
            </a:r>
            <a:br/>
            <a:br/>
            <a:r>
              <a:t>(swap in a real photo before defense)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PROBLEM STATEMENT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4 / 28</a:t>
            </a:r>
          </a:p>
        </p:txBody>
      </p:sp>
      <p:sp>
        <p:nvSpPr>
          <p:cNvPr id="10" name="Rectangle 9"/>
          <p:cNvSpPr/>
          <p:nvPr/>
        </p:nvSpPr>
        <p:spPr>
          <a:xfrm>
            <a:off x="45720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A1A1A"/>
                </a:solidFill>
                <a:latin typeface="Segoe UI"/>
              </a:defRPr>
            </a:pPr>
            <a:r>
              <a:t>Static thresholds</a:t>
            </a:r>
          </a:p>
        </p:txBody>
      </p:sp>
      <p:sp>
        <p:nvSpPr>
          <p:cNvPr id="13" name="Rectangle 12"/>
          <p:cNvSpPr/>
          <p:nvPr/>
        </p:nvSpPr>
        <p:spPr>
          <a:xfrm>
            <a:off x="73152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3A3A3A"/>
                </a:solidFill>
                <a:latin typeface="Calibri"/>
              </a:defRPr>
            </a:pPr>
            <a:r>
              <a:t>Fixed cutoffs ignore applicant context</a:t>
            </a:r>
          </a:p>
        </p:txBody>
      </p:sp>
      <p:sp>
        <p:nvSpPr>
          <p:cNvPr id="14" name="Rectangle 13"/>
          <p:cNvSpPr/>
          <p:nvPr/>
        </p:nvSpPr>
        <p:spPr>
          <a:xfrm>
            <a:off x="630936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0936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58368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A1A1A"/>
                </a:solidFill>
                <a:latin typeface="Segoe UI"/>
              </a:defRPr>
            </a:pPr>
            <a:r>
              <a:t>No online adaptation</a:t>
            </a:r>
          </a:p>
        </p:txBody>
      </p:sp>
      <p:sp>
        <p:nvSpPr>
          <p:cNvPr id="17" name="Rectangle 16"/>
          <p:cNvSpPr/>
          <p:nvPr/>
        </p:nvSpPr>
        <p:spPr>
          <a:xfrm>
            <a:off x="658368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3A3A3A"/>
                </a:solidFill>
                <a:latin typeface="Calibri"/>
              </a:defRPr>
            </a:pPr>
            <a:r>
              <a:t>Claims feedback never reaches the model</a:t>
            </a:r>
          </a:p>
        </p:txBody>
      </p:sp>
      <p:sp>
        <p:nvSpPr>
          <p:cNvPr id="18" name="Rectangle 17"/>
          <p:cNvSpPr/>
          <p:nvPr/>
        </p:nvSpPr>
        <p:spPr>
          <a:xfrm>
            <a:off x="45720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3152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A1A1A"/>
                </a:solidFill>
                <a:latin typeface="Segoe UI"/>
              </a:defRPr>
            </a:pPr>
            <a:r>
              <a:t>Demographic blindspot</a:t>
            </a:r>
          </a:p>
        </p:txBody>
      </p:sp>
      <p:sp>
        <p:nvSpPr>
          <p:cNvPr id="21" name="Rectangle 20"/>
          <p:cNvSpPr/>
          <p:nvPr/>
        </p:nvSpPr>
        <p:spPr>
          <a:xfrm>
            <a:off x="73152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3A3A3A"/>
                </a:solidFill>
                <a:latin typeface="Calibri"/>
              </a:defRPr>
            </a:pPr>
            <a:r>
              <a:t>No parity metric is tracked</a:t>
            </a:r>
          </a:p>
        </p:txBody>
      </p:sp>
      <p:sp>
        <p:nvSpPr>
          <p:cNvPr id="22" name="Rectangle 21"/>
          <p:cNvSpPr/>
          <p:nvPr/>
        </p:nvSpPr>
        <p:spPr>
          <a:xfrm>
            <a:off x="630936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30936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58368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A1A1A"/>
                </a:solidFill>
                <a:latin typeface="Segoe UI"/>
              </a:defRPr>
            </a:pPr>
            <a:r>
              <a:t>No triage</a:t>
            </a:r>
          </a:p>
        </p:txBody>
      </p:sp>
      <p:sp>
        <p:nvSpPr>
          <p:cNvPr id="25" name="Rectangle 24"/>
          <p:cNvSpPr/>
          <p:nvPr/>
        </p:nvSpPr>
        <p:spPr>
          <a:xfrm>
            <a:off x="658368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3A3A3A"/>
                </a:solidFill>
                <a:latin typeface="Calibri"/>
              </a:defRPr>
            </a:pPr>
            <a:r>
              <a:t>Experts review routine, not borderline, cases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PROJECT OBJECTIVE</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5 / 28</a:t>
            </a:r>
          </a:p>
        </p:txBody>
      </p:sp>
      <p:sp>
        <p:nvSpPr>
          <p:cNvPr id="10" name="Rectangle 9"/>
          <p:cNvSpPr/>
          <p:nvPr/>
        </p:nvSpPr>
        <p:spPr>
          <a:xfrm>
            <a:off x="457200" y="1188720"/>
            <a:ext cx="3657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1" i="0">
                <a:solidFill>
                  <a:srgbClr val="1B5697"/>
                </a:solidFill>
                <a:latin typeface="Calibri"/>
              </a:defRPr>
            </a:pPr>
            <a:r>
              <a:rPr spc="120"/>
              <a:t>RESEARCH GOAL</a:t>
            </a:r>
          </a:p>
        </p:txBody>
      </p:sp>
      <p:sp>
        <p:nvSpPr>
          <p:cNvPr id="11" name="Rectangle 10"/>
          <p:cNvSpPr/>
          <p:nvPr/>
        </p:nvSpPr>
        <p:spPr>
          <a:xfrm>
            <a:off x="457200" y="1536192"/>
            <a:ext cx="11277295"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1A1A1A"/>
                </a:solidFill>
                <a:latin typeface="Calibri"/>
              </a:defRPr>
            </a:pPr>
            <a:r>
              <a:t>Design and evaluate an adaptive health insurance underwriting system using contextual bandit algorithms on a synthetic Cambodia applicant dataset, incorporating demographic fairness monitoring and human-in-the-loop augmentation.</a:t>
            </a:r>
          </a:p>
        </p:txBody>
      </p:sp>
      <p:sp>
        <p:nvSpPr>
          <p:cNvPr id="12" name="Rectangle 11"/>
          <p:cNvSpPr/>
          <p:nvPr/>
        </p:nvSpPr>
        <p:spPr>
          <a:xfrm>
            <a:off x="457200" y="2423160"/>
            <a:ext cx="3657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1" i="0">
                <a:solidFill>
                  <a:srgbClr val="1B5697"/>
                </a:solidFill>
                <a:latin typeface="Calibri"/>
              </a:defRPr>
            </a:pPr>
            <a:r>
              <a:rPr spc="120"/>
              <a:t>OBJECTIVES</a:t>
            </a:r>
          </a:p>
        </p:txBody>
      </p:sp>
      <p:sp>
        <p:nvSpPr>
          <p:cNvPr id="13" name="Rectangle 12"/>
          <p:cNvSpPr/>
          <p:nvPr/>
        </p:nvSpPr>
        <p:spPr>
          <a:xfrm>
            <a:off x="457200" y="283464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B5697"/>
                </a:solidFill>
                <a:latin typeface="Segoe UI"/>
              </a:defRPr>
            </a:pPr>
            <a:r>
              <a:t>O1</a:t>
            </a:r>
          </a:p>
        </p:txBody>
      </p:sp>
      <p:sp>
        <p:nvSpPr>
          <p:cNvPr id="14" name="Rectangle 13"/>
          <p:cNvSpPr/>
          <p:nvPr/>
        </p:nvSpPr>
        <p:spPr>
          <a:xfrm>
            <a:off x="1234440" y="285292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Implement and adapt linear contextual bandit algorithms (LinUCB, LinTS) for multi-arm health insurance underwriting decisions.</a:t>
            </a:r>
          </a:p>
        </p:txBody>
      </p:sp>
      <p:sp>
        <p:nvSpPr>
          <p:cNvPr id="15" name="Rectangle 14"/>
          <p:cNvSpPr/>
          <p:nvPr/>
        </p:nvSpPr>
        <p:spPr>
          <a:xfrm>
            <a:off x="457200" y="370332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B5697"/>
                </a:solidFill>
                <a:latin typeface="Segoe UI"/>
              </a:defRPr>
            </a:pPr>
            <a:r>
              <a:t>O2</a:t>
            </a:r>
          </a:p>
        </p:txBody>
      </p:sp>
      <p:sp>
        <p:nvSpPr>
          <p:cNvPr id="16" name="Rectangle 15"/>
          <p:cNvSpPr/>
          <p:nvPr/>
        </p:nvSpPr>
        <p:spPr>
          <a:xfrm>
            <a:off x="1234440" y="372160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Construct a 2,000-record synthetic Cambodia applicant dataset anchored on CDHS, STEPS, ILO, and WHO demographic distributions.</a:t>
            </a:r>
          </a:p>
        </p:txBody>
      </p:sp>
      <p:sp>
        <p:nvSpPr>
          <p:cNvPr id="17" name="Rectangle 16"/>
          <p:cNvSpPr/>
          <p:nvPr/>
        </p:nvSpPr>
        <p:spPr>
          <a:xfrm>
            <a:off x="457200" y="361188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57200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B5697"/>
                </a:solidFill>
                <a:latin typeface="Segoe UI"/>
              </a:defRPr>
            </a:pPr>
            <a:r>
              <a:t>O3</a:t>
            </a:r>
          </a:p>
        </p:txBody>
      </p:sp>
      <p:sp>
        <p:nvSpPr>
          <p:cNvPr id="19" name="Rectangle 18"/>
          <p:cNvSpPr/>
          <p:nvPr/>
        </p:nvSpPr>
        <p:spPr>
          <a:xfrm>
            <a:off x="1234440" y="459028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Evaluate bandit performance versus static rule-based baselines via 20-seed multi-run trials, bootstrap CIs, and paired Wilcoxon tests.</a:t>
            </a:r>
          </a:p>
        </p:txBody>
      </p:sp>
      <p:sp>
        <p:nvSpPr>
          <p:cNvPr id="20" name="Rectangle 19"/>
          <p:cNvSpPr/>
          <p:nvPr/>
        </p:nvSpPr>
        <p:spPr>
          <a:xfrm>
            <a:off x="457200" y="448056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44068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2000" b="1" i="0">
                <a:solidFill>
                  <a:srgbClr val="1B5697"/>
                </a:solidFill>
                <a:latin typeface="Segoe UI"/>
              </a:defRPr>
            </a:pPr>
            <a:r>
              <a:t>O4</a:t>
            </a:r>
          </a:p>
        </p:txBody>
      </p:sp>
      <p:sp>
        <p:nvSpPr>
          <p:cNvPr id="22" name="Rectangle 21"/>
          <p:cNvSpPr/>
          <p:nvPr/>
        </p:nvSpPr>
        <p:spPr>
          <a:xfrm>
            <a:off x="1234440" y="545896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Assess demographic fairness via PSI monitoring across region and occupation, and integrate a human-in-the-loop underwriting wrapper.</a:t>
            </a:r>
          </a:p>
        </p:txBody>
      </p:sp>
      <p:sp>
        <p:nvSpPr>
          <p:cNvPr id="23" name="Rectangle 22"/>
          <p:cNvSpPr/>
          <p:nvPr/>
        </p:nvSpPr>
        <p:spPr>
          <a:xfrm>
            <a:off x="457200" y="534924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2000" b="1" i="0">
                <a:solidFill>
                  <a:srgbClr val="FFFFFF"/>
                </a:solidFill>
                <a:latin typeface="Segoe UI"/>
              </a:defRPr>
            </a:pPr>
            <a:r>
              <a:t>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200" b="1" i="0">
                <a:solidFill>
                  <a:srgbClr val="FFFFFF"/>
                </a:solidFill>
                <a:latin typeface="Segoe UI"/>
              </a:defRPr>
            </a:pPr>
            <a:r>
              <a:t>Literature Review</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Literature Review</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7 / 28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LITERATURE REVIEW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Literature Review</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6 / 28</a:t>
            </a:r>
          </a:p>
        </p:txBody>
      </p:sp>
      <p:sp>
        <p:nvSpPr>
          <p:cNvPr id="10" name="Rectangle 9"/>
          <p:cNvSpPr/>
          <p:nvPr/>
        </p:nvSpPr>
        <p:spPr>
          <a:xfrm>
            <a:off x="512064" y="1325880"/>
            <a:ext cx="2633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Topic</a:t>
            </a:r>
          </a:p>
        </p:txBody>
      </p:sp>
      <p:sp>
        <p:nvSpPr>
          <p:cNvPr id="11" name="Rectangle 10"/>
          <p:cNvSpPr/>
          <p:nvPr/>
        </p:nvSpPr>
        <p:spPr>
          <a:xfrm>
            <a:off x="3255264" y="1325880"/>
            <a:ext cx="31821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Key authors</a:t>
            </a:r>
          </a:p>
        </p:txBody>
      </p:sp>
      <p:sp>
        <p:nvSpPr>
          <p:cNvPr id="12" name="Rectangle 11"/>
          <p:cNvSpPr/>
          <p:nvPr/>
        </p:nvSpPr>
        <p:spPr>
          <a:xfrm>
            <a:off x="6547104" y="1325880"/>
            <a:ext cx="51023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Contribution</a:t>
            </a:r>
          </a:p>
        </p:txBody>
      </p:sp>
      <p:sp>
        <p:nvSpPr>
          <p:cNvPr id="13" name="Rectangle 12"/>
          <p:cNvSpPr/>
          <p:nvPr/>
        </p:nvSpPr>
        <p:spPr>
          <a:xfrm>
            <a:off x="457200" y="165506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172821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12064" y="176479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Bandits in healthcare</a:t>
            </a:r>
          </a:p>
        </p:txBody>
      </p:sp>
      <p:sp>
        <p:nvSpPr>
          <p:cNvPr id="16" name="Rectangle 15"/>
          <p:cNvSpPr/>
          <p:nvPr/>
        </p:nvSpPr>
        <p:spPr>
          <a:xfrm>
            <a:off x="3255264" y="176479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Bouneffouf et al. (2017)</a:t>
            </a:r>
          </a:p>
        </p:txBody>
      </p:sp>
      <p:sp>
        <p:nvSpPr>
          <p:cNvPr id="17" name="Rectangle 16"/>
          <p:cNvSpPr/>
          <p:nvPr/>
        </p:nvSpPr>
        <p:spPr>
          <a:xfrm>
            <a:off x="6547104" y="176479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Clinical decision support via LinUCB; reward = patient outcome</a:t>
            </a:r>
          </a:p>
        </p:txBody>
      </p:sp>
      <p:sp>
        <p:nvSpPr>
          <p:cNvPr id="18" name="Rectangle 17"/>
          <p:cNvSpPr/>
          <p:nvPr/>
        </p:nvSpPr>
        <p:spPr>
          <a:xfrm>
            <a:off x="512064" y="254203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Linear bandit theory</a:t>
            </a:r>
          </a:p>
        </p:txBody>
      </p:sp>
      <p:sp>
        <p:nvSpPr>
          <p:cNvPr id="19" name="Rectangle 18"/>
          <p:cNvSpPr/>
          <p:nvPr/>
        </p:nvSpPr>
        <p:spPr>
          <a:xfrm>
            <a:off x="3255264" y="254203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 et al. (2010); Agrawal &amp; Goyal (2013)</a:t>
            </a:r>
          </a:p>
        </p:txBody>
      </p:sp>
      <p:sp>
        <p:nvSpPr>
          <p:cNvPr id="20" name="Rectangle 19"/>
          <p:cNvSpPr/>
          <p:nvPr/>
        </p:nvSpPr>
        <p:spPr>
          <a:xfrm>
            <a:off x="6547104" y="254203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LinUCB O(sqrt(T) d log T) regret; LinTS posterior sampling, near-optimal</a:t>
            </a:r>
          </a:p>
        </p:txBody>
      </p:sp>
      <p:sp>
        <p:nvSpPr>
          <p:cNvPr id="21" name="Rectangle 20"/>
          <p:cNvSpPr/>
          <p:nvPr/>
        </p:nvSpPr>
        <p:spPr>
          <a:xfrm>
            <a:off x="457200" y="328269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12064" y="331927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Fairness in insurance ML</a:t>
            </a:r>
          </a:p>
        </p:txBody>
      </p:sp>
      <p:sp>
        <p:nvSpPr>
          <p:cNvPr id="23" name="Rectangle 22"/>
          <p:cNvSpPr/>
          <p:nvPr/>
        </p:nvSpPr>
        <p:spPr>
          <a:xfrm>
            <a:off x="3255264" y="331927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Frees et al. (2014); Kusner et al. (2017)</a:t>
            </a:r>
          </a:p>
        </p:txBody>
      </p:sp>
      <p:sp>
        <p:nvSpPr>
          <p:cNvPr id="24" name="Rectangle 23"/>
          <p:cNvSpPr/>
          <p:nvPr/>
        </p:nvSpPr>
        <p:spPr>
          <a:xfrm>
            <a:off x="6547104" y="331927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Regulatory constraints on protected attributes; counterfactual fairness</a:t>
            </a:r>
          </a:p>
        </p:txBody>
      </p:sp>
      <p:sp>
        <p:nvSpPr>
          <p:cNvPr id="25" name="Rectangle 24"/>
          <p:cNvSpPr/>
          <p:nvPr/>
        </p:nvSpPr>
        <p:spPr>
          <a:xfrm>
            <a:off x="512064" y="409651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PSI model monitoring</a:t>
            </a:r>
          </a:p>
        </p:txBody>
      </p:sp>
      <p:sp>
        <p:nvSpPr>
          <p:cNvPr id="26" name="Rectangle 25"/>
          <p:cNvSpPr/>
          <p:nvPr/>
        </p:nvSpPr>
        <p:spPr>
          <a:xfrm>
            <a:off x="3255264" y="409651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Yurdakul (2018)</a:t>
            </a:r>
          </a:p>
        </p:txBody>
      </p:sp>
      <p:sp>
        <p:nvSpPr>
          <p:cNvPr id="27" name="Rectangle 26"/>
          <p:cNvSpPr/>
          <p:nvPr/>
        </p:nvSpPr>
        <p:spPr>
          <a:xfrm>
            <a:off x="6547104" y="409651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Population Stability Index drift zones (GREEN / AMBER / RED)</a:t>
            </a:r>
          </a:p>
        </p:txBody>
      </p:sp>
      <p:sp>
        <p:nvSpPr>
          <p:cNvPr id="28" name="Rectangle 27"/>
          <p:cNvSpPr/>
          <p:nvPr/>
        </p:nvSpPr>
        <p:spPr>
          <a:xfrm>
            <a:off x="457200" y="483717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12064" y="487375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Human-in-the-loop RL</a:t>
            </a:r>
          </a:p>
        </p:txBody>
      </p:sp>
      <p:sp>
        <p:nvSpPr>
          <p:cNvPr id="30" name="Rectangle 29"/>
          <p:cNvSpPr/>
          <p:nvPr/>
        </p:nvSpPr>
        <p:spPr>
          <a:xfrm>
            <a:off x="3255264" y="487375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Christiano et al. (2017)</a:t>
            </a:r>
          </a:p>
        </p:txBody>
      </p:sp>
      <p:sp>
        <p:nvSpPr>
          <p:cNvPr id="31" name="Rectangle 30"/>
          <p:cNvSpPr/>
          <p:nvPr/>
        </p:nvSpPr>
        <p:spPr>
          <a:xfrm>
            <a:off x="6547104" y="487375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Expert overrides improve alignment; cost-benefit of referral</a:t>
            </a:r>
          </a:p>
        </p:txBody>
      </p:sp>
      <p:sp>
        <p:nvSpPr>
          <p:cNvPr id="32" name="Rectangle 3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Full review: thesis Chapter III (30+ sources).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2000" b="1" i="0">
                <a:solidFill>
                  <a:srgbClr val="FFFFFF"/>
                </a:solidFill>
                <a:latin typeface="Segoe UI"/>
              </a:defRPr>
            </a:pPr>
            <a:r>
              <a:t>III.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200" b="1" i="0">
                <a:solidFill>
                  <a:srgbClr val="FFFFFF"/>
                </a:solidFill>
                <a:latin typeface="Segoe UI"/>
              </a:defRPr>
            </a:pPr>
            <a:r>
              <a:t>Methodology &amp; Model Design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9 / 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METHODOLOGY OVERVIEW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8 / 28</a:t>
            </a:r>
          </a:p>
        </p:txBody>
      </p:sp>
      <p:sp>
        <p:nvSpPr>
          <p:cNvPr id="10" name="Rectangle 9"/>
          <p:cNvSpPr/>
          <p:nvPr/>
        </p:nvSpPr>
        <p:spPr>
          <a:xfrm>
            <a:off x="874623" y="1463040"/>
            <a:ext cx="1572768" cy="128016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2034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Applicant Context</a:t>
            </a:r>
          </a:p>
        </p:txBody>
      </p:sp>
      <p:sp>
        <p:nvSpPr>
          <p:cNvPr id="12" name="Right Arrow 11"/>
          <p:cNvSpPr/>
          <p:nvPr/>
        </p:nvSpPr>
        <p:spPr>
          <a:xfrm>
            <a:off x="2447391"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648559"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694279"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Bandit Policy</a:t>
            </a:r>
          </a:p>
        </p:txBody>
      </p:sp>
      <p:sp>
        <p:nvSpPr>
          <p:cNvPr id="15" name="Right Arrow 14"/>
          <p:cNvSpPr/>
          <p:nvPr/>
        </p:nvSpPr>
        <p:spPr>
          <a:xfrm>
            <a:off x="4221327"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422495"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68215"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Underwriting Action</a:t>
            </a:r>
          </a:p>
        </p:txBody>
      </p:sp>
      <p:sp>
        <p:nvSpPr>
          <p:cNvPr id="18" name="Right Arrow 17"/>
          <p:cNvSpPr/>
          <p:nvPr/>
        </p:nvSpPr>
        <p:spPr>
          <a:xfrm>
            <a:off x="5995263"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6431"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42151"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Actuarial Reward</a:t>
            </a:r>
          </a:p>
        </p:txBody>
      </p:sp>
      <p:sp>
        <p:nvSpPr>
          <p:cNvPr id="21" name="Right Arrow 20"/>
          <p:cNvSpPr/>
          <p:nvPr/>
        </p:nvSpPr>
        <p:spPr>
          <a:xfrm>
            <a:off x="7769199"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0367"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16087"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PSI Fairness + HITL</a:t>
            </a:r>
          </a:p>
        </p:txBody>
      </p:sp>
      <p:sp>
        <p:nvSpPr>
          <p:cNvPr id="24" name="Right Arrow 23"/>
          <p:cNvSpPr/>
          <p:nvPr/>
        </p:nvSpPr>
        <p:spPr>
          <a:xfrm>
            <a:off x="9543135"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744303" y="1463040"/>
            <a:ext cx="1572768" cy="128016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9002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Decision</a:t>
            </a:r>
          </a:p>
        </p:txBody>
      </p:sp>
      <p:sp>
        <p:nvSpPr>
          <p:cNvPr id="27" name="Rectangle 26"/>
          <p:cNvSpPr/>
          <p:nvPr/>
        </p:nvSpPr>
        <p:spPr>
          <a:xfrm>
            <a:off x="457200" y="3383280"/>
            <a:ext cx="11277295"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0" i="0">
                <a:solidFill>
                  <a:srgbClr val="3A3A3A"/>
                </a:solidFill>
                <a:latin typeface="Calibri"/>
              </a:defRPr>
            </a:pPr>
            <a:r>
              <a:t>Each applicant flows left to right: their context drives a bandit policy that picks an underwriting action; the actuarial simulator returns a reward that updates the policy; a PSI guardrail and a human-in-the-loop wrapper watch fairness before the final decision.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ZOOM-IN: DATASET &amp;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9 / 28</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Decision</a:t>
            </a:r>
          </a:p>
        </p:txBody>
      </p:sp>
      <p:sp>
        <p:nvSpPr>
          <p:cNvPr id="27" name="Rectangle 26"/>
          <p:cNvSpPr/>
          <p:nvPr/>
        </p:nvSpPr>
        <p:spPr>
          <a:xfrm>
            <a:off x="801471"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B5697"/>
                </a:solidFill>
                <a:latin typeface="Calibri"/>
              </a:defRPr>
            </a:pPr>
            <a:r>
              <a:t>2,000</a:t>
            </a:r>
          </a:p>
        </p:txBody>
      </p:sp>
      <p:sp>
        <p:nvSpPr>
          <p:cNvPr id="29" name="Rectangle 28"/>
          <p:cNvSpPr/>
          <p:nvPr/>
        </p:nvSpPr>
        <p:spPr>
          <a:xfrm>
            <a:off x="457200"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SYNTHETIC APPLICATIONS</a:t>
            </a:r>
          </a:p>
        </p:txBody>
      </p:sp>
      <p:sp>
        <p:nvSpPr>
          <p:cNvPr id="30" name="Rectangle 29"/>
          <p:cNvSpPr/>
          <p:nvPr/>
        </p:nvSpPr>
        <p:spPr>
          <a:xfrm>
            <a:off x="3276523"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5</a:t>
            </a:r>
          </a:p>
        </p:txBody>
      </p:sp>
      <p:sp>
        <p:nvSpPr>
          <p:cNvPr id="31" name="Rectangle 30"/>
          <p:cNvSpPr/>
          <p:nvPr/>
        </p:nvSpPr>
        <p:spPr>
          <a:xfrm>
            <a:off x="3276523"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DEMOGRAPHIC FEATURES</a:t>
            </a:r>
          </a:p>
        </p:txBody>
      </p:sp>
      <p:sp>
        <p:nvSpPr>
          <p:cNvPr id="32" name="Rectangle 31"/>
          <p:cNvSpPr/>
          <p:nvPr/>
        </p:nvSpPr>
        <p:spPr>
          <a:xfrm>
            <a:off x="3166795"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095846"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4</a:t>
            </a:r>
          </a:p>
        </p:txBody>
      </p:sp>
      <p:sp>
        <p:nvSpPr>
          <p:cNvPr id="34" name="Rectangle 33"/>
          <p:cNvSpPr/>
          <p:nvPr/>
        </p:nvSpPr>
        <p:spPr>
          <a:xfrm>
            <a:off x="6095846"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UNDERWRITING ARMS</a:t>
            </a:r>
          </a:p>
        </p:txBody>
      </p:sp>
      <p:sp>
        <p:nvSpPr>
          <p:cNvPr id="35" name="Rectangle 34"/>
          <p:cNvSpPr/>
          <p:nvPr/>
        </p:nvSpPr>
        <p:spPr>
          <a:xfrm>
            <a:off x="5986118"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915169"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4</a:t>
            </a:r>
          </a:p>
        </p:txBody>
      </p:sp>
      <p:sp>
        <p:nvSpPr>
          <p:cNvPr id="37" name="Rectangle 36"/>
          <p:cNvSpPr/>
          <p:nvPr/>
        </p:nvSpPr>
        <p:spPr>
          <a:xfrm>
            <a:off x="8915169"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ANCHORING SOURCES</a:t>
            </a:r>
          </a:p>
        </p:txBody>
      </p:sp>
      <p:sp>
        <p:nvSpPr>
          <p:cNvPr id="38" name="Rectangle 37"/>
          <p:cNvSpPr/>
          <p:nvPr/>
        </p:nvSpPr>
        <p:spPr>
          <a:xfrm>
            <a:off x="8805441"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13232" y="356616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Anchored on CDHS, STEPS, ILO, WHO data</a:t>
            </a:r>
          </a:p>
        </p:txBody>
      </p:sp>
      <p:sp>
        <p:nvSpPr>
          <p:cNvPr id="41" name="Rectangle 40"/>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13232" y="413308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Adverse selection AF = 1.35; elasticity 3.5</a:t>
            </a:r>
          </a:p>
        </p:txBody>
      </p:sp>
      <p:sp>
        <p:nvSpPr>
          <p:cNvPr id="43" name="Rectangle 42"/>
          <p:cNvSpPr/>
          <p:nvPr/>
        </p:nvSpPr>
        <p:spPr>
          <a:xfrm>
            <a:off x="457200" y="4809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713232" y="470001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Fully synthetic — no real applicant PII</a:t>
            </a:r>
          </a:p>
        </p:txBody>
      </p:sp>
      <p:sp>
        <p:nvSpPr>
          <p:cNvPr id="45" name="Rectangle 44"/>
          <p:cNvSpPr/>
          <p:nvPr/>
        </p:nvSpPr>
        <p:spPr>
          <a:xfrm>
            <a:off x="6675120" y="347472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RATED</a:t>
            </a:r>
          </a:p>
        </p:txBody>
      </p:sp>
      <p:sp>
        <p:nvSpPr>
          <p:cNvPr id="46" name="Rectangle 45"/>
          <p:cNvSpPr/>
          <p:nvPr/>
        </p:nvSpPr>
        <p:spPr>
          <a:xfrm>
            <a:off x="8412480" y="349300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3A3A3A"/>
                </a:solidFill>
                <a:latin typeface="Calibri"/>
              </a:defRPr>
            </a:pPr>
            <a:r>
              <a:t>Accept + premium loading (+25%)</a:t>
            </a:r>
          </a:p>
        </p:txBody>
      </p:sp>
      <p:sp>
        <p:nvSpPr>
          <p:cNvPr id="47" name="Rectangle 46"/>
          <p:cNvSpPr/>
          <p:nvPr/>
        </p:nvSpPr>
        <p:spPr>
          <a:xfrm>
            <a:off x="6675120" y="402336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STANDARD</a:t>
            </a:r>
          </a:p>
        </p:txBody>
      </p:sp>
      <p:sp>
        <p:nvSpPr>
          <p:cNvPr id="48" name="Rectangle 47"/>
          <p:cNvSpPr/>
          <p:nvPr/>
        </p:nvSpPr>
        <p:spPr>
          <a:xfrm>
            <a:off x="8412480" y="404164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3A3A3A"/>
                </a:solidFill>
                <a:latin typeface="Calibri"/>
              </a:defRPr>
            </a:pPr>
            <a:r>
              <a:t>Accept at standard premium</a:t>
            </a:r>
          </a:p>
        </p:txBody>
      </p:sp>
      <p:sp>
        <p:nvSpPr>
          <p:cNvPr id="49" name="Rectangle 48"/>
          <p:cNvSpPr/>
          <p:nvPr/>
        </p:nvSpPr>
        <p:spPr>
          <a:xfrm>
            <a:off x="6675120" y="457200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DECLINE</a:t>
            </a:r>
          </a:p>
        </p:txBody>
      </p:sp>
      <p:sp>
        <p:nvSpPr>
          <p:cNvPr id="50" name="Rectangle 49"/>
          <p:cNvSpPr/>
          <p:nvPr/>
        </p:nvSpPr>
        <p:spPr>
          <a:xfrm>
            <a:off x="8412480" y="459028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3A3A3A"/>
                </a:solidFill>
                <a:latin typeface="Calibri"/>
              </a:defRPr>
            </a:pPr>
            <a:r>
              <a:t>Reject application</a:t>
            </a:r>
          </a:p>
        </p:txBody>
      </p:sp>
      <p:sp>
        <p:nvSpPr>
          <p:cNvPr id="51" name="Rectangle 50"/>
          <p:cNvSpPr/>
          <p:nvPr/>
        </p:nvSpPr>
        <p:spPr>
          <a:xfrm>
            <a:off x="6675120" y="512064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REFER</a:t>
            </a:r>
          </a:p>
        </p:txBody>
      </p:sp>
      <p:sp>
        <p:nvSpPr>
          <p:cNvPr id="52" name="Rectangle 51"/>
          <p:cNvSpPr/>
          <p:nvPr/>
        </p:nvSpPr>
        <p:spPr>
          <a:xfrm>
            <a:off x="8412480" y="513892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3A3A3A"/>
                </a:solidFill>
                <a:latin typeface="Calibri"/>
              </a:defRPr>
            </a:pPr>
            <a:r>
              <a:t>Escalate to human underwriter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REWARD SIMULATOR</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10 / 28</a:t>
            </a:r>
          </a:p>
        </p:txBody>
      </p:sp>
      <p:sp>
        <p:nvSpPr>
          <p:cNvPr id="10" name="Rectangle 9"/>
          <p:cNvSpPr/>
          <p:nvPr/>
        </p:nvSpPr>
        <p:spPr>
          <a:xfrm>
            <a:off x="457200" y="132588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B5697"/>
                </a:solidFill>
                <a:latin typeface="Calibri"/>
              </a:defRPr>
            </a:pPr>
            <a:r>
              <a:t>Context  x_t ∈ R^5</a:t>
            </a:r>
          </a:p>
        </p:txBody>
      </p:sp>
      <p:sp>
        <p:nvSpPr>
          <p:cNvPr id="11" name="Rectangle 10"/>
          <p:cNvSpPr/>
          <p:nvPr/>
        </p:nvSpPr>
        <p:spPr>
          <a:xfrm>
            <a:off x="457200" y="170992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age, sex, region, occupation, BMI -- standardised</a:t>
            </a:r>
          </a:p>
        </p:txBody>
      </p:sp>
      <p:sp>
        <p:nvSpPr>
          <p:cNvPr id="12" name="Rectangle 11"/>
          <p:cNvSpPr/>
          <p:nvPr/>
        </p:nvSpPr>
        <p:spPr>
          <a:xfrm>
            <a:off x="457200" y="219456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B5697"/>
                </a:solidFill>
                <a:latin typeface="Calibri"/>
              </a:defRPr>
            </a:pPr>
            <a:r>
              <a:t>Action  a_t</a:t>
            </a:r>
          </a:p>
        </p:txBody>
      </p:sp>
      <p:sp>
        <p:nvSpPr>
          <p:cNvPr id="13" name="Rectangle 12"/>
          <p:cNvSpPr/>
          <p:nvPr/>
        </p:nvSpPr>
        <p:spPr>
          <a:xfrm>
            <a:off x="457200" y="257860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one of RATED / STANDARD / DECLINE / REFER</a:t>
            </a:r>
          </a:p>
        </p:txBody>
      </p:sp>
      <p:sp>
        <p:nvSpPr>
          <p:cNvPr id="14" name="Rectangle 13"/>
          <p:cNvSpPr/>
          <p:nvPr/>
        </p:nvSpPr>
        <p:spPr>
          <a:xfrm>
            <a:off x="457200" y="306324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B5697"/>
                </a:solidFill>
                <a:latin typeface="Calibri"/>
              </a:defRPr>
            </a:pPr>
            <a:r>
              <a:t>Reward  r_t</a:t>
            </a:r>
          </a:p>
        </p:txBody>
      </p:sp>
      <p:sp>
        <p:nvSpPr>
          <p:cNvPr id="15" name="Rectangle 14"/>
          <p:cNvSpPr/>
          <p:nvPr/>
        </p:nvSpPr>
        <p:spPr>
          <a:xfrm>
            <a:off x="457200" y="344728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revenue minus claims, actuarial simulator</a:t>
            </a:r>
          </a:p>
        </p:txBody>
      </p:sp>
      <p:sp>
        <p:nvSpPr>
          <p:cNvPr id="16" name="Rectangle 15"/>
          <p:cNvSpPr/>
          <p:nvPr/>
        </p:nvSpPr>
        <p:spPr>
          <a:xfrm>
            <a:off x="457200" y="4114800"/>
            <a:ext cx="5394960"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defRPr sz="1400" b="1">
                <a:solidFill>
                  <a:srgbClr val="1A1A1A"/>
                </a:solidFill>
                <a:latin typeface="Calibri"/>
              </a:defRPr>
            </a:pPr>
            <a:r>
              <a:t>Objective: maximise cumulative reward Σ r_t over T rounds, subject to demographic PSI guardrails.</a:t>
            </a:r>
          </a:p>
        </p:txBody>
      </p:sp>
      <p:sp>
        <p:nvSpPr>
          <p:cNvPr id="17" name="Rectangle 16"/>
          <p:cNvSpPr/>
          <p:nvPr/>
        </p:nvSpPr>
        <p:spPr>
          <a:xfrm>
            <a:off x="6455664" y="1325880"/>
            <a:ext cx="1444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Action</a:t>
            </a:r>
          </a:p>
        </p:txBody>
      </p:sp>
      <p:sp>
        <p:nvSpPr>
          <p:cNvPr id="18" name="Rectangle 17"/>
          <p:cNvSpPr/>
          <p:nvPr/>
        </p:nvSpPr>
        <p:spPr>
          <a:xfrm>
            <a:off x="8010144" y="132588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High-risk</a:t>
            </a:r>
          </a:p>
        </p:txBody>
      </p:sp>
      <p:sp>
        <p:nvSpPr>
          <p:cNvPr id="19" name="Rectangle 18"/>
          <p:cNvSpPr/>
          <p:nvPr/>
        </p:nvSpPr>
        <p:spPr>
          <a:xfrm>
            <a:off x="9930384" y="132588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Low-risk</a:t>
            </a:r>
          </a:p>
        </p:txBody>
      </p:sp>
      <p:sp>
        <p:nvSpPr>
          <p:cNvPr id="20" name="Rectangle 19"/>
          <p:cNvSpPr/>
          <p:nvPr/>
        </p:nvSpPr>
        <p:spPr>
          <a:xfrm>
            <a:off x="6400800" y="1655064"/>
            <a:ext cx="53035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728216"/>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55664" y="1764792"/>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RATED</a:t>
            </a:r>
          </a:p>
        </p:txBody>
      </p:sp>
      <p:sp>
        <p:nvSpPr>
          <p:cNvPr id="23" name="Rectangle 22"/>
          <p:cNvSpPr/>
          <p:nvPr/>
        </p:nvSpPr>
        <p:spPr>
          <a:xfrm>
            <a:off x="8010144" y="1764792"/>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+premium − claims</a:t>
            </a:r>
          </a:p>
        </p:txBody>
      </p:sp>
      <p:sp>
        <p:nvSpPr>
          <p:cNvPr id="24" name="Rectangle 23"/>
          <p:cNvSpPr/>
          <p:nvPr/>
        </p:nvSpPr>
        <p:spPr>
          <a:xfrm>
            <a:off x="9930384" y="1764792"/>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 adverse-sel. penalty</a:t>
            </a:r>
          </a:p>
        </p:txBody>
      </p:sp>
      <p:sp>
        <p:nvSpPr>
          <p:cNvPr id="25" name="Rectangle 24"/>
          <p:cNvSpPr/>
          <p:nvPr/>
        </p:nvSpPr>
        <p:spPr>
          <a:xfrm>
            <a:off x="6455664" y="2423160"/>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STANDARD</a:t>
            </a:r>
          </a:p>
        </p:txBody>
      </p:sp>
      <p:sp>
        <p:nvSpPr>
          <p:cNvPr id="26" name="Rectangle 25"/>
          <p:cNvSpPr/>
          <p:nvPr/>
        </p:nvSpPr>
        <p:spPr>
          <a:xfrm>
            <a:off x="8010144" y="2423160"/>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+premium − claims</a:t>
            </a:r>
          </a:p>
        </p:txBody>
      </p:sp>
      <p:sp>
        <p:nvSpPr>
          <p:cNvPr id="27" name="Rectangle 26"/>
          <p:cNvSpPr/>
          <p:nvPr/>
        </p:nvSpPr>
        <p:spPr>
          <a:xfrm>
            <a:off x="9930384" y="2423160"/>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+optimal margin</a:t>
            </a:r>
          </a:p>
        </p:txBody>
      </p:sp>
      <p:sp>
        <p:nvSpPr>
          <p:cNvPr id="28" name="Rectangle 27"/>
          <p:cNvSpPr/>
          <p:nvPr/>
        </p:nvSpPr>
        <p:spPr>
          <a:xfrm>
            <a:off x="6400800" y="3044952"/>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55664" y="3081528"/>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DECLINE</a:t>
            </a:r>
          </a:p>
        </p:txBody>
      </p:sp>
      <p:sp>
        <p:nvSpPr>
          <p:cNvPr id="30" name="Rectangle 29"/>
          <p:cNvSpPr/>
          <p:nvPr/>
        </p:nvSpPr>
        <p:spPr>
          <a:xfrm>
            <a:off x="8010144" y="3081528"/>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0 (avoided loss)</a:t>
            </a:r>
          </a:p>
        </p:txBody>
      </p:sp>
      <p:sp>
        <p:nvSpPr>
          <p:cNvPr id="31" name="Rectangle 30"/>
          <p:cNvSpPr/>
          <p:nvPr/>
        </p:nvSpPr>
        <p:spPr>
          <a:xfrm>
            <a:off x="9930384" y="3081528"/>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 missed revenue</a:t>
            </a:r>
          </a:p>
        </p:txBody>
      </p:sp>
      <p:sp>
        <p:nvSpPr>
          <p:cNvPr id="32" name="Rectangle 31"/>
          <p:cNvSpPr/>
          <p:nvPr/>
        </p:nvSpPr>
        <p:spPr>
          <a:xfrm>
            <a:off x="6455664" y="3739896"/>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REFER</a:t>
            </a:r>
          </a:p>
        </p:txBody>
      </p:sp>
      <p:sp>
        <p:nvSpPr>
          <p:cNvPr id="33" name="Rectangle 32"/>
          <p:cNvSpPr/>
          <p:nvPr/>
        </p:nvSpPr>
        <p:spPr>
          <a:xfrm>
            <a:off x="8010144" y="3739896"/>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+human decision net</a:t>
            </a:r>
          </a:p>
        </p:txBody>
      </p:sp>
      <p:sp>
        <p:nvSpPr>
          <p:cNvPr id="34" name="Rectangle 33"/>
          <p:cNvSpPr/>
          <p:nvPr/>
        </p:nvSpPr>
        <p:spPr>
          <a:xfrm>
            <a:off x="9930384" y="3739896"/>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+human decision net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ZOOM-IN: BANDIT POLICY</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11 / 28</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Decision</a:t>
            </a:r>
          </a:p>
        </p:txBody>
      </p:sp>
      <p:sp>
        <p:nvSpPr>
          <p:cNvPr id="27" name="Rectangle 26"/>
          <p:cNvSpPr/>
          <p:nvPr/>
        </p:nvSpPr>
        <p:spPr>
          <a:xfrm>
            <a:off x="2575407"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2468880"/>
            <a:ext cx="112772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700" b="0" i="0">
                <a:solidFill>
                  <a:srgbClr val="3A3A3A"/>
                </a:solidFill>
                <a:latin typeface="Calibri"/>
              </a:defRPr>
            </a:pPr>
            <a:r>
              <a:t>We now build the bandit policy one component at a time — context in, value estimates, then selection — each step with a concrete output.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BANDIT BUILD-UP: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12 / 28</a:t>
            </a:r>
          </a:p>
        </p:txBody>
      </p:sp>
      <p:sp>
        <p:nvSpPr>
          <p:cNvPr id="10" name="Rectangle 9"/>
          <p:cNvSpPr/>
          <p:nvPr/>
        </p:nvSpPr>
        <p:spPr>
          <a:xfrm>
            <a:off x="449564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0537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2E9E5B"/>
                </a:solidFill>
                <a:latin typeface="Segoe UI"/>
              </a:defRPr>
            </a:pPr>
            <a:r>
              <a:t>Context vector  x_t ∈ R^5</a:t>
            </a:r>
          </a:p>
        </p:txBody>
      </p:sp>
      <p:sp>
        <p:nvSpPr>
          <p:cNvPr id="12" name="Rectangle 11"/>
          <p:cNvSpPr/>
          <p:nvPr/>
        </p:nvSpPr>
        <p:spPr>
          <a:xfrm>
            <a:off x="460537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[age 0.4, sex -1.1, region 0, occ 2, BMI 0.8]</a:t>
            </a:r>
          </a:p>
        </p:txBody>
      </p:sp>
      <p:sp>
        <p:nvSpPr>
          <p:cNvPr id="13" name="Rectangle 12"/>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Five standardised features: age, sex, region, occupation, BMI</a:t>
            </a:r>
          </a:p>
        </p:txBody>
      </p:sp>
      <p:sp>
        <p:nvSpPr>
          <p:cNvPr id="15" name="Rectangle 14"/>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This is the bandit's only view of each applicant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BANDIT BUILD-UP: VALUE ESTIMATES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13 / 28</a:t>
            </a:r>
          </a:p>
        </p:txBody>
      </p:sp>
      <p:sp>
        <p:nvSpPr>
          <p:cNvPr id="10" name="Rectangle 9"/>
          <p:cNvSpPr/>
          <p:nvPr/>
        </p:nvSpPr>
        <p:spPr>
          <a:xfrm>
            <a:off x="2689707" y="164592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79943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1B5697"/>
                </a:solidFill>
                <a:latin typeface="Segoe UI"/>
              </a:defRPr>
            </a:pPr>
            <a:r>
              <a:t>Context  x_t</a:t>
            </a:r>
          </a:p>
        </p:txBody>
      </p:sp>
      <p:sp>
        <p:nvSpPr>
          <p:cNvPr id="12" name="Rectangle 11"/>
          <p:cNvSpPr/>
          <p:nvPr/>
        </p:nvSpPr>
        <p:spPr>
          <a:xfrm>
            <a:off x="279943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[0.4, -1.1, 0, 2, 0.8]</a:t>
            </a:r>
          </a:p>
        </p:txBody>
      </p:sp>
      <p:sp>
        <p:nvSpPr>
          <p:cNvPr id="13" name="Right Arrow 12"/>
          <p:cNvSpPr/>
          <p:nvPr/>
        </p:nvSpPr>
        <p:spPr>
          <a:xfrm>
            <a:off x="5890107" y="221284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158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41131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2E9E5B"/>
                </a:solidFill>
                <a:latin typeface="Segoe UI"/>
              </a:defRPr>
            </a:pPr>
            <a:r>
              <a:t>Per-arm value</a:t>
            </a:r>
            <a:br/>
            <a:r>
              <a:t>(LinUCB / LinTS)</a:t>
            </a:r>
          </a:p>
        </p:txBody>
      </p:sp>
      <p:sp>
        <p:nvSpPr>
          <p:cNvPr id="16" name="Rectangle 15"/>
          <p:cNvSpPr/>
          <p:nvPr/>
        </p:nvSpPr>
        <p:spPr>
          <a:xfrm>
            <a:off x="641131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RATED 0.31 · STD 0.52 · DEC 0.10 · REF 0.28</a:t>
            </a:r>
          </a:p>
        </p:txBody>
      </p:sp>
      <p:sp>
        <p:nvSpPr>
          <p:cNvPr id="17" name="Rectangle 16"/>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LinUCB: θ̂ᵀx + α·√(xᵀA⁻¹x)  — optimism under uncertainty</a:t>
            </a:r>
          </a:p>
        </p:txBody>
      </p:sp>
      <p:sp>
        <p:nvSpPr>
          <p:cNvPr id="19" name="Rectangle 18"/>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LinTS: sample θ̃ from the posterior — exploration by randomisation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BANDIT BUILD-UP: SELECTION &amp; ACTION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14 / 28</a:t>
            </a:r>
          </a:p>
        </p:txBody>
      </p:sp>
      <p:sp>
        <p:nvSpPr>
          <p:cNvPr id="10" name="Rectangle 9"/>
          <p:cNvSpPr/>
          <p:nvPr/>
        </p:nvSpPr>
        <p:spPr>
          <a:xfrm>
            <a:off x="88376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9349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1B5697"/>
                </a:solidFill>
                <a:latin typeface="Segoe UI"/>
              </a:defRPr>
            </a:pPr>
            <a:r>
              <a:t>Context  x_t</a:t>
            </a:r>
          </a:p>
        </p:txBody>
      </p:sp>
      <p:sp>
        <p:nvSpPr>
          <p:cNvPr id="12" name="Rectangle 11"/>
          <p:cNvSpPr/>
          <p:nvPr/>
        </p:nvSpPr>
        <p:spPr>
          <a:xfrm>
            <a:off x="99349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[0.4, -1.1, 0, 2, 0.8]</a:t>
            </a:r>
          </a:p>
        </p:txBody>
      </p:sp>
      <p:sp>
        <p:nvSpPr>
          <p:cNvPr id="13" name="Right Arrow 12"/>
          <p:cNvSpPr/>
          <p:nvPr/>
        </p:nvSpPr>
        <p:spPr>
          <a:xfrm>
            <a:off x="408416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49564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60537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1B5697"/>
                </a:solidFill>
                <a:latin typeface="Segoe UI"/>
              </a:defRPr>
            </a:pPr>
            <a:r>
              <a:t>Per-arm value</a:t>
            </a:r>
          </a:p>
        </p:txBody>
      </p:sp>
      <p:sp>
        <p:nvSpPr>
          <p:cNvPr id="16" name="Rectangle 15"/>
          <p:cNvSpPr/>
          <p:nvPr/>
        </p:nvSpPr>
        <p:spPr>
          <a:xfrm>
            <a:off x="460537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RATED 0.31 · STD 0.52 · DEC 0.10 · REF 0.28</a:t>
            </a:r>
          </a:p>
        </p:txBody>
      </p:sp>
      <p:sp>
        <p:nvSpPr>
          <p:cNvPr id="17" name="Right Arrow 16"/>
          <p:cNvSpPr/>
          <p:nvPr/>
        </p:nvSpPr>
        <p:spPr>
          <a:xfrm>
            <a:off x="769604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07527" y="146304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1725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1" i="0">
                <a:solidFill>
                  <a:srgbClr val="2E9E5B"/>
                </a:solidFill>
                <a:latin typeface="Segoe UI"/>
              </a:defRPr>
            </a:pPr>
            <a:r>
              <a:t>argmax → action</a:t>
            </a:r>
            <a:br/>
            <a:r>
              <a:t>+ reward update</a:t>
            </a:r>
          </a:p>
        </p:txBody>
      </p:sp>
      <p:sp>
        <p:nvSpPr>
          <p:cNvPr id="20" name="Rectangle 19"/>
          <p:cNvSpPr/>
          <p:nvPr/>
        </p:nvSpPr>
        <p:spPr>
          <a:xfrm>
            <a:off x="821725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200" b="0" i="0">
                <a:solidFill>
                  <a:srgbClr val="3A3A3A"/>
                </a:solidFill>
                <a:latin typeface="Consolas"/>
              </a:defRPr>
            </a:pPr>
            <a:r>
              <a:t>output:</a:t>
            </a:r>
            <a:br/>
            <a:r>
              <a:t>STANDARD; r_t = +premium − claims; A←A+xxᵀ</a:t>
            </a:r>
          </a:p>
        </p:txBody>
      </p:sp>
      <p:sp>
        <p:nvSpPr>
          <p:cNvPr id="21" name="Rectangle 20"/>
          <p:cNvSpPr/>
          <p:nvPr/>
        </p:nvSpPr>
        <p:spPr>
          <a:xfrm>
            <a:off x="457200" y="3419856"/>
            <a:ext cx="146304" cy="3108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38328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A1A1A"/>
                </a:solidFill>
                <a:latin typeface="Calibri"/>
              </a:defRPr>
            </a:pPr>
            <a:r>
              <a:t>LinUCB / LinTS</a:t>
            </a:r>
          </a:p>
        </p:txBody>
      </p:sp>
      <p:sp>
        <p:nvSpPr>
          <p:cNvPr id="23" name="Rectangle 22"/>
          <p:cNvSpPr/>
          <p:nvPr/>
        </p:nvSpPr>
        <p:spPr>
          <a:xfrm>
            <a:off x="3749040" y="3410712"/>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the two proposed admissible policies</a:t>
            </a:r>
          </a:p>
        </p:txBody>
      </p:sp>
      <p:sp>
        <p:nvSpPr>
          <p:cNvPr id="24" name="Rectangle 23"/>
          <p:cNvSpPr/>
          <p:nvPr/>
        </p:nvSpPr>
        <p:spPr>
          <a:xfrm>
            <a:off x="457200" y="3895344"/>
            <a:ext cx="146304" cy="310896"/>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3858768"/>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A1A1A"/>
                </a:solidFill>
                <a:latin typeface="Calibri"/>
              </a:defRPr>
            </a:pPr>
            <a:r>
              <a:t>ε-Greedy</a:t>
            </a:r>
          </a:p>
        </p:txBody>
      </p:sp>
      <p:sp>
        <p:nvSpPr>
          <p:cNvPr id="26" name="Rectangle 25"/>
          <p:cNvSpPr/>
          <p:nvPr/>
        </p:nvSpPr>
        <p:spPr>
          <a:xfrm>
            <a:off x="3749040" y="3886200"/>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naive explorer — provably worse O(T^2/3)</a:t>
            </a:r>
          </a:p>
        </p:txBody>
      </p:sp>
      <p:sp>
        <p:nvSpPr>
          <p:cNvPr id="27" name="Rectangle 26"/>
          <p:cNvSpPr/>
          <p:nvPr/>
        </p:nvSpPr>
        <p:spPr>
          <a:xfrm>
            <a:off x="457200" y="4370832"/>
            <a:ext cx="146304" cy="31089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22960" y="4334256"/>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A1A1A"/>
                </a:solidFill>
                <a:latin typeface="Calibri"/>
              </a:defRPr>
            </a:pPr>
            <a:r>
              <a:t>Static XGB</a:t>
            </a:r>
          </a:p>
        </p:txBody>
      </p:sp>
      <p:sp>
        <p:nvSpPr>
          <p:cNvPr id="29" name="Rectangle 28"/>
          <p:cNvSpPr/>
          <p:nvPr/>
        </p:nvSpPr>
        <p:spPr>
          <a:xfrm>
            <a:off x="3749040" y="4361688"/>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train-once incumbent baseline</a:t>
            </a:r>
          </a:p>
        </p:txBody>
      </p:sp>
      <p:sp>
        <p:nvSpPr>
          <p:cNvPr id="30" name="Rectangle 29"/>
          <p:cNvSpPr/>
          <p:nvPr/>
        </p:nvSpPr>
        <p:spPr>
          <a:xfrm>
            <a:off x="457200" y="4846320"/>
            <a:ext cx="146304" cy="310896"/>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22960" y="4809744"/>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A1A1A"/>
                </a:solidFill>
                <a:latin typeface="Calibri"/>
              </a:defRPr>
            </a:pPr>
            <a:r>
              <a:t>AlwaysRATED</a:t>
            </a:r>
          </a:p>
        </p:txBody>
      </p:sp>
      <p:sp>
        <p:nvSpPr>
          <p:cNvPr id="32" name="Rectangle 31"/>
          <p:cNvSpPr/>
          <p:nvPr/>
        </p:nvSpPr>
        <p:spPr>
          <a:xfrm>
            <a:off x="3749040" y="4837176"/>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constant +25% loading — inadmissible ceiling</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Admissibility (§5.0.1): deployable AND commercially/regulatorily viable. AlwaysRATED is the inadmissible ceiling; LinUCB/LinTS are the top-2 admissible policies.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ZOOM-IN: FAIRNESS GUARDRAIL &amp; HITL</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15 / 28</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1" i="0">
                <a:solidFill>
                  <a:srgbClr val="FFFFFF"/>
                </a:solidFill>
                <a:latin typeface="Calibri"/>
              </a:defRPr>
            </a:pPr>
            <a:r>
              <a:t>Decision</a:t>
            </a:r>
          </a:p>
        </p:txBody>
      </p:sp>
      <p:sp>
        <p:nvSpPr>
          <p:cNvPr id="27" name="Rectangle 26"/>
          <p:cNvSpPr/>
          <p:nvPr/>
        </p:nvSpPr>
        <p:spPr>
          <a:xfrm>
            <a:off x="7897215"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2331720"/>
            <a:ext cx="539496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1" i="0">
                <a:solidFill>
                  <a:srgbClr val="1B5697"/>
                </a:solidFill>
                <a:latin typeface="Calibri"/>
              </a:defRPr>
            </a:pPr>
            <a:r>
              <a:rPr spc="120"/>
              <a:t>PSI DEMOGRAPHIC GUARDRAIL</a:t>
            </a:r>
          </a:p>
        </p:txBody>
      </p:sp>
      <p:sp>
        <p:nvSpPr>
          <p:cNvPr id="29" name="Rectangle 28"/>
          <p:cNvSpPr/>
          <p:nvPr/>
        </p:nvSpPr>
        <p:spPr>
          <a:xfrm>
            <a:off x="457200" y="2788920"/>
            <a:ext cx="146304"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2788920"/>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A1A1A"/>
                </a:solidFill>
                <a:latin typeface="Calibri"/>
              </a:defRPr>
            </a:pPr>
            <a:r>
              <a:t>GREEN</a:t>
            </a:r>
          </a:p>
        </p:txBody>
      </p:sp>
      <p:sp>
        <p:nvSpPr>
          <p:cNvPr id="31" name="Rectangle 30"/>
          <p:cNvSpPr/>
          <p:nvPr/>
        </p:nvSpPr>
        <p:spPr>
          <a:xfrm>
            <a:off x="2286000" y="2825496"/>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PSI &lt; 0.10</a:t>
            </a:r>
          </a:p>
        </p:txBody>
      </p:sp>
      <p:sp>
        <p:nvSpPr>
          <p:cNvPr id="32" name="Rectangle 31"/>
          <p:cNvSpPr/>
          <p:nvPr/>
        </p:nvSpPr>
        <p:spPr>
          <a:xfrm>
            <a:off x="4297680" y="2825496"/>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stable</a:t>
            </a:r>
          </a:p>
        </p:txBody>
      </p:sp>
      <p:sp>
        <p:nvSpPr>
          <p:cNvPr id="33" name="Rectangle 32"/>
          <p:cNvSpPr/>
          <p:nvPr/>
        </p:nvSpPr>
        <p:spPr>
          <a:xfrm>
            <a:off x="457200" y="3355848"/>
            <a:ext cx="146304" cy="45720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22960" y="3355848"/>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A1A1A"/>
                </a:solidFill>
                <a:latin typeface="Calibri"/>
              </a:defRPr>
            </a:pPr>
            <a:r>
              <a:t>AMBER</a:t>
            </a:r>
          </a:p>
        </p:txBody>
      </p:sp>
      <p:sp>
        <p:nvSpPr>
          <p:cNvPr id="35" name="Rectangle 34"/>
          <p:cNvSpPr/>
          <p:nvPr/>
        </p:nvSpPr>
        <p:spPr>
          <a:xfrm>
            <a:off x="2286000" y="3392424"/>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0.10-0.25</a:t>
            </a:r>
          </a:p>
        </p:txBody>
      </p:sp>
      <p:sp>
        <p:nvSpPr>
          <p:cNvPr id="36" name="Rectangle 35"/>
          <p:cNvSpPr/>
          <p:nvPr/>
        </p:nvSpPr>
        <p:spPr>
          <a:xfrm>
            <a:off x="4297680" y="3392424"/>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monitor</a:t>
            </a:r>
          </a:p>
        </p:txBody>
      </p:sp>
      <p:sp>
        <p:nvSpPr>
          <p:cNvPr id="37" name="Rectangle 36"/>
          <p:cNvSpPr/>
          <p:nvPr/>
        </p:nvSpPr>
        <p:spPr>
          <a:xfrm>
            <a:off x="457200" y="3922776"/>
            <a:ext cx="146304" cy="45720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2960" y="3922776"/>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A1A1A"/>
                </a:solidFill>
                <a:latin typeface="Calibri"/>
              </a:defRPr>
            </a:pPr>
            <a:r>
              <a:t>RED</a:t>
            </a:r>
          </a:p>
        </p:txBody>
      </p:sp>
      <p:sp>
        <p:nvSpPr>
          <p:cNvPr id="39" name="Rectangle 38"/>
          <p:cNvSpPr/>
          <p:nvPr/>
        </p:nvSpPr>
        <p:spPr>
          <a:xfrm>
            <a:off x="2286000" y="3959352"/>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PSI ≥ 0.25</a:t>
            </a:r>
          </a:p>
        </p:txBody>
      </p:sp>
      <p:sp>
        <p:nvSpPr>
          <p:cNvPr id="40" name="Rectangle 39"/>
          <p:cNvSpPr/>
          <p:nvPr/>
        </p:nvSpPr>
        <p:spPr>
          <a:xfrm>
            <a:off x="4297680" y="3959352"/>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3A3A3A"/>
                </a:solidFill>
                <a:latin typeface="Calibri"/>
              </a:defRPr>
            </a:pPr>
            <a:r>
              <a:t>review</a:t>
            </a:r>
          </a:p>
        </p:txBody>
      </p:sp>
      <p:sp>
        <p:nvSpPr>
          <p:cNvPr id="41" name="Rectangle 40"/>
          <p:cNvSpPr/>
          <p:nvPr/>
        </p:nvSpPr>
        <p:spPr>
          <a:xfrm>
            <a:off x="457200" y="4535424"/>
            <a:ext cx="5394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Computed on region &amp; occupation, rolling 500-round window.</a:t>
            </a:r>
          </a:p>
        </p:txBody>
      </p:sp>
      <p:sp>
        <p:nvSpPr>
          <p:cNvPr id="42" name="Rectangle 41"/>
          <p:cNvSpPr/>
          <p:nvPr/>
        </p:nvSpPr>
        <p:spPr>
          <a:xfrm>
            <a:off x="6492240" y="2331720"/>
            <a:ext cx="521208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1" i="0">
                <a:solidFill>
                  <a:srgbClr val="1B5697"/>
                </a:solidFill>
                <a:latin typeface="Calibri"/>
              </a:defRPr>
            </a:pPr>
            <a:r>
              <a:rPr spc="120"/>
              <a:t>HUMAN-IN-THE-LOOP WRAPPER</a:t>
            </a:r>
          </a:p>
        </p:txBody>
      </p:sp>
      <p:sp>
        <p:nvSpPr>
          <p:cNvPr id="43" name="Rectangle 42"/>
          <p:cNvSpPr/>
          <p:nvPr/>
        </p:nvSpPr>
        <p:spPr>
          <a:xfrm>
            <a:off x="6492240" y="2898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748272" y="2788920"/>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1A1A1A"/>
                </a:solidFill>
                <a:latin typeface="Calibri"/>
              </a:defRPr>
            </a:pPr>
            <a:r>
              <a:t>Uncertainty &gt; κ  →  REFER to actuary</a:t>
            </a:r>
          </a:p>
        </p:txBody>
      </p:sp>
      <p:sp>
        <p:nvSpPr>
          <p:cNvPr id="45" name="Rectangle 44"/>
          <p:cNvSpPr/>
          <p:nvPr/>
        </p:nvSpPr>
        <p:spPr>
          <a:xfrm>
            <a:off x="6492240" y="346557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6748272" y="3355848"/>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1A1A1A"/>
                </a:solidFill>
                <a:latin typeface="Calibri"/>
              </a:defRPr>
            </a:pPr>
            <a:r>
              <a:t>Conservatism κ ∈ {0.3, 0.5, 0.7}</a:t>
            </a:r>
          </a:p>
        </p:txBody>
      </p:sp>
      <p:sp>
        <p:nvSpPr>
          <p:cNvPr id="47" name="Rectangle 46"/>
          <p:cNvSpPr/>
          <p:nvPr/>
        </p:nvSpPr>
        <p:spPr>
          <a:xfrm>
            <a:off x="6492240" y="403250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748272" y="3922776"/>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1A1A1A"/>
                </a:solidFill>
                <a:latin typeface="Calibri"/>
              </a:defRPr>
            </a:pPr>
            <a:r>
              <a:t>Human decides; reward still trains bandit</a:t>
            </a:r>
          </a:p>
        </p:txBody>
      </p:sp>
      <p:sp>
        <p:nvSpPr>
          <p:cNvPr id="49" name="Rectangle 48"/>
          <p:cNvSpPr/>
          <p:nvPr/>
        </p:nvSpPr>
        <p:spPr>
          <a:xfrm>
            <a:off x="6492240" y="459943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748272" y="4489704"/>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0" i="0">
                <a:solidFill>
                  <a:srgbClr val="1A1A1A"/>
                </a:solidFill>
                <a:latin typeface="Calibri"/>
              </a:defRPr>
            </a:pPr>
            <a:r>
              <a:t>Target: review cost &lt; 2% of reward</a:t>
            </a:r>
          </a:p>
        </p:txBody>
      </p:sp>
      <p:sp>
        <p:nvSpPr>
          <p:cNvPr id="51" name="Rectangle 50"/>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PSI is a monitor, not an enforcer -- constrained-action enforcement is future work.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2000" b="1" i="0">
                <a:solidFill>
                  <a:srgbClr val="FFFFFF"/>
                </a:solidFill>
                <a:latin typeface="Segoe UI"/>
              </a:defRPr>
            </a:pPr>
            <a:r>
              <a:t>IV.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200" b="1" i="0">
                <a:solidFill>
                  <a:srgbClr val="FFFFFF"/>
                </a:solidFill>
                <a:latin typeface="Segoe UI"/>
              </a:defRPr>
            </a:pPr>
            <a:r>
              <a:t>Results &amp; Evaluation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18 / 28</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HEADLINE BENCHMARK</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16 / 28</a:t>
            </a:r>
          </a:p>
        </p:txBody>
      </p:sp>
      <p:pic>
        <p:nvPicPr>
          <p:cNvPr id="10" name="Picture 9" descr="slide_loglog_regret.png"/>
          <p:cNvPicPr>
            <a:picLocks noChangeAspect="1"/>
          </p:cNvPicPr>
          <p:nvPr/>
        </p:nvPicPr>
        <p:blipFill>
          <a:blip r:embed="rId3"/>
          <a:stretch>
            <a:fillRect/>
          </a:stretch>
        </p:blipFill>
        <p:spPr>
          <a:xfrm>
            <a:off x="470762" y="1280160"/>
            <a:ext cx="6007915" cy="4654296"/>
          </a:xfrm>
          <a:prstGeom prst="rect">
            <a:avLst/>
          </a:prstGeom>
          <a:effectLst/>
        </p:spPr>
      </p:pic>
      <p:sp>
        <p:nvSpPr>
          <p:cNvPr id="11" name="Rectangle 10"/>
          <p:cNvSpPr/>
          <p:nvPr/>
        </p:nvSpPr>
        <p:spPr>
          <a:xfrm>
            <a:off x="6912864" y="150876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a:t>
            </a:r>
          </a:p>
        </p:txBody>
      </p:sp>
      <p:sp>
        <p:nvSpPr>
          <p:cNvPr id="12" name="Rectangle 11"/>
          <p:cNvSpPr/>
          <p:nvPr/>
        </p:nvSpPr>
        <p:spPr>
          <a:xfrm>
            <a:off x="7644384" y="1508760"/>
            <a:ext cx="20848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Algorithm</a:t>
            </a:r>
          </a:p>
        </p:txBody>
      </p:sp>
      <p:sp>
        <p:nvSpPr>
          <p:cNvPr id="13" name="Rectangle 12"/>
          <p:cNvSpPr/>
          <p:nvPr/>
        </p:nvSpPr>
        <p:spPr>
          <a:xfrm>
            <a:off x="9838944" y="150876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Reward</a:t>
            </a:r>
          </a:p>
        </p:txBody>
      </p:sp>
      <p:sp>
        <p:nvSpPr>
          <p:cNvPr id="14" name="Rectangle 13"/>
          <p:cNvSpPr/>
          <p:nvPr/>
        </p:nvSpPr>
        <p:spPr>
          <a:xfrm>
            <a:off x="6858000" y="1837944"/>
            <a:ext cx="48463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58000" y="1911096"/>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912864" y="1947672"/>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1</a:t>
            </a:r>
          </a:p>
        </p:txBody>
      </p:sp>
      <p:sp>
        <p:nvSpPr>
          <p:cNvPr id="17" name="Rectangle 16"/>
          <p:cNvSpPr/>
          <p:nvPr/>
        </p:nvSpPr>
        <p:spPr>
          <a:xfrm>
            <a:off x="7644384" y="1947672"/>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LinTS</a:t>
            </a:r>
          </a:p>
        </p:txBody>
      </p:sp>
      <p:sp>
        <p:nvSpPr>
          <p:cNvPr id="18" name="Rectangle 17"/>
          <p:cNvSpPr/>
          <p:nvPr/>
        </p:nvSpPr>
        <p:spPr>
          <a:xfrm>
            <a:off x="9838944" y="1947672"/>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$93,572</a:t>
            </a:r>
          </a:p>
        </p:txBody>
      </p:sp>
      <p:sp>
        <p:nvSpPr>
          <p:cNvPr id="19" name="Rectangle 18"/>
          <p:cNvSpPr/>
          <p:nvPr/>
        </p:nvSpPr>
        <p:spPr>
          <a:xfrm>
            <a:off x="6912864" y="2514600"/>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2</a:t>
            </a:r>
          </a:p>
        </p:txBody>
      </p:sp>
      <p:sp>
        <p:nvSpPr>
          <p:cNvPr id="20" name="Rectangle 19"/>
          <p:cNvSpPr/>
          <p:nvPr/>
        </p:nvSpPr>
        <p:spPr>
          <a:xfrm>
            <a:off x="7644384" y="2514600"/>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LinUCB</a:t>
            </a:r>
          </a:p>
        </p:txBody>
      </p:sp>
      <p:sp>
        <p:nvSpPr>
          <p:cNvPr id="21" name="Rectangle 20"/>
          <p:cNvSpPr/>
          <p:nvPr/>
        </p:nvSpPr>
        <p:spPr>
          <a:xfrm>
            <a:off x="9838944" y="2514600"/>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$91,947</a:t>
            </a:r>
          </a:p>
        </p:txBody>
      </p:sp>
      <p:sp>
        <p:nvSpPr>
          <p:cNvPr id="22" name="Rectangle 21"/>
          <p:cNvSpPr/>
          <p:nvPr/>
        </p:nvSpPr>
        <p:spPr>
          <a:xfrm>
            <a:off x="6858000" y="3044952"/>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912864" y="3081528"/>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3</a:t>
            </a:r>
          </a:p>
        </p:txBody>
      </p:sp>
      <p:sp>
        <p:nvSpPr>
          <p:cNvPr id="24" name="Rectangle 23"/>
          <p:cNvSpPr/>
          <p:nvPr/>
        </p:nvSpPr>
        <p:spPr>
          <a:xfrm>
            <a:off x="7644384" y="3081528"/>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EpsilonGreedy</a:t>
            </a:r>
          </a:p>
        </p:txBody>
      </p:sp>
      <p:sp>
        <p:nvSpPr>
          <p:cNvPr id="25" name="Rectangle 24"/>
          <p:cNvSpPr/>
          <p:nvPr/>
        </p:nvSpPr>
        <p:spPr>
          <a:xfrm>
            <a:off x="9838944" y="3081528"/>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$76,441</a:t>
            </a:r>
          </a:p>
        </p:txBody>
      </p:sp>
      <p:sp>
        <p:nvSpPr>
          <p:cNvPr id="26" name="Rectangle 25"/>
          <p:cNvSpPr/>
          <p:nvPr/>
        </p:nvSpPr>
        <p:spPr>
          <a:xfrm>
            <a:off x="6912864" y="3648456"/>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4</a:t>
            </a:r>
          </a:p>
        </p:txBody>
      </p:sp>
      <p:sp>
        <p:nvSpPr>
          <p:cNvPr id="27" name="Rectangle 26"/>
          <p:cNvSpPr/>
          <p:nvPr/>
        </p:nvSpPr>
        <p:spPr>
          <a:xfrm>
            <a:off x="7644384" y="3648456"/>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StaticXGB</a:t>
            </a:r>
          </a:p>
        </p:txBody>
      </p:sp>
      <p:sp>
        <p:nvSpPr>
          <p:cNvPr id="28" name="Rectangle 27"/>
          <p:cNvSpPr/>
          <p:nvPr/>
        </p:nvSpPr>
        <p:spPr>
          <a:xfrm>
            <a:off x="9838944" y="3648456"/>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$72,173</a:t>
            </a:r>
          </a:p>
        </p:txBody>
      </p:sp>
      <p:sp>
        <p:nvSpPr>
          <p:cNvPr id="29" name="Rectangle 28"/>
          <p:cNvSpPr/>
          <p:nvPr/>
        </p:nvSpPr>
        <p:spPr>
          <a:xfrm>
            <a:off x="6858000" y="4389120"/>
            <a:ext cx="484632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Log-log regret slope 0.572 (R² = 0.992) -- sub-linear, consistent with O(√T·d).</a:t>
            </a:r>
          </a:p>
        </p:txBody>
      </p:sp>
      <p:sp>
        <p:nvSpPr>
          <p:cNvPr id="30" name="Rectangle 29"/>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Scope: admissible policies only (§5.0.1). LinTS vs LinUCB p = 0.87 (n.s. — tied at 20 seeds); same CRN harness.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CONVERGENCE &amp; REGRET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17 / 28</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B5697"/>
                </a:solidFill>
                <a:latin typeface="Calibri"/>
              </a:defRPr>
            </a:pPr>
            <a:r>
              <a:t>+25.2%</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REWARD LIFT VS STATIC XGB</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d = 2.98</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EFFECT SIZE</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p &lt; 0.001</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PAIRED WILCOXON · 20 SEEDS</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$90,540</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LINUCB CUMULATIVE REWARD</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slide_reward_curves.png"/>
          <p:cNvPicPr>
            <a:picLocks noChangeAspect="1"/>
          </p:cNvPicPr>
          <p:nvPr/>
        </p:nvPicPr>
        <p:blipFill>
          <a:blip r:embed="rId3"/>
          <a:stretch>
            <a:fillRect/>
          </a:stretch>
        </p:blipFill>
        <p:spPr>
          <a:xfrm>
            <a:off x="1933712" y="2331720"/>
            <a:ext cx="8324270" cy="3557016"/>
          </a:xfrm>
          <a:prstGeom prst="rect">
            <a:avLst/>
          </a:prstGeom>
          <a:effectLst/>
        </p:spPr>
      </p:pic>
      <p:sp>
        <p:nvSpPr>
          <p:cNvPr id="22" name="Rectangle 2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Scope: admissible policies only (§5.0.1). Static XGB $72,292 · Oracle $126,804 (72% recovered).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COLD-START &amp; HUMAN-IN-THE-LOOP</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18 / 28</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2E8B57"/>
                </a:solidFill>
                <a:latin typeface="Calibri"/>
              </a:defRPr>
            </a:pPr>
            <a:r>
              <a:t>p = 0.0039</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LINTS PASSED @ T=2,000</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E6A62E"/>
                </a:solidFill>
                <a:latin typeface="Calibri"/>
              </a:defRPr>
            </a:pPr>
            <a:r>
              <a:t>p = 0.0840</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LINUCB DRAWS LEVEL @ T=2,000</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2E8B57"/>
                </a:solidFill>
                <a:latin typeface="Calibri"/>
              </a:defRPr>
            </a:pPr>
            <a:r>
              <a:t>+14.8%</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HITL LIFT VS VANILLA BANDIT</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000" b="1" i="0">
                <a:solidFill>
                  <a:srgbClr val="1A1A1A"/>
                </a:solidFill>
                <a:latin typeface="Calibri"/>
              </a:defRPr>
            </a:pPr>
            <a:r>
              <a:t>1.3%</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00" b="0" i="0">
                <a:solidFill>
                  <a:srgbClr val="777777"/>
                </a:solidFill>
                <a:latin typeface="Calibri"/>
              </a:defRPr>
            </a:pPr>
            <a:r>
              <a:rPr spc="80"/>
              <a:t>REFERRAL RATE</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slide_cold_start.png"/>
          <p:cNvPicPr>
            <a:picLocks noChangeAspect="1"/>
          </p:cNvPicPr>
          <p:nvPr/>
        </p:nvPicPr>
        <p:blipFill>
          <a:blip r:embed="rId3"/>
          <a:stretch>
            <a:fillRect/>
          </a:stretch>
        </p:blipFill>
        <p:spPr>
          <a:xfrm>
            <a:off x="549250" y="2331720"/>
            <a:ext cx="5668059" cy="3557016"/>
          </a:xfrm>
          <a:prstGeom prst="rect">
            <a:avLst/>
          </a:prstGeom>
          <a:effectLst/>
        </p:spPr>
      </p:pic>
      <p:pic>
        <p:nvPicPr>
          <p:cNvPr id="22" name="Picture 21" descr="slide_hitl.png"/>
          <p:cNvPicPr>
            <a:picLocks noChangeAspect="1"/>
          </p:cNvPicPr>
          <p:nvPr/>
        </p:nvPicPr>
        <p:blipFill>
          <a:blip r:embed="rId4"/>
          <a:stretch>
            <a:fillRect/>
          </a:stretch>
        </p:blipFill>
        <p:spPr>
          <a:xfrm>
            <a:off x="6400800" y="2398993"/>
            <a:ext cx="5303520" cy="3422469"/>
          </a:xfrm>
          <a:prstGeom prst="rect">
            <a:avLst/>
          </a:prstGeom>
          <a:effectLst/>
        </p:spPr>
      </p:pic>
      <p:sp>
        <p:nvSpPr>
          <p:cNvPr id="23" name="Rectangle 2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Only LinTS is certified at T = 2,000 (p = 0.0039); LinUCB's lead is not significant (p = 0.0840, d = 0.55) and is reported as 'draws level'. HITL +14.8% is vs the vanilla bandit, not the AlwaysRATED ceiling (§5.4.2).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FAIRNESS AUDIT &amp; DRIFT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19 / 28</a:t>
            </a:r>
          </a:p>
        </p:txBody>
      </p:sp>
      <p:sp>
        <p:nvSpPr>
          <p:cNvPr id="10" name="Rectangle 9"/>
          <p:cNvSpPr/>
          <p:nvPr/>
        </p:nvSpPr>
        <p:spPr>
          <a:xfrm>
            <a:off x="457200" y="1207008"/>
            <a:ext cx="5852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800" b="1" i="0">
                <a:solidFill>
                  <a:srgbClr val="1A1A1A"/>
                </a:solidFill>
                <a:latin typeface="Calibri"/>
              </a:defRPr>
            </a:pPr>
            <a:r>
              <a:t>5 of 6 fairness criteria PASSED</a:t>
            </a:r>
          </a:p>
        </p:txBody>
      </p:sp>
      <p:sp>
        <p:nvSpPr>
          <p:cNvPr id="11" name="Rectangle 10"/>
          <p:cNvSpPr/>
          <p:nvPr/>
        </p:nvSpPr>
        <p:spPr>
          <a:xfrm>
            <a:off x="45720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B5697"/>
                </a:solidFill>
                <a:latin typeface="Calibri"/>
              </a:defRPr>
            </a:pPr>
            <a:r>
              <a:t>Region</a:t>
            </a:r>
          </a:p>
        </p:txBody>
      </p:sp>
      <p:sp>
        <p:nvSpPr>
          <p:cNvPr id="12" name="Rectangle 11"/>
          <p:cNvSpPr/>
          <p:nvPr/>
        </p:nvSpPr>
        <p:spPr>
          <a:xfrm>
            <a:off x="51206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Check</a:t>
            </a:r>
          </a:p>
        </p:txBody>
      </p:sp>
      <p:sp>
        <p:nvSpPr>
          <p:cNvPr id="13" name="Rectangle 12"/>
          <p:cNvSpPr/>
          <p:nvPr/>
        </p:nvSpPr>
        <p:spPr>
          <a:xfrm>
            <a:off x="188366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Result</a:t>
            </a:r>
          </a:p>
        </p:txBody>
      </p:sp>
      <p:sp>
        <p:nvSpPr>
          <p:cNvPr id="14" name="Rectangle 13"/>
          <p:cNvSpPr/>
          <p:nvPr/>
        </p:nvSpPr>
        <p:spPr>
          <a:xfrm>
            <a:off x="45720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5720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1206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PSI zone</a:t>
            </a:r>
          </a:p>
        </p:txBody>
      </p:sp>
      <p:sp>
        <p:nvSpPr>
          <p:cNvPr id="17" name="Rectangle 16"/>
          <p:cNvSpPr/>
          <p:nvPr/>
        </p:nvSpPr>
        <p:spPr>
          <a:xfrm>
            <a:off x="188366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2E8B57"/>
                </a:solidFill>
                <a:latin typeface="Calibri"/>
              </a:defRPr>
            </a:pPr>
            <a:r>
              <a:t>GREEN (0.0821)</a:t>
            </a:r>
          </a:p>
        </p:txBody>
      </p:sp>
      <p:sp>
        <p:nvSpPr>
          <p:cNvPr id="18" name="Rectangle 17"/>
          <p:cNvSpPr/>
          <p:nvPr/>
        </p:nvSpPr>
        <p:spPr>
          <a:xfrm>
            <a:off x="51206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EEOC parity</a:t>
            </a:r>
          </a:p>
        </p:txBody>
      </p:sp>
      <p:sp>
        <p:nvSpPr>
          <p:cNvPr id="19" name="Rectangle 18"/>
          <p:cNvSpPr/>
          <p:nvPr/>
        </p:nvSpPr>
        <p:spPr>
          <a:xfrm>
            <a:off x="188366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85.72%</a:t>
            </a:r>
          </a:p>
        </p:txBody>
      </p:sp>
      <p:sp>
        <p:nvSpPr>
          <p:cNvPr id="20" name="Rectangle 19"/>
          <p:cNvSpPr/>
          <p:nvPr/>
        </p:nvSpPr>
        <p:spPr>
          <a:xfrm>
            <a:off x="45720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1206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Crit. 6</a:t>
            </a:r>
          </a:p>
        </p:txBody>
      </p:sp>
      <p:sp>
        <p:nvSpPr>
          <p:cNvPr id="22" name="Rectangle 21"/>
          <p:cNvSpPr/>
          <p:nvPr/>
        </p:nvSpPr>
        <p:spPr>
          <a:xfrm>
            <a:off x="188366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2E8B57"/>
                </a:solidFill>
                <a:latin typeface="Calibri"/>
              </a:defRPr>
            </a:pPr>
            <a:r>
              <a:t>PASSED</a:t>
            </a:r>
          </a:p>
        </p:txBody>
      </p:sp>
      <p:sp>
        <p:nvSpPr>
          <p:cNvPr id="23" name="Rectangle 22"/>
          <p:cNvSpPr/>
          <p:nvPr/>
        </p:nvSpPr>
        <p:spPr>
          <a:xfrm>
            <a:off x="347472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B5697"/>
                </a:solidFill>
                <a:latin typeface="Calibri"/>
              </a:defRPr>
            </a:pPr>
            <a:r>
              <a:t>Occupation</a:t>
            </a:r>
          </a:p>
        </p:txBody>
      </p:sp>
      <p:sp>
        <p:nvSpPr>
          <p:cNvPr id="24" name="Rectangle 23"/>
          <p:cNvSpPr/>
          <p:nvPr/>
        </p:nvSpPr>
        <p:spPr>
          <a:xfrm>
            <a:off x="352958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Check</a:t>
            </a:r>
          </a:p>
        </p:txBody>
      </p:sp>
      <p:sp>
        <p:nvSpPr>
          <p:cNvPr id="25" name="Rectangle 24"/>
          <p:cNvSpPr/>
          <p:nvPr/>
        </p:nvSpPr>
        <p:spPr>
          <a:xfrm>
            <a:off x="490118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Result</a:t>
            </a:r>
          </a:p>
        </p:txBody>
      </p:sp>
      <p:sp>
        <p:nvSpPr>
          <p:cNvPr id="26" name="Rectangle 25"/>
          <p:cNvSpPr/>
          <p:nvPr/>
        </p:nvSpPr>
        <p:spPr>
          <a:xfrm>
            <a:off x="347472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47472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52958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PSI zone</a:t>
            </a:r>
          </a:p>
        </p:txBody>
      </p:sp>
      <p:sp>
        <p:nvSpPr>
          <p:cNvPr id="29" name="Rectangle 28"/>
          <p:cNvSpPr/>
          <p:nvPr/>
        </p:nvSpPr>
        <p:spPr>
          <a:xfrm>
            <a:off x="490118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E6A62E"/>
                </a:solidFill>
                <a:latin typeface="Calibri"/>
              </a:defRPr>
            </a:pPr>
            <a:r>
              <a:t>AMBER (0.1225)</a:t>
            </a:r>
          </a:p>
        </p:txBody>
      </p:sp>
      <p:sp>
        <p:nvSpPr>
          <p:cNvPr id="30" name="Rectangle 29"/>
          <p:cNvSpPr/>
          <p:nvPr/>
        </p:nvSpPr>
        <p:spPr>
          <a:xfrm>
            <a:off x="352958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EEOC parity</a:t>
            </a:r>
          </a:p>
        </p:txBody>
      </p:sp>
      <p:sp>
        <p:nvSpPr>
          <p:cNvPr id="31" name="Rectangle 30"/>
          <p:cNvSpPr/>
          <p:nvPr/>
        </p:nvSpPr>
        <p:spPr>
          <a:xfrm>
            <a:off x="490118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1A1A1A"/>
                </a:solidFill>
                <a:latin typeface="Calibri"/>
              </a:defRPr>
            </a:pPr>
            <a:r>
              <a:t>90.12%</a:t>
            </a:r>
          </a:p>
        </p:txBody>
      </p:sp>
      <p:sp>
        <p:nvSpPr>
          <p:cNvPr id="32" name="Rectangle 31"/>
          <p:cNvSpPr/>
          <p:nvPr/>
        </p:nvSpPr>
        <p:spPr>
          <a:xfrm>
            <a:off x="347472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352958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0" i="0">
                <a:solidFill>
                  <a:srgbClr val="1A1A1A"/>
                </a:solidFill>
                <a:latin typeface="Calibri"/>
              </a:defRPr>
            </a:pPr>
            <a:r>
              <a:t>Crit. 6</a:t>
            </a:r>
          </a:p>
        </p:txBody>
      </p:sp>
      <p:sp>
        <p:nvSpPr>
          <p:cNvPr id="34" name="Rectangle 33"/>
          <p:cNvSpPr/>
          <p:nvPr/>
        </p:nvSpPr>
        <p:spPr>
          <a:xfrm>
            <a:off x="490118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200" b="1" i="0">
                <a:solidFill>
                  <a:srgbClr val="D93B3B"/>
                </a:solidFill>
                <a:latin typeface="Calibri"/>
              </a:defRPr>
            </a:pPr>
            <a:r>
              <a:t>FAILED</a:t>
            </a:r>
          </a:p>
        </p:txBody>
      </p:sp>
      <p:sp>
        <p:nvSpPr>
          <p:cNvPr id="35" name="Rectangle 34"/>
          <p:cNvSpPr/>
          <p:nvPr/>
        </p:nvSpPr>
        <p:spPr>
          <a:xfrm>
            <a:off x="7315200" y="1554480"/>
            <a:ext cx="43891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B5697"/>
                </a:solidFill>
                <a:latin typeface="Calibri"/>
              </a:defRPr>
            </a:pPr>
            <a:r>
              <a:t>Drift: post/pre regret ratio (shock @ 1,500)</a:t>
            </a:r>
          </a:p>
        </p:txBody>
      </p:sp>
      <p:sp>
        <p:nvSpPr>
          <p:cNvPr id="36" name="Rectangle 35"/>
          <p:cNvSpPr/>
          <p:nvPr/>
        </p:nvSpPr>
        <p:spPr>
          <a:xfrm>
            <a:off x="7370064" y="2057400"/>
            <a:ext cx="22677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Algorithm</a:t>
            </a:r>
          </a:p>
        </p:txBody>
      </p:sp>
      <p:sp>
        <p:nvSpPr>
          <p:cNvPr id="37" name="Rectangle 36"/>
          <p:cNvSpPr/>
          <p:nvPr/>
        </p:nvSpPr>
        <p:spPr>
          <a:xfrm>
            <a:off x="9747504" y="205740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Ratio</a:t>
            </a:r>
          </a:p>
        </p:txBody>
      </p:sp>
      <p:sp>
        <p:nvSpPr>
          <p:cNvPr id="38" name="Rectangle 37"/>
          <p:cNvSpPr/>
          <p:nvPr/>
        </p:nvSpPr>
        <p:spPr>
          <a:xfrm>
            <a:off x="7315200" y="2386584"/>
            <a:ext cx="42062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7315200" y="2459736"/>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370064" y="2496312"/>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LinUCB</a:t>
            </a:r>
          </a:p>
        </p:txBody>
      </p:sp>
      <p:sp>
        <p:nvSpPr>
          <p:cNvPr id="41" name="Rectangle 40"/>
          <p:cNvSpPr/>
          <p:nvPr/>
        </p:nvSpPr>
        <p:spPr>
          <a:xfrm>
            <a:off x="9747504" y="2496312"/>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0.29×</a:t>
            </a:r>
          </a:p>
        </p:txBody>
      </p:sp>
      <p:sp>
        <p:nvSpPr>
          <p:cNvPr id="42" name="Rectangle 41"/>
          <p:cNvSpPr/>
          <p:nvPr/>
        </p:nvSpPr>
        <p:spPr>
          <a:xfrm>
            <a:off x="7370064" y="3026664"/>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LinTS</a:t>
            </a:r>
          </a:p>
        </p:txBody>
      </p:sp>
      <p:sp>
        <p:nvSpPr>
          <p:cNvPr id="43" name="Rectangle 42"/>
          <p:cNvSpPr/>
          <p:nvPr/>
        </p:nvSpPr>
        <p:spPr>
          <a:xfrm>
            <a:off x="9747504" y="3026664"/>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0.29×</a:t>
            </a:r>
          </a:p>
        </p:txBody>
      </p:sp>
      <p:sp>
        <p:nvSpPr>
          <p:cNvPr id="44" name="Rectangle 43"/>
          <p:cNvSpPr/>
          <p:nvPr/>
        </p:nvSpPr>
        <p:spPr>
          <a:xfrm>
            <a:off x="7315200" y="3520440"/>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7370064" y="3557016"/>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StaticXGB</a:t>
            </a:r>
          </a:p>
        </p:txBody>
      </p:sp>
      <p:sp>
        <p:nvSpPr>
          <p:cNvPr id="46" name="Rectangle 45"/>
          <p:cNvSpPr/>
          <p:nvPr/>
        </p:nvSpPr>
        <p:spPr>
          <a:xfrm>
            <a:off x="9747504" y="3557016"/>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E6A62E"/>
                </a:solidFill>
                <a:latin typeface="Calibri"/>
              </a:defRPr>
            </a:pPr>
            <a:r>
              <a:t>0.85×</a:t>
            </a:r>
          </a:p>
        </p:txBody>
      </p:sp>
      <p:sp>
        <p:nvSpPr>
          <p:cNvPr id="47" name="Rectangle 46"/>
          <p:cNvSpPr/>
          <p:nvPr/>
        </p:nvSpPr>
        <p:spPr>
          <a:xfrm>
            <a:off x="457200" y="438912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defRPr sz="1300" b="0">
                <a:solidFill>
                  <a:srgbClr val="1A1A1A"/>
                </a:solidFill>
                <a:latin typeface="Calibri"/>
              </a:defRPr>
            </a:pPr>
            <a:r>
              <a:t>Occupation association reflects actuarially justified risk differences (§5.2.4); no regulatory threshold (EEOC 80%, PSI 0.25) is breached.</a:t>
            </a:r>
          </a:p>
        </p:txBody>
      </p:sp>
      <p:sp>
        <p:nvSpPr>
          <p:cNvPr id="48" name="Rectangle 4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Criterion 6 (occupation→action) FAILED-with-interpretation: p &lt; 0.001 — statistically significant but practically small. Reported honestly.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LIVE DEMONSTRATION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20 / 28</a:t>
            </a:r>
          </a:p>
        </p:txBody>
      </p:sp>
      <p:pic>
        <p:nvPicPr>
          <p:cNvPr id="10" name="Picture 9" descr="shot_dashboard.png"/>
          <p:cNvPicPr>
            <a:picLocks noChangeAspect="1"/>
          </p:cNvPicPr>
          <p:nvPr/>
        </p:nvPicPr>
        <p:blipFill>
          <a:blip r:embed="rId3"/>
          <a:stretch>
            <a:fillRect/>
          </a:stretch>
        </p:blipFill>
        <p:spPr>
          <a:xfrm>
            <a:off x="380847" y="1874520"/>
            <a:ext cx="3657600" cy="2286000"/>
          </a:xfrm>
          <a:prstGeom prst="rect">
            <a:avLst/>
          </a:prstGeom>
          <a:effectLst/>
        </p:spPr>
      </p:pic>
      <p:sp>
        <p:nvSpPr>
          <p:cNvPr id="11" name="Rectangle 10"/>
          <p:cNvSpPr/>
          <p:nvPr/>
        </p:nvSpPr>
        <p:spPr>
          <a:xfrm>
            <a:off x="3808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100" b="0" i="1">
                <a:solidFill>
                  <a:srgbClr val="777777"/>
                </a:solidFill>
                <a:latin typeface="Calibri"/>
              </a:defRPr>
            </a:pPr>
            <a:r>
              <a:t>Applicant scoring &amp; bandit arm selection</a:t>
            </a:r>
          </a:p>
        </p:txBody>
      </p:sp>
      <p:pic>
        <p:nvPicPr>
          <p:cNvPr id="12" name="Picture 11" descr="shot_pricing.png"/>
          <p:cNvPicPr>
            <a:picLocks noChangeAspect="1"/>
          </p:cNvPicPr>
          <p:nvPr/>
        </p:nvPicPr>
        <p:blipFill>
          <a:blip r:embed="rId4"/>
          <a:stretch>
            <a:fillRect/>
          </a:stretch>
        </p:blipFill>
        <p:spPr>
          <a:xfrm>
            <a:off x="4267047" y="1874520"/>
            <a:ext cx="3657600" cy="2286000"/>
          </a:xfrm>
          <a:prstGeom prst="rect">
            <a:avLst/>
          </a:prstGeom>
          <a:effectLst/>
        </p:spPr>
      </p:pic>
      <p:sp>
        <p:nvSpPr>
          <p:cNvPr id="13" name="Rectangle 12"/>
          <p:cNvSpPr/>
          <p:nvPr/>
        </p:nvSpPr>
        <p:spPr>
          <a:xfrm>
            <a:off x="42670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100" b="0" i="1">
                <a:solidFill>
                  <a:srgbClr val="777777"/>
                </a:solidFill>
                <a:latin typeface="Calibri"/>
              </a:defRPr>
            </a:pPr>
            <a:r>
              <a:t>Premium optimiser &amp; pricing curve</a:t>
            </a:r>
          </a:p>
        </p:txBody>
      </p:sp>
      <p:pic>
        <p:nvPicPr>
          <p:cNvPr id="14" name="Picture 13" descr="shot_pricing.png"/>
          <p:cNvPicPr>
            <a:picLocks noChangeAspect="1"/>
          </p:cNvPicPr>
          <p:nvPr/>
        </p:nvPicPr>
        <p:blipFill>
          <a:blip r:embed="rId4"/>
          <a:stretch>
            <a:fillRect/>
          </a:stretch>
        </p:blipFill>
        <p:spPr>
          <a:xfrm>
            <a:off x="8153247" y="1874520"/>
            <a:ext cx="3657600" cy="2286000"/>
          </a:xfrm>
          <a:prstGeom prst="rect">
            <a:avLst/>
          </a:prstGeom>
          <a:effectLst/>
        </p:spPr>
      </p:pic>
      <p:sp>
        <p:nvSpPr>
          <p:cNvPr id="15" name="Rectangle 14"/>
          <p:cNvSpPr/>
          <p:nvPr/>
        </p:nvSpPr>
        <p:spPr>
          <a:xfrm>
            <a:off x="81532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100" b="0" i="1">
                <a:solidFill>
                  <a:srgbClr val="777777"/>
                </a:solidFill>
                <a:latin typeface="Calibri"/>
              </a:defRPr>
            </a:pPr>
            <a:r>
              <a:t>Human-in-the-loop referral queue &amp; cost</a:t>
            </a:r>
          </a:p>
        </p:txBody>
      </p:sp>
      <p:sp>
        <p:nvSpPr>
          <p:cNvPr id="16" name="Rectangle 15"/>
          <p:cNvSpPr/>
          <p:nvPr/>
        </p:nvSpPr>
        <p:spPr>
          <a:xfrm>
            <a:off x="457200" y="118872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500" b="0" i="1">
                <a:solidFill>
                  <a:srgbClr val="777777"/>
                </a:solidFill>
                <a:latin typeface="Calibri"/>
              </a:defRPr>
            </a:pPr>
            <a:r>
              <a:t>Same FastAPI stack as the architecture — live at localhost:8000</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2000" b="1" i="0">
                <a:solidFill>
                  <a:srgbClr val="FFFFFF"/>
                </a:solidFill>
                <a:latin typeface="Segoe UI"/>
              </a:defRPr>
            </a:pPr>
            <a:r>
              <a:t>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3200" b="1" i="0">
                <a:solidFill>
                  <a:srgbClr val="FFFFFF"/>
                </a:solidFill>
                <a:latin typeface="Segoe UI"/>
              </a:defRPr>
            </a:pPr>
            <a:r>
              <a:t>Conclusion &amp; Future Work</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Conclusion &amp; Future Work</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24 / 28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CONCLUSION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Conclusion &amp; Future Work</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21 / 28</a:t>
            </a:r>
          </a:p>
        </p:txBody>
      </p:sp>
      <p:sp>
        <p:nvSpPr>
          <p:cNvPr id="10" name="Rectangle 9"/>
          <p:cNvSpPr/>
          <p:nvPr/>
        </p:nvSpPr>
        <p:spPr>
          <a:xfrm>
            <a:off x="457200" y="1389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13232" y="12801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LinTS/LinUCB lead every admissible policy (+25.2%, d=2.98)</a:t>
            </a:r>
          </a:p>
        </p:txBody>
      </p:sp>
      <p:sp>
        <p:nvSpPr>
          <p:cNvPr id="12" name="Rectangle 11"/>
          <p:cNvSpPr/>
          <p:nvPr/>
        </p:nvSpPr>
        <p:spPr>
          <a:xfrm>
            <a:off x="457200" y="1956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13232" y="18470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HITL adds +14.8% at 1.3% referrals</a:t>
            </a:r>
          </a:p>
        </p:txBody>
      </p:sp>
      <p:sp>
        <p:nvSpPr>
          <p:cNvPr id="14" name="Rectangle 13"/>
          <p:cNvSpPr/>
          <p:nvPr/>
        </p:nvSpPr>
        <p:spPr>
          <a:xfrm>
            <a:off x="457200" y="2523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13232" y="24140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5 of 6 fairness criteria PASSED; PSI within thresholds</a:t>
            </a:r>
          </a:p>
        </p:txBody>
      </p:sp>
      <p:sp>
        <p:nvSpPr>
          <p:cNvPr id="16" name="Rectangle 15"/>
          <p:cNvSpPr/>
          <p:nvPr/>
        </p:nvSpPr>
        <p:spPr>
          <a:xfrm>
            <a:off x="457200" y="30906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 y="29809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700" b="0" i="0">
                <a:solidFill>
                  <a:srgbClr val="1A1A1A"/>
                </a:solidFill>
                <a:latin typeface="Calibri"/>
              </a:defRPr>
            </a:pPr>
            <a:r>
              <a:t>Honest scope: inadmissible AlwaysRATED ceiling sits above (§5.0.1)</a:t>
            </a:r>
          </a:p>
        </p:txBody>
      </p:sp>
      <p:sp>
        <p:nvSpPr>
          <p:cNvPr id="18" name="Rectangle 17"/>
          <p:cNvSpPr/>
          <p:nvPr/>
        </p:nvSpPr>
        <p:spPr>
          <a:xfrm>
            <a:off x="6455664" y="137160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a:t>
            </a:r>
          </a:p>
        </p:txBody>
      </p:sp>
      <p:sp>
        <p:nvSpPr>
          <p:cNvPr id="19" name="Rectangle 18"/>
          <p:cNvSpPr/>
          <p:nvPr/>
        </p:nvSpPr>
        <p:spPr>
          <a:xfrm>
            <a:off x="7187184" y="137160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Objective outcome</a:t>
            </a:r>
          </a:p>
        </p:txBody>
      </p:sp>
      <p:sp>
        <p:nvSpPr>
          <p:cNvPr id="20" name="Rectangle 19"/>
          <p:cNvSpPr/>
          <p:nvPr/>
        </p:nvSpPr>
        <p:spPr>
          <a:xfrm>
            <a:off x="10844784" y="13716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Status</a:t>
            </a:r>
          </a:p>
        </p:txBody>
      </p:sp>
      <p:sp>
        <p:nvSpPr>
          <p:cNvPr id="21" name="Rectangle 20"/>
          <p:cNvSpPr/>
          <p:nvPr/>
        </p:nvSpPr>
        <p:spPr>
          <a:xfrm>
            <a:off x="6400800" y="1700784"/>
            <a:ext cx="57607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00800" y="1773936"/>
            <a:ext cx="576072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455664" y="181051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O1</a:t>
            </a:r>
          </a:p>
        </p:txBody>
      </p:sp>
      <p:sp>
        <p:nvSpPr>
          <p:cNvPr id="24" name="Rectangle 23"/>
          <p:cNvSpPr/>
          <p:nvPr/>
        </p:nvSpPr>
        <p:spPr>
          <a:xfrm>
            <a:off x="7187184" y="181051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LinUCB + LinTS implemented &amp; adapted</a:t>
            </a:r>
          </a:p>
        </p:txBody>
      </p:sp>
      <p:sp>
        <p:nvSpPr>
          <p:cNvPr id="25" name="Rectangle 24"/>
          <p:cNvSpPr/>
          <p:nvPr/>
        </p:nvSpPr>
        <p:spPr>
          <a:xfrm>
            <a:off x="10844784" y="181051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ACHIEVED</a:t>
            </a:r>
          </a:p>
        </p:txBody>
      </p:sp>
      <p:sp>
        <p:nvSpPr>
          <p:cNvPr id="26" name="Rectangle 25"/>
          <p:cNvSpPr/>
          <p:nvPr/>
        </p:nvSpPr>
        <p:spPr>
          <a:xfrm>
            <a:off x="6455664" y="245059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O2</a:t>
            </a:r>
          </a:p>
        </p:txBody>
      </p:sp>
      <p:sp>
        <p:nvSpPr>
          <p:cNvPr id="27" name="Rectangle 26"/>
          <p:cNvSpPr/>
          <p:nvPr/>
        </p:nvSpPr>
        <p:spPr>
          <a:xfrm>
            <a:off x="7187184" y="245059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2,000-record CDHS-anchored dataset built</a:t>
            </a:r>
          </a:p>
        </p:txBody>
      </p:sp>
      <p:sp>
        <p:nvSpPr>
          <p:cNvPr id="28" name="Rectangle 27"/>
          <p:cNvSpPr/>
          <p:nvPr/>
        </p:nvSpPr>
        <p:spPr>
          <a:xfrm>
            <a:off x="10844784" y="245059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ACHIEVED</a:t>
            </a:r>
          </a:p>
        </p:txBody>
      </p:sp>
      <p:sp>
        <p:nvSpPr>
          <p:cNvPr id="29" name="Rectangle 28"/>
          <p:cNvSpPr/>
          <p:nvPr/>
        </p:nvSpPr>
        <p:spPr>
          <a:xfrm>
            <a:off x="6400800" y="3054096"/>
            <a:ext cx="576072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455664" y="309067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O3</a:t>
            </a:r>
          </a:p>
        </p:txBody>
      </p:sp>
      <p:sp>
        <p:nvSpPr>
          <p:cNvPr id="31" name="Rectangle 30"/>
          <p:cNvSpPr/>
          <p:nvPr/>
        </p:nvSpPr>
        <p:spPr>
          <a:xfrm>
            <a:off x="7187184" y="309067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20-seed eval, bootstrap CI, Wilcoxon</a:t>
            </a:r>
          </a:p>
        </p:txBody>
      </p:sp>
      <p:sp>
        <p:nvSpPr>
          <p:cNvPr id="32" name="Rectangle 31"/>
          <p:cNvSpPr/>
          <p:nvPr/>
        </p:nvSpPr>
        <p:spPr>
          <a:xfrm>
            <a:off x="10844784" y="309067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ACHIEVED</a:t>
            </a:r>
          </a:p>
        </p:txBody>
      </p:sp>
      <p:sp>
        <p:nvSpPr>
          <p:cNvPr id="33" name="Rectangle 32"/>
          <p:cNvSpPr/>
          <p:nvPr/>
        </p:nvSpPr>
        <p:spPr>
          <a:xfrm>
            <a:off x="6455664" y="373075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O4</a:t>
            </a:r>
          </a:p>
        </p:txBody>
      </p:sp>
      <p:sp>
        <p:nvSpPr>
          <p:cNvPr id="34" name="Rectangle 33"/>
          <p:cNvSpPr/>
          <p:nvPr/>
        </p:nvSpPr>
        <p:spPr>
          <a:xfrm>
            <a:off x="7187184" y="373075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PSI fairness monitoring + HITL wrapper</a:t>
            </a:r>
          </a:p>
        </p:txBody>
      </p:sp>
      <p:sp>
        <p:nvSpPr>
          <p:cNvPr id="35" name="Rectangle 34"/>
          <p:cNvSpPr/>
          <p:nvPr/>
        </p:nvSpPr>
        <p:spPr>
          <a:xfrm>
            <a:off x="10844784" y="373075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ACHIEVED</a:t>
            </a:r>
          </a:p>
        </p:txBody>
      </p:sp>
      <p:sp>
        <p:nvSpPr>
          <p:cNvPr id="36" name="Rectangle 35"/>
          <p:cNvSpPr/>
          <p:nvPr/>
        </p:nvSpPr>
        <p:spPr>
          <a:xfrm>
            <a:off x="457200" y="475488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defRPr sz="1500" b="1">
                <a:solidFill>
                  <a:srgbClr val="1A1A1A"/>
                </a:solidFill>
                <a:latin typeface="Calibri"/>
              </a:defRPr>
            </a:pPr>
            <a:r>
              <a:t>Contextual bandits give a principled, adaptive, auditable alternative to static rule-based underwriting in the Cambodian context.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REFERENCES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References</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22 / 28</a:t>
            </a:r>
          </a:p>
        </p:txBody>
      </p:sp>
      <p:sp>
        <p:nvSpPr>
          <p:cNvPr id="10" name="Rectangle 9"/>
          <p:cNvSpPr/>
          <p:nvPr/>
        </p:nvSpPr>
        <p:spPr>
          <a:xfrm>
            <a:off x="457200" y="128016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[1]  Li, L., Chu, W., Langford, J., &amp; Schapire, R. (2010). A contextual-bandit approach to personalized news article recommendation. WWW.</a:t>
            </a:r>
          </a:p>
        </p:txBody>
      </p:sp>
      <p:sp>
        <p:nvSpPr>
          <p:cNvPr id="11" name="Rectangle 10"/>
          <p:cNvSpPr/>
          <p:nvPr/>
        </p:nvSpPr>
        <p:spPr>
          <a:xfrm>
            <a:off x="457200" y="19385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[2]  Agrawal, S., &amp; Goyal, N. (2013). Thompson sampling for contextual bandits with linear payoffs. ICML.</a:t>
            </a:r>
          </a:p>
        </p:txBody>
      </p:sp>
      <p:sp>
        <p:nvSpPr>
          <p:cNvPr id="12" name="Rectangle 11"/>
          <p:cNvSpPr/>
          <p:nvPr/>
        </p:nvSpPr>
        <p:spPr>
          <a:xfrm>
            <a:off x="457200" y="259689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[3]  Bouneffouf, D., et al. (2017). Contextual bandits for clinical decision support.</a:t>
            </a:r>
          </a:p>
        </p:txBody>
      </p:sp>
      <p:sp>
        <p:nvSpPr>
          <p:cNvPr id="13" name="Rectangle 12"/>
          <p:cNvSpPr/>
          <p:nvPr/>
        </p:nvSpPr>
        <p:spPr>
          <a:xfrm>
            <a:off x="457200" y="325526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[4]  Frees, E. W., Derrig, R. A., &amp; Meyers, G. (2014). Predictive Modeling Applications in Actuarial Science. Cambridge Univ. Press.</a:t>
            </a:r>
          </a:p>
        </p:txBody>
      </p:sp>
      <p:sp>
        <p:nvSpPr>
          <p:cNvPr id="14" name="Rectangle 13"/>
          <p:cNvSpPr/>
          <p:nvPr/>
        </p:nvSpPr>
        <p:spPr>
          <a:xfrm>
            <a:off x="457200" y="3913632"/>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[5]  Kusner, M., Loftus, J., Russell, C., &amp; Silva, R. (2017). Counterfactual fairness. NeurIPS.</a:t>
            </a:r>
          </a:p>
        </p:txBody>
      </p:sp>
      <p:sp>
        <p:nvSpPr>
          <p:cNvPr id="15" name="Rectangle 14"/>
          <p:cNvSpPr/>
          <p:nvPr/>
        </p:nvSpPr>
        <p:spPr>
          <a:xfrm>
            <a:off x="457200" y="457200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[6]  Yurdakul, B. (2018). Statistical Properties of the Population Stability Index (PSI). PhD diss., Western Michigan University.</a:t>
            </a:r>
          </a:p>
        </p:txBody>
      </p:sp>
      <p:sp>
        <p:nvSpPr>
          <p:cNvPr id="16" name="Rectangle 15"/>
          <p:cNvSpPr/>
          <p:nvPr/>
        </p:nvSpPr>
        <p:spPr>
          <a:xfrm>
            <a:off x="457200" y="523036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[7]  Christiano, P., et al. (2017). Deep reinforcement learning from human preferences. NeurIPS.</a:t>
            </a:r>
          </a:p>
        </p:txBody>
      </p:sp>
      <p:sp>
        <p:nvSpPr>
          <p:cNvPr id="17" name="Rectangle 16"/>
          <p:cNvSpPr/>
          <p:nvPr/>
        </p:nvSpPr>
        <p:spPr>
          <a:xfrm>
            <a:off x="6309360" y="128016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[8]  National Institute of Statistics (2022). Cambodia Demographic &amp; Health Survey 2021–22 (CDHS).</a:t>
            </a:r>
          </a:p>
        </p:txBody>
      </p:sp>
      <p:sp>
        <p:nvSpPr>
          <p:cNvPr id="18" name="Rectangle 17"/>
          <p:cNvSpPr/>
          <p:nvPr/>
        </p:nvSpPr>
        <p:spPr>
          <a:xfrm>
            <a:off x="6309360" y="19385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[9]  WHO (2021). Cambodia STEPS Survey — NCD risk factors.</a:t>
            </a:r>
          </a:p>
        </p:txBody>
      </p:sp>
      <p:sp>
        <p:nvSpPr>
          <p:cNvPr id="19" name="Rectangle 18"/>
          <p:cNvSpPr/>
          <p:nvPr/>
        </p:nvSpPr>
        <p:spPr>
          <a:xfrm>
            <a:off x="6309360" y="259689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[10]  International Labour Organization. Cambodia Labour Force Survey.</a:t>
            </a:r>
          </a:p>
        </p:txBody>
      </p:sp>
      <p:sp>
        <p:nvSpPr>
          <p:cNvPr id="20" name="Rectangle 19"/>
          <p:cNvSpPr/>
          <p:nvPr/>
        </p:nvSpPr>
        <p:spPr>
          <a:xfrm>
            <a:off x="6309360" y="325526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100" b="0" i="0">
                <a:solidFill>
                  <a:srgbClr val="1A1A1A"/>
                </a:solidFill>
                <a:latin typeface="Calibri"/>
              </a:defRPr>
            </a:pPr>
            <a:r>
              <a:t>[11]  WHO SEARO. Health-expenditure statistics, Cambodia.</a:t>
            </a:r>
          </a:p>
        </p:txBody>
      </p:sp>
      <p:sp>
        <p:nvSpPr>
          <p:cNvPr id="21" name="Rectangle 20"/>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Full bibliography: thesis Chapter III (30+ sources, APA).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13248" y="18288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148840"/>
            <a:ext cx="121916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5400" b="1" i="0">
                <a:solidFill>
                  <a:srgbClr val="1B5697"/>
                </a:solidFill>
                <a:latin typeface="Segoe UI"/>
              </a:defRPr>
            </a:pPr>
            <a:r>
              <a:t>Thank you.</a:t>
            </a:r>
          </a:p>
        </p:txBody>
      </p:sp>
      <p:sp>
        <p:nvSpPr>
          <p:cNvPr id="4" name="Rectangle 3"/>
          <p:cNvSpPr/>
          <p:nvPr/>
        </p:nvSpPr>
        <p:spPr>
          <a:xfrm>
            <a:off x="0" y="3154680"/>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000" b="0" i="0">
                <a:solidFill>
                  <a:srgbClr val="1B5697"/>
                </a:solidFill>
                <a:latin typeface="Calibri"/>
              </a:defRPr>
            </a:pPr>
            <a:r>
              <a:t>Questions &amp; Answers</a:t>
            </a:r>
          </a:p>
        </p:txBody>
      </p:sp>
      <p:sp>
        <p:nvSpPr>
          <p:cNvPr id="5" name="Rectangle 4"/>
          <p:cNvSpPr/>
          <p:nvPr/>
        </p:nvSpPr>
        <p:spPr>
          <a:xfrm>
            <a:off x="0" y="4297680"/>
            <a:ext cx="121916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000" b="1" i="0">
                <a:solidFill>
                  <a:srgbClr val="1A1A1A"/>
                </a:solidFill>
                <a:latin typeface="Calibri"/>
              </a:defRPr>
            </a:pPr>
            <a:r>
              <a:t>LUN CHANPOLY</a:t>
            </a:r>
          </a:p>
        </p:txBody>
      </p:sp>
      <p:sp>
        <p:nvSpPr>
          <p:cNvPr id="6" name="Rectangle 5"/>
          <p:cNvSpPr/>
          <p:nvPr/>
        </p:nvSpPr>
        <p:spPr>
          <a:xfrm>
            <a:off x="0" y="470916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500" b="0" i="0">
                <a:solidFill>
                  <a:srgbClr val="777777"/>
                </a:solidFill>
                <a:latin typeface="Calibri"/>
              </a:defRPr>
            </a:pPr>
            <a:r>
              <a:t>chanpoly3@gmail.com</a:t>
            </a:r>
          </a:p>
        </p:txBody>
      </p:sp>
      <p:sp>
        <p:nvSpPr>
          <p:cNvPr id="7" name="Rectangle 6"/>
          <p:cNvSpPr/>
          <p:nvPr/>
        </p:nvSpPr>
        <p:spPr>
          <a:xfrm>
            <a:off x="0" y="507492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1400" b="0" i="0">
                <a:solidFill>
                  <a:srgbClr val="777777"/>
                </a:solidFill>
                <a:latin typeface="Calibri"/>
              </a:defRPr>
            </a:pPr>
            <a:r>
              <a:t>Institute of Technology of Cambodia</a:t>
            </a:r>
          </a:p>
        </p:txBody>
      </p:sp>
      <p:pic>
        <p:nvPicPr>
          <p:cNvPr id="8" name="Picture 7" descr="ITC.jpg"/>
          <p:cNvPicPr>
            <a:picLocks noChangeAspect="1"/>
          </p:cNvPicPr>
          <p:nvPr/>
        </p:nvPicPr>
        <p:blipFill>
          <a:blip r:embed="rId2"/>
          <a:stretch>
            <a:fillRect/>
          </a:stretch>
        </p:blipFill>
        <p:spPr>
          <a:xfrm>
            <a:off x="4983480" y="5623560"/>
            <a:ext cx="640080" cy="631079"/>
          </a:xfrm>
          <a:prstGeom prst="rect">
            <a:avLst/>
          </a:prstGeom>
          <a:effectLst/>
        </p:spPr>
      </p:pic>
      <p:pic>
        <p:nvPicPr>
          <p:cNvPr id="9" name="Picture 8" descr="AMS.png"/>
          <p:cNvPicPr>
            <a:picLocks noChangeAspect="1"/>
          </p:cNvPicPr>
          <p:nvPr/>
        </p:nvPicPr>
        <p:blipFill>
          <a:blip r:embed="rId3"/>
          <a:stretch>
            <a:fillRect/>
          </a:stretch>
        </p:blipFill>
        <p:spPr>
          <a:xfrm>
            <a:off x="5715000" y="5623560"/>
            <a:ext cx="640080" cy="606547"/>
          </a:xfrm>
          <a:prstGeom prst="rect">
            <a:avLst/>
          </a:prstGeom>
          <a:effectLst/>
        </p:spPr>
      </p:pic>
      <p:pic>
        <p:nvPicPr>
          <p:cNvPr id="10" name="Picture 9" descr="DAC.jpg"/>
          <p:cNvPicPr>
            <a:picLocks noChangeAspect="1"/>
          </p:cNvPicPr>
          <p:nvPr/>
        </p:nvPicPr>
        <p:blipFill>
          <a:blip r:embed="rId4"/>
          <a:stretch>
            <a:fillRect/>
          </a:stretch>
        </p:blipFill>
        <p:spPr>
          <a:xfrm>
            <a:off x="6537960" y="5623560"/>
            <a:ext cx="640080" cy="360045"/>
          </a:xfrm>
          <a:prstGeom prst="rect">
            <a:avLst/>
          </a:prstGeom>
          <a:effectLst/>
        </p:spPr>
      </p:pic>
      <p:sp>
        <p:nvSpPr>
          <p:cNvPr id="11" name="Rectangle 10"/>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13" name="Rectangle 12"/>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Adaptive Underwriting via Contextual Bandits</a:t>
            </a:r>
          </a:p>
        </p:txBody>
      </p:sp>
      <p:sp>
        <p:nvSpPr>
          <p:cNvPr id="15" name="Rectangle 14"/>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28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A1  BASELINE LADDER (EXP-014)</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A1</a:t>
            </a:r>
          </a:p>
        </p:txBody>
      </p:sp>
      <p:sp>
        <p:nvSpPr>
          <p:cNvPr id="10" name="Rectangle 9"/>
          <p:cNvSpPr/>
          <p:nvPr/>
        </p:nvSpPr>
        <p:spPr>
          <a:xfrm>
            <a:off x="457200" y="1207008"/>
            <a:ext cx="112772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500" b="1" i="0">
                <a:solidFill>
                  <a:srgbClr val="1A1A1A"/>
                </a:solidFill>
                <a:latin typeface="Calibri"/>
              </a:defRPr>
            </a:pPr>
            <a:r>
              <a:t>Why AlwaysRATED is inadmissible -- and why the headline claim still holds</a:t>
            </a:r>
          </a:p>
        </p:txBody>
      </p:sp>
      <p:pic>
        <p:nvPicPr>
          <p:cNvPr id="11" name="Picture 10" descr="slide_ladder.png"/>
          <p:cNvPicPr>
            <a:picLocks noChangeAspect="1"/>
          </p:cNvPicPr>
          <p:nvPr/>
        </p:nvPicPr>
        <p:blipFill>
          <a:blip r:embed="rId3"/>
          <a:stretch>
            <a:fillRect/>
          </a:stretch>
        </p:blipFill>
        <p:spPr>
          <a:xfrm>
            <a:off x="525882" y="1645920"/>
            <a:ext cx="6446315" cy="4242816"/>
          </a:xfrm>
          <a:prstGeom prst="rect">
            <a:avLst/>
          </a:prstGeom>
          <a:effectLst/>
        </p:spPr>
      </p:pic>
      <p:sp>
        <p:nvSpPr>
          <p:cNvPr id="12" name="Rectangle 11"/>
          <p:cNvSpPr/>
          <p:nvPr/>
        </p:nvSpPr>
        <p:spPr>
          <a:xfrm>
            <a:off x="7370064" y="1828800"/>
            <a:ext cx="1627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Policy</a:t>
            </a:r>
          </a:p>
        </p:txBody>
      </p:sp>
      <p:sp>
        <p:nvSpPr>
          <p:cNvPr id="13" name="Rectangle 12"/>
          <p:cNvSpPr/>
          <p:nvPr/>
        </p:nvSpPr>
        <p:spPr>
          <a:xfrm>
            <a:off x="91074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Reward</a:t>
            </a:r>
          </a:p>
        </p:txBody>
      </p:sp>
      <p:sp>
        <p:nvSpPr>
          <p:cNvPr id="14" name="Rectangle 13"/>
          <p:cNvSpPr/>
          <p:nvPr/>
        </p:nvSpPr>
        <p:spPr>
          <a:xfrm>
            <a:off x="104790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Status</a:t>
            </a:r>
          </a:p>
        </p:txBody>
      </p:sp>
      <p:sp>
        <p:nvSpPr>
          <p:cNvPr id="15" name="Rectangle 14"/>
          <p:cNvSpPr/>
          <p:nvPr/>
        </p:nvSpPr>
        <p:spPr>
          <a:xfrm>
            <a:off x="7315200" y="2157984"/>
            <a:ext cx="448056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315200" y="223113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70064" y="226771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LinTS</a:t>
            </a:r>
          </a:p>
        </p:txBody>
      </p:sp>
      <p:sp>
        <p:nvSpPr>
          <p:cNvPr id="18" name="Rectangle 17"/>
          <p:cNvSpPr/>
          <p:nvPr/>
        </p:nvSpPr>
        <p:spPr>
          <a:xfrm>
            <a:off x="91074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$93,723</a:t>
            </a:r>
          </a:p>
        </p:txBody>
      </p:sp>
      <p:sp>
        <p:nvSpPr>
          <p:cNvPr id="19" name="Rectangle 18"/>
          <p:cNvSpPr/>
          <p:nvPr/>
        </p:nvSpPr>
        <p:spPr>
          <a:xfrm>
            <a:off x="104790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admissible</a:t>
            </a:r>
          </a:p>
        </p:txBody>
      </p:sp>
      <p:sp>
        <p:nvSpPr>
          <p:cNvPr id="20" name="Rectangle 19"/>
          <p:cNvSpPr/>
          <p:nvPr/>
        </p:nvSpPr>
        <p:spPr>
          <a:xfrm>
            <a:off x="7370064" y="281635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LinUCB</a:t>
            </a:r>
          </a:p>
        </p:txBody>
      </p:sp>
      <p:sp>
        <p:nvSpPr>
          <p:cNvPr id="21" name="Rectangle 20"/>
          <p:cNvSpPr/>
          <p:nvPr/>
        </p:nvSpPr>
        <p:spPr>
          <a:xfrm>
            <a:off x="91074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$91,864</a:t>
            </a:r>
          </a:p>
        </p:txBody>
      </p:sp>
      <p:sp>
        <p:nvSpPr>
          <p:cNvPr id="22" name="Rectangle 21"/>
          <p:cNvSpPr/>
          <p:nvPr/>
        </p:nvSpPr>
        <p:spPr>
          <a:xfrm>
            <a:off x="104790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admissible</a:t>
            </a:r>
          </a:p>
        </p:txBody>
      </p:sp>
      <p:sp>
        <p:nvSpPr>
          <p:cNvPr id="23" name="Rectangle 22"/>
          <p:cNvSpPr/>
          <p:nvPr/>
        </p:nvSpPr>
        <p:spPr>
          <a:xfrm>
            <a:off x="7315200" y="332841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370064" y="336499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Static XGB</a:t>
            </a:r>
          </a:p>
        </p:txBody>
      </p:sp>
      <p:sp>
        <p:nvSpPr>
          <p:cNvPr id="25" name="Rectangle 24"/>
          <p:cNvSpPr/>
          <p:nvPr/>
        </p:nvSpPr>
        <p:spPr>
          <a:xfrm>
            <a:off x="91074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$72,206</a:t>
            </a:r>
          </a:p>
        </p:txBody>
      </p:sp>
      <p:sp>
        <p:nvSpPr>
          <p:cNvPr id="26" name="Rectangle 25"/>
          <p:cNvSpPr/>
          <p:nvPr/>
        </p:nvSpPr>
        <p:spPr>
          <a:xfrm>
            <a:off x="104790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2E8B57"/>
                </a:solidFill>
                <a:latin typeface="Calibri"/>
              </a:defRPr>
            </a:pPr>
            <a:r>
              <a:t>admissible</a:t>
            </a:r>
          </a:p>
        </p:txBody>
      </p:sp>
      <p:sp>
        <p:nvSpPr>
          <p:cNvPr id="27" name="Rectangle 26"/>
          <p:cNvSpPr/>
          <p:nvPr/>
        </p:nvSpPr>
        <p:spPr>
          <a:xfrm>
            <a:off x="7370064" y="391363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AlwaysRATED</a:t>
            </a:r>
          </a:p>
        </p:txBody>
      </p:sp>
      <p:sp>
        <p:nvSpPr>
          <p:cNvPr id="28" name="Rectangle 27"/>
          <p:cNvSpPr/>
          <p:nvPr/>
        </p:nvSpPr>
        <p:spPr>
          <a:xfrm>
            <a:off x="91074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$122,287</a:t>
            </a:r>
          </a:p>
        </p:txBody>
      </p:sp>
      <p:sp>
        <p:nvSpPr>
          <p:cNvPr id="29" name="Rectangle 28"/>
          <p:cNvSpPr/>
          <p:nvPr/>
        </p:nvSpPr>
        <p:spPr>
          <a:xfrm>
            <a:off x="104790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D93B3B"/>
                </a:solidFill>
                <a:latin typeface="Calibri"/>
              </a:defRPr>
            </a:pPr>
            <a:r>
              <a:t>inadmissible</a:t>
            </a:r>
          </a:p>
        </p:txBody>
      </p:sp>
      <p:sp>
        <p:nvSpPr>
          <p:cNvPr id="30" name="Rectangle 29"/>
          <p:cNvSpPr/>
          <p:nvPr/>
        </p:nvSpPr>
        <p:spPr>
          <a:xfrm>
            <a:off x="7315200" y="46817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571232" y="457200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Rates 100% at flat +25% loading</a:t>
            </a:r>
          </a:p>
        </p:txBody>
      </p:sp>
      <p:sp>
        <p:nvSpPr>
          <p:cNvPr id="32" name="Rectangle 31"/>
          <p:cNvSpPr/>
          <p:nvPr/>
        </p:nvSpPr>
        <p:spPr>
          <a:xfrm>
            <a:off x="7315200" y="5184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571232" y="507492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Not commercially / regulatorily viable</a:t>
            </a:r>
          </a:p>
        </p:txBody>
      </p:sp>
      <p:sp>
        <p:nvSpPr>
          <p:cNvPr id="34" name="Rectangle 33"/>
          <p:cNvSpPr/>
          <p:nvPr/>
        </p:nvSpPr>
        <p:spPr>
          <a:xfrm>
            <a:off x="7315200" y="568756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7571232" y="557784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Bandits rank 1-2 of admissible set</a:t>
            </a:r>
          </a:p>
        </p:txBody>
      </p:sp>
      <p:sp>
        <p:nvSpPr>
          <p:cNvPr id="36" name="Rectangle 35"/>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Pre-registered expectation FALSIFIED: AlwaysRATED $122,287 tops the ladder (§5.0.1) -- reported as the scientifically informative outcome; headline is scoped to admissible policies.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A2  NUMBER RECONCILIATION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A2</a:t>
            </a:r>
          </a:p>
        </p:txBody>
      </p:sp>
      <p:sp>
        <p:nvSpPr>
          <p:cNvPr id="10" name="Rectangle 9"/>
          <p:cNvSpPr/>
          <p:nvPr/>
        </p:nvSpPr>
        <p:spPr>
          <a:xfrm>
            <a:off x="512064" y="1371600"/>
            <a:ext cx="3913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Comparison pair</a:t>
            </a:r>
          </a:p>
        </p:txBody>
      </p:sp>
      <p:sp>
        <p:nvSpPr>
          <p:cNvPr id="11" name="Rectangle 10"/>
          <p:cNvSpPr/>
          <p:nvPr/>
        </p:nvSpPr>
        <p:spPr>
          <a:xfrm>
            <a:off x="4535424" y="1371600"/>
            <a:ext cx="1170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Lift</a:t>
            </a:r>
          </a:p>
        </p:txBody>
      </p:sp>
      <p:sp>
        <p:nvSpPr>
          <p:cNvPr id="12" name="Rectangle 11"/>
          <p:cNvSpPr/>
          <p:nvPr/>
        </p:nvSpPr>
        <p:spPr>
          <a:xfrm>
            <a:off x="5815584" y="1371600"/>
            <a:ext cx="5742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A1A1A"/>
                </a:solidFill>
                <a:latin typeface="Calibri"/>
              </a:defRPr>
            </a:pPr>
            <a:r>
              <a:t>Basis / why different</a:t>
            </a:r>
          </a:p>
        </p:txBody>
      </p:sp>
      <p:sp>
        <p:nvSpPr>
          <p:cNvPr id="13" name="Rectangle 12"/>
          <p:cNvSpPr/>
          <p:nvPr/>
        </p:nvSpPr>
        <p:spPr>
          <a:xfrm>
            <a:off x="457200" y="1700784"/>
            <a:ext cx="1115568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177393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12064" y="181051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LinUCB vs Static XGB (EXP-005)</a:t>
            </a:r>
          </a:p>
        </p:txBody>
      </p:sp>
      <p:sp>
        <p:nvSpPr>
          <p:cNvPr id="16" name="Rectangle 15"/>
          <p:cNvSpPr/>
          <p:nvPr/>
        </p:nvSpPr>
        <p:spPr>
          <a:xfrm>
            <a:off x="4535424" y="181051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+25.2%</a:t>
            </a:r>
          </a:p>
        </p:txBody>
      </p:sp>
      <p:sp>
        <p:nvSpPr>
          <p:cNvPr id="17" name="Rectangle 16"/>
          <p:cNvSpPr/>
          <p:nvPr/>
        </p:nvSpPr>
        <p:spPr>
          <a:xfrm>
            <a:off x="5815584" y="181051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Paired design, standardised eval -- the pre-registered primary metric</a:t>
            </a:r>
          </a:p>
        </p:txBody>
      </p:sp>
      <p:sp>
        <p:nvSpPr>
          <p:cNvPr id="18" name="Rectangle 17"/>
          <p:cNvSpPr/>
          <p:nvPr/>
        </p:nvSpPr>
        <p:spPr>
          <a:xfrm>
            <a:off x="512064" y="258775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LinUCB vs Static XGB (EXP-014 ladder)</a:t>
            </a:r>
          </a:p>
        </p:txBody>
      </p:sp>
      <p:sp>
        <p:nvSpPr>
          <p:cNvPr id="19" name="Rectangle 18"/>
          <p:cNvSpPr/>
          <p:nvPr/>
        </p:nvSpPr>
        <p:spPr>
          <a:xfrm>
            <a:off x="4535424" y="258775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+27.2%</a:t>
            </a:r>
          </a:p>
        </p:txBody>
      </p:sp>
      <p:sp>
        <p:nvSpPr>
          <p:cNvPr id="20" name="Rectangle 19"/>
          <p:cNvSpPr/>
          <p:nvPr/>
        </p:nvSpPr>
        <p:spPr>
          <a:xfrm>
            <a:off x="5815584" y="258775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CRN harness, reward-maximising policy (Table 9, §5.0.1)</a:t>
            </a:r>
          </a:p>
        </p:txBody>
      </p:sp>
      <p:sp>
        <p:nvSpPr>
          <p:cNvPr id="21" name="Rectangle 20"/>
          <p:cNvSpPr/>
          <p:nvPr/>
        </p:nvSpPr>
        <p:spPr>
          <a:xfrm>
            <a:off x="457200" y="332841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12064" y="336499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LinTS vs Static XGB (EXP-014 ladder)</a:t>
            </a:r>
          </a:p>
        </p:txBody>
      </p:sp>
      <p:sp>
        <p:nvSpPr>
          <p:cNvPr id="23" name="Rectangle 22"/>
          <p:cNvSpPr/>
          <p:nvPr/>
        </p:nvSpPr>
        <p:spPr>
          <a:xfrm>
            <a:off x="4535424" y="336499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+29.8%</a:t>
            </a:r>
          </a:p>
        </p:txBody>
      </p:sp>
      <p:sp>
        <p:nvSpPr>
          <p:cNvPr id="24" name="Rectangle 23"/>
          <p:cNvSpPr/>
          <p:nvPr/>
        </p:nvSpPr>
        <p:spPr>
          <a:xfrm>
            <a:off x="5815584" y="336499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CRN harness, LinTS reward-maximising (Table 9, §5.0.1)</a:t>
            </a:r>
          </a:p>
        </p:txBody>
      </p:sp>
      <p:sp>
        <p:nvSpPr>
          <p:cNvPr id="25" name="Rectangle 24"/>
          <p:cNvSpPr/>
          <p:nvPr/>
        </p:nvSpPr>
        <p:spPr>
          <a:xfrm>
            <a:off x="512064" y="414223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HITL vs vanilla LinUCB (EXP-008)</a:t>
            </a:r>
          </a:p>
        </p:txBody>
      </p:sp>
      <p:sp>
        <p:nvSpPr>
          <p:cNvPr id="26" name="Rectangle 25"/>
          <p:cNvSpPr/>
          <p:nvPr/>
        </p:nvSpPr>
        <p:spPr>
          <a:xfrm>
            <a:off x="4535424" y="414223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1" i="0">
                <a:solidFill>
                  <a:srgbClr val="1B5697"/>
                </a:solidFill>
                <a:latin typeface="Calibri"/>
              </a:defRPr>
            </a:pPr>
            <a:r>
              <a:t>+14.8%</a:t>
            </a:r>
          </a:p>
        </p:txBody>
      </p:sp>
      <p:sp>
        <p:nvSpPr>
          <p:cNvPr id="27" name="Rectangle 26"/>
          <p:cNvSpPr/>
          <p:nvPr/>
        </p:nvSpPr>
        <p:spPr>
          <a:xfrm>
            <a:off x="5815584" y="414223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Augmented bandit vs vanilla bandit -- different baseline entirely</a:t>
            </a:r>
          </a:p>
        </p:txBody>
      </p:sp>
      <p:sp>
        <p:nvSpPr>
          <p:cNvPr id="28" name="Rectangle 27"/>
          <p:cNvSpPr/>
          <p:nvPr/>
        </p:nvSpPr>
        <p:spPr>
          <a:xfrm>
            <a:off x="457200" y="5120640"/>
            <a:ext cx="11277295" cy="82296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defRPr sz="1400" b="0">
                <a:solidFill>
                  <a:srgbClr val="1A1A1A"/>
                </a:solidFill>
                <a:latin typeface="Calibri"/>
              </a:defRPr>
            </a:pPr>
            <a:r>
              <a:t>All three answer different questions and are mutually consistent. EXP-005 (+25.2%) is the conservative pre-registered primary.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A3  FAIRNESS CRITERIA VERDICTS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A3</a:t>
            </a:r>
          </a:p>
        </p:txBody>
      </p:sp>
      <p:sp>
        <p:nvSpPr>
          <p:cNvPr id="10" name="Rectangle 9"/>
          <p:cNvSpPr/>
          <p:nvPr/>
        </p:nvSpPr>
        <p:spPr>
          <a:xfrm>
            <a:off x="512064" y="146304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a:t>
            </a:r>
          </a:p>
        </p:txBody>
      </p:sp>
      <p:sp>
        <p:nvSpPr>
          <p:cNvPr id="11" name="Rectangle 10"/>
          <p:cNvSpPr/>
          <p:nvPr/>
        </p:nvSpPr>
        <p:spPr>
          <a:xfrm>
            <a:off x="1243584" y="1463040"/>
            <a:ext cx="6291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Pre-registered criterion</a:t>
            </a:r>
          </a:p>
        </p:txBody>
      </p:sp>
      <p:sp>
        <p:nvSpPr>
          <p:cNvPr id="12" name="Rectangle 11"/>
          <p:cNvSpPr/>
          <p:nvPr/>
        </p:nvSpPr>
        <p:spPr>
          <a:xfrm>
            <a:off x="7644384" y="146304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Verdict</a:t>
            </a:r>
          </a:p>
        </p:txBody>
      </p:sp>
      <p:sp>
        <p:nvSpPr>
          <p:cNvPr id="13" name="Rectangle 12"/>
          <p:cNvSpPr/>
          <p:nvPr/>
        </p:nvSpPr>
        <p:spPr>
          <a:xfrm>
            <a:off x="457200" y="1792224"/>
            <a:ext cx="107899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1865376"/>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12064" y="190195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1</a:t>
            </a:r>
          </a:p>
        </p:txBody>
      </p:sp>
      <p:sp>
        <p:nvSpPr>
          <p:cNvPr id="16" name="Rectangle 15"/>
          <p:cNvSpPr/>
          <p:nvPr/>
        </p:nvSpPr>
        <p:spPr>
          <a:xfrm>
            <a:off x="1243584" y="190195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Region PSI within threshold</a:t>
            </a:r>
          </a:p>
        </p:txBody>
      </p:sp>
      <p:sp>
        <p:nvSpPr>
          <p:cNvPr id="17" name="Rectangle 16"/>
          <p:cNvSpPr/>
          <p:nvPr/>
        </p:nvSpPr>
        <p:spPr>
          <a:xfrm>
            <a:off x="7644384" y="190195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2E8B57"/>
                </a:solidFill>
                <a:latin typeface="Calibri"/>
              </a:defRPr>
            </a:pPr>
            <a:r>
              <a:t>PASSED</a:t>
            </a:r>
          </a:p>
        </p:txBody>
      </p:sp>
      <p:sp>
        <p:nvSpPr>
          <p:cNvPr id="18" name="Rectangle 17"/>
          <p:cNvSpPr/>
          <p:nvPr/>
        </p:nvSpPr>
        <p:spPr>
          <a:xfrm>
            <a:off x="512064" y="2505456"/>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2</a:t>
            </a:r>
          </a:p>
        </p:txBody>
      </p:sp>
      <p:sp>
        <p:nvSpPr>
          <p:cNvPr id="19" name="Rectangle 18"/>
          <p:cNvSpPr/>
          <p:nvPr/>
        </p:nvSpPr>
        <p:spPr>
          <a:xfrm>
            <a:off x="1243584" y="2505456"/>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Occupation PSI within threshold</a:t>
            </a:r>
          </a:p>
        </p:txBody>
      </p:sp>
      <p:sp>
        <p:nvSpPr>
          <p:cNvPr id="20" name="Rectangle 19"/>
          <p:cNvSpPr/>
          <p:nvPr/>
        </p:nvSpPr>
        <p:spPr>
          <a:xfrm>
            <a:off x="7644384" y="2505456"/>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2E8B57"/>
                </a:solidFill>
                <a:latin typeface="Calibri"/>
              </a:defRPr>
            </a:pPr>
            <a:r>
              <a:t>PASSED</a:t>
            </a:r>
          </a:p>
        </p:txBody>
      </p:sp>
      <p:sp>
        <p:nvSpPr>
          <p:cNvPr id="21" name="Rectangle 20"/>
          <p:cNvSpPr/>
          <p:nvPr/>
        </p:nvSpPr>
        <p:spPr>
          <a:xfrm>
            <a:off x="457200" y="3072384"/>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12064" y="3108960"/>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3</a:t>
            </a:r>
          </a:p>
        </p:txBody>
      </p:sp>
      <p:sp>
        <p:nvSpPr>
          <p:cNvPr id="23" name="Rectangle 22"/>
          <p:cNvSpPr/>
          <p:nvPr/>
        </p:nvSpPr>
        <p:spPr>
          <a:xfrm>
            <a:off x="1243584" y="3108960"/>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Region EEOC parity ≥ 80%</a:t>
            </a:r>
          </a:p>
        </p:txBody>
      </p:sp>
      <p:sp>
        <p:nvSpPr>
          <p:cNvPr id="24" name="Rectangle 23"/>
          <p:cNvSpPr/>
          <p:nvPr/>
        </p:nvSpPr>
        <p:spPr>
          <a:xfrm>
            <a:off x="7644384" y="3108960"/>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2E8B57"/>
                </a:solidFill>
                <a:latin typeface="Calibri"/>
              </a:defRPr>
            </a:pPr>
            <a:r>
              <a:t>PASSED</a:t>
            </a:r>
          </a:p>
        </p:txBody>
      </p:sp>
      <p:sp>
        <p:nvSpPr>
          <p:cNvPr id="25" name="Rectangle 24"/>
          <p:cNvSpPr/>
          <p:nvPr/>
        </p:nvSpPr>
        <p:spPr>
          <a:xfrm>
            <a:off x="512064" y="3712464"/>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4</a:t>
            </a:r>
          </a:p>
        </p:txBody>
      </p:sp>
      <p:sp>
        <p:nvSpPr>
          <p:cNvPr id="26" name="Rectangle 25"/>
          <p:cNvSpPr/>
          <p:nvPr/>
        </p:nvSpPr>
        <p:spPr>
          <a:xfrm>
            <a:off x="1243584" y="3712464"/>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Occupation EEOC parity ≥ 80%</a:t>
            </a:r>
          </a:p>
        </p:txBody>
      </p:sp>
      <p:sp>
        <p:nvSpPr>
          <p:cNvPr id="27" name="Rectangle 26"/>
          <p:cNvSpPr/>
          <p:nvPr/>
        </p:nvSpPr>
        <p:spPr>
          <a:xfrm>
            <a:off x="7644384" y="3712464"/>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2E8B57"/>
                </a:solidFill>
                <a:latin typeface="Calibri"/>
              </a:defRPr>
            </a:pPr>
            <a:r>
              <a:t>PASSED</a:t>
            </a:r>
          </a:p>
        </p:txBody>
      </p:sp>
      <p:sp>
        <p:nvSpPr>
          <p:cNvPr id="28" name="Rectangle 27"/>
          <p:cNvSpPr/>
          <p:nvPr/>
        </p:nvSpPr>
        <p:spPr>
          <a:xfrm>
            <a:off x="457200" y="4279392"/>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12064" y="4315968"/>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5</a:t>
            </a:r>
          </a:p>
        </p:txBody>
      </p:sp>
      <p:sp>
        <p:nvSpPr>
          <p:cNvPr id="30" name="Rectangle 29"/>
          <p:cNvSpPr/>
          <p:nvPr/>
        </p:nvSpPr>
        <p:spPr>
          <a:xfrm>
            <a:off x="1243584" y="4315968"/>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Region → action independence</a:t>
            </a:r>
          </a:p>
        </p:txBody>
      </p:sp>
      <p:sp>
        <p:nvSpPr>
          <p:cNvPr id="31" name="Rectangle 30"/>
          <p:cNvSpPr/>
          <p:nvPr/>
        </p:nvSpPr>
        <p:spPr>
          <a:xfrm>
            <a:off x="7644384" y="4315968"/>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2E8B57"/>
                </a:solidFill>
                <a:latin typeface="Calibri"/>
              </a:defRPr>
            </a:pPr>
            <a:r>
              <a:t>PASSED</a:t>
            </a:r>
          </a:p>
        </p:txBody>
      </p:sp>
      <p:sp>
        <p:nvSpPr>
          <p:cNvPr id="32" name="Rectangle 31"/>
          <p:cNvSpPr/>
          <p:nvPr/>
        </p:nvSpPr>
        <p:spPr>
          <a:xfrm>
            <a:off x="512064" y="491947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6</a:t>
            </a:r>
          </a:p>
        </p:txBody>
      </p:sp>
      <p:sp>
        <p:nvSpPr>
          <p:cNvPr id="33" name="Rectangle 32"/>
          <p:cNvSpPr/>
          <p:nvPr/>
        </p:nvSpPr>
        <p:spPr>
          <a:xfrm>
            <a:off x="1243584" y="491947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Occupation → action independence</a:t>
            </a:r>
          </a:p>
        </p:txBody>
      </p:sp>
      <p:sp>
        <p:nvSpPr>
          <p:cNvPr id="34" name="Rectangle 33"/>
          <p:cNvSpPr/>
          <p:nvPr/>
        </p:nvSpPr>
        <p:spPr>
          <a:xfrm>
            <a:off x="7644384" y="491947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D93B3B"/>
                </a:solidFill>
                <a:latin typeface="Calibri"/>
              </a:defRPr>
            </a:pPr>
            <a:r>
              <a:t>FAILED-with-interpretation</a:t>
            </a:r>
          </a:p>
        </p:txBody>
      </p:sp>
      <p:sp>
        <p:nvSpPr>
          <p:cNvPr id="35" name="Rectangle 34"/>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5 of 6 PASSED. Criterion 6: occupation→action p &lt; 0.001 — significant but practically small; occupation is an actuarially valid factor.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A4  SENSITIVITY &amp; ABLATION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A4</a:t>
            </a:r>
          </a:p>
        </p:txBody>
      </p:sp>
      <p:sp>
        <p:nvSpPr>
          <p:cNvPr id="10" name="Rectangle 9"/>
          <p:cNvSpPr/>
          <p:nvPr/>
        </p:nvSpPr>
        <p:spPr>
          <a:xfrm>
            <a:off x="512064" y="1463040"/>
            <a:ext cx="3730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Parameter</a:t>
            </a:r>
          </a:p>
        </p:txBody>
      </p:sp>
      <p:sp>
        <p:nvSpPr>
          <p:cNvPr id="11" name="Rectangle 10"/>
          <p:cNvSpPr/>
          <p:nvPr/>
        </p:nvSpPr>
        <p:spPr>
          <a:xfrm>
            <a:off x="4352544" y="1463040"/>
            <a:ext cx="7296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Value / range tested</a:t>
            </a:r>
          </a:p>
        </p:txBody>
      </p:sp>
      <p:sp>
        <p:nvSpPr>
          <p:cNvPr id="12" name="Rectangle 11"/>
          <p:cNvSpPr/>
          <p:nvPr/>
        </p:nvSpPr>
        <p:spPr>
          <a:xfrm>
            <a:off x="457200" y="179222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1865376"/>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12064" y="190195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α  (LinUCB exploration)</a:t>
            </a:r>
          </a:p>
        </p:txBody>
      </p:sp>
      <p:sp>
        <p:nvSpPr>
          <p:cNvPr id="15" name="Rectangle 14"/>
          <p:cNvSpPr/>
          <p:nvPr/>
        </p:nvSpPr>
        <p:spPr>
          <a:xfrm>
            <a:off x="4352544" y="190195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1.0 headline — regret-minimising in EXP-012 sweep</a:t>
            </a:r>
          </a:p>
        </p:txBody>
      </p:sp>
      <p:sp>
        <p:nvSpPr>
          <p:cNvPr id="16" name="Rectangle 15"/>
          <p:cNvSpPr/>
          <p:nvPr/>
        </p:nvSpPr>
        <p:spPr>
          <a:xfrm>
            <a:off x="512064" y="2468880"/>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v  (LinTS variance)</a:t>
            </a:r>
          </a:p>
        </p:txBody>
      </p:sp>
      <p:sp>
        <p:nvSpPr>
          <p:cNvPr id="17" name="Rectangle 16"/>
          <p:cNvSpPr/>
          <p:nvPr/>
        </p:nvSpPr>
        <p:spPr>
          <a:xfrm>
            <a:off x="4352544" y="2468880"/>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0.1 — posterior-width calibration</a:t>
            </a:r>
          </a:p>
        </p:txBody>
      </p:sp>
      <p:sp>
        <p:nvSpPr>
          <p:cNvPr id="18" name="Rectangle 17"/>
          <p:cNvSpPr/>
          <p:nvPr/>
        </p:nvSpPr>
        <p:spPr>
          <a:xfrm>
            <a:off x="457200" y="2999232"/>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12064" y="3035808"/>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λ  (ridge penalty)</a:t>
            </a:r>
          </a:p>
        </p:txBody>
      </p:sp>
      <p:sp>
        <p:nvSpPr>
          <p:cNvPr id="20" name="Rectangle 19"/>
          <p:cNvSpPr/>
          <p:nvPr/>
        </p:nvSpPr>
        <p:spPr>
          <a:xfrm>
            <a:off x="4352544" y="3035808"/>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1.0 — identity prior</a:t>
            </a:r>
          </a:p>
        </p:txBody>
      </p:sp>
      <p:sp>
        <p:nvSpPr>
          <p:cNvPr id="21" name="Rectangle 20"/>
          <p:cNvSpPr/>
          <p:nvPr/>
        </p:nvSpPr>
        <p:spPr>
          <a:xfrm>
            <a:off x="512064" y="3602736"/>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κ  (HITL conservatism)</a:t>
            </a:r>
          </a:p>
        </p:txBody>
      </p:sp>
      <p:sp>
        <p:nvSpPr>
          <p:cNvPr id="22" name="Rectangle 21"/>
          <p:cNvSpPr/>
          <p:nvPr/>
        </p:nvSpPr>
        <p:spPr>
          <a:xfrm>
            <a:off x="4352544" y="3602736"/>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0.7 headline; 0.3 / 0.5 also tested (EXP-008)</a:t>
            </a:r>
          </a:p>
        </p:txBody>
      </p:sp>
      <p:sp>
        <p:nvSpPr>
          <p:cNvPr id="23" name="Rectangle 22"/>
          <p:cNvSpPr/>
          <p:nvPr/>
        </p:nvSpPr>
        <p:spPr>
          <a:xfrm>
            <a:off x="457200" y="4133088"/>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12064" y="4169664"/>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Price elasticity β</a:t>
            </a:r>
          </a:p>
        </p:txBody>
      </p:sp>
      <p:sp>
        <p:nvSpPr>
          <p:cNvPr id="25" name="Rectangle 24"/>
          <p:cNvSpPr/>
          <p:nvPr/>
        </p:nvSpPr>
        <p:spPr>
          <a:xfrm>
            <a:off x="4352544" y="4169664"/>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3.5 base; 2.5 / 4.5 stress (EXP-012)</a:t>
            </a:r>
          </a:p>
        </p:txBody>
      </p:sp>
      <p:sp>
        <p:nvSpPr>
          <p:cNvPr id="26" name="Rectangle 25"/>
          <p:cNvSpPr/>
          <p:nvPr/>
        </p:nvSpPr>
        <p:spPr>
          <a:xfrm>
            <a:off x="512064" y="473659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Adverse-selection AF</a:t>
            </a:r>
          </a:p>
        </p:txBody>
      </p:sp>
      <p:sp>
        <p:nvSpPr>
          <p:cNvPr id="27" name="Rectangle 26"/>
          <p:cNvSpPr/>
          <p:nvPr/>
        </p:nvSpPr>
        <p:spPr>
          <a:xfrm>
            <a:off x="4352544" y="473659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alibri"/>
              </a:defRPr>
            </a:pPr>
            <a:r>
              <a:t>1.35 (DAC actuarial prior)</a:t>
            </a:r>
          </a:p>
        </p:txBody>
      </p:sp>
      <p:sp>
        <p:nvSpPr>
          <p:cNvPr id="28" name="Rectangle 2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Headline ranking is stable across the EXP-011 ablation and the EXP-012 sensitivity grid.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ctr">
              <a:defRPr sz="2600" b="1" i="0">
                <a:solidFill>
                  <a:srgbClr val="1B5697"/>
                </a:solidFill>
                <a:latin typeface="Segoe UI"/>
              </a:defRPr>
            </a:pPr>
            <a:r>
              <a:t>A5  BANDIT MATH &amp; PSI MECHANICS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r">
              <a:defRPr sz="1100" b="1" i="0">
                <a:solidFill>
                  <a:srgbClr val="FFFFFF"/>
                </a:solidFill>
                <a:latin typeface="Segoe UI"/>
              </a:defRPr>
            </a:pPr>
            <a:r>
              <a:t>July 2026   ·   A5</a:t>
            </a:r>
          </a:p>
        </p:txBody>
      </p:sp>
      <p:sp>
        <p:nvSpPr>
          <p:cNvPr id="10" name="Rectangle 9"/>
          <p:cNvSpPr/>
          <p:nvPr/>
        </p:nvSpPr>
        <p:spPr>
          <a:xfrm>
            <a:off x="4572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B5697"/>
                </a:solidFill>
                <a:latin typeface="Calibri"/>
              </a:defRPr>
            </a:pPr>
            <a:r>
              <a:t>LinUCB (OFUL)</a:t>
            </a:r>
          </a:p>
        </p:txBody>
      </p:sp>
      <p:sp>
        <p:nvSpPr>
          <p:cNvPr id="11" name="Rectangle 10"/>
          <p:cNvSpPr/>
          <p:nvPr/>
        </p:nvSpPr>
        <p:spPr>
          <a:xfrm>
            <a:off x="5943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A_a ← A_a + x_t x_tᵀ</a:t>
            </a:r>
          </a:p>
        </p:txBody>
      </p:sp>
      <p:sp>
        <p:nvSpPr>
          <p:cNvPr id="12" name="Rectangle 11"/>
          <p:cNvSpPr/>
          <p:nvPr/>
        </p:nvSpPr>
        <p:spPr>
          <a:xfrm>
            <a:off x="5943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b_a ← b_a + r_t x_t</a:t>
            </a:r>
          </a:p>
        </p:txBody>
      </p:sp>
      <p:sp>
        <p:nvSpPr>
          <p:cNvPr id="13" name="Rectangle 12"/>
          <p:cNvSpPr/>
          <p:nvPr/>
        </p:nvSpPr>
        <p:spPr>
          <a:xfrm>
            <a:off x="5943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θ_a = A_a⁻¹ b_a</a:t>
            </a:r>
          </a:p>
        </p:txBody>
      </p:sp>
      <p:sp>
        <p:nvSpPr>
          <p:cNvPr id="14" name="Rectangle 13"/>
          <p:cNvSpPr/>
          <p:nvPr/>
        </p:nvSpPr>
        <p:spPr>
          <a:xfrm>
            <a:off x="5943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a* = argmax θ_aᵀx_t + α√(x_tᵀA_a⁻¹x_t)</a:t>
            </a:r>
          </a:p>
        </p:txBody>
      </p:sp>
      <p:sp>
        <p:nvSpPr>
          <p:cNvPr id="15" name="Rectangle 14"/>
          <p:cNvSpPr/>
          <p:nvPr/>
        </p:nvSpPr>
        <p:spPr>
          <a:xfrm>
            <a:off x="64008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B5697"/>
                </a:solidFill>
                <a:latin typeface="Calibri"/>
              </a:defRPr>
            </a:pPr>
            <a:r>
              <a:t>LinTS (Thompson)</a:t>
            </a:r>
          </a:p>
        </p:txBody>
      </p:sp>
      <p:sp>
        <p:nvSpPr>
          <p:cNvPr id="16" name="Rectangle 15"/>
          <p:cNvSpPr/>
          <p:nvPr/>
        </p:nvSpPr>
        <p:spPr>
          <a:xfrm>
            <a:off x="65379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Prior: θ_a ~ N(μ_a, λ⁻¹I)</a:t>
            </a:r>
          </a:p>
        </p:txBody>
      </p:sp>
      <p:sp>
        <p:nvSpPr>
          <p:cNvPr id="17" name="Rectangle 16"/>
          <p:cNvSpPr/>
          <p:nvPr/>
        </p:nvSpPr>
        <p:spPr>
          <a:xfrm>
            <a:off x="65379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Σ_a⁻¹ = λI + A_a ;  μ_a = Σ_a b_a</a:t>
            </a:r>
          </a:p>
        </p:txBody>
      </p:sp>
      <p:sp>
        <p:nvSpPr>
          <p:cNvPr id="18" name="Rectangle 17"/>
          <p:cNvSpPr/>
          <p:nvPr/>
        </p:nvSpPr>
        <p:spPr>
          <a:xfrm>
            <a:off x="65379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Sample: θ̃_a ~ N(μ_a, v²Σ_a)</a:t>
            </a:r>
          </a:p>
        </p:txBody>
      </p:sp>
      <p:sp>
        <p:nvSpPr>
          <p:cNvPr id="19" name="Rectangle 18"/>
          <p:cNvSpPr/>
          <p:nvPr/>
        </p:nvSpPr>
        <p:spPr>
          <a:xfrm>
            <a:off x="65379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0" i="0">
                <a:solidFill>
                  <a:srgbClr val="1A1A1A"/>
                </a:solidFill>
                <a:latin typeface="Consolas"/>
              </a:defRPr>
            </a:pPr>
            <a:r>
              <a:t>Select: a* = argmax θ̃_aᵀ x_t</a:t>
            </a:r>
          </a:p>
        </p:txBody>
      </p:sp>
      <p:sp>
        <p:nvSpPr>
          <p:cNvPr id="20" name="Rectangle 19"/>
          <p:cNvSpPr/>
          <p:nvPr/>
        </p:nvSpPr>
        <p:spPr>
          <a:xfrm>
            <a:off x="457200" y="388620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600" b="1" i="0">
                <a:solidFill>
                  <a:srgbClr val="1A1A1A"/>
                </a:solidFill>
                <a:latin typeface="Consolas"/>
              </a:defRPr>
            </a:pPr>
            <a:r>
              <a:t>PSI = Σ (Actual% − Expected%) × ln(Actual% / Expected%)</a:t>
            </a:r>
          </a:p>
        </p:txBody>
      </p:sp>
      <p:sp>
        <p:nvSpPr>
          <p:cNvPr id="21" name="Rectangle 20"/>
          <p:cNvSpPr/>
          <p:nvPr/>
        </p:nvSpPr>
        <p:spPr>
          <a:xfrm>
            <a:off x="457200" y="4480560"/>
            <a:ext cx="146304" cy="4114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448056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GREEN</a:t>
            </a:r>
          </a:p>
        </p:txBody>
      </p:sp>
      <p:sp>
        <p:nvSpPr>
          <p:cNvPr id="23" name="Rectangle 22"/>
          <p:cNvSpPr/>
          <p:nvPr/>
        </p:nvSpPr>
        <p:spPr>
          <a:xfrm>
            <a:off x="2194560" y="450799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PSI &lt; 0.10</a:t>
            </a:r>
          </a:p>
        </p:txBody>
      </p:sp>
      <p:sp>
        <p:nvSpPr>
          <p:cNvPr id="24" name="Rectangle 23"/>
          <p:cNvSpPr/>
          <p:nvPr/>
        </p:nvSpPr>
        <p:spPr>
          <a:xfrm>
            <a:off x="4754880" y="450799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stable — no action</a:t>
            </a:r>
          </a:p>
        </p:txBody>
      </p:sp>
      <p:sp>
        <p:nvSpPr>
          <p:cNvPr id="25" name="Rectangle 24"/>
          <p:cNvSpPr/>
          <p:nvPr/>
        </p:nvSpPr>
        <p:spPr>
          <a:xfrm>
            <a:off x="457200" y="4983480"/>
            <a:ext cx="146304" cy="41148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22960" y="498348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AMBER</a:t>
            </a:r>
          </a:p>
        </p:txBody>
      </p:sp>
      <p:sp>
        <p:nvSpPr>
          <p:cNvPr id="27" name="Rectangle 26"/>
          <p:cNvSpPr/>
          <p:nvPr/>
        </p:nvSpPr>
        <p:spPr>
          <a:xfrm>
            <a:off x="2194560" y="501091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0.10 ≤ PSI &lt; 0.25</a:t>
            </a:r>
          </a:p>
        </p:txBody>
      </p:sp>
      <p:sp>
        <p:nvSpPr>
          <p:cNvPr id="28" name="Rectangle 27"/>
          <p:cNvSpPr/>
          <p:nvPr/>
        </p:nvSpPr>
        <p:spPr>
          <a:xfrm>
            <a:off x="4754880" y="501091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monitor closely</a:t>
            </a:r>
          </a:p>
        </p:txBody>
      </p:sp>
      <p:sp>
        <p:nvSpPr>
          <p:cNvPr id="29" name="Rectangle 28"/>
          <p:cNvSpPr/>
          <p:nvPr/>
        </p:nvSpPr>
        <p:spPr>
          <a:xfrm>
            <a:off x="457200" y="5486400"/>
            <a:ext cx="146304" cy="41148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548640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400" b="1" i="0">
                <a:solidFill>
                  <a:srgbClr val="1A1A1A"/>
                </a:solidFill>
                <a:latin typeface="Calibri"/>
              </a:defRPr>
            </a:pPr>
            <a:r>
              <a:t>RED</a:t>
            </a:r>
          </a:p>
        </p:txBody>
      </p:sp>
      <p:sp>
        <p:nvSpPr>
          <p:cNvPr id="31" name="Rectangle 30"/>
          <p:cNvSpPr/>
          <p:nvPr/>
        </p:nvSpPr>
        <p:spPr>
          <a:xfrm>
            <a:off x="2194560" y="551383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1A1A1A"/>
                </a:solidFill>
                <a:latin typeface="Calibri"/>
              </a:defRPr>
            </a:pPr>
            <a:r>
              <a:t>PSI ≥ 0.25</a:t>
            </a:r>
          </a:p>
        </p:txBody>
      </p:sp>
      <p:sp>
        <p:nvSpPr>
          <p:cNvPr id="32" name="Rectangle 31"/>
          <p:cNvSpPr/>
          <p:nvPr/>
        </p:nvSpPr>
        <p:spPr>
          <a:xfrm>
            <a:off x="4754880" y="551383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300" b="0" i="0">
                <a:solidFill>
                  <a:srgbClr val="3A3A3A"/>
                </a:solidFill>
                <a:latin typeface="Calibri"/>
              </a:defRPr>
            </a:pPr>
            <a:r>
              <a:t>mandatory review</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defRPr sz="1050" b="0" i="1">
                <a:solidFill>
                  <a:srgbClr val="777777"/>
                </a:solidFill>
                <a:latin typeface="Calibri"/>
              </a:defRPr>
            </a:pPr>
            <a:r>
              <a:t>EXP-006: region PSI 0.0821 (GREEN) · occupation max 0.1225 (AMBER) — both within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4533</Words>
  <Application>Microsoft Office PowerPoint</Application>
  <PresentationFormat>Widescreen</PresentationFormat>
  <Paragraphs>537</Paragraphs>
  <Slides>33</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CHANPOLY LUN</cp:lastModifiedBy>
  <cp:revision>1</cp:revision>
  <dcterms:created xsi:type="dcterms:W3CDTF">2013-01-27T09:14:16Z</dcterms:created>
  <dcterms:modified xsi:type="dcterms:W3CDTF">2026-06-15T06:41:51Z</dcterms:modified>
  <cp:category/>
</cp:coreProperties>
</file>