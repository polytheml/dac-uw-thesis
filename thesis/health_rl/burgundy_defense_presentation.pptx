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Decent Actuarial Consultants is a Phnom Penh actuarial consultancy serving life, non-life and general insurance companies. The thesis is embedded in a DAC-supervised research internship, March through June 2026, advised at DAC by Mr. ON Radet; the deliverable is the end-to-end adaptive underwriting prototype plus this report. Timeline: March scoping and dataset design, April algorithms, May experiments, June writing and defense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Cambodia context: the National Social Security Fund covers only formal-sector workers, roughly 16 percent; private voluntary insurance is nascent and underwriting is mostly manual and rule-based. Actuaries apply fixed premium rules without learning from outcomes, suboptimal decisions compound over a growing applicant pool, and penetration is below 10 percent (2023 estimate). The opportunity: a contextual bandit learns online from each decision while a PSI guardrail watches demographic fairness. This positions the work against Cambodia's Sustainable Development Goals: SDG 3 good health and well-being through wider insurance access, SDG 1 no poverty by shielding households from catastrophic health costs, and SDG 10 reduced inequalities through the PSI fairness guardrail. The thesis now develops this in a dedicated section - chapter 2 section 2.4, Significance and Alignment with Cambodia's SDGs - which maps the project to SDG 3, 1 and 10. Frame it as the project's intended societal contribution argued through the penetration gap and fairness monitoring; be ready to note this is an alignment argument, not a measured SDG impact.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failures of the status quo. One: fixed age/BMI/income cutoffs ignore context, so a misclassified high-risk applicant generates uncorrected losses. Two: the claims signal is never fed back, so accuracy degrades silently as demographics shift. Three: no parity metric is tracked, so regional or occupational concentration can develop undetected. Four: there is no triage - actuaries spend time on high-volume routine cases instead of genuine edge cases.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goal once, slowly. The four objectives map one-to-one onto the chapters: O1 the algorithms (Chapter IV), O2 the dataset (Chapter IV), O3 the evaluation (Chapter V), O4 fairness plus HITL (Chapter V). These are verbatim from the thesis - the examiners will check the wording.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strands inform the method, mirroring Chapter III. First, underwriting in emerging markets - the Cambodia data anchors (CDHS, ILO, ADB) and the sub-10-percent penetration that motivates the work. Second, linear contextual bandits: Li et al. 2010 give the LinUCB regret bound and Agrawal and Goyal 2013 the LinTS guarantee - together they justify the two proposed policies, on the multi-armed-bandit foundations of Robbins, Sutton and Barto, and Lattimore and Szepesvari. Third, neural bandits and dynamic pricing - Zhou, Zhang and Ban relax the linear-reward assumption, scoped as future work. Fourth, fairness in insurance ML - Barocas and Ensign frame protected-attribute constraints and feedback loops. Fifth, population stability - Yurdakul and Naranjo's PSI, built on Lin's Jensen-Shannon divergence, gives the monitoring metric with the 0.10/0.25 thresholds. Every source here is cited in the thesis.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whole pipeline once, left to right, naming each of the six stages. Tell the panel we will now zoom into three of them in turn.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is 2,000 synthetic applicants whose raw attributes one-hot encode into a 34-dimensional standardised context vector (Table 7). Distributions are anchored on CDHS 2021-22 and STEPS 2023; income on ILO labour-force surveys; disease prevalence calibrated from WHO disease-burden reports. Adverse-selection factor 1.35 and price-elasticity slope 3.5 come from DAC actuarial priors. Four arms: RATED accepts with a 25 percent loading, STANDARD accepts at standard rate, DECLINE rejects, REFER escalates to a human. No real applicant data is used anywhere.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dataset at a glance. Left, the feature catalogue from thesis Table 7: raw applicant attributes fall into demographics and vitals, lifestyle behaviours, social determinants, economic and clinical groups; after one-hot encoding region and occupation and standardising, each applicant becomes a 34-dimensional context vector. Right, a four-row snapshot of the 2,000 synthetic records - the real column values before encoding. No real applicant data is used anywhere.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Formally: at each round the context is the standardised 34-dimensional applicant vector, the action is one of four arms, and the reward is revenue minus claims from the actuarial simulator, with adverse selection penalising premium-heavy arms on low-risk applicants. The objective is cumulative reward over T rounds subject to the PSI guardrail. The table sketches the reward structure: for a high-risk applicant DECLINE avoids a loss; for a low-risk one it forfeits revenue; REFER nets the human decision either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 the build-up: three slides, each adds one box to the policy and shows what that box outputs for a single applicant.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the build-up with the input: the standardised 34-dimensional context vector — show the example slice, noting region and occupation are one-hot encoded.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the value-estimation box: each arm gets a score; explain the LinUCB optimism bonus and the LinTS posterior sample.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proposed policies and three reference points. LinUCB plays optimism in the face of uncertainty over a linear reward model with the square-root-T regret bound; LinTS samples from the posterior and is near-optimal with naturally calibrated uncertainty. Epsilon-greedy is the naive explorer with provably worse T-to-the-two-thirds regret. Static XGB is the train-once incumbent. AlwaysRATED rates everyone at +25 percent loading - it scores highest but is neither commercially nor regulatorily viable, which is exactly the admissibility distinction in section 5.0.1 and the baseline-ladder appendix (A1).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safety layers. The PSI guardrail computes the Population Stability Index on region and occupation over a rolling 500-round window: GREEN below 0.10, AMBER to 0.25, RED above. It detects concentration; it does not constrain the policy - enforcement is future work, stated honestly. The HITL wrapper REFERs an applicant to the actuary whenever predicted uncertainty exceeds the conservatism threshold kappa, tested at 0.3, 0.5, 0.7; the human's decision is final and its observed reward still updates the bandit. Design target: keep review cost under two percent of gross reward.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algorithms under common random numbers. LinTS ranks first at $93,572, LinUCB second at $91,947 - statistically tied (p = 0.87). Epsilon-greedy trails, static XGB last. The log-log plot validates theory: fitted slope 0.572 with R squared 0.992, close to the 0.5 of the O(root-T d) bound - the bandit's regret really is sub-linear, it is learning, not memorising.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LinUCB earns 25.2 percent more cumulative reward than the static XGBoost baseline over 5,000 rounds - $90,540 versus $72,292, twenty seeds, paired Wilcoxon p &lt; 0.001, Cohen's d 2.98. The curves separate around round 1,500 once the bandit's ridge estimates converge. Critical scope: this claim is over ADMISSIBLE policies per section 5.0.1 - the inadmissible AlwaysRATED constant sits above (appendix A1). Oracle recovery is 72 percent.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results on one slide. Cold-start (EXP-010): below a thousand rounds a freshly trained XGBoost beats both bandits; the crossover comes between one and two thousand. At T=2,000 LinTS is significant at the Bonferroni threshold (p = 0.0039, d = 1.48); LinUCB's lead is positive but NOT significant (p = 0.0840, d = 0.55) - softened to 'draws level'. Deploy with warm-start for the first thousand applications. Human-in-the-loop (EXP-008): the wrapper lifts reward 14.8 percent over the vanilla bandit ($103,951 vs $90,540, p &lt; 0.001, d = 2.65) at only 1.3 percent referrals and 2.2 percent review cost. Both scopes are against admissible comparators, not the AlwaysRATED ceiling.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audit (EXP-006): Region PSI GREEN at 0.0821, parity 85.72 percent, PASSED (p = 0.1322). Occupation PSI AMBER at 0.1225 - within the 0.25 threshold - parity 90.12 percent, above the EEOC 80 floor. Criterion 6 is the single failure: occupation-action association is statistically significant but practically small, and occupation is an actuarially valid factor; marked FAILED-with-interpretation in the interest of honesty. Drift (EXP-009): at the round-1,500 shock both bandits re-converge toward pre-shock regret while static XGB lags; sustained-drift handling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Switch to the browser and walk one applicant through scoring, the arm the bandit picks, the PSI monitor, and the HITL queue. If the live run fails, narrate over these three screenshots.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 sheet. Wins: LinTS/LinUCB lead every admissible policy (+25.2%, d 2.98); HITL adds 14.8 percent at 1.3 percent referrals; five of six fairness criteria pass. Honest limits: the inadmissible AlwaysRATED constant scores higher (appendix A1); data is synthetic, proof-of-concept only; PSI monitors but does not enforce; cold-start needs warm-start below ~1,000 rounds. Future work: discounted/sliding-window UCB for sustained drift, constrained bandits for hard fairness limits, a real-insurer pilot with observed claims, multi-product portfolios. Net: adaptive, auditable, and honest about scope.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sources actually cited across this deck, every one traceable to the thesis bibliography. Left: bandit theory and method - Li and Agrawal &amp; Goyal for the linear policies, Zhou, Zhang and Ban for the neural extensions, Sutton &amp; Barto and Lattimore &amp; Szepesvari for foundations, Barocas for fairness. Right: Ensign on feedback loops, Yurdakul &amp; Naranjo and Lin for the PSI guardrail, then the Cambodia data anchors - the CDHS, the ILO bulletin, ADB, World Bank and Swiss Re. The full APA list lives in thesis Chapter III.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anticipated question, so we lead with it. The full baseline ladder shows AlwaysRATED - rate every applicant at a flat 25 percent loading - at $122,287, above LinTS $93,723 and LinUCB $91,864. Our pre-registered expectation that the bandit beats every simple baseline was FALSIFIED, and we report it. Why the thesis still stands: AlwaysRATED is inadmissible - loading every customer 25 percent collapses commercially and would not survive regulatory scrutiny - per the admissibility definition in section 5.0.1. Within the admissible set the bandits rank first and second.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25.2, 27.2 and 29.8 percent all appear: the headline uses the paired EXP-005 design; the ladder harness uses common random numbers which yields larger separations; HITL's 14.8 percent is against the vanilla bandit, a different baseline. Same code, different pre-registered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Criteria matrix armor: name each criterion and its verdict; criterion 6 is the single honest failure, framed as actuarial validity.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Sensitivity armor: the result is not knife-edge — alpha, elasticity, and kappa were all swept and the admissible ranking held.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Combined math armor. LinUCB maintains a per-arm gram matrix and reward vector, solves ridge regression, and adds the alpha-scaled confidence width (optimism under uncertainty); LinTS samples theta from the posterior and picks the argmax. PSI is the symmetrised relative-entropy sum over demographic buckets comparing a rolling 500-round window to the training reference, thresholds 0.10 and 0.25; region peaks at 0.0821, occupation at 0.1225.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TC.jpg"/>
          <p:cNvPicPr>
            <a:picLocks noChangeAspect="1"/>
          </p:cNvPicPr>
          <p:nvPr/>
        </p:nvPicPr>
        <p:blipFill>
          <a:blip r:embed="rId2"/>
          <a:stretch>
            <a:fillRect/>
          </a:stretch>
        </p:blipFill>
        <p:spPr>
          <a:xfrm>
            <a:off x="548640" y="274320"/>
            <a:ext cx="914400" cy="901541"/>
          </a:xfrm>
          <a:prstGeom prst="rect">
            <a:avLst/>
          </a:prstGeom>
          <a:effectLst/>
        </p:spPr>
      </p:pic>
      <p:pic>
        <p:nvPicPr>
          <p:cNvPr id="3" name="Picture 2" descr="AMS.png"/>
          <p:cNvPicPr>
            <a:picLocks noChangeAspect="1"/>
          </p:cNvPicPr>
          <p:nvPr/>
        </p:nvPicPr>
        <p:blipFill>
          <a:blip r:embed="rId3"/>
          <a:stretch>
            <a:fillRect/>
          </a:stretch>
        </p:blipFill>
        <p:spPr>
          <a:xfrm>
            <a:off x="1600200" y="365760"/>
            <a:ext cx="1325880" cy="1256418"/>
          </a:xfrm>
          <a:prstGeom prst="rect">
            <a:avLst/>
          </a:prstGeom>
          <a:effectLst/>
        </p:spPr>
      </p:pic>
      <p:pic>
        <p:nvPicPr>
          <p:cNvPr id="4" name="Picture 3" descr="DAC.jpg"/>
          <p:cNvPicPr>
            <a:picLocks noChangeAspect="1"/>
          </p:cNvPicPr>
          <p:nvPr/>
        </p:nvPicPr>
        <p:blipFill>
          <a:blip r:embed="rId4"/>
          <a:stretch>
            <a:fillRect/>
          </a:stretch>
        </p:blipFill>
        <p:spPr>
          <a:xfrm>
            <a:off x="10332720" y="320040"/>
            <a:ext cx="1325880" cy="745808"/>
          </a:xfrm>
          <a:prstGeom prst="rect">
            <a:avLst/>
          </a:prstGeom>
          <a:effectLst/>
        </p:spPr>
      </p:pic>
      <p:sp>
        <p:nvSpPr>
          <p:cNvPr id="5" name="Rectangle 4"/>
          <p:cNvSpPr/>
          <p:nvPr/>
        </p:nvSpPr>
        <p:spPr>
          <a:xfrm>
            <a:off x="3108960" y="384048"/>
            <a:ext cx="658368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200" b="1" i="0">
                <a:solidFill>
                  <a:srgbClr val="1A1A1A"/>
                </a:solidFill>
                <a:latin typeface="Calibri"/>
              </a:defRPr>
            </a:pPr>
            <a:r>
              <a:t>Institute of Technology of Cambodia</a:t>
            </a:r>
          </a:p>
        </p:txBody>
      </p:sp>
      <p:sp>
        <p:nvSpPr>
          <p:cNvPr id="6" name="Rectangle 5"/>
          <p:cNvSpPr/>
          <p:nvPr/>
        </p:nvSpPr>
        <p:spPr>
          <a:xfrm>
            <a:off x="3108960" y="841248"/>
            <a:ext cx="658368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500" b="0" i="0">
                <a:solidFill>
                  <a:srgbClr val="777777"/>
                </a:solidFill>
                <a:latin typeface="Calibri"/>
              </a:defRPr>
            </a:pPr>
            <a:r>
              <a:t>Department of Applied Mathematics and Statistics</a:t>
            </a:r>
          </a:p>
        </p:txBody>
      </p:sp>
      <p:sp>
        <p:nvSpPr>
          <p:cNvPr id="7" name="Rectangle 6"/>
          <p:cNvSpPr/>
          <p:nvPr/>
        </p:nvSpPr>
        <p:spPr>
          <a:xfrm>
            <a:off x="5413248" y="1874519"/>
            <a:ext cx="1371600" cy="41148"/>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148840"/>
            <a:ext cx="1051560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2700" b="1" i="0">
                <a:solidFill>
                  <a:srgbClr val="1A1A1A"/>
                </a:solidFill>
                <a:latin typeface="Segoe UI"/>
              </a:defRPr>
            </a:pPr>
            <a:r>
              <a:t>ADAPTIVE HEALTH INSURANCE UNDERWRITING VIA CONTEXTUAL BANDITS: A REINFORCEMENT LEARNING APPROACH FOR CAMBODIA</a:t>
            </a:r>
          </a:p>
        </p:txBody>
      </p:sp>
      <p:sp>
        <p:nvSpPr>
          <p:cNvPr id="9" name="Rectangle 8"/>
          <p:cNvSpPr/>
          <p:nvPr/>
        </p:nvSpPr>
        <p:spPr>
          <a:xfrm>
            <a:off x="5413248" y="3886200"/>
            <a:ext cx="1371600" cy="41148"/>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4224528"/>
            <a:ext cx="12191695"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0" i="0">
                <a:solidFill>
                  <a:srgbClr val="777777"/>
                </a:solidFill>
                <a:latin typeface="Calibri"/>
              </a:defRPr>
            </a:pPr>
            <a:r>
              <a:t>Thesis Defense — Presented by</a:t>
            </a:r>
          </a:p>
        </p:txBody>
      </p:sp>
      <p:sp>
        <p:nvSpPr>
          <p:cNvPr id="11" name="Rectangle 10"/>
          <p:cNvSpPr/>
          <p:nvPr/>
        </p:nvSpPr>
        <p:spPr>
          <a:xfrm>
            <a:off x="0" y="4535424"/>
            <a:ext cx="12191695"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700" b="1" i="0">
                <a:solidFill>
                  <a:srgbClr val="1B5697"/>
                </a:solidFill>
                <a:latin typeface="Calibri"/>
              </a:defRPr>
            </a:pPr>
            <a:r>
              <a:t>LUN CHANPOLY</a:t>
            </a:r>
          </a:p>
        </p:txBody>
      </p:sp>
      <p:sp>
        <p:nvSpPr>
          <p:cNvPr id="12" name="Rectangle 11"/>
          <p:cNvSpPr/>
          <p:nvPr/>
        </p:nvSpPr>
        <p:spPr>
          <a:xfrm>
            <a:off x="1371600" y="5193792"/>
            <a:ext cx="51206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Supervisor  :  Dr. HAS Sothea</a:t>
            </a:r>
          </a:p>
        </p:txBody>
      </p:sp>
      <p:sp>
        <p:nvSpPr>
          <p:cNvPr id="13" name="Rectangle 12"/>
          <p:cNvSpPr/>
          <p:nvPr/>
        </p:nvSpPr>
        <p:spPr>
          <a:xfrm>
            <a:off x="6858000" y="5193792"/>
            <a:ext cx="51206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Organization :  DAC (Decent Actuarial Consultants)</a:t>
            </a:r>
          </a:p>
        </p:txBody>
      </p:sp>
      <p:sp>
        <p:nvSpPr>
          <p:cNvPr id="14" name="Rectangle 13"/>
          <p:cNvSpPr/>
          <p:nvPr/>
        </p:nvSpPr>
        <p:spPr>
          <a:xfrm>
            <a:off x="1371600" y="5522976"/>
            <a:ext cx="5120640"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Duration      :  Mar 2026 – Jun 2026</a:t>
            </a:r>
          </a:p>
        </p:txBody>
      </p:sp>
      <p:sp>
        <p:nvSpPr>
          <p:cNvPr id="15" name="Rectangle 14"/>
          <p:cNvSpPr/>
          <p:nvPr/>
        </p:nvSpPr>
        <p:spPr>
          <a:xfrm>
            <a:off x="0" y="6035040"/>
            <a:ext cx="12191695"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500" b="1" i="0">
                <a:solidFill>
                  <a:srgbClr val="777777"/>
                </a:solidFill>
                <a:latin typeface="Calibri"/>
              </a:defRPr>
            </a:pPr>
            <a:r>
              <a:t>July 2026</a:t>
            </a:r>
          </a:p>
        </p:txBody>
      </p:sp>
      <p:sp>
        <p:nvSpPr>
          <p:cNvPr id="16" name="Rectangle 1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18" name="Rectangle 1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Adaptive Underwriting via Contextual Bandits</a:t>
            </a:r>
          </a:p>
        </p:txBody>
      </p:sp>
      <p:sp>
        <p:nvSpPr>
          <p:cNvPr id="20" name="Rectangle 1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 / 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TABLE OF CONTENTS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11680" y="1371600"/>
            <a:ext cx="12801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400" b="1" i="0">
                <a:solidFill>
                  <a:srgbClr val="1B5697"/>
                </a:solidFill>
                <a:latin typeface="Segoe UI"/>
              </a:defRPr>
            </a:pPr>
            <a:r>
              <a:t>I</a:t>
            </a:r>
          </a:p>
        </p:txBody>
      </p:sp>
      <p:sp>
        <p:nvSpPr>
          <p:cNvPr id="5" name="Rectangle 4"/>
          <p:cNvSpPr/>
          <p:nvPr/>
        </p:nvSpPr>
        <p:spPr>
          <a:xfrm>
            <a:off x="3383280" y="1444752"/>
            <a:ext cx="67665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200" b="1" i="0">
                <a:solidFill>
                  <a:srgbClr val="1A1A1A"/>
                </a:solidFill>
                <a:latin typeface="Segoe UI"/>
              </a:defRPr>
            </a:pPr>
            <a:r>
              <a:t>Introduction &amp; Problem Background</a:t>
            </a:r>
          </a:p>
        </p:txBody>
      </p:sp>
      <p:sp>
        <p:nvSpPr>
          <p:cNvPr id="6" name="Rectangle 5"/>
          <p:cNvSpPr/>
          <p:nvPr/>
        </p:nvSpPr>
        <p:spPr>
          <a:xfrm>
            <a:off x="3383280" y="2029968"/>
            <a:ext cx="6400800"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011680" y="2286000"/>
            <a:ext cx="12801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400" b="1" i="0">
                <a:solidFill>
                  <a:srgbClr val="1B5697"/>
                </a:solidFill>
                <a:latin typeface="Segoe UI"/>
              </a:defRPr>
            </a:pPr>
            <a:r>
              <a:t>II</a:t>
            </a:r>
          </a:p>
        </p:txBody>
      </p:sp>
      <p:sp>
        <p:nvSpPr>
          <p:cNvPr id="8" name="Rectangle 7"/>
          <p:cNvSpPr/>
          <p:nvPr/>
        </p:nvSpPr>
        <p:spPr>
          <a:xfrm>
            <a:off x="3383280" y="2359152"/>
            <a:ext cx="67665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200" b="1" i="0">
                <a:solidFill>
                  <a:srgbClr val="1A1A1A"/>
                </a:solidFill>
                <a:latin typeface="Segoe UI"/>
              </a:defRPr>
            </a:pPr>
            <a:r>
              <a:t>Literature Review</a:t>
            </a:r>
          </a:p>
        </p:txBody>
      </p:sp>
      <p:sp>
        <p:nvSpPr>
          <p:cNvPr id="9" name="Rectangle 8"/>
          <p:cNvSpPr/>
          <p:nvPr/>
        </p:nvSpPr>
        <p:spPr>
          <a:xfrm>
            <a:off x="3383280" y="2944368"/>
            <a:ext cx="6400800"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11680" y="3200400"/>
            <a:ext cx="12801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400" b="1" i="0">
                <a:solidFill>
                  <a:srgbClr val="1B5697"/>
                </a:solidFill>
                <a:latin typeface="Segoe UI"/>
              </a:defRPr>
            </a:pPr>
            <a:r>
              <a:t>III</a:t>
            </a:r>
          </a:p>
        </p:txBody>
      </p:sp>
      <p:sp>
        <p:nvSpPr>
          <p:cNvPr id="11" name="Rectangle 10"/>
          <p:cNvSpPr/>
          <p:nvPr/>
        </p:nvSpPr>
        <p:spPr>
          <a:xfrm>
            <a:off x="3383280" y="3273552"/>
            <a:ext cx="67665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200" b="1" i="0">
                <a:solidFill>
                  <a:srgbClr val="1A1A1A"/>
                </a:solidFill>
                <a:latin typeface="Segoe UI"/>
              </a:defRPr>
            </a:pPr>
            <a:r>
              <a:t>Methodology &amp; Model Design</a:t>
            </a:r>
          </a:p>
        </p:txBody>
      </p:sp>
      <p:sp>
        <p:nvSpPr>
          <p:cNvPr id="12" name="Rectangle 11"/>
          <p:cNvSpPr/>
          <p:nvPr/>
        </p:nvSpPr>
        <p:spPr>
          <a:xfrm>
            <a:off x="3383280" y="3858768"/>
            <a:ext cx="6400800"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0" y="4114800"/>
            <a:ext cx="12801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400" b="1" i="0">
                <a:solidFill>
                  <a:srgbClr val="1B5697"/>
                </a:solidFill>
                <a:latin typeface="Segoe UI"/>
              </a:defRPr>
            </a:pPr>
            <a:r>
              <a:t>IV</a:t>
            </a:r>
          </a:p>
        </p:txBody>
      </p:sp>
      <p:sp>
        <p:nvSpPr>
          <p:cNvPr id="14" name="Rectangle 13"/>
          <p:cNvSpPr/>
          <p:nvPr/>
        </p:nvSpPr>
        <p:spPr>
          <a:xfrm>
            <a:off x="3383280" y="4187952"/>
            <a:ext cx="67665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200" b="1" i="0">
                <a:solidFill>
                  <a:srgbClr val="1A1A1A"/>
                </a:solidFill>
                <a:latin typeface="Segoe UI"/>
              </a:defRPr>
            </a:pPr>
            <a:r>
              <a:t>Results &amp; Evaluation</a:t>
            </a:r>
          </a:p>
        </p:txBody>
      </p:sp>
      <p:sp>
        <p:nvSpPr>
          <p:cNvPr id="15" name="Rectangle 14"/>
          <p:cNvSpPr/>
          <p:nvPr/>
        </p:nvSpPr>
        <p:spPr>
          <a:xfrm>
            <a:off x="3383280" y="4773168"/>
            <a:ext cx="6400800"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011680" y="5029200"/>
            <a:ext cx="128016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400" b="1" i="0">
                <a:solidFill>
                  <a:srgbClr val="1B5697"/>
                </a:solidFill>
                <a:latin typeface="Segoe UI"/>
              </a:defRPr>
            </a:pPr>
            <a:r>
              <a:t>V</a:t>
            </a:r>
          </a:p>
        </p:txBody>
      </p:sp>
      <p:sp>
        <p:nvSpPr>
          <p:cNvPr id="17" name="Rectangle 16"/>
          <p:cNvSpPr/>
          <p:nvPr/>
        </p:nvSpPr>
        <p:spPr>
          <a:xfrm>
            <a:off x="3383280" y="5102352"/>
            <a:ext cx="67665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200" b="1" i="0">
                <a:solidFill>
                  <a:srgbClr val="1A1A1A"/>
                </a:solidFill>
                <a:latin typeface="Segoe UI"/>
              </a:defRPr>
            </a:pPr>
            <a:r>
              <a:t>Conclusion &amp; Future Work</a:t>
            </a:r>
          </a:p>
        </p:txBody>
      </p:sp>
      <p:sp>
        <p:nvSpPr>
          <p:cNvPr id="18" name="Rectangle 17"/>
          <p:cNvSpPr/>
          <p:nvPr/>
        </p:nvSpPr>
        <p:spPr>
          <a:xfrm>
            <a:off x="3383280" y="5687568"/>
            <a:ext cx="6400800"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21" name="Rectangle 20"/>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Adaptive Underwriting via Contextual Bandits</a:t>
            </a:r>
          </a:p>
        </p:txBody>
      </p:sp>
      <p:sp>
        <p:nvSpPr>
          <p:cNvPr id="23" name="Rectangle 22"/>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100584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2000" b="1" i="0">
                <a:solidFill>
                  <a:srgbClr val="FFFFFF"/>
                </a:solidFill>
                <a:latin typeface="Segoe UI"/>
              </a:defRPr>
            </a:pPr>
            <a:r>
              <a:t>I.</a:t>
            </a:r>
          </a:p>
        </p:txBody>
      </p:sp>
      <p:sp>
        <p:nvSpPr>
          <p:cNvPr id="4" name="Rectangle 3"/>
          <p:cNvSpPr/>
          <p:nvPr/>
        </p:nvSpPr>
        <p:spPr>
          <a:xfrm>
            <a:off x="914400" y="3794760"/>
            <a:ext cx="292608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977639"/>
            <a:ext cx="104241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200" b="1" i="0">
                <a:solidFill>
                  <a:srgbClr val="FFFFFF"/>
                </a:solidFill>
                <a:latin typeface="Segoe UI"/>
              </a:defRPr>
            </a:pPr>
            <a:r>
              <a:t>Introduction &amp; Problem Background</a:t>
            </a:r>
          </a:p>
        </p:txBody>
      </p:sp>
      <p:sp>
        <p:nvSpPr>
          <p:cNvPr id="6" name="Rectangle 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8" name="Rectangle 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Introduction &amp; Problem Background</a:t>
            </a:r>
          </a:p>
        </p:txBody>
      </p:sp>
      <p:sp>
        <p:nvSpPr>
          <p:cNvPr id="10" name="Rectangle 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ABOUT DECENT ACTUARIAL CONSULTANTS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Introduction &amp; Problem Background</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 / 29</a:t>
            </a:r>
          </a:p>
        </p:txBody>
      </p:sp>
      <p:sp>
        <p:nvSpPr>
          <p:cNvPr id="10" name="Rectangle 9"/>
          <p:cNvSpPr/>
          <p:nvPr/>
        </p:nvSpPr>
        <p:spPr>
          <a:xfrm>
            <a:off x="457200" y="148132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371600"/>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DAC is a Phnom Penh actuarial consultancy</a:t>
            </a:r>
          </a:p>
        </p:txBody>
      </p:sp>
      <p:sp>
        <p:nvSpPr>
          <p:cNvPr id="12" name="Rectangle 11"/>
          <p:cNvSpPr/>
          <p:nvPr/>
        </p:nvSpPr>
        <p:spPr>
          <a:xfrm>
            <a:off x="457200" y="204825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1938528"/>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Clients: life, non-life &amp; general insurance companies</a:t>
            </a:r>
          </a:p>
        </p:txBody>
      </p:sp>
      <p:sp>
        <p:nvSpPr>
          <p:cNvPr id="14" name="Rectangle 13"/>
          <p:cNvSpPr/>
          <p:nvPr/>
        </p:nvSpPr>
        <p:spPr>
          <a:xfrm>
            <a:off x="457200" y="2615184"/>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2505456"/>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DAC-supervised research internship (Mar–Jun 2026); advisor Mr. ON Radet</a:t>
            </a:r>
          </a:p>
        </p:txBody>
      </p:sp>
      <p:sp>
        <p:nvSpPr>
          <p:cNvPr id="16" name="Rectangle 15"/>
          <p:cNvSpPr/>
          <p:nvPr/>
        </p:nvSpPr>
        <p:spPr>
          <a:xfrm>
            <a:off x="457200" y="3182112"/>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072384"/>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Deliverable: an adaptive underwriting prototype + this report</a:t>
            </a:r>
          </a:p>
        </p:txBody>
      </p:sp>
      <p:pic>
        <p:nvPicPr>
          <p:cNvPr id="18" name="Picture 17" descr="DAC.jpg"/>
          <p:cNvPicPr>
            <a:picLocks noChangeAspect="1"/>
          </p:cNvPicPr>
          <p:nvPr/>
        </p:nvPicPr>
        <p:blipFill>
          <a:blip r:embed="rId2"/>
          <a:stretch>
            <a:fillRect/>
          </a:stretch>
        </p:blipFill>
        <p:spPr>
          <a:xfrm>
            <a:off x="6492240" y="1825942"/>
            <a:ext cx="5212080" cy="2931795"/>
          </a:xfrm>
          <a:prstGeom prst="rect">
            <a:avLst/>
          </a:prstGeom>
          <a:effectLst/>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INTRODUCTION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Introduction &amp; Problem Background</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3 / 29</a:t>
            </a:r>
          </a:p>
        </p:txBody>
      </p:sp>
      <p:sp>
        <p:nvSpPr>
          <p:cNvPr id="10" name="Rectangle 9"/>
          <p:cNvSpPr/>
          <p:nvPr/>
        </p:nvSpPr>
        <p:spPr>
          <a:xfrm>
            <a:off x="457200" y="1188720"/>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5600" b="1" i="0">
                <a:solidFill>
                  <a:srgbClr val="1B5697"/>
                </a:solidFill>
                <a:latin typeface="Segoe UI"/>
              </a:defRPr>
            </a:pPr>
            <a:r>
              <a:t>&lt; 10 %</a:t>
            </a:r>
          </a:p>
        </p:txBody>
      </p:sp>
      <p:sp>
        <p:nvSpPr>
          <p:cNvPr id="11" name="Rectangle 10"/>
          <p:cNvSpPr/>
          <p:nvPr/>
        </p:nvSpPr>
        <p:spPr>
          <a:xfrm>
            <a:off x="457200" y="2057400"/>
            <a:ext cx="5486400"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HEALTH-INSURANCE PENETRATION IN CAMBODIA (2023 EST.)</a:t>
            </a:r>
          </a:p>
        </p:txBody>
      </p:sp>
      <p:sp>
        <p:nvSpPr>
          <p:cNvPr id="12" name="Rectangle 11"/>
          <p:cNvSpPr/>
          <p:nvPr/>
        </p:nvSpPr>
        <p:spPr>
          <a:xfrm>
            <a:off x="457200" y="276148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2651760"/>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NSSF covers formal-sector workers only (~16%)</a:t>
            </a:r>
          </a:p>
        </p:txBody>
      </p:sp>
      <p:sp>
        <p:nvSpPr>
          <p:cNvPr id="14" name="Rectangle 13"/>
          <p:cNvSpPr/>
          <p:nvPr/>
        </p:nvSpPr>
        <p:spPr>
          <a:xfrm>
            <a:off x="457200" y="332841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3218688"/>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Private underwriting is manual and rule-based</a:t>
            </a:r>
          </a:p>
        </p:txBody>
      </p:sp>
      <p:sp>
        <p:nvSpPr>
          <p:cNvPr id="16" name="Rectangle 15"/>
          <p:cNvSpPr/>
          <p:nvPr/>
        </p:nvSpPr>
        <p:spPr>
          <a:xfrm>
            <a:off x="457200" y="3895344"/>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3785616"/>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Static rules never learn from outcomes</a:t>
            </a:r>
          </a:p>
        </p:txBody>
      </p:sp>
      <p:sp>
        <p:nvSpPr>
          <p:cNvPr id="18" name="Rectangle 17"/>
          <p:cNvSpPr/>
          <p:nvPr/>
        </p:nvSpPr>
        <p:spPr>
          <a:xfrm>
            <a:off x="457200" y="4462272"/>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13232" y="4352544"/>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No demographic-parity monitoring in practice</a:t>
            </a:r>
          </a:p>
        </p:txBody>
      </p:sp>
      <p:sp>
        <p:nvSpPr>
          <p:cNvPr id="20" name="Rectangle 19"/>
          <p:cNvSpPr/>
          <p:nvPr/>
        </p:nvSpPr>
        <p:spPr>
          <a:xfrm>
            <a:off x="6492240" y="1188720"/>
            <a:ext cx="5212080" cy="4206240"/>
          </a:xfrm>
          <a:prstGeom prst="rect">
            <a:avLst/>
          </a:prstGeom>
          <a:solidFill>
            <a:srgbClr val="F3F6FB"/>
          </a:solidFill>
          <a:ln w="19050">
            <a:solidFill>
              <a:srgbClr val="AFC4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66560" y="1389888"/>
            <a:ext cx="4663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Segoe UI"/>
              </a:defRPr>
            </a:pPr>
            <a:r>
              <a:rPr spc="60"/>
              <a:t>ALIGNMENT WITH CAMBODIA'S SDGs</a:t>
            </a:r>
          </a:p>
        </p:txBody>
      </p:sp>
      <p:sp>
        <p:nvSpPr>
          <p:cNvPr id="22" name="Rectangle 21"/>
          <p:cNvSpPr/>
          <p:nvPr/>
        </p:nvSpPr>
        <p:spPr>
          <a:xfrm>
            <a:off x="6766560" y="2011680"/>
            <a:ext cx="1234440" cy="502920"/>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66560" y="2011680"/>
            <a:ext cx="12344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500" b="1" i="0">
                <a:solidFill>
                  <a:srgbClr val="FFFFFF"/>
                </a:solidFill>
                <a:latin typeface="Segoe UI"/>
              </a:defRPr>
            </a:pPr>
            <a:r>
              <a:t>SDG 3</a:t>
            </a:r>
          </a:p>
        </p:txBody>
      </p:sp>
      <p:sp>
        <p:nvSpPr>
          <p:cNvPr id="24" name="Rectangle 23"/>
          <p:cNvSpPr/>
          <p:nvPr/>
        </p:nvSpPr>
        <p:spPr>
          <a:xfrm>
            <a:off x="8183880" y="1975104"/>
            <a:ext cx="32918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Segoe UI"/>
              </a:defRPr>
            </a:pPr>
            <a:r>
              <a:t>Good Health &amp; Well-being</a:t>
            </a:r>
          </a:p>
        </p:txBody>
      </p:sp>
      <p:sp>
        <p:nvSpPr>
          <p:cNvPr id="25" name="Rectangle 24"/>
          <p:cNvSpPr/>
          <p:nvPr/>
        </p:nvSpPr>
        <p:spPr>
          <a:xfrm>
            <a:off x="8183880" y="2340864"/>
            <a:ext cx="3246120" cy="7132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3A3A3A"/>
                </a:solidFill>
                <a:latin typeface="Calibri"/>
              </a:defRPr>
            </a:pPr>
            <a:r>
              <a:t>Widen voluntary health-insurance access beyond the ~16% NSSF formal sector</a:t>
            </a:r>
          </a:p>
        </p:txBody>
      </p:sp>
      <p:sp>
        <p:nvSpPr>
          <p:cNvPr id="26" name="Rectangle 25"/>
          <p:cNvSpPr/>
          <p:nvPr/>
        </p:nvSpPr>
        <p:spPr>
          <a:xfrm>
            <a:off x="6766560" y="3108960"/>
            <a:ext cx="1234440" cy="502920"/>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766560" y="3108960"/>
            <a:ext cx="12344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500" b="1" i="0">
                <a:solidFill>
                  <a:srgbClr val="FFFFFF"/>
                </a:solidFill>
                <a:latin typeface="Segoe UI"/>
              </a:defRPr>
            </a:pPr>
            <a:r>
              <a:t>SDG 1</a:t>
            </a:r>
          </a:p>
        </p:txBody>
      </p:sp>
      <p:sp>
        <p:nvSpPr>
          <p:cNvPr id="28" name="Rectangle 27"/>
          <p:cNvSpPr/>
          <p:nvPr/>
        </p:nvSpPr>
        <p:spPr>
          <a:xfrm>
            <a:off x="8183880" y="3072384"/>
            <a:ext cx="32918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Segoe UI"/>
              </a:defRPr>
            </a:pPr>
            <a:r>
              <a:t>No Poverty</a:t>
            </a:r>
          </a:p>
        </p:txBody>
      </p:sp>
      <p:sp>
        <p:nvSpPr>
          <p:cNvPr id="29" name="Rectangle 28"/>
          <p:cNvSpPr/>
          <p:nvPr/>
        </p:nvSpPr>
        <p:spPr>
          <a:xfrm>
            <a:off x="8183880" y="3438144"/>
            <a:ext cx="3246120" cy="7132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3A3A3A"/>
                </a:solidFill>
                <a:latin typeface="Calibri"/>
              </a:defRPr>
            </a:pPr>
            <a:r>
              <a:t>Shield households from catastrophic out-of-pocket health costs</a:t>
            </a:r>
          </a:p>
        </p:txBody>
      </p:sp>
      <p:sp>
        <p:nvSpPr>
          <p:cNvPr id="30" name="Rectangle 29"/>
          <p:cNvSpPr/>
          <p:nvPr/>
        </p:nvSpPr>
        <p:spPr>
          <a:xfrm>
            <a:off x="6766560" y="4206240"/>
            <a:ext cx="1234440" cy="502920"/>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766560" y="4206240"/>
            <a:ext cx="1234440"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500" b="1" i="0">
                <a:solidFill>
                  <a:srgbClr val="FFFFFF"/>
                </a:solidFill>
                <a:latin typeface="Segoe UI"/>
              </a:defRPr>
            </a:pPr>
            <a:r>
              <a:t>SDG 10</a:t>
            </a:r>
          </a:p>
        </p:txBody>
      </p:sp>
      <p:sp>
        <p:nvSpPr>
          <p:cNvPr id="32" name="Rectangle 31"/>
          <p:cNvSpPr/>
          <p:nvPr/>
        </p:nvSpPr>
        <p:spPr>
          <a:xfrm>
            <a:off x="8183880" y="4169664"/>
            <a:ext cx="32918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Segoe UI"/>
              </a:defRPr>
            </a:pPr>
            <a:r>
              <a:t>Reduced Inequalities</a:t>
            </a:r>
          </a:p>
        </p:txBody>
      </p:sp>
      <p:sp>
        <p:nvSpPr>
          <p:cNvPr id="33" name="Rectangle 32"/>
          <p:cNvSpPr/>
          <p:nvPr/>
        </p:nvSpPr>
        <p:spPr>
          <a:xfrm>
            <a:off x="8183880" y="4535424"/>
            <a:ext cx="3246120" cy="7132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3A3A3A"/>
                </a:solidFill>
                <a:latin typeface="Calibri"/>
              </a:defRPr>
            </a:pPr>
            <a:r>
              <a:t>PSI guardrail keeps underwriting demographically fair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PROBLEM STATEMENT</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Introduction &amp; Problem Background</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4 / 29</a:t>
            </a:r>
          </a:p>
        </p:txBody>
      </p:sp>
      <p:sp>
        <p:nvSpPr>
          <p:cNvPr id="10" name="Rectangle 9"/>
          <p:cNvSpPr/>
          <p:nvPr/>
        </p:nvSpPr>
        <p:spPr>
          <a:xfrm>
            <a:off x="457200" y="1371600"/>
            <a:ext cx="5486400"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371600"/>
            <a:ext cx="64008" cy="210312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1645920"/>
            <a:ext cx="49377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A1A1A"/>
                </a:solidFill>
                <a:latin typeface="Segoe UI"/>
              </a:defRPr>
            </a:pPr>
            <a:r>
              <a:t>Static thresholds</a:t>
            </a:r>
          </a:p>
        </p:txBody>
      </p:sp>
      <p:sp>
        <p:nvSpPr>
          <p:cNvPr id="13" name="Rectangle 12"/>
          <p:cNvSpPr/>
          <p:nvPr/>
        </p:nvSpPr>
        <p:spPr>
          <a:xfrm>
            <a:off x="731520" y="2240280"/>
            <a:ext cx="493776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3A3A3A"/>
                </a:solidFill>
                <a:latin typeface="Calibri"/>
              </a:defRPr>
            </a:pPr>
            <a:r>
              <a:t>Fixed cutoffs ignore applicant context</a:t>
            </a:r>
          </a:p>
        </p:txBody>
      </p:sp>
      <p:sp>
        <p:nvSpPr>
          <p:cNvPr id="14" name="Rectangle 13"/>
          <p:cNvSpPr/>
          <p:nvPr/>
        </p:nvSpPr>
        <p:spPr>
          <a:xfrm>
            <a:off x="6309360" y="1371600"/>
            <a:ext cx="5486400"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371600"/>
            <a:ext cx="64008" cy="210312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0" y="1645920"/>
            <a:ext cx="49377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A1A1A"/>
                </a:solidFill>
                <a:latin typeface="Segoe UI"/>
              </a:defRPr>
            </a:pPr>
            <a:r>
              <a:t>No online adaptation</a:t>
            </a:r>
          </a:p>
        </p:txBody>
      </p:sp>
      <p:sp>
        <p:nvSpPr>
          <p:cNvPr id="17" name="Rectangle 16"/>
          <p:cNvSpPr/>
          <p:nvPr/>
        </p:nvSpPr>
        <p:spPr>
          <a:xfrm>
            <a:off x="6583680" y="2240280"/>
            <a:ext cx="493776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3A3A3A"/>
                </a:solidFill>
                <a:latin typeface="Calibri"/>
              </a:defRPr>
            </a:pPr>
            <a:r>
              <a:t>Claims feedback never reaches the model</a:t>
            </a:r>
          </a:p>
        </p:txBody>
      </p:sp>
      <p:sp>
        <p:nvSpPr>
          <p:cNvPr id="18" name="Rectangle 17"/>
          <p:cNvSpPr/>
          <p:nvPr/>
        </p:nvSpPr>
        <p:spPr>
          <a:xfrm>
            <a:off x="457200" y="3703320"/>
            <a:ext cx="5486400"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703320"/>
            <a:ext cx="64008" cy="210312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977640"/>
            <a:ext cx="49377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A1A1A"/>
                </a:solidFill>
                <a:latin typeface="Segoe UI"/>
              </a:defRPr>
            </a:pPr>
            <a:r>
              <a:t>Demographic blindspot</a:t>
            </a:r>
          </a:p>
        </p:txBody>
      </p:sp>
      <p:sp>
        <p:nvSpPr>
          <p:cNvPr id="21" name="Rectangle 20"/>
          <p:cNvSpPr/>
          <p:nvPr/>
        </p:nvSpPr>
        <p:spPr>
          <a:xfrm>
            <a:off x="731520" y="4572000"/>
            <a:ext cx="493776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3A3A3A"/>
                </a:solidFill>
                <a:latin typeface="Calibri"/>
              </a:defRPr>
            </a:pPr>
            <a:r>
              <a:t>No parity metric is tracked</a:t>
            </a:r>
          </a:p>
        </p:txBody>
      </p:sp>
      <p:sp>
        <p:nvSpPr>
          <p:cNvPr id="22" name="Rectangle 21"/>
          <p:cNvSpPr/>
          <p:nvPr/>
        </p:nvSpPr>
        <p:spPr>
          <a:xfrm>
            <a:off x="6309360" y="3703320"/>
            <a:ext cx="5486400" cy="210312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3703320"/>
            <a:ext cx="64008" cy="210312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0" y="3977640"/>
            <a:ext cx="493776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A1A1A"/>
                </a:solidFill>
                <a:latin typeface="Segoe UI"/>
              </a:defRPr>
            </a:pPr>
            <a:r>
              <a:t>No triage</a:t>
            </a:r>
          </a:p>
        </p:txBody>
      </p:sp>
      <p:sp>
        <p:nvSpPr>
          <p:cNvPr id="25" name="Rectangle 24"/>
          <p:cNvSpPr/>
          <p:nvPr/>
        </p:nvSpPr>
        <p:spPr>
          <a:xfrm>
            <a:off x="6583680" y="4572000"/>
            <a:ext cx="4937760" cy="1005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3A3A3A"/>
                </a:solidFill>
                <a:latin typeface="Calibri"/>
              </a:defRPr>
            </a:pPr>
            <a:r>
              <a:t>Experts review routine, not borderline, cases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PROJECT OBJECTIVE</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Introduction &amp; Problem Background</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5 / 29</a:t>
            </a:r>
          </a:p>
        </p:txBody>
      </p:sp>
      <p:sp>
        <p:nvSpPr>
          <p:cNvPr id="10" name="Rectangle 9"/>
          <p:cNvSpPr/>
          <p:nvPr/>
        </p:nvSpPr>
        <p:spPr>
          <a:xfrm>
            <a:off x="457200" y="1188720"/>
            <a:ext cx="3657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Calibri"/>
              </a:defRPr>
            </a:pPr>
            <a:r>
              <a:rPr spc="120"/>
              <a:t>RESEARCH GOAL</a:t>
            </a:r>
          </a:p>
        </p:txBody>
      </p:sp>
      <p:sp>
        <p:nvSpPr>
          <p:cNvPr id="11" name="Rectangle 10"/>
          <p:cNvSpPr/>
          <p:nvPr/>
        </p:nvSpPr>
        <p:spPr>
          <a:xfrm>
            <a:off x="457200" y="1536192"/>
            <a:ext cx="11277295" cy="685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1A1A1A"/>
                </a:solidFill>
                <a:latin typeface="Calibri"/>
              </a:defRPr>
            </a:pPr>
            <a:r>
              <a:t>Design and evaluate an adaptive health insurance underwriting system using contextual bandit algorithms on a synthetic Cambodia applicant dataset, incorporating demographic fairness monitoring and human-in-the-loop augmentation.</a:t>
            </a:r>
          </a:p>
        </p:txBody>
      </p:sp>
      <p:sp>
        <p:nvSpPr>
          <p:cNvPr id="12" name="Rectangle 11"/>
          <p:cNvSpPr/>
          <p:nvPr/>
        </p:nvSpPr>
        <p:spPr>
          <a:xfrm>
            <a:off x="457200" y="2423160"/>
            <a:ext cx="36576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Calibri"/>
              </a:defRPr>
            </a:pPr>
            <a:r>
              <a:rPr spc="120"/>
              <a:t>OBJECTIVES</a:t>
            </a:r>
          </a:p>
        </p:txBody>
      </p:sp>
      <p:sp>
        <p:nvSpPr>
          <p:cNvPr id="13" name="Rectangle 12"/>
          <p:cNvSpPr/>
          <p:nvPr/>
        </p:nvSpPr>
        <p:spPr>
          <a:xfrm>
            <a:off x="457200" y="2834640"/>
            <a:ext cx="685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B5697"/>
                </a:solidFill>
                <a:latin typeface="Segoe UI"/>
              </a:defRPr>
            </a:pPr>
            <a:r>
              <a:t>O1</a:t>
            </a:r>
          </a:p>
        </p:txBody>
      </p:sp>
      <p:sp>
        <p:nvSpPr>
          <p:cNvPr id="14" name="Rectangle 13"/>
          <p:cNvSpPr/>
          <p:nvPr/>
        </p:nvSpPr>
        <p:spPr>
          <a:xfrm>
            <a:off x="1234440" y="2852928"/>
            <a:ext cx="1050005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Implement and adapt linear contextual bandit algorithms (LinUCB, LinTS) for multi-arm health insurance underwriting decisions.</a:t>
            </a:r>
          </a:p>
        </p:txBody>
      </p:sp>
      <p:sp>
        <p:nvSpPr>
          <p:cNvPr id="15" name="Rectangle 14"/>
          <p:cNvSpPr/>
          <p:nvPr/>
        </p:nvSpPr>
        <p:spPr>
          <a:xfrm>
            <a:off x="457200" y="3703320"/>
            <a:ext cx="685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B5697"/>
                </a:solidFill>
                <a:latin typeface="Segoe UI"/>
              </a:defRPr>
            </a:pPr>
            <a:r>
              <a:t>O2</a:t>
            </a:r>
          </a:p>
        </p:txBody>
      </p:sp>
      <p:sp>
        <p:nvSpPr>
          <p:cNvPr id="16" name="Rectangle 15"/>
          <p:cNvSpPr/>
          <p:nvPr/>
        </p:nvSpPr>
        <p:spPr>
          <a:xfrm>
            <a:off x="1234440" y="3721608"/>
            <a:ext cx="1050005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Construct a 2,000-record synthetic Cambodia applicant dataset anchored on CDHS, STEPS, ILO, and WHO demographic distributions.</a:t>
            </a:r>
          </a:p>
        </p:txBody>
      </p:sp>
      <p:sp>
        <p:nvSpPr>
          <p:cNvPr id="17" name="Rectangle 16"/>
          <p:cNvSpPr/>
          <p:nvPr/>
        </p:nvSpPr>
        <p:spPr>
          <a:xfrm>
            <a:off x="457200" y="3611880"/>
            <a:ext cx="1127729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572000"/>
            <a:ext cx="685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B5697"/>
                </a:solidFill>
                <a:latin typeface="Segoe UI"/>
              </a:defRPr>
            </a:pPr>
            <a:r>
              <a:t>O3</a:t>
            </a:r>
          </a:p>
        </p:txBody>
      </p:sp>
      <p:sp>
        <p:nvSpPr>
          <p:cNvPr id="19" name="Rectangle 18"/>
          <p:cNvSpPr/>
          <p:nvPr/>
        </p:nvSpPr>
        <p:spPr>
          <a:xfrm>
            <a:off x="1234440" y="4590288"/>
            <a:ext cx="1050005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Evaluate bandit performance versus static rule-based baselines via 20-seed multi-run trials, bootstrap CIs, and paired Wilcoxon tests.</a:t>
            </a:r>
          </a:p>
        </p:txBody>
      </p:sp>
      <p:sp>
        <p:nvSpPr>
          <p:cNvPr id="20" name="Rectangle 19"/>
          <p:cNvSpPr/>
          <p:nvPr/>
        </p:nvSpPr>
        <p:spPr>
          <a:xfrm>
            <a:off x="457200" y="4480560"/>
            <a:ext cx="1127729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440680"/>
            <a:ext cx="6858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2000" b="1" i="0">
                <a:solidFill>
                  <a:srgbClr val="1B5697"/>
                </a:solidFill>
                <a:latin typeface="Segoe UI"/>
              </a:defRPr>
            </a:pPr>
            <a:r>
              <a:t>O4</a:t>
            </a:r>
          </a:p>
        </p:txBody>
      </p:sp>
      <p:sp>
        <p:nvSpPr>
          <p:cNvPr id="22" name="Rectangle 21"/>
          <p:cNvSpPr/>
          <p:nvPr/>
        </p:nvSpPr>
        <p:spPr>
          <a:xfrm>
            <a:off x="1234440" y="5458968"/>
            <a:ext cx="1050005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Assess demographic fairness via PSI monitoring across region and occupation, and integrate a human-in-the-loop underwriting wrapper.</a:t>
            </a:r>
          </a:p>
        </p:txBody>
      </p:sp>
      <p:sp>
        <p:nvSpPr>
          <p:cNvPr id="23" name="Rectangle 22"/>
          <p:cNvSpPr/>
          <p:nvPr/>
        </p:nvSpPr>
        <p:spPr>
          <a:xfrm>
            <a:off x="457200" y="5349240"/>
            <a:ext cx="11277295" cy="10972"/>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100584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2000" b="1" i="0">
                <a:solidFill>
                  <a:srgbClr val="FFFFFF"/>
                </a:solidFill>
                <a:latin typeface="Segoe UI"/>
              </a:defRPr>
            </a:pPr>
            <a:r>
              <a:t>II.</a:t>
            </a:r>
          </a:p>
        </p:txBody>
      </p:sp>
      <p:sp>
        <p:nvSpPr>
          <p:cNvPr id="4" name="Rectangle 3"/>
          <p:cNvSpPr/>
          <p:nvPr/>
        </p:nvSpPr>
        <p:spPr>
          <a:xfrm>
            <a:off x="914400" y="3794760"/>
            <a:ext cx="292608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977639"/>
            <a:ext cx="104241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200" b="1" i="0">
                <a:solidFill>
                  <a:srgbClr val="FFFFFF"/>
                </a:solidFill>
                <a:latin typeface="Segoe UI"/>
              </a:defRPr>
            </a:pPr>
            <a:r>
              <a:t>Literature Review</a:t>
            </a:r>
          </a:p>
        </p:txBody>
      </p:sp>
      <p:sp>
        <p:nvSpPr>
          <p:cNvPr id="6" name="Rectangle 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8" name="Rectangle 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Literature Review</a:t>
            </a:r>
          </a:p>
        </p:txBody>
      </p:sp>
      <p:sp>
        <p:nvSpPr>
          <p:cNvPr id="10" name="Rectangle 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7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LITERATURE REVIEW</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Literature Review</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6 / 29</a:t>
            </a:r>
          </a:p>
        </p:txBody>
      </p:sp>
      <p:sp>
        <p:nvSpPr>
          <p:cNvPr id="10" name="Rectangle 9"/>
          <p:cNvSpPr/>
          <p:nvPr/>
        </p:nvSpPr>
        <p:spPr>
          <a:xfrm>
            <a:off x="512064" y="1325880"/>
            <a:ext cx="26334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Topic</a:t>
            </a:r>
          </a:p>
        </p:txBody>
      </p:sp>
      <p:sp>
        <p:nvSpPr>
          <p:cNvPr id="11" name="Rectangle 10"/>
          <p:cNvSpPr/>
          <p:nvPr/>
        </p:nvSpPr>
        <p:spPr>
          <a:xfrm>
            <a:off x="3255264" y="1325880"/>
            <a:ext cx="31821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Key authors</a:t>
            </a:r>
          </a:p>
        </p:txBody>
      </p:sp>
      <p:sp>
        <p:nvSpPr>
          <p:cNvPr id="12" name="Rectangle 11"/>
          <p:cNvSpPr/>
          <p:nvPr/>
        </p:nvSpPr>
        <p:spPr>
          <a:xfrm>
            <a:off x="6547104" y="1325880"/>
            <a:ext cx="510235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Contribution</a:t>
            </a:r>
          </a:p>
        </p:txBody>
      </p:sp>
      <p:sp>
        <p:nvSpPr>
          <p:cNvPr id="13" name="Rectangle 12"/>
          <p:cNvSpPr/>
          <p:nvPr/>
        </p:nvSpPr>
        <p:spPr>
          <a:xfrm>
            <a:off x="457200" y="1655064"/>
            <a:ext cx="112471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728216"/>
            <a:ext cx="11247120"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 y="1764792"/>
            <a:ext cx="263347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Underwriting in emerging markets</a:t>
            </a:r>
          </a:p>
        </p:txBody>
      </p:sp>
      <p:sp>
        <p:nvSpPr>
          <p:cNvPr id="16" name="Rectangle 15"/>
          <p:cNvSpPr/>
          <p:nvPr/>
        </p:nvSpPr>
        <p:spPr>
          <a:xfrm>
            <a:off x="3255264" y="1764792"/>
            <a:ext cx="318211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NIS/CDHS (2023); ILO (2022); ADB (2023)</a:t>
            </a:r>
          </a:p>
        </p:txBody>
      </p:sp>
      <p:sp>
        <p:nvSpPr>
          <p:cNvPr id="17" name="Rectangle 16"/>
          <p:cNvSpPr/>
          <p:nvPr/>
        </p:nvSpPr>
        <p:spPr>
          <a:xfrm>
            <a:off x="6547104" y="1764792"/>
            <a:ext cx="510235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Cambodia: &lt;10% penetration, manual rule-based underwriting, data anchors</a:t>
            </a:r>
          </a:p>
        </p:txBody>
      </p:sp>
      <p:sp>
        <p:nvSpPr>
          <p:cNvPr id="18" name="Rectangle 17"/>
          <p:cNvSpPr/>
          <p:nvPr/>
        </p:nvSpPr>
        <p:spPr>
          <a:xfrm>
            <a:off x="512064" y="2542032"/>
            <a:ext cx="263347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Linear contextual bandits</a:t>
            </a:r>
          </a:p>
        </p:txBody>
      </p:sp>
      <p:sp>
        <p:nvSpPr>
          <p:cNvPr id="19" name="Rectangle 18"/>
          <p:cNvSpPr/>
          <p:nvPr/>
        </p:nvSpPr>
        <p:spPr>
          <a:xfrm>
            <a:off x="3255264" y="2542032"/>
            <a:ext cx="318211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 et al. (2010); Agrawal &amp; Goyal (2013)</a:t>
            </a:r>
          </a:p>
        </p:txBody>
      </p:sp>
      <p:sp>
        <p:nvSpPr>
          <p:cNvPr id="20" name="Rectangle 19"/>
          <p:cNvSpPr/>
          <p:nvPr/>
        </p:nvSpPr>
        <p:spPr>
          <a:xfrm>
            <a:off x="6547104" y="2542032"/>
            <a:ext cx="510235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LinUCB O(sqrt(T) d log T) regret; LinTS posterior sampling - the two policies</a:t>
            </a:r>
          </a:p>
        </p:txBody>
      </p:sp>
      <p:sp>
        <p:nvSpPr>
          <p:cNvPr id="21" name="Rectangle 20"/>
          <p:cNvSpPr/>
          <p:nvPr/>
        </p:nvSpPr>
        <p:spPr>
          <a:xfrm>
            <a:off x="457200" y="3282696"/>
            <a:ext cx="11247120"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064" y="3319272"/>
            <a:ext cx="263347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Neural bandits &amp; dynamic pricing</a:t>
            </a:r>
          </a:p>
        </p:txBody>
      </p:sp>
      <p:sp>
        <p:nvSpPr>
          <p:cNvPr id="23" name="Rectangle 22"/>
          <p:cNvSpPr/>
          <p:nvPr/>
        </p:nvSpPr>
        <p:spPr>
          <a:xfrm>
            <a:off x="3255264" y="3319272"/>
            <a:ext cx="318211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Zhou (2020); Zhang (2021); Ban (2022)</a:t>
            </a:r>
          </a:p>
        </p:txBody>
      </p:sp>
      <p:sp>
        <p:nvSpPr>
          <p:cNvPr id="24" name="Rectangle 23"/>
          <p:cNvSpPr/>
          <p:nvPr/>
        </p:nvSpPr>
        <p:spPr>
          <a:xfrm>
            <a:off x="6547104" y="3319272"/>
            <a:ext cx="510235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NeuralUCB / NeuralTS / EE-Net relax the linear-reward assumption</a:t>
            </a:r>
          </a:p>
        </p:txBody>
      </p:sp>
      <p:sp>
        <p:nvSpPr>
          <p:cNvPr id="25" name="Rectangle 24"/>
          <p:cNvSpPr/>
          <p:nvPr/>
        </p:nvSpPr>
        <p:spPr>
          <a:xfrm>
            <a:off x="512064" y="4096512"/>
            <a:ext cx="263347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Fairness in insurance ML</a:t>
            </a:r>
          </a:p>
        </p:txBody>
      </p:sp>
      <p:sp>
        <p:nvSpPr>
          <p:cNvPr id="26" name="Rectangle 25"/>
          <p:cNvSpPr/>
          <p:nvPr/>
        </p:nvSpPr>
        <p:spPr>
          <a:xfrm>
            <a:off x="3255264" y="4096512"/>
            <a:ext cx="318211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Barocas et al. (2019); Ensign et al. (2018)</a:t>
            </a:r>
          </a:p>
        </p:txBody>
      </p:sp>
      <p:sp>
        <p:nvSpPr>
          <p:cNvPr id="27" name="Rectangle 26"/>
          <p:cNvSpPr/>
          <p:nvPr/>
        </p:nvSpPr>
        <p:spPr>
          <a:xfrm>
            <a:off x="6547104" y="4096512"/>
            <a:ext cx="510235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Protected-attribute constraints; runaway feedback loops</a:t>
            </a:r>
          </a:p>
        </p:txBody>
      </p:sp>
      <p:sp>
        <p:nvSpPr>
          <p:cNvPr id="28" name="Rectangle 27"/>
          <p:cNvSpPr/>
          <p:nvPr/>
        </p:nvSpPr>
        <p:spPr>
          <a:xfrm>
            <a:off x="457200" y="4837176"/>
            <a:ext cx="11247120"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12064" y="4873752"/>
            <a:ext cx="263347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Population stability (PSI)</a:t>
            </a:r>
          </a:p>
        </p:txBody>
      </p:sp>
      <p:sp>
        <p:nvSpPr>
          <p:cNvPr id="30" name="Rectangle 29"/>
          <p:cNvSpPr/>
          <p:nvPr/>
        </p:nvSpPr>
        <p:spPr>
          <a:xfrm>
            <a:off x="3255264" y="4873752"/>
            <a:ext cx="318211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Yurdakul &amp; Naranjo (2020); Lin (1991)</a:t>
            </a:r>
          </a:p>
        </p:txBody>
      </p:sp>
      <p:sp>
        <p:nvSpPr>
          <p:cNvPr id="31" name="Rectangle 30"/>
          <p:cNvSpPr/>
          <p:nvPr/>
        </p:nvSpPr>
        <p:spPr>
          <a:xfrm>
            <a:off x="6547104" y="4873752"/>
            <a:ext cx="510235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PSI drift zones (GREEN / AMBER / RED); Jensen-Shannon basis</a:t>
            </a:r>
          </a:p>
        </p:txBody>
      </p:sp>
      <p:sp>
        <p:nvSpPr>
          <p:cNvPr id="32" name="Rectangle 31"/>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Full review: thesis Chapter III (25 cited sources, APA).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100584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2000" b="1" i="0">
                <a:solidFill>
                  <a:srgbClr val="FFFFFF"/>
                </a:solidFill>
                <a:latin typeface="Segoe UI"/>
              </a:defRPr>
            </a:pPr>
            <a:r>
              <a:t>III.</a:t>
            </a:r>
          </a:p>
        </p:txBody>
      </p:sp>
      <p:sp>
        <p:nvSpPr>
          <p:cNvPr id="4" name="Rectangle 3"/>
          <p:cNvSpPr/>
          <p:nvPr/>
        </p:nvSpPr>
        <p:spPr>
          <a:xfrm>
            <a:off x="914400" y="3794760"/>
            <a:ext cx="292608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977639"/>
            <a:ext cx="104241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200" b="1" i="0">
                <a:solidFill>
                  <a:srgbClr val="FFFFFF"/>
                </a:solidFill>
                <a:latin typeface="Segoe UI"/>
              </a:defRPr>
            </a:pPr>
            <a:r>
              <a:t>Methodology &amp; Model Design</a:t>
            </a:r>
          </a:p>
        </p:txBody>
      </p:sp>
      <p:sp>
        <p:nvSpPr>
          <p:cNvPr id="6" name="Rectangle 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8" name="Rectangle 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10" name="Rectangle 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9 / 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METHODOLOGY OVERVIEW</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8 / 29</a:t>
            </a:r>
          </a:p>
        </p:txBody>
      </p:sp>
      <p:sp>
        <p:nvSpPr>
          <p:cNvPr id="10" name="Rectangle 9"/>
          <p:cNvSpPr/>
          <p:nvPr/>
        </p:nvSpPr>
        <p:spPr>
          <a:xfrm>
            <a:off x="874623" y="1463040"/>
            <a:ext cx="1572768" cy="1280160"/>
          </a:xfrm>
          <a:prstGeom prst="rect">
            <a:avLst/>
          </a:prstGeom>
          <a:solidFill>
            <a:srgbClr val="2E9E5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0343"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Applicant Context</a:t>
            </a:r>
          </a:p>
        </p:txBody>
      </p:sp>
      <p:sp>
        <p:nvSpPr>
          <p:cNvPr id="12" name="Right Arrow 11"/>
          <p:cNvSpPr/>
          <p:nvPr/>
        </p:nvSpPr>
        <p:spPr>
          <a:xfrm>
            <a:off x="2447391" y="199339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48559" y="1463040"/>
            <a:ext cx="1572768" cy="128016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4279"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Bandit Policy</a:t>
            </a:r>
          </a:p>
        </p:txBody>
      </p:sp>
      <p:sp>
        <p:nvSpPr>
          <p:cNvPr id="15" name="Right Arrow 14"/>
          <p:cNvSpPr/>
          <p:nvPr/>
        </p:nvSpPr>
        <p:spPr>
          <a:xfrm>
            <a:off x="4221327" y="199339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22495" y="1463040"/>
            <a:ext cx="1572768" cy="128016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8215"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Underwriting Action</a:t>
            </a:r>
          </a:p>
        </p:txBody>
      </p:sp>
      <p:sp>
        <p:nvSpPr>
          <p:cNvPr id="18" name="Right Arrow 17"/>
          <p:cNvSpPr/>
          <p:nvPr/>
        </p:nvSpPr>
        <p:spPr>
          <a:xfrm>
            <a:off x="5995263" y="199339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463040"/>
            <a:ext cx="1572768" cy="128016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2151"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Actuarial Reward</a:t>
            </a:r>
          </a:p>
        </p:txBody>
      </p:sp>
      <p:sp>
        <p:nvSpPr>
          <p:cNvPr id="21" name="Right Arrow 20"/>
          <p:cNvSpPr/>
          <p:nvPr/>
        </p:nvSpPr>
        <p:spPr>
          <a:xfrm>
            <a:off x="7769199" y="199339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0367" y="1463040"/>
            <a:ext cx="1572768" cy="128016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6087"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PSI Fairness + HITL</a:t>
            </a:r>
          </a:p>
        </p:txBody>
      </p:sp>
      <p:sp>
        <p:nvSpPr>
          <p:cNvPr id="24" name="Right Arrow 23"/>
          <p:cNvSpPr/>
          <p:nvPr/>
        </p:nvSpPr>
        <p:spPr>
          <a:xfrm>
            <a:off x="9543135" y="199339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44303" y="1463040"/>
            <a:ext cx="1572768" cy="1280160"/>
          </a:xfrm>
          <a:prstGeom prst="rect">
            <a:avLst/>
          </a:prstGeom>
          <a:solidFill>
            <a:srgbClr val="E68A2E"/>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90023" y="1463040"/>
            <a:ext cx="1481328" cy="12801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Decision</a:t>
            </a:r>
          </a:p>
        </p:txBody>
      </p:sp>
      <p:sp>
        <p:nvSpPr>
          <p:cNvPr id="27" name="Rectangle 26"/>
          <p:cNvSpPr/>
          <p:nvPr/>
        </p:nvSpPr>
        <p:spPr>
          <a:xfrm>
            <a:off x="457200" y="3383280"/>
            <a:ext cx="11277295"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0" i="0">
                <a:solidFill>
                  <a:srgbClr val="3A3A3A"/>
                </a:solidFill>
                <a:latin typeface="Calibri"/>
              </a:defRPr>
            </a:pPr>
            <a:r>
              <a:t>Each applicant flows left to right: their context drives a bandit policy that picks an underwriting action; the actuarial simulator returns a reward that updates the policy; a PSI guardrail and a human-in-the-loop wrapper watch fairness before the final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ZOOM-IN: DATASET &amp; CONTEXT</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9 / 29</a:t>
            </a:r>
          </a:p>
        </p:txBody>
      </p:sp>
      <p:sp>
        <p:nvSpPr>
          <p:cNvPr id="10" name="Rectangle 9"/>
          <p:cNvSpPr/>
          <p:nvPr/>
        </p:nvSpPr>
        <p:spPr>
          <a:xfrm>
            <a:off x="874623" y="1188720"/>
            <a:ext cx="1572768" cy="868680"/>
          </a:xfrm>
          <a:prstGeom prst="rect">
            <a:avLst/>
          </a:prstGeom>
          <a:solidFill>
            <a:srgbClr val="2E9E5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034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Applicant Context</a:t>
            </a:r>
          </a:p>
        </p:txBody>
      </p:sp>
      <p:sp>
        <p:nvSpPr>
          <p:cNvPr id="12" name="Right Arrow 11"/>
          <p:cNvSpPr/>
          <p:nvPr/>
        </p:nvSpPr>
        <p:spPr>
          <a:xfrm>
            <a:off x="2447391"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48559"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4279"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Bandit Policy</a:t>
            </a:r>
          </a:p>
        </p:txBody>
      </p:sp>
      <p:sp>
        <p:nvSpPr>
          <p:cNvPr id="15" name="Right Arrow 14"/>
          <p:cNvSpPr/>
          <p:nvPr/>
        </p:nvSpPr>
        <p:spPr>
          <a:xfrm>
            <a:off x="4221327"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22495"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8215"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Underwriting Action</a:t>
            </a:r>
          </a:p>
        </p:txBody>
      </p:sp>
      <p:sp>
        <p:nvSpPr>
          <p:cNvPr id="18" name="Right Arrow 17"/>
          <p:cNvSpPr/>
          <p:nvPr/>
        </p:nvSpPr>
        <p:spPr>
          <a:xfrm>
            <a:off x="5995263"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2151"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Actuarial Reward</a:t>
            </a:r>
          </a:p>
        </p:txBody>
      </p:sp>
      <p:sp>
        <p:nvSpPr>
          <p:cNvPr id="21" name="Right Arrow 20"/>
          <p:cNvSpPr/>
          <p:nvPr/>
        </p:nvSpPr>
        <p:spPr>
          <a:xfrm>
            <a:off x="7769199"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0367"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6087"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PSI Fairness + HITL</a:t>
            </a:r>
          </a:p>
        </p:txBody>
      </p:sp>
      <p:sp>
        <p:nvSpPr>
          <p:cNvPr id="24" name="Right Arrow 23"/>
          <p:cNvSpPr/>
          <p:nvPr/>
        </p:nvSpPr>
        <p:spPr>
          <a:xfrm>
            <a:off x="9543135"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44303" y="1188720"/>
            <a:ext cx="1572768" cy="868680"/>
          </a:xfrm>
          <a:prstGeom prst="rect">
            <a:avLst/>
          </a:prstGeom>
          <a:solidFill>
            <a:srgbClr val="E68A2E"/>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9002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Decision</a:t>
            </a:r>
          </a:p>
        </p:txBody>
      </p:sp>
      <p:sp>
        <p:nvSpPr>
          <p:cNvPr id="27" name="Rectangle 26"/>
          <p:cNvSpPr/>
          <p:nvPr/>
        </p:nvSpPr>
        <p:spPr>
          <a:xfrm>
            <a:off x="801471" y="1115568"/>
            <a:ext cx="1719072" cy="1014984"/>
          </a:xfrm>
          <a:prstGeom prst="rect">
            <a:avLst/>
          </a:prstGeom>
          <a:noFill/>
          <a:ln w="381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377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B5697"/>
                </a:solidFill>
                <a:latin typeface="Calibri"/>
              </a:defRPr>
            </a:pPr>
            <a:r>
              <a:t>2,000</a:t>
            </a:r>
          </a:p>
        </p:txBody>
      </p:sp>
      <p:sp>
        <p:nvSpPr>
          <p:cNvPr id="29" name="Rectangle 28"/>
          <p:cNvSpPr/>
          <p:nvPr/>
        </p:nvSpPr>
        <p:spPr>
          <a:xfrm>
            <a:off x="457200" y="2944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SYNTHETIC APPLICATIONS</a:t>
            </a:r>
          </a:p>
        </p:txBody>
      </p:sp>
      <p:sp>
        <p:nvSpPr>
          <p:cNvPr id="30" name="Rectangle 29"/>
          <p:cNvSpPr/>
          <p:nvPr/>
        </p:nvSpPr>
        <p:spPr>
          <a:xfrm>
            <a:off x="3276523" y="2377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34</a:t>
            </a:r>
          </a:p>
        </p:txBody>
      </p:sp>
      <p:sp>
        <p:nvSpPr>
          <p:cNvPr id="31" name="Rectangle 30"/>
          <p:cNvSpPr/>
          <p:nvPr/>
        </p:nvSpPr>
        <p:spPr>
          <a:xfrm>
            <a:off x="3276523" y="2944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CONTEXT FEATURES</a:t>
            </a:r>
          </a:p>
        </p:txBody>
      </p:sp>
      <p:sp>
        <p:nvSpPr>
          <p:cNvPr id="32" name="Rectangle 31"/>
          <p:cNvSpPr/>
          <p:nvPr/>
        </p:nvSpPr>
        <p:spPr>
          <a:xfrm>
            <a:off x="3166795" y="2423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95846" y="2377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4</a:t>
            </a:r>
          </a:p>
        </p:txBody>
      </p:sp>
      <p:sp>
        <p:nvSpPr>
          <p:cNvPr id="34" name="Rectangle 33"/>
          <p:cNvSpPr/>
          <p:nvPr/>
        </p:nvSpPr>
        <p:spPr>
          <a:xfrm>
            <a:off x="6095846" y="2944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UNDERWRITING ARMS</a:t>
            </a:r>
          </a:p>
        </p:txBody>
      </p:sp>
      <p:sp>
        <p:nvSpPr>
          <p:cNvPr id="35" name="Rectangle 34"/>
          <p:cNvSpPr/>
          <p:nvPr/>
        </p:nvSpPr>
        <p:spPr>
          <a:xfrm>
            <a:off x="5986118" y="2423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15169" y="2377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4</a:t>
            </a:r>
          </a:p>
        </p:txBody>
      </p:sp>
      <p:sp>
        <p:nvSpPr>
          <p:cNvPr id="37" name="Rectangle 36"/>
          <p:cNvSpPr/>
          <p:nvPr/>
        </p:nvSpPr>
        <p:spPr>
          <a:xfrm>
            <a:off x="8915169" y="2944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ANCHORING SOURCES</a:t>
            </a:r>
          </a:p>
        </p:txBody>
      </p:sp>
      <p:sp>
        <p:nvSpPr>
          <p:cNvPr id="38" name="Rectangle 37"/>
          <p:cNvSpPr/>
          <p:nvPr/>
        </p:nvSpPr>
        <p:spPr>
          <a:xfrm>
            <a:off x="8805441" y="2423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367588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13232" y="3566160"/>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Anchored on CDHS, STEPS, ILO, WHO data</a:t>
            </a:r>
          </a:p>
        </p:txBody>
      </p:sp>
      <p:sp>
        <p:nvSpPr>
          <p:cNvPr id="41" name="Rectangle 40"/>
          <p:cNvSpPr/>
          <p:nvPr/>
        </p:nvSpPr>
        <p:spPr>
          <a:xfrm>
            <a:off x="457200" y="424281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3232" y="4133088"/>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Adverse selection AF = 1.35; elasticity 3.5</a:t>
            </a:r>
          </a:p>
        </p:txBody>
      </p:sp>
      <p:sp>
        <p:nvSpPr>
          <p:cNvPr id="43" name="Rectangle 42"/>
          <p:cNvSpPr/>
          <p:nvPr/>
        </p:nvSpPr>
        <p:spPr>
          <a:xfrm>
            <a:off x="457200" y="4809744"/>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13232" y="4700016"/>
            <a:ext cx="54132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Fully synthetic — no real applicant PII</a:t>
            </a:r>
          </a:p>
        </p:txBody>
      </p:sp>
      <p:sp>
        <p:nvSpPr>
          <p:cNvPr id="45" name="Rectangle 44"/>
          <p:cNvSpPr/>
          <p:nvPr/>
        </p:nvSpPr>
        <p:spPr>
          <a:xfrm>
            <a:off x="6675120" y="3474720"/>
            <a:ext cx="17373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RATED</a:t>
            </a:r>
          </a:p>
        </p:txBody>
      </p:sp>
      <p:sp>
        <p:nvSpPr>
          <p:cNvPr id="46" name="Rectangle 45"/>
          <p:cNvSpPr/>
          <p:nvPr/>
        </p:nvSpPr>
        <p:spPr>
          <a:xfrm>
            <a:off x="8412480" y="3493008"/>
            <a:ext cx="3291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3A3A3A"/>
                </a:solidFill>
                <a:latin typeface="Calibri"/>
              </a:defRPr>
            </a:pPr>
            <a:r>
              <a:t>Accept + premium loading (+25%)</a:t>
            </a:r>
          </a:p>
        </p:txBody>
      </p:sp>
      <p:sp>
        <p:nvSpPr>
          <p:cNvPr id="47" name="Rectangle 46"/>
          <p:cNvSpPr/>
          <p:nvPr/>
        </p:nvSpPr>
        <p:spPr>
          <a:xfrm>
            <a:off x="6675120" y="4023360"/>
            <a:ext cx="17373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STANDARD</a:t>
            </a:r>
          </a:p>
        </p:txBody>
      </p:sp>
      <p:sp>
        <p:nvSpPr>
          <p:cNvPr id="48" name="Rectangle 47"/>
          <p:cNvSpPr/>
          <p:nvPr/>
        </p:nvSpPr>
        <p:spPr>
          <a:xfrm>
            <a:off x="8412480" y="4041648"/>
            <a:ext cx="3291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3A3A3A"/>
                </a:solidFill>
                <a:latin typeface="Calibri"/>
              </a:defRPr>
            </a:pPr>
            <a:r>
              <a:t>Accept at standard premium</a:t>
            </a:r>
          </a:p>
        </p:txBody>
      </p:sp>
      <p:sp>
        <p:nvSpPr>
          <p:cNvPr id="49" name="Rectangle 48"/>
          <p:cNvSpPr/>
          <p:nvPr/>
        </p:nvSpPr>
        <p:spPr>
          <a:xfrm>
            <a:off x="6675120" y="4572000"/>
            <a:ext cx="17373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DECLINE</a:t>
            </a:r>
          </a:p>
        </p:txBody>
      </p:sp>
      <p:sp>
        <p:nvSpPr>
          <p:cNvPr id="50" name="Rectangle 49"/>
          <p:cNvSpPr/>
          <p:nvPr/>
        </p:nvSpPr>
        <p:spPr>
          <a:xfrm>
            <a:off x="8412480" y="4590288"/>
            <a:ext cx="3291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3A3A3A"/>
                </a:solidFill>
                <a:latin typeface="Calibri"/>
              </a:defRPr>
            </a:pPr>
            <a:r>
              <a:t>Reject application</a:t>
            </a:r>
          </a:p>
        </p:txBody>
      </p:sp>
      <p:sp>
        <p:nvSpPr>
          <p:cNvPr id="51" name="Rectangle 50"/>
          <p:cNvSpPr/>
          <p:nvPr/>
        </p:nvSpPr>
        <p:spPr>
          <a:xfrm>
            <a:off x="6675120" y="5120640"/>
            <a:ext cx="17373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REFER</a:t>
            </a:r>
          </a:p>
        </p:txBody>
      </p:sp>
      <p:sp>
        <p:nvSpPr>
          <p:cNvPr id="52" name="Rectangle 51"/>
          <p:cNvSpPr/>
          <p:nvPr/>
        </p:nvSpPr>
        <p:spPr>
          <a:xfrm>
            <a:off x="8412480" y="5138928"/>
            <a:ext cx="3291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3A3A3A"/>
                </a:solidFill>
                <a:latin typeface="Calibri"/>
              </a:defRPr>
            </a:pPr>
            <a:r>
              <a:t>Escalate to human underwriter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THE DATASET AT A GLANCE</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10 / 29</a:t>
            </a:r>
          </a:p>
        </p:txBody>
      </p:sp>
      <p:sp>
        <p:nvSpPr>
          <p:cNvPr id="10" name="Rectangle 9"/>
          <p:cNvSpPr/>
          <p:nvPr/>
        </p:nvSpPr>
        <p:spPr>
          <a:xfrm>
            <a:off x="457200" y="1143000"/>
            <a:ext cx="11277295"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2,000 synthetic applicants -&gt; a 34-dimensional standardised context vector, from raw features organised by category (thesis Table 7). Fully synthetic — no real applicant PII.</a:t>
            </a:r>
          </a:p>
        </p:txBody>
      </p:sp>
      <p:sp>
        <p:nvSpPr>
          <p:cNvPr id="11" name="Rectangle 10"/>
          <p:cNvSpPr/>
          <p:nvPr/>
        </p:nvSpPr>
        <p:spPr>
          <a:xfrm>
            <a:off x="457200" y="1691640"/>
            <a:ext cx="54864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Segoe UI"/>
              </a:defRPr>
            </a:pPr>
            <a:r>
              <a:rPr spc="60"/>
              <a:t>FEATURE CATEGORIES</a:t>
            </a:r>
          </a:p>
        </p:txBody>
      </p:sp>
      <p:sp>
        <p:nvSpPr>
          <p:cNvPr id="12" name="Rectangle 11"/>
          <p:cNvSpPr/>
          <p:nvPr/>
        </p:nvSpPr>
        <p:spPr>
          <a:xfrm>
            <a:off x="512064" y="2029968"/>
            <a:ext cx="1764791"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Category</a:t>
            </a:r>
          </a:p>
        </p:txBody>
      </p:sp>
      <p:sp>
        <p:nvSpPr>
          <p:cNvPr id="13" name="Rectangle 12"/>
          <p:cNvSpPr/>
          <p:nvPr/>
        </p:nvSpPr>
        <p:spPr>
          <a:xfrm>
            <a:off x="2386583" y="2029968"/>
            <a:ext cx="28620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Raw features</a:t>
            </a:r>
          </a:p>
        </p:txBody>
      </p:sp>
      <p:sp>
        <p:nvSpPr>
          <p:cNvPr id="14" name="Rectangle 13"/>
          <p:cNvSpPr/>
          <p:nvPr/>
        </p:nvSpPr>
        <p:spPr>
          <a:xfrm>
            <a:off x="5358383" y="2029968"/>
            <a:ext cx="4389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Dim</a:t>
            </a:r>
          </a:p>
        </p:txBody>
      </p:sp>
      <p:sp>
        <p:nvSpPr>
          <p:cNvPr id="15" name="Rectangle 14"/>
          <p:cNvSpPr/>
          <p:nvPr/>
        </p:nvSpPr>
        <p:spPr>
          <a:xfrm>
            <a:off x="457200" y="2359152"/>
            <a:ext cx="5394959"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432304"/>
            <a:ext cx="5394959" cy="42062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12064" y="2468880"/>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Demographics &amp; vitals</a:t>
            </a:r>
          </a:p>
        </p:txBody>
      </p:sp>
      <p:sp>
        <p:nvSpPr>
          <p:cNvPr id="18" name="Rectangle 17"/>
          <p:cNvSpPr/>
          <p:nvPr/>
        </p:nvSpPr>
        <p:spPr>
          <a:xfrm>
            <a:off x="2386583" y="2468880"/>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age, gender, BMI</a:t>
            </a:r>
          </a:p>
        </p:txBody>
      </p:sp>
      <p:sp>
        <p:nvSpPr>
          <p:cNvPr id="19" name="Rectangle 18"/>
          <p:cNvSpPr/>
          <p:nvPr/>
        </p:nvSpPr>
        <p:spPr>
          <a:xfrm>
            <a:off x="5358383" y="2468880"/>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3</a:t>
            </a:r>
          </a:p>
        </p:txBody>
      </p:sp>
      <p:sp>
        <p:nvSpPr>
          <p:cNvPr id="20" name="Rectangle 19"/>
          <p:cNvSpPr/>
          <p:nvPr/>
        </p:nvSpPr>
        <p:spPr>
          <a:xfrm>
            <a:off x="512064" y="2889504"/>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Lifestyle</a:t>
            </a:r>
          </a:p>
        </p:txBody>
      </p:sp>
      <p:sp>
        <p:nvSpPr>
          <p:cNvPr id="21" name="Rectangle 20"/>
          <p:cNvSpPr/>
          <p:nvPr/>
        </p:nvSpPr>
        <p:spPr>
          <a:xfrm>
            <a:off x="2386583" y="2889504"/>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smoking, alcohol, exercise</a:t>
            </a:r>
          </a:p>
        </p:txBody>
      </p:sp>
      <p:sp>
        <p:nvSpPr>
          <p:cNvPr id="22" name="Rectangle 21"/>
          <p:cNvSpPr/>
          <p:nvPr/>
        </p:nvSpPr>
        <p:spPr>
          <a:xfrm>
            <a:off x="5358383" y="2889504"/>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3</a:t>
            </a:r>
          </a:p>
        </p:txBody>
      </p:sp>
      <p:sp>
        <p:nvSpPr>
          <p:cNvPr id="23" name="Rectangle 22"/>
          <p:cNvSpPr/>
          <p:nvPr/>
        </p:nvSpPr>
        <p:spPr>
          <a:xfrm>
            <a:off x="457200" y="3273552"/>
            <a:ext cx="5394959" cy="42062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3310128"/>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Social determinants</a:t>
            </a:r>
          </a:p>
        </p:txBody>
      </p:sp>
      <p:sp>
        <p:nvSpPr>
          <p:cNvPr id="25" name="Rectangle 24"/>
          <p:cNvSpPr/>
          <p:nvPr/>
        </p:nvSpPr>
        <p:spPr>
          <a:xfrm>
            <a:off x="2386583" y="3310128"/>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education, wealth, self-rated health</a:t>
            </a:r>
          </a:p>
        </p:txBody>
      </p:sp>
      <p:sp>
        <p:nvSpPr>
          <p:cNvPr id="26" name="Rectangle 25"/>
          <p:cNvSpPr/>
          <p:nvPr/>
        </p:nvSpPr>
        <p:spPr>
          <a:xfrm>
            <a:off x="5358383" y="3310128"/>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3</a:t>
            </a:r>
          </a:p>
        </p:txBody>
      </p:sp>
      <p:sp>
        <p:nvSpPr>
          <p:cNvPr id="27" name="Rectangle 26"/>
          <p:cNvSpPr/>
          <p:nvPr/>
        </p:nvSpPr>
        <p:spPr>
          <a:xfrm>
            <a:off x="512064" y="3730752"/>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Economic</a:t>
            </a:r>
          </a:p>
        </p:txBody>
      </p:sp>
      <p:sp>
        <p:nvSpPr>
          <p:cNvPr id="28" name="Rectangle 27"/>
          <p:cNvSpPr/>
          <p:nvPr/>
        </p:nvSpPr>
        <p:spPr>
          <a:xfrm>
            <a:off x="2386583" y="3730752"/>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income, family history</a:t>
            </a:r>
          </a:p>
        </p:txBody>
      </p:sp>
      <p:sp>
        <p:nvSpPr>
          <p:cNvPr id="29" name="Rectangle 28"/>
          <p:cNvSpPr/>
          <p:nvPr/>
        </p:nvSpPr>
        <p:spPr>
          <a:xfrm>
            <a:off x="5358383" y="3730752"/>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2</a:t>
            </a:r>
          </a:p>
        </p:txBody>
      </p:sp>
      <p:sp>
        <p:nvSpPr>
          <p:cNvPr id="30" name="Rectangle 29"/>
          <p:cNvSpPr/>
          <p:nvPr/>
        </p:nvSpPr>
        <p:spPr>
          <a:xfrm>
            <a:off x="457200" y="4114800"/>
            <a:ext cx="5394959" cy="42062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2064" y="4151376"/>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Clinical</a:t>
            </a:r>
          </a:p>
        </p:txBody>
      </p:sp>
      <p:sp>
        <p:nvSpPr>
          <p:cNvPr id="32" name="Rectangle 31"/>
          <p:cNvSpPr/>
          <p:nvPr/>
        </p:nvSpPr>
        <p:spPr>
          <a:xfrm>
            <a:off x="2386583" y="4151376"/>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7 condition flags + count</a:t>
            </a:r>
          </a:p>
        </p:txBody>
      </p:sp>
      <p:sp>
        <p:nvSpPr>
          <p:cNvPr id="33" name="Rectangle 32"/>
          <p:cNvSpPr/>
          <p:nvPr/>
        </p:nvSpPr>
        <p:spPr>
          <a:xfrm>
            <a:off x="5358383" y="4151376"/>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8</a:t>
            </a:r>
          </a:p>
        </p:txBody>
      </p:sp>
      <p:sp>
        <p:nvSpPr>
          <p:cNvPr id="34" name="Rectangle 33"/>
          <p:cNvSpPr/>
          <p:nvPr/>
        </p:nvSpPr>
        <p:spPr>
          <a:xfrm>
            <a:off x="512064" y="4572000"/>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Region</a:t>
            </a:r>
          </a:p>
        </p:txBody>
      </p:sp>
      <p:sp>
        <p:nvSpPr>
          <p:cNvPr id="35" name="Rectangle 34"/>
          <p:cNvSpPr/>
          <p:nvPr/>
        </p:nvSpPr>
        <p:spPr>
          <a:xfrm>
            <a:off x="2386583" y="4572000"/>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8 regions (one-hot)</a:t>
            </a:r>
          </a:p>
        </p:txBody>
      </p:sp>
      <p:sp>
        <p:nvSpPr>
          <p:cNvPr id="36" name="Rectangle 35"/>
          <p:cNvSpPr/>
          <p:nvPr/>
        </p:nvSpPr>
        <p:spPr>
          <a:xfrm>
            <a:off x="5358383" y="4572000"/>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8</a:t>
            </a:r>
          </a:p>
        </p:txBody>
      </p:sp>
      <p:sp>
        <p:nvSpPr>
          <p:cNvPr id="37" name="Rectangle 36"/>
          <p:cNvSpPr/>
          <p:nvPr/>
        </p:nvSpPr>
        <p:spPr>
          <a:xfrm>
            <a:off x="457200" y="4956048"/>
            <a:ext cx="5394959" cy="42062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12064" y="4992624"/>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Occupation</a:t>
            </a:r>
          </a:p>
        </p:txBody>
      </p:sp>
      <p:sp>
        <p:nvSpPr>
          <p:cNvPr id="39" name="Rectangle 38"/>
          <p:cNvSpPr/>
          <p:nvPr/>
        </p:nvSpPr>
        <p:spPr>
          <a:xfrm>
            <a:off x="2386583" y="4992624"/>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7 occupations (one-hot)</a:t>
            </a:r>
          </a:p>
        </p:txBody>
      </p:sp>
      <p:sp>
        <p:nvSpPr>
          <p:cNvPr id="40" name="Rectangle 39"/>
          <p:cNvSpPr/>
          <p:nvPr/>
        </p:nvSpPr>
        <p:spPr>
          <a:xfrm>
            <a:off x="5358383" y="4992624"/>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7</a:t>
            </a:r>
          </a:p>
        </p:txBody>
      </p:sp>
      <p:sp>
        <p:nvSpPr>
          <p:cNvPr id="41" name="Rectangle 40"/>
          <p:cNvSpPr/>
          <p:nvPr/>
        </p:nvSpPr>
        <p:spPr>
          <a:xfrm>
            <a:off x="512064" y="5413248"/>
            <a:ext cx="1764791"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B5697"/>
                </a:solidFill>
                <a:latin typeface="Calibri"/>
              </a:defRPr>
            </a:pPr>
            <a:r>
              <a:t>Total</a:t>
            </a:r>
          </a:p>
        </p:txBody>
      </p:sp>
      <p:sp>
        <p:nvSpPr>
          <p:cNvPr id="42" name="Rectangle 41"/>
          <p:cNvSpPr/>
          <p:nvPr/>
        </p:nvSpPr>
        <p:spPr>
          <a:xfrm>
            <a:off x="2386583" y="5413248"/>
            <a:ext cx="286207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B5697"/>
                </a:solidFill>
                <a:latin typeface="Calibri"/>
              </a:defRPr>
            </a:pPr>
          </a:p>
        </p:txBody>
      </p:sp>
      <p:sp>
        <p:nvSpPr>
          <p:cNvPr id="43" name="Rectangle 42"/>
          <p:cNvSpPr/>
          <p:nvPr/>
        </p:nvSpPr>
        <p:spPr>
          <a:xfrm>
            <a:off x="5358383" y="5413248"/>
            <a:ext cx="438912"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B5697"/>
                </a:solidFill>
                <a:latin typeface="Calibri"/>
              </a:defRPr>
            </a:pPr>
            <a:r>
              <a:t>34</a:t>
            </a:r>
          </a:p>
        </p:txBody>
      </p:sp>
      <p:sp>
        <p:nvSpPr>
          <p:cNvPr id="44" name="Rectangle 43"/>
          <p:cNvSpPr/>
          <p:nvPr/>
        </p:nvSpPr>
        <p:spPr>
          <a:xfrm>
            <a:off x="6355080" y="1691640"/>
            <a:ext cx="548640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Segoe UI"/>
              </a:defRPr>
            </a:pPr>
            <a:r>
              <a:rPr spc="60"/>
              <a:t>DATA SNAPSHOT  ·  4 OF 2,000 RECORDS</a:t>
            </a:r>
          </a:p>
        </p:txBody>
      </p:sp>
      <p:sp>
        <p:nvSpPr>
          <p:cNvPr id="45" name="Rectangle 44"/>
          <p:cNvSpPr/>
          <p:nvPr/>
        </p:nvSpPr>
        <p:spPr>
          <a:xfrm>
            <a:off x="6409944" y="2029968"/>
            <a:ext cx="4389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Age</a:t>
            </a:r>
          </a:p>
        </p:txBody>
      </p:sp>
      <p:sp>
        <p:nvSpPr>
          <p:cNvPr id="46" name="Rectangle 45"/>
          <p:cNvSpPr/>
          <p:nvPr/>
        </p:nvSpPr>
        <p:spPr>
          <a:xfrm>
            <a:off x="6958584" y="2029968"/>
            <a:ext cx="3474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Sex</a:t>
            </a:r>
          </a:p>
        </p:txBody>
      </p:sp>
      <p:sp>
        <p:nvSpPr>
          <p:cNvPr id="47" name="Rectangle 46"/>
          <p:cNvSpPr/>
          <p:nvPr/>
        </p:nvSpPr>
        <p:spPr>
          <a:xfrm>
            <a:off x="7415784" y="2029968"/>
            <a:ext cx="144475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Region</a:t>
            </a:r>
          </a:p>
        </p:txBody>
      </p:sp>
      <p:sp>
        <p:nvSpPr>
          <p:cNvPr id="48" name="Rectangle 47"/>
          <p:cNvSpPr/>
          <p:nvPr/>
        </p:nvSpPr>
        <p:spPr>
          <a:xfrm>
            <a:off x="8970264" y="2029968"/>
            <a:ext cx="14904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Occupation</a:t>
            </a:r>
          </a:p>
        </p:txBody>
      </p:sp>
      <p:sp>
        <p:nvSpPr>
          <p:cNvPr id="49" name="Rectangle 48"/>
          <p:cNvSpPr/>
          <p:nvPr/>
        </p:nvSpPr>
        <p:spPr>
          <a:xfrm>
            <a:off x="10570464" y="2029968"/>
            <a:ext cx="4389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BMI</a:t>
            </a:r>
          </a:p>
        </p:txBody>
      </p:sp>
      <p:sp>
        <p:nvSpPr>
          <p:cNvPr id="50" name="Rectangle 49"/>
          <p:cNvSpPr/>
          <p:nvPr/>
        </p:nvSpPr>
        <p:spPr>
          <a:xfrm>
            <a:off x="11119104" y="2029968"/>
            <a:ext cx="5760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A1A1A"/>
                </a:solidFill>
                <a:latin typeface="Calibri"/>
              </a:defRPr>
            </a:pPr>
            <a:r>
              <a:t>Smoker</a:t>
            </a:r>
          </a:p>
        </p:txBody>
      </p:sp>
      <p:sp>
        <p:nvSpPr>
          <p:cNvPr id="51" name="Rectangle 50"/>
          <p:cNvSpPr/>
          <p:nvPr/>
        </p:nvSpPr>
        <p:spPr>
          <a:xfrm>
            <a:off x="6355080" y="2359152"/>
            <a:ext cx="539496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355080" y="2432304"/>
            <a:ext cx="539496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09944" y="246888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36</a:t>
            </a:r>
          </a:p>
        </p:txBody>
      </p:sp>
      <p:sp>
        <p:nvSpPr>
          <p:cNvPr id="54" name="Rectangle 53"/>
          <p:cNvSpPr/>
          <p:nvPr/>
        </p:nvSpPr>
        <p:spPr>
          <a:xfrm>
            <a:off x="6958584" y="2468880"/>
            <a:ext cx="347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F</a:t>
            </a:r>
          </a:p>
        </p:txBody>
      </p:sp>
      <p:sp>
        <p:nvSpPr>
          <p:cNvPr id="55" name="Rectangle 54"/>
          <p:cNvSpPr/>
          <p:nvPr/>
        </p:nvSpPr>
        <p:spPr>
          <a:xfrm>
            <a:off x="7415784" y="2468880"/>
            <a:ext cx="144475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Other Provinces</a:t>
            </a:r>
          </a:p>
        </p:txBody>
      </p:sp>
      <p:sp>
        <p:nvSpPr>
          <p:cNvPr id="56" name="Rectangle 55"/>
          <p:cNvSpPr/>
          <p:nvPr/>
        </p:nvSpPr>
        <p:spPr>
          <a:xfrm>
            <a:off x="8970264" y="2468880"/>
            <a:ext cx="1490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Rice Farmer</a:t>
            </a:r>
          </a:p>
        </p:txBody>
      </p:sp>
      <p:sp>
        <p:nvSpPr>
          <p:cNvPr id="57" name="Rectangle 56"/>
          <p:cNvSpPr/>
          <p:nvPr/>
        </p:nvSpPr>
        <p:spPr>
          <a:xfrm>
            <a:off x="10570464" y="246888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23.2</a:t>
            </a:r>
          </a:p>
        </p:txBody>
      </p:sp>
      <p:sp>
        <p:nvSpPr>
          <p:cNvPr id="58" name="Rectangle 57"/>
          <p:cNvSpPr/>
          <p:nvPr/>
        </p:nvSpPr>
        <p:spPr>
          <a:xfrm>
            <a:off x="11119104" y="2468880"/>
            <a:ext cx="5760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No</a:t>
            </a:r>
          </a:p>
        </p:txBody>
      </p:sp>
      <p:sp>
        <p:nvSpPr>
          <p:cNvPr id="59" name="Rectangle 58"/>
          <p:cNvSpPr/>
          <p:nvPr/>
        </p:nvSpPr>
        <p:spPr>
          <a:xfrm>
            <a:off x="6409944" y="301752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34</a:t>
            </a:r>
          </a:p>
        </p:txBody>
      </p:sp>
      <p:sp>
        <p:nvSpPr>
          <p:cNvPr id="60" name="Rectangle 59"/>
          <p:cNvSpPr/>
          <p:nvPr/>
        </p:nvSpPr>
        <p:spPr>
          <a:xfrm>
            <a:off x="6958584" y="3017520"/>
            <a:ext cx="347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F</a:t>
            </a:r>
          </a:p>
        </p:txBody>
      </p:sp>
      <p:sp>
        <p:nvSpPr>
          <p:cNvPr id="61" name="Rectangle 60"/>
          <p:cNvSpPr/>
          <p:nvPr/>
        </p:nvSpPr>
        <p:spPr>
          <a:xfrm>
            <a:off x="7415784" y="3017520"/>
            <a:ext cx="144475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Phnom Penh</a:t>
            </a:r>
          </a:p>
        </p:txBody>
      </p:sp>
      <p:sp>
        <p:nvSpPr>
          <p:cNvPr id="62" name="Rectangle 61"/>
          <p:cNvSpPr/>
          <p:nvPr/>
        </p:nvSpPr>
        <p:spPr>
          <a:xfrm>
            <a:off x="8970264" y="3017520"/>
            <a:ext cx="1490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Rice Farmer</a:t>
            </a:r>
          </a:p>
        </p:txBody>
      </p:sp>
      <p:sp>
        <p:nvSpPr>
          <p:cNvPr id="63" name="Rectangle 62"/>
          <p:cNvSpPr/>
          <p:nvPr/>
        </p:nvSpPr>
        <p:spPr>
          <a:xfrm>
            <a:off x="10570464" y="301752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27.0</a:t>
            </a:r>
          </a:p>
        </p:txBody>
      </p:sp>
      <p:sp>
        <p:nvSpPr>
          <p:cNvPr id="64" name="Rectangle 63"/>
          <p:cNvSpPr/>
          <p:nvPr/>
        </p:nvSpPr>
        <p:spPr>
          <a:xfrm>
            <a:off x="11119104" y="3017520"/>
            <a:ext cx="5760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No</a:t>
            </a:r>
          </a:p>
        </p:txBody>
      </p:sp>
      <p:sp>
        <p:nvSpPr>
          <p:cNvPr id="65" name="Rectangle 64"/>
          <p:cNvSpPr/>
          <p:nvPr/>
        </p:nvSpPr>
        <p:spPr>
          <a:xfrm>
            <a:off x="6355080" y="3529584"/>
            <a:ext cx="539496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409944" y="356616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39</a:t>
            </a:r>
          </a:p>
        </p:txBody>
      </p:sp>
      <p:sp>
        <p:nvSpPr>
          <p:cNvPr id="67" name="Rectangle 66"/>
          <p:cNvSpPr/>
          <p:nvPr/>
        </p:nvSpPr>
        <p:spPr>
          <a:xfrm>
            <a:off x="6958584" y="3566160"/>
            <a:ext cx="347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M</a:t>
            </a:r>
          </a:p>
        </p:txBody>
      </p:sp>
      <p:sp>
        <p:nvSpPr>
          <p:cNvPr id="68" name="Rectangle 67"/>
          <p:cNvSpPr/>
          <p:nvPr/>
        </p:nvSpPr>
        <p:spPr>
          <a:xfrm>
            <a:off x="7415784" y="3566160"/>
            <a:ext cx="144475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Other Provinces</a:t>
            </a:r>
          </a:p>
        </p:txBody>
      </p:sp>
      <p:sp>
        <p:nvSpPr>
          <p:cNvPr id="69" name="Rectangle 68"/>
          <p:cNvSpPr/>
          <p:nvPr/>
        </p:nvSpPr>
        <p:spPr>
          <a:xfrm>
            <a:off x="8970264" y="3566160"/>
            <a:ext cx="1490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Civil Servant</a:t>
            </a:r>
          </a:p>
        </p:txBody>
      </p:sp>
      <p:sp>
        <p:nvSpPr>
          <p:cNvPr id="70" name="Rectangle 69"/>
          <p:cNvSpPr/>
          <p:nvPr/>
        </p:nvSpPr>
        <p:spPr>
          <a:xfrm>
            <a:off x="10570464" y="356616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19.0</a:t>
            </a:r>
          </a:p>
        </p:txBody>
      </p:sp>
      <p:sp>
        <p:nvSpPr>
          <p:cNvPr id="71" name="Rectangle 70"/>
          <p:cNvSpPr/>
          <p:nvPr/>
        </p:nvSpPr>
        <p:spPr>
          <a:xfrm>
            <a:off x="11119104" y="3566160"/>
            <a:ext cx="5760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No</a:t>
            </a:r>
          </a:p>
        </p:txBody>
      </p:sp>
      <p:sp>
        <p:nvSpPr>
          <p:cNvPr id="72" name="Rectangle 71"/>
          <p:cNvSpPr/>
          <p:nvPr/>
        </p:nvSpPr>
        <p:spPr>
          <a:xfrm>
            <a:off x="6409944" y="411480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43</a:t>
            </a:r>
          </a:p>
        </p:txBody>
      </p:sp>
      <p:sp>
        <p:nvSpPr>
          <p:cNvPr id="73" name="Rectangle 72"/>
          <p:cNvSpPr/>
          <p:nvPr/>
        </p:nvSpPr>
        <p:spPr>
          <a:xfrm>
            <a:off x="6958584" y="4114800"/>
            <a:ext cx="347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F</a:t>
            </a:r>
          </a:p>
        </p:txBody>
      </p:sp>
      <p:sp>
        <p:nvSpPr>
          <p:cNvPr id="74" name="Rectangle 73"/>
          <p:cNvSpPr/>
          <p:nvPr/>
        </p:nvSpPr>
        <p:spPr>
          <a:xfrm>
            <a:off x="7415784" y="4114800"/>
            <a:ext cx="144475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Other Provinces</a:t>
            </a:r>
          </a:p>
        </p:txBody>
      </p:sp>
      <p:sp>
        <p:nvSpPr>
          <p:cNvPr id="75" name="Rectangle 74"/>
          <p:cNvSpPr/>
          <p:nvPr/>
        </p:nvSpPr>
        <p:spPr>
          <a:xfrm>
            <a:off x="8970264" y="4114800"/>
            <a:ext cx="14904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Garment Worker</a:t>
            </a:r>
          </a:p>
        </p:txBody>
      </p:sp>
      <p:sp>
        <p:nvSpPr>
          <p:cNvPr id="76" name="Rectangle 75"/>
          <p:cNvSpPr/>
          <p:nvPr/>
        </p:nvSpPr>
        <p:spPr>
          <a:xfrm>
            <a:off x="10570464" y="4114800"/>
            <a:ext cx="4389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25.7</a:t>
            </a:r>
          </a:p>
        </p:txBody>
      </p:sp>
      <p:sp>
        <p:nvSpPr>
          <p:cNvPr id="77" name="Rectangle 76"/>
          <p:cNvSpPr/>
          <p:nvPr/>
        </p:nvSpPr>
        <p:spPr>
          <a:xfrm>
            <a:off x="11119104" y="4114800"/>
            <a:ext cx="5760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No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REWARD SIMULATOR</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11 / 29</a:t>
            </a:r>
          </a:p>
        </p:txBody>
      </p:sp>
      <p:sp>
        <p:nvSpPr>
          <p:cNvPr id="10" name="Rectangle 9"/>
          <p:cNvSpPr/>
          <p:nvPr/>
        </p:nvSpPr>
        <p:spPr>
          <a:xfrm>
            <a:off x="457200" y="1325880"/>
            <a:ext cx="26517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B5697"/>
                </a:solidFill>
                <a:latin typeface="Calibri"/>
              </a:defRPr>
            </a:pPr>
            <a:r>
              <a:t>Context  x_t ∈ R^34</a:t>
            </a:r>
          </a:p>
        </p:txBody>
      </p:sp>
      <p:sp>
        <p:nvSpPr>
          <p:cNvPr id="11" name="Rectangle 10"/>
          <p:cNvSpPr/>
          <p:nvPr/>
        </p:nvSpPr>
        <p:spPr>
          <a:xfrm>
            <a:off x="457200" y="1709928"/>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age, BMI, region &amp; occupation one-hots, clinical flags -- standardised</a:t>
            </a:r>
          </a:p>
        </p:txBody>
      </p:sp>
      <p:sp>
        <p:nvSpPr>
          <p:cNvPr id="12" name="Rectangle 11"/>
          <p:cNvSpPr/>
          <p:nvPr/>
        </p:nvSpPr>
        <p:spPr>
          <a:xfrm>
            <a:off x="457200" y="2194560"/>
            <a:ext cx="26517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B5697"/>
                </a:solidFill>
                <a:latin typeface="Calibri"/>
              </a:defRPr>
            </a:pPr>
            <a:r>
              <a:t>Action  a_t</a:t>
            </a:r>
          </a:p>
        </p:txBody>
      </p:sp>
      <p:sp>
        <p:nvSpPr>
          <p:cNvPr id="13" name="Rectangle 12"/>
          <p:cNvSpPr/>
          <p:nvPr/>
        </p:nvSpPr>
        <p:spPr>
          <a:xfrm>
            <a:off x="457200" y="2578608"/>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one of RATED / STANDARD / DECLINE / REFER</a:t>
            </a:r>
          </a:p>
        </p:txBody>
      </p:sp>
      <p:sp>
        <p:nvSpPr>
          <p:cNvPr id="14" name="Rectangle 13"/>
          <p:cNvSpPr/>
          <p:nvPr/>
        </p:nvSpPr>
        <p:spPr>
          <a:xfrm>
            <a:off x="457200" y="3063240"/>
            <a:ext cx="26517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B5697"/>
                </a:solidFill>
                <a:latin typeface="Calibri"/>
              </a:defRPr>
            </a:pPr>
            <a:r>
              <a:t>Reward  r_t</a:t>
            </a:r>
          </a:p>
        </p:txBody>
      </p:sp>
      <p:sp>
        <p:nvSpPr>
          <p:cNvPr id="15" name="Rectangle 14"/>
          <p:cNvSpPr/>
          <p:nvPr/>
        </p:nvSpPr>
        <p:spPr>
          <a:xfrm>
            <a:off x="457200" y="3447288"/>
            <a:ext cx="539496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revenue minus claims, actuarial simulator</a:t>
            </a:r>
          </a:p>
        </p:txBody>
      </p:sp>
      <p:sp>
        <p:nvSpPr>
          <p:cNvPr id="16" name="Rectangle 15"/>
          <p:cNvSpPr/>
          <p:nvPr/>
        </p:nvSpPr>
        <p:spPr>
          <a:xfrm>
            <a:off x="457200" y="4114800"/>
            <a:ext cx="5394960" cy="91440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defRPr sz="1400" b="1">
                <a:solidFill>
                  <a:srgbClr val="1A1A1A"/>
                </a:solidFill>
                <a:latin typeface="Calibri"/>
              </a:defRPr>
            </a:pPr>
            <a:r>
              <a:t>Objective: maximise cumulative reward Σ r_t over T rounds, subject to demographic PSI guardrails.</a:t>
            </a:r>
          </a:p>
        </p:txBody>
      </p:sp>
      <p:sp>
        <p:nvSpPr>
          <p:cNvPr id="17" name="Rectangle 16"/>
          <p:cNvSpPr/>
          <p:nvPr/>
        </p:nvSpPr>
        <p:spPr>
          <a:xfrm>
            <a:off x="6455664" y="1325880"/>
            <a:ext cx="144475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Action</a:t>
            </a:r>
          </a:p>
        </p:txBody>
      </p:sp>
      <p:sp>
        <p:nvSpPr>
          <p:cNvPr id="18" name="Rectangle 17"/>
          <p:cNvSpPr/>
          <p:nvPr/>
        </p:nvSpPr>
        <p:spPr>
          <a:xfrm>
            <a:off x="8010144" y="1325880"/>
            <a:ext cx="1810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High-risk</a:t>
            </a:r>
          </a:p>
        </p:txBody>
      </p:sp>
      <p:sp>
        <p:nvSpPr>
          <p:cNvPr id="19" name="Rectangle 18"/>
          <p:cNvSpPr/>
          <p:nvPr/>
        </p:nvSpPr>
        <p:spPr>
          <a:xfrm>
            <a:off x="9930384" y="1325880"/>
            <a:ext cx="17190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Low-risk</a:t>
            </a:r>
          </a:p>
        </p:txBody>
      </p:sp>
      <p:sp>
        <p:nvSpPr>
          <p:cNvPr id="20" name="Rectangle 19"/>
          <p:cNvSpPr/>
          <p:nvPr/>
        </p:nvSpPr>
        <p:spPr>
          <a:xfrm>
            <a:off x="6400800" y="1655064"/>
            <a:ext cx="53035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0" y="1728216"/>
            <a:ext cx="5303520" cy="65836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55664" y="1764792"/>
            <a:ext cx="144475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RATED</a:t>
            </a:r>
          </a:p>
        </p:txBody>
      </p:sp>
      <p:sp>
        <p:nvSpPr>
          <p:cNvPr id="23" name="Rectangle 22"/>
          <p:cNvSpPr/>
          <p:nvPr/>
        </p:nvSpPr>
        <p:spPr>
          <a:xfrm>
            <a:off x="8010144" y="1764792"/>
            <a:ext cx="181051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+premium − claims</a:t>
            </a:r>
          </a:p>
        </p:txBody>
      </p:sp>
      <p:sp>
        <p:nvSpPr>
          <p:cNvPr id="24" name="Rectangle 23"/>
          <p:cNvSpPr/>
          <p:nvPr/>
        </p:nvSpPr>
        <p:spPr>
          <a:xfrm>
            <a:off x="9930384" y="1764792"/>
            <a:ext cx="171907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 adverse-sel. penalty</a:t>
            </a:r>
          </a:p>
        </p:txBody>
      </p:sp>
      <p:sp>
        <p:nvSpPr>
          <p:cNvPr id="25" name="Rectangle 24"/>
          <p:cNvSpPr/>
          <p:nvPr/>
        </p:nvSpPr>
        <p:spPr>
          <a:xfrm>
            <a:off x="6455664" y="2423160"/>
            <a:ext cx="144475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STANDARD</a:t>
            </a:r>
          </a:p>
        </p:txBody>
      </p:sp>
      <p:sp>
        <p:nvSpPr>
          <p:cNvPr id="26" name="Rectangle 25"/>
          <p:cNvSpPr/>
          <p:nvPr/>
        </p:nvSpPr>
        <p:spPr>
          <a:xfrm>
            <a:off x="8010144" y="2423160"/>
            <a:ext cx="181051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+premium − claims</a:t>
            </a:r>
          </a:p>
        </p:txBody>
      </p:sp>
      <p:sp>
        <p:nvSpPr>
          <p:cNvPr id="27" name="Rectangle 26"/>
          <p:cNvSpPr/>
          <p:nvPr/>
        </p:nvSpPr>
        <p:spPr>
          <a:xfrm>
            <a:off x="9930384" y="2423160"/>
            <a:ext cx="171907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+optimal margin</a:t>
            </a:r>
          </a:p>
        </p:txBody>
      </p:sp>
      <p:sp>
        <p:nvSpPr>
          <p:cNvPr id="28" name="Rectangle 27"/>
          <p:cNvSpPr/>
          <p:nvPr/>
        </p:nvSpPr>
        <p:spPr>
          <a:xfrm>
            <a:off x="6400800" y="3044952"/>
            <a:ext cx="5303520" cy="65836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55664" y="3081528"/>
            <a:ext cx="144475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DECLINE</a:t>
            </a:r>
          </a:p>
        </p:txBody>
      </p:sp>
      <p:sp>
        <p:nvSpPr>
          <p:cNvPr id="30" name="Rectangle 29"/>
          <p:cNvSpPr/>
          <p:nvPr/>
        </p:nvSpPr>
        <p:spPr>
          <a:xfrm>
            <a:off x="8010144" y="3081528"/>
            <a:ext cx="181051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0 (avoided loss)</a:t>
            </a:r>
          </a:p>
        </p:txBody>
      </p:sp>
      <p:sp>
        <p:nvSpPr>
          <p:cNvPr id="31" name="Rectangle 30"/>
          <p:cNvSpPr/>
          <p:nvPr/>
        </p:nvSpPr>
        <p:spPr>
          <a:xfrm>
            <a:off x="9930384" y="3081528"/>
            <a:ext cx="171907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 missed revenue</a:t>
            </a:r>
          </a:p>
        </p:txBody>
      </p:sp>
      <p:sp>
        <p:nvSpPr>
          <p:cNvPr id="32" name="Rectangle 31"/>
          <p:cNvSpPr/>
          <p:nvPr/>
        </p:nvSpPr>
        <p:spPr>
          <a:xfrm>
            <a:off x="6455664" y="3739896"/>
            <a:ext cx="144475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REFER</a:t>
            </a:r>
          </a:p>
        </p:txBody>
      </p:sp>
      <p:sp>
        <p:nvSpPr>
          <p:cNvPr id="33" name="Rectangle 32"/>
          <p:cNvSpPr/>
          <p:nvPr/>
        </p:nvSpPr>
        <p:spPr>
          <a:xfrm>
            <a:off x="8010144" y="3739896"/>
            <a:ext cx="181051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+human decision net</a:t>
            </a:r>
          </a:p>
        </p:txBody>
      </p:sp>
      <p:sp>
        <p:nvSpPr>
          <p:cNvPr id="34" name="Rectangle 33"/>
          <p:cNvSpPr/>
          <p:nvPr/>
        </p:nvSpPr>
        <p:spPr>
          <a:xfrm>
            <a:off x="9930384" y="3739896"/>
            <a:ext cx="1719072" cy="5852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+human decision net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ZOOM-IN: BANDIT POLICY</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12 / 29</a:t>
            </a:r>
          </a:p>
        </p:txBody>
      </p:sp>
      <p:sp>
        <p:nvSpPr>
          <p:cNvPr id="10" name="Rectangle 9"/>
          <p:cNvSpPr/>
          <p:nvPr/>
        </p:nvSpPr>
        <p:spPr>
          <a:xfrm>
            <a:off x="874623" y="1188720"/>
            <a:ext cx="1572768" cy="868680"/>
          </a:xfrm>
          <a:prstGeom prst="rect">
            <a:avLst/>
          </a:prstGeom>
          <a:solidFill>
            <a:srgbClr val="2E9E5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034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Applicant Context</a:t>
            </a:r>
          </a:p>
        </p:txBody>
      </p:sp>
      <p:sp>
        <p:nvSpPr>
          <p:cNvPr id="12" name="Right Arrow 11"/>
          <p:cNvSpPr/>
          <p:nvPr/>
        </p:nvSpPr>
        <p:spPr>
          <a:xfrm>
            <a:off x="2447391"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48559"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4279"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Bandit Policy</a:t>
            </a:r>
          </a:p>
        </p:txBody>
      </p:sp>
      <p:sp>
        <p:nvSpPr>
          <p:cNvPr id="15" name="Right Arrow 14"/>
          <p:cNvSpPr/>
          <p:nvPr/>
        </p:nvSpPr>
        <p:spPr>
          <a:xfrm>
            <a:off x="4221327"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22495"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8215"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Underwriting Action</a:t>
            </a:r>
          </a:p>
        </p:txBody>
      </p:sp>
      <p:sp>
        <p:nvSpPr>
          <p:cNvPr id="18" name="Right Arrow 17"/>
          <p:cNvSpPr/>
          <p:nvPr/>
        </p:nvSpPr>
        <p:spPr>
          <a:xfrm>
            <a:off x="5995263"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2151"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Actuarial Reward</a:t>
            </a:r>
          </a:p>
        </p:txBody>
      </p:sp>
      <p:sp>
        <p:nvSpPr>
          <p:cNvPr id="21" name="Right Arrow 20"/>
          <p:cNvSpPr/>
          <p:nvPr/>
        </p:nvSpPr>
        <p:spPr>
          <a:xfrm>
            <a:off x="7769199"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0367"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6087"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PSI Fairness + HITL</a:t>
            </a:r>
          </a:p>
        </p:txBody>
      </p:sp>
      <p:sp>
        <p:nvSpPr>
          <p:cNvPr id="24" name="Right Arrow 23"/>
          <p:cNvSpPr/>
          <p:nvPr/>
        </p:nvSpPr>
        <p:spPr>
          <a:xfrm>
            <a:off x="9543135"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44303" y="1188720"/>
            <a:ext cx="1572768" cy="868680"/>
          </a:xfrm>
          <a:prstGeom prst="rect">
            <a:avLst/>
          </a:prstGeom>
          <a:solidFill>
            <a:srgbClr val="E68A2E"/>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9002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Decision</a:t>
            </a:r>
          </a:p>
        </p:txBody>
      </p:sp>
      <p:sp>
        <p:nvSpPr>
          <p:cNvPr id="27" name="Rectangle 26"/>
          <p:cNvSpPr/>
          <p:nvPr/>
        </p:nvSpPr>
        <p:spPr>
          <a:xfrm>
            <a:off x="2575407" y="1115568"/>
            <a:ext cx="1719072" cy="1014984"/>
          </a:xfrm>
          <a:prstGeom prst="rect">
            <a:avLst/>
          </a:prstGeom>
          <a:noFill/>
          <a:ln w="381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468880"/>
            <a:ext cx="11277295"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700" b="0" i="0">
                <a:solidFill>
                  <a:srgbClr val="3A3A3A"/>
                </a:solidFill>
                <a:latin typeface="Calibri"/>
              </a:defRPr>
            </a:pPr>
            <a:r>
              <a:t>We now build the bandit policy one component at a time — context in, value estimates, then selection — each step with a concrete output.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BANDIT BUILD-UP: CONTEXT</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13 / 29</a:t>
            </a:r>
          </a:p>
        </p:txBody>
      </p:sp>
      <p:sp>
        <p:nvSpPr>
          <p:cNvPr id="10" name="Rectangle 9"/>
          <p:cNvSpPr/>
          <p:nvPr/>
        </p:nvSpPr>
        <p:spPr>
          <a:xfrm>
            <a:off x="4495647" y="1645920"/>
            <a:ext cx="3200400" cy="1371600"/>
          </a:xfrm>
          <a:prstGeom prst="rect">
            <a:avLst/>
          </a:prstGeom>
          <a:solidFill>
            <a:srgbClr val="F3F6FB"/>
          </a:solidFill>
          <a:ln w="3175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05375" y="173736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2E9E5B"/>
                </a:solidFill>
                <a:latin typeface="Segoe UI"/>
              </a:defRPr>
            </a:pPr>
            <a:r>
              <a:t>Context vector  x_t ∈ R^34</a:t>
            </a:r>
          </a:p>
        </p:txBody>
      </p:sp>
      <p:sp>
        <p:nvSpPr>
          <p:cNvPr id="12" name="Rectangle 11"/>
          <p:cNvSpPr/>
          <p:nvPr/>
        </p:nvSpPr>
        <p:spPr>
          <a:xfrm>
            <a:off x="4605375" y="230428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[age 0.4, BMI 0.8, smoker 1, ... , PhnomPenh 1, RiceFarmer 0]</a:t>
            </a:r>
          </a:p>
        </p:txBody>
      </p:sp>
      <p:sp>
        <p:nvSpPr>
          <p:cNvPr id="13" name="Rectangle 12"/>
          <p:cNvSpPr/>
          <p:nvPr/>
        </p:nvSpPr>
        <p:spPr>
          <a:xfrm>
            <a:off x="457200" y="367588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3232" y="3566160"/>
            <a:ext cx="110212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34 standardised dims: demographics, lifestyle, clinical flags, region &amp; occupation one-hots</a:t>
            </a:r>
          </a:p>
        </p:txBody>
      </p:sp>
      <p:sp>
        <p:nvSpPr>
          <p:cNvPr id="15" name="Rectangle 14"/>
          <p:cNvSpPr/>
          <p:nvPr/>
        </p:nvSpPr>
        <p:spPr>
          <a:xfrm>
            <a:off x="457200" y="424281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13232" y="4133088"/>
            <a:ext cx="110212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This is the bandit's only view of each applicant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BANDIT BUILD-UP: VALUE ESTIMATES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14 / 29</a:t>
            </a:r>
          </a:p>
        </p:txBody>
      </p:sp>
      <p:sp>
        <p:nvSpPr>
          <p:cNvPr id="10" name="Rectangle 9"/>
          <p:cNvSpPr/>
          <p:nvPr/>
        </p:nvSpPr>
        <p:spPr>
          <a:xfrm>
            <a:off x="2689707" y="1645920"/>
            <a:ext cx="3200400" cy="1371600"/>
          </a:xfrm>
          <a:prstGeom prst="rect">
            <a:avLst/>
          </a:prstGeom>
          <a:solidFill>
            <a:srgbClr val="F3F6F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99435" y="173736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1B5697"/>
                </a:solidFill>
                <a:latin typeface="Segoe UI"/>
              </a:defRPr>
            </a:pPr>
            <a:r>
              <a:t>Context  x_t</a:t>
            </a:r>
          </a:p>
        </p:txBody>
      </p:sp>
      <p:sp>
        <p:nvSpPr>
          <p:cNvPr id="12" name="Rectangle 11"/>
          <p:cNvSpPr/>
          <p:nvPr/>
        </p:nvSpPr>
        <p:spPr>
          <a:xfrm>
            <a:off x="2799435" y="230428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[0.4, -1.1, 0, 2, 0.8]</a:t>
            </a:r>
          </a:p>
        </p:txBody>
      </p:sp>
      <p:sp>
        <p:nvSpPr>
          <p:cNvPr id="13" name="Right Arrow 12"/>
          <p:cNvSpPr/>
          <p:nvPr/>
        </p:nvSpPr>
        <p:spPr>
          <a:xfrm>
            <a:off x="5890107" y="2212848"/>
            <a:ext cx="411480" cy="237744"/>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1587" y="1645920"/>
            <a:ext cx="3200400" cy="1371600"/>
          </a:xfrm>
          <a:prstGeom prst="rect">
            <a:avLst/>
          </a:prstGeom>
          <a:solidFill>
            <a:srgbClr val="F3F6FB"/>
          </a:solidFill>
          <a:ln w="3175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11315" y="173736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2E9E5B"/>
                </a:solidFill>
                <a:latin typeface="Segoe UI"/>
              </a:defRPr>
            </a:pPr>
            <a:r>
              <a:t>Per-arm value</a:t>
            </a:r>
            <a:br/>
            <a:r>
              <a:t>(LinUCB / LinTS)</a:t>
            </a:r>
          </a:p>
        </p:txBody>
      </p:sp>
      <p:sp>
        <p:nvSpPr>
          <p:cNvPr id="16" name="Rectangle 15"/>
          <p:cNvSpPr/>
          <p:nvPr/>
        </p:nvSpPr>
        <p:spPr>
          <a:xfrm>
            <a:off x="6411315" y="230428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RATED 0.31 · STD 0.52 · DEC 0.10 · REF 0.28</a:t>
            </a:r>
          </a:p>
        </p:txBody>
      </p:sp>
      <p:sp>
        <p:nvSpPr>
          <p:cNvPr id="17" name="Rectangle 16"/>
          <p:cNvSpPr/>
          <p:nvPr/>
        </p:nvSpPr>
        <p:spPr>
          <a:xfrm>
            <a:off x="457200" y="367588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13232" y="3566160"/>
            <a:ext cx="110212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LinUCB: θ̂ᵀx + α·√(xᵀA⁻¹x)  — optimism under uncertainty</a:t>
            </a:r>
          </a:p>
        </p:txBody>
      </p:sp>
      <p:sp>
        <p:nvSpPr>
          <p:cNvPr id="19" name="Rectangle 18"/>
          <p:cNvSpPr/>
          <p:nvPr/>
        </p:nvSpPr>
        <p:spPr>
          <a:xfrm>
            <a:off x="457200" y="424281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13232" y="4133088"/>
            <a:ext cx="110212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LinTS: sample θ̃ from the posterior — exploration by randomisation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BANDIT BUILD-UP: SELECTION &amp; ACTION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15 / 29</a:t>
            </a:r>
          </a:p>
        </p:txBody>
      </p:sp>
      <p:sp>
        <p:nvSpPr>
          <p:cNvPr id="10" name="Rectangle 9"/>
          <p:cNvSpPr/>
          <p:nvPr/>
        </p:nvSpPr>
        <p:spPr>
          <a:xfrm>
            <a:off x="883767" y="1463040"/>
            <a:ext cx="3200400" cy="1371600"/>
          </a:xfrm>
          <a:prstGeom prst="rect">
            <a:avLst/>
          </a:prstGeom>
          <a:solidFill>
            <a:srgbClr val="F3F6F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93495" y="155448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1B5697"/>
                </a:solidFill>
                <a:latin typeface="Segoe UI"/>
              </a:defRPr>
            </a:pPr>
            <a:r>
              <a:t>Context  x_t</a:t>
            </a:r>
          </a:p>
        </p:txBody>
      </p:sp>
      <p:sp>
        <p:nvSpPr>
          <p:cNvPr id="12" name="Rectangle 11"/>
          <p:cNvSpPr/>
          <p:nvPr/>
        </p:nvSpPr>
        <p:spPr>
          <a:xfrm>
            <a:off x="993495" y="212140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[0.4, -1.1, 0, 2, 0.8]</a:t>
            </a:r>
          </a:p>
        </p:txBody>
      </p:sp>
      <p:sp>
        <p:nvSpPr>
          <p:cNvPr id="13" name="Right Arrow 12"/>
          <p:cNvSpPr/>
          <p:nvPr/>
        </p:nvSpPr>
        <p:spPr>
          <a:xfrm>
            <a:off x="4084167" y="2029968"/>
            <a:ext cx="411480" cy="237744"/>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95647" y="1463040"/>
            <a:ext cx="3200400" cy="1371600"/>
          </a:xfrm>
          <a:prstGeom prst="rect">
            <a:avLst/>
          </a:prstGeom>
          <a:solidFill>
            <a:srgbClr val="F3F6F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05375" y="155448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1B5697"/>
                </a:solidFill>
                <a:latin typeface="Segoe UI"/>
              </a:defRPr>
            </a:pPr>
            <a:r>
              <a:t>Per-arm value</a:t>
            </a:r>
          </a:p>
        </p:txBody>
      </p:sp>
      <p:sp>
        <p:nvSpPr>
          <p:cNvPr id="16" name="Rectangle 15"/>
          <p:cNvSpPr/>
          <p:nvPr/>
        </p:nvSpPr>
        <p:spPr>
          <a:xfrm>
            <a:off x="4605375" y="212140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RATED 0.31 · STD 0.52 · DEC 0.10 · REF 0.28</a:t>
            </a:r>
          </a:p>
        </p:txBody>
      </p:sp>
      <p:sp>
        <p:nvSpPr>
          <p:cNvPr id="17" name="Right Arrow 16"/>
          <p:cNvSpPr/>
          <p:nvPr/>
        </p:nvSpPr>
        <p:spPr>
          <a:xfrm>
            <a:off x="7696047" y="2029968"/>
            <a:ext cx="411480" cy="237744"/>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07527" y="1463040"/>
            <a:ext cx="3200400" cy="1371600"/>
          </a:xfrm>
          <a:prstGeom prst="rect">
            <a:avLst/>
          </a:prstGeom>
          <a:solidFill>
            <a:srgbClr val="F3F6FB"/>
          </a:solidFill>
          <a:ln w="3175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17255" y="1554480"/>
            <a:ext cx="2980944"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1" i="0">
                <a:solidFill>
                  <a:srgbClr val="2E9E5B"/>
                </a:solidFill>
                <a:latin typeface="Segoe UI"/>
              </a:defRPr>
            </a:pPr>
            <a:r>
              <a:t>argmax → action</a:t>
            </a:r>
            <a:br/>
            <a:r>
              <a:t>+ reward update</a:t>
            </a:r>
          </a:p>
        </p:txBody>
      </p:sp>
      <p:sp>
        <p:nvSpPr>
          <p:cNvPr id="20" name="Rectangle 19"/>
          <p:cNvSpPr/>
          <p:nvPr/>
        </p:nvSpPr>
        <p:spPr>
          <a:xfrm>
            <a:off x="8217255" y="2121408"/>
            <a:ext cx="2980944"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200" b="0" i="0">
                <a:solidFill>
                  <a:srgbClr val="3A3A3A"/>
                </a:solidFill>
                <a:latin typeface="Consolas"/>
              </a:defRPr>
            </a:pPr>
            <a:r>
              <a:t>output:</a:t>
            </a:r>
            <a:br/>
            <a:r>
              <a:t>STANDARD; r_t = +premium − claims; A←A+xxᵀ</a:t>
            </a:r>
          </a:p>
        </p:txBody>
      </p:sp>
      <p:sp>
        <p:nvSpPr>
          <p:cNvPr id="21" name="Rectangle 20"/>
          <p:cNvSpPr/>
          <p:nvPr/>
        </p:nvSpPr>
        <p:spPr>
          <a:xfrm>
            <a:off x="457200" y="3419856"/>
            <a:ext cx="146304" cy="310896"/>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3383280"/>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A1A1A"/>
                </a:solidFill>
                <a:latin typeface="Calibri"/>
              </a:defRPr>
            </a:pPr>
            <a:r>
              <a:t>LinUCB / LinTS</a:t>
            </a:r>
          </a:p>
        </p:txBody>
      </p:sp>
      <p:sp>
        <p:nvSpPr>
          <p:cNvPr id="23" name="Rectangle 22"/>
          <p:cNvSpPr/>
          <p:nvPr/>
        </p:nvSpPr>
        <p:spPr>
          <a:xfrm>
            <a:off x="3749040" y="3410712"/>
            <a:ext cx="78638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the two proposed admissible policies</a:t>
            </a:r>
          </a:p>
        </p:txBody>
      </p:sp>
      <p:sp>
        <p:nvSpPr>
          <p:cNvPr id="24" name="Rectangle 23"/>
          <p:cNvSpPr/>
          <p:nvPr/>
        </p:nvSpPr>
        <p:spPr>
          <a:xfrm>
            <a:off x="457200" y="3895344"/>
            <a:ext cx="146304" cy="310896"/>
          </a:xfrm>
          <a:prstGeom prst="rect">
            <a:avLst/>
          </a:prstGeom>
          <a:solidFill>
            <a:srgbClr val="E6A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 y="3858768"/>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A1A1A"/>
                </a:solidFill>
                <a:latin typeface="Calibri"/>
              </a:defRPr>
            </a:pPr>
            <a:r>
              <a:t>ε-Greedy</a:t>
            </a:r>
          </a:p>
        </p:txBody>
      </p:sp>
      <p:sp>
        <p:nvSpPr>
          <p:cNvPr id="26" name="Rectangle 25"/>
          <p:cNvSpPr/>
          <p:nvPr/>
        </p:nvSpPr>
        <p:spPr>
          <a:xfrm>
            <a:off x="3749040" y="3886200"/>
            <a:ext cx="78638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naive explorer — provably worse O(T^2/3)</a:t>
            </a:r>
          </a:p>
        </p:txBody>
      </p:sp>
      <p:sp>
        <p:nvSpPr>
          <p:cNvPr id="27" name="Rectangle 26"/>
          <p:cNvSpPr/>
          <p:nvPr/>
        </p:nvSpPr>
        <p:spPr>
          <a:xfrm>
            <a:off x="457200" y="4370832"/>
            <a:ext cx="146304" cy="310896"/>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 y="4334256"/>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A1A1A"/>
                </a:solidFill>
                <a:latin typeface="Calibri"/>
              </a:defRPr>
            </a:pPr>
            <a:r>
              <a:t>Static XGB</a:t>
            </a:r>
          </a:p>
        </p:txBody>
      </p:sp>
      <p:sp>
        <p:nvSpPr>
          <p:cNvPr id="29" name="Rectangle 28"/>
          <p:cNvSpPr/>
          <p:nvPr/>
        </p:nvSpPr>
        <p:spPr>
          <a:xfrm>
            <a:off x="3749040" y="4361688"/>
            <a:ext cx="78638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train-once incumbent baseline</a:t>
            </a:r>
          </a:p>
        </p:txBody>
      </p:sp>
      <p:sp>
        <p:nvSpPr>
          <p:cNvPr id="30" name="Rectangle 29"/>
          <p:cNvSpPr/>
          <p:nvPr/>
        </p:nvSpPr>
        <p:spPr>
          <a:xfrm>
            <a:off x="457200" y="4846320"/>
            <a:ext cx="146304" cy="310896"/>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 y="4809744"/>
            <a:ext cx="274320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A1A1A"/>
                </a:solidFill>
                <a:latin typeface="Calibri"/>
              </a:defRPr>
            </a:pPr>
            <a:r>
              <a:t>AlwaysRATED</a:t>
            </a:r>
          </a:p>
        </p:txBody>
      </p:sp>
      <p:sp>
        <p:nvSpPr>
          <p:cNvPr id="32" name="Rectangle 31"/>
          <p:cNvSpPr/>
          <p:nvPr/>
        </p:nvSpPr>
        <p:spPr>
          <a:xfrm>
            <a:off x="3749040" y="4837176"/>
            <a:ext cx="7863840"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constant +25% loading — inadmissible ceiling</a:t>
            </a:r>
          </a:p>
        </p:txBody>
      </p:sp>
      <p:sp>
        <p:nvSpPr>
          <p:cNvPr id="33" name="Rectangle 32"/>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Admissibility (§5.0.1): deployable AND commercially/regulatorily viable. AlwaysRATED is the inadmissible ceiling; LinUCB/LinTS are the top-2 admissible policies.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ZOOM-IN: FAIRNESS GUARDRAIL &amp; HITL</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Methodology &amp; Model Design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16 / 29</a:t>
            </a:r>
          </a:p>
        </p:txBody>
      </p:sp>
      <p:sp>
        <p:nvSpPr>
          <p:cNvPr id="10" name="Rectangle 9"/>
          <p:cNvSpPr/>
          <p:nvPr/>
        </p:nvSpPr>
        <p:spPr>
          <a:xfrm>
            <a:off x="874623" y="1188720"/>
            <a:ext cx="1572768" cy="868680"/>
          </a:xfrm>
          <a:prstGeom prst="rect">
            <a:avLst/>
          </a:prstGeom>
          <a:solidFill>
            <a:srgbClr val="2E9E5B"/>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2034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Applicant Context</a:t>
            </a:r>
          </a:p>
        </p:txBody>
      </p:sp>
      <p:sp>
        <p:nvSpPr>
          <p:cNvPr id="12" name="Right Arrow 11"/>
          <p:cNvSpPr/>
          <p:nvPr/>
        </p:nvSpPr>
        <p:spPr>
          <a:xfrm>
            <a:off x="2447391"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48559"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94279"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Bandit Policy</a:t>
            </a:r>
          </a:p>
        </p:txBody>
      </p:sp>
      <p:sp>
        <p:nvSpPr>
          <p:cNvPr id="15" name="Right Arrow 14"/>
          <p:cNvSpPr/>
          <p:nvPr/>
        </p:nvSpPr>
        <p:spPr>
          <a:xfrm>
            <a:off x="4221327"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22495"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68215"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Underwriting Action</a:t>
            </a:r>
          </a:p>
        </p:txBody>
      </p:sp>
      <p:sp>
        <p:nvSpPr>
          <p:cNvPr id="18" name="Right Arrow 17"/>
          <p:cNvSpPr/>
          <p:nvPr/>
        </p:nvSpPr>
        <p:spPr>
          <a:xfrm>
            <a:off x="5995263"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6431"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2151"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Actuarial Reward</a:t>
            </a:r>
          </a:p>
        </p:txBody>
      </p:sp>
      <p:sp>
        <p:nvSpPr>
          <p:cNvPr id="21" name="Right Arrow 20"/>
          <p:cNvSpPr/>
          <p:nvPr/>
        </p:nvSpPr>
        <p:spPr>
          <a:xfrm>
            <a:off x="7769199"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70367" y="1188720"/>
            <a:ext cx="1572768" cy="868680"/>
          </a:xfrm>
          <a:prstGeom prst="rect">
            <a:avLst/>
          </a:prstGeom>
          <a:solidFill>
            <a:srgbClr val="DCE8F6"/>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16087"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1A1A1A"/>
                </a:solidFill>
                <a:latin typeface="Calibri"/>
              </a:defRPr>
            </a:pPr>
            <a:r>
              <a:t>PSI Fairness + HITL</a:t>
            </a:r>
          </a:p>
        </p:txBody>
      </p:sp>
      <p:sp>
        <p:nvSpPr>
          <p:cNvPr id="24" name="Right Arrow 23"/>
          <p:cNvSpPr/>
          <p:nvPr/>
        </p:nvSpPr>
        <p:spPr>
          <a:xfrm>
            <a:off x="9543135" y="1513332"/>
            <a:ext cx="201168" cy="219456"/>
          </a:xfrm>
          <a:prstGeom prst="rightArrow">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744303" y="1188720"/>
            <a:ext cx="1572768" cy="868680"/>
          </a:xfrm>
          <a:prstGeom prst="rect">
            <a:avLst/>
          </a:prstGeom>
          <a:solidFill>
            <a:srgbClr val="E68A2E"/>
          </a:solidFill>
          <a:ln w="12700">
            <a:solidFill>
              <a:srgbClr val="1B56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790023" y="1188720"/>
            <a:ext cx="1481328" cy="8686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1" i="0">
                <a:solidFill>
                  <a:srgbClr val="FFFFFF"/>
                </a:solidFill>
                <a:latin typeface="Calibri"/>
              </a:defRPr>
            </a:pPr>
            <a:r>
              <a:t>Decision</a:t>
            </a:r>
          </a:p>
        </p:txBody>
      </p:sp>
      <p:sp>
        <p:nvSpPr>
          <p:cNvPr id="27" name="Rectangle 26"/>
          <p:cNvSpPr/>
          <p:nvPr/>
        </p:nvSpPr>
        <p:spPr>
          <a:xfrm>
            <a:off x="7897215" y="1115568"/>
            <a:ext cx="1719072" cy="1014984"/>
          </a:xfrm>
          <a:prstGeom prst="rect">
            <a:avLst/>
          </a:prstGeom>
          <a:noFill/>
          <a:ln w="3810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2331720"/>
            <a:ext cx="539496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Calibri"/>
              </a:defRPr>
            </a:pPr>
            <a:r>
              <a:rPr spc="120"/>
              <a:t>PSI DEMOGRAPHIC GUARDRAIL</a:t>
            </a:r>
          </a:p>
        </p:txBody>
      </p:sp>
      <p:sp>
        <p:nvSpPr>
          <p:cNvPr id="29" name="Rectangle 28"/>
          <p:cNvSpPr/>
          <p:nvPr/>
        </p:nvSpPr>
        <p:spPr>
          <a:xfrm>
            <a:off x="457200" y="2788920"/>
            <a:ext cx="146304" cy="45720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 y="2788920"/>
            <a:ext cx="1371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A1A1A"/>
                </a:solidFill>
                <a:latin typeface="Calibri"/>
              </a:defRPr>
            </a:pPr>
            <a:r>
              <a:t>GREEN</a:t>
            </a:r>
          </a:p>
        </p:txBody>
      </p:sp>
      <p:sp>
        <p:nvSpPr>
          <p:cNvPr id="31" name="Rectangle 30"/>
          <p:cNvSpPr/>
          <p:nvPr/>
        </p:nvSpPr>
        <p:spPr>
          <a:xfrm>
            <a:off x="2286000" y="2825496"/>
            <a:ext cx="19202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PSI &lt; 0.10</a:t>
            </a:r>
          </a:p>
        </p:txBody>
      </p:sp>
      <p:sp>
        <p:nvSpPr>
          <p:cNvPr id="32" name="Rectangle 31"/>
          <p:cNvSpPr/>
          <p:nvPr/>
        </p:nvSpPr>
        <p:spPr>
          <a:xfrm>
            <a:off x="4297680" y="2825496"/>
            <a:ext cx="15544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stable</a:t>
            </a:r>
          </a:p>
        </p:txBody>
      </p:sp>
      <p:sp>
        <p:nvSpPr>
          <p:cNvPr id="33" name="Rectangle 32"/>
          <p:cNvSpPr/>
          <p:nvPr/>
        </p:nvSpPr>
        <p:spPr>
          <a:xfrm>
            <a:off x="457200" y="3355848"/>
            <a:ext cx="146304" cy="457200"/>
          </a:xfrm>
          <a:prstGeom prst="rect">
            <a:avLst/>
          </a:prstGeom>
          <a:solidFill>
            <a:srgbClr val="E6A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 y="3355848"/>
            <a:ext cx="1371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A1A1A"/>
                </a:solidFill>
                <a:latin typeface="Calibri"/>
              </a:defRPr>
            </a:pPr>
            <a:r>
              <a:t>AMBER</a:t>
            </a:r>
          </a:p>
        </p:txBody>
      </p:sp>
      <p:sp>
        <p:nvSpPr>
          <p:cNvPr id="35" name="Rectangle 34"/>
          <p:cNvSpPr/>
          <p:nvPr/>
        </p:nvSpPr>
        <p:spPr>
          <a:xfrm>
            <a:off x="2286000" y="3392424"/>
            <a:ext cx="19202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0.10-0.25</a:t>
            </a:r>
          </a:p>
        </p:txBody>
      </p:sp>
      <p:sp>
        <p:nvSpPr>
          <p:cNvPr id="36" name="Rectangle 35"/>
          <p:cNvSpPr/>
          <p:nvPr/>
        </p:nvSpPr>
        <p:spPr>
          <a:xfrm>
            <a:off x="4297680" y="3392424"/>
            <a:ext cx="15544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monitor</a:t>
            </a:r>
          </a:p>
        </p:txBody>
      </p:sp>
      <p:sp>
        <p:nvSpPr>
          <p:cNvPr id="37" name="Rectangle 36"/>
          <p:cNvSpPr/>
          <p:nvPr/>
        </p:nvSpPr>
        <p:spPr>
          <a:xfrm>
            <a:off x="457200" y="3922776"/>
            <a:ext cx="146304" cy="45720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22960" y="3922776"/>
            <a:ext cx="1371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A1A1A"/>
                </a:solidFill>
                <a:latin typeface="Calibri"/>
              </a:defRPr>
            </a:pPr>
            <a:r>
              <a:t>RED</a:t>
            </a:r>
          </a:p>
        </p:txBody>
      </p:sp>
      <p:sp>
        <p:nvSpPr>
          <p:cNvPr id="39" name="Rectangle 38"/>
          <p:cNvSpPr/>
          <p:nvPr/>
        </p:nvSpPr>
        <p:spPr>
          <a:xfrm>
            <a:off x="2286000" y="3959352"/>
            <a:ext cx="192024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PSI ≥ 0.25</a:t>
            </a:r>
          </a:p>
        </p:txBody>
      </p:sp>
      <p:sp>
        <p:nvSpPr>
          <p:cNvPr id="40" name="Rectangle 39"/>
          <p:cNvSpPr/>
          <p:nvPr/>
        </p:nvSpPr>
        <p:spPr>
          <a:xfrm>
            <a:off x="4297680" y="3959352"/>
            <a:ext cx="155448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3A3A3A"/>
                </a:solidFill>
                <a:latin typeface="Calibri"/>
              </a:defRPr>
            </a:pPr>
            <a:r>
              <a:t>review</a:t>
            </a:r>
          </a:p>
        </p:txBody>
      </p:sp>
      <p:sp>
        <p:nvSpPr>
          <p:cNvPr id="41" name="Rectangle 40"/>
          <p:cNvSpPr/>
          <p:nvPr/>
        </p:nvSpPr>
        <p:spPr>
          <a:xfrm>
            <a:off x="457200" y="4535424"/>
            <a:ext cx="5394960" cy="5486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Computed on region &amp; occupation, rolling 500-round window.</a:t>
            </a:r>
          </a:p>
        </p:txBody>
      </p:sp>
      <p:sp>
        <p:nvSpPr>
          <p:cNvPr id="42" name="Rectangle 41"/>
          <p:cNvSpPr/>
          <p:nvPr/>
        </p:nvSpPr>
        <p:spPr>
          <a:xfrm>
            <a:off x="6492240" y="2331720"/>
            <a:ext cx="5212080" cy="29260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1" i="0">
                <a:solidFill>
                  <a:srgbClr val="1B5697"/>
                </a:solidFill>
                <a:latin typeface="Calibri"/>
              </a:defRPr>
            </a:pPr>
            <a:r>
              <a:rPr spc="120"/>
              <a:t>HUMAN-IN-THE-LOOP WRAPPER</a:t>
            </a:r>
          </a:p>
        </p:txBody>
      </p:sp>
      <p:sp>
        <p:nvSpPr>
          <p:cNvPr id="43" name="Rectangle 42"/>
          <p:cNvSpPr/>
          <p:nvPr/>
        </p:nvSpPr>
        <p:spPr>
          <a:xfrm>
            <a:off x="6492240" y="289864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748272" y="2788920"/>
            <a:ext cx="49560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1A1A1A"/>
                </a:solidFill>
                <a:latin typeface="Calibri"/>
              </a:defRPr>
            </a:pPr>
            <a:r>
              <a:t>Uncertainty &gt; κ  →  REFER to actuary</a:t>
            </a:r>
          </a:p>
        </p:txBody>
      </p:sp>
      <p:sp>
        <p:nvSpPr>
          <p:cNvPr id="45" name="Rectangle 44"/>
          <p:cNvSpPr/>
          <p:nvPr/>
        </p:nvSpPr>
        <p:spPr>
          <a:xfrm>
            <a:off x="6492240" y="346557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748272" y="3355848"/>
            <a:ext cx="49560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1A1A1A"/>
                </a:solidFill>
                <a:latin typeface="Calibri"/>
              </a:defRPr>
            </a:pPr>
            <a:r>
              <a:t>Conservatism κ ∈ {0.3, 0.5, 0.7}</a:t>
            </a:r>
          </a:p>
        </p:txBody>
      </p:sp>
      <p:sp>
        <p:nvSpPr>
          <p:cNvPr id="47" name="Rectangle 46"/>
          <p:cNvSpPr/>
          <p:nvPr/>
        </p:nvSpPr>
        <p:spPr>
          <a:xfrm>
            <a:off x="6492240" y="4032504"/>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748272" y="3922776"/>
            <a:ext cx="49560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1A1A1A"/>
                </a:solidFill>
                <a:latin typeface="Calibri"/>
              </a:defRPr>
            </a:pPr>
            <a:r>
              <a:t>Human decides; reward still trains bandit</a:t>
            </a:r>
          </a:p>
        </p:txBody>
      </p:sp>
      <p:sp>
        <p:nvSpPr>
          <p:cNvPr id="49" name="Rectangle 48"/>
          <p:cNvSpPr/>
          <p:nvPr/>
        </p:nvSpPr>
        <p:spPr>
          <a:xfrm>
            <a:off x="6492240" y="4599432"/>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48272" y="4489704"/>
            <a:ext cx="495604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0" i="0">
                <a:solidFill>
                  <a:srgbClr val="1A1A1A"/>
                </a:solidFill>
                <a:latin typeface="Calibri"/>
              </a:defRPr>
            </a:pPr>
            <a:r>
              <a:t>Target: review cost &lt; 2% of reward</a:t>
            </a:r>
          </a:p>
        </p:txBody>
      </p:sp>
      <p:sp>
        <p:nvSpPr>
          <p:cNvPr id="51" name="Rectangle 50"/>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PSI is a monitor, not an enforcer -- constrained-action enforcement is future work.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100584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2000" b="1" i="0">
                <a:solidFill>
                  <a:srgbClr val="FFFFFF"/>
                </a:solidFill>
                <a:latin typeface="Segoe UI"/>
              </a:defRPr>
            </a:pPr>
            <a:r>
              <a:t>IV.</a:t>
            </a:r>
          </a:p>
        </p:txBody>
      </p:sp>
      <p:sp>
        <p:nvSpPr>
          <p:cNvPr id="4" name="Rectangle 3"/>
          <p:cNvSpPr/>
          <p:nvPr/>
        </p:nvSpPr>
        <p:spPr>
          <a:xfrm>
            <a:off x="914400" y="3794760"/>
            <a:ext cx="292608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977639"/>
            <a:ext cx="104241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200" b="1" i="0">
                <a:solidFill>
                  <a:srgbClr val="FFFFFF"/>
                </a:solidFill>
                <a:latin typeface="Segoe UI"/>
              </a:defRPr>
            </a:pPr>
            <a:r>
              <a:t>Results &amp; Evaluation</a:t>
            </a:r>
          </a:p>
        </p:txBody>
      </p:sp>
      <p:sp>
        <p:nvSpPr>
          <p:cNvPr id="6" name="Rectangle 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8" name="Rectangle 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10" name="Rectangle 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19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HEADLINE BENCHMARK</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17 / 29</a:t>
            </a:r>
          </a:p>
        </p:txBody>
      </p:sp>
      <p:pic>
        <p:nvPicPr>
          <p:cNvPr id="10" name="Picture 9" descr="slide_loglog_regret.png"/>
          <p:cNvPicPr>
            <a:picLocks noChangeAspect="1"/>
          </p:cNvPicPr>
          <p:nvPr/>
        </p:nvPicPr>
        <p:blipFill>
          <a:blip r:embed="rId2"/>
          <a:stretch>
            <a:fillRect/>
          </a:stretch>
        </p:blipFill>
        <p:spPr>
          <a:xfrm>
            <a:off x="470762" y="1280160"/>
            <a:ext cx="6007915" cy="4654296"/>
          </a:xfrm>
          <a:prstGeom prst="rect">
            <a:avLst/>
          </a:prstGeom>
          <a:effectLst/>
        </p:spPr>
      </p:pic>
      <p:sp>
        <p:nvSpPr>
          <p:cNvPr id="11" name="Rectangle 10"/>
          <p:cNvSpPr/>
          <p:nvPr/>
        </p:nvSpPr>
        <p:spPr>
          <a:xfrm>
            <a:off x="6912864" y="1508760"/>
            <a:ext cx="62179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a:t>
            </a:r>
          </a:p>
        </p:txBody>
      </p:sp>
      <p:sp>
        <p:nvSpPr>
          <p:cNvPr id="12" name="Rectangle 11"/>
          <p:cNvSpPr/>
          <p:nvPr/>
        </p:nvSpPr>
        <p:spPr>
          <a:xfrm>
            <a:off x="7644384" y="1508760"/>
            <a:ext cx="208483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Algorithm</a:t>
            </a:r>
          </a:p>
        </p:txBody>
      </p:sp>
      <p:sp>
        <p:nvSpPr>
          <p:cNvPr id="13" name="Rectangle 12"/>
          <p:cNvSpPr/>
          <p:nvPr/>
        </p:nvSpPr>
        <p:spPr>
          <a:xfrm>
            <a:off x="9838944" y="1508760"/>
            <a:ext cx="18105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Reward</a:t>
            </a:r>
          </a:p>
        </p:txBody>
      </p:sp>
      <p:sp>
        <p:nvSpPr>
          <p:cNvPr id="14" name="Rectangle 13"/>
          <p:cNvSpPr/>
          <p:nvPr/>
        </p:nvSpPr>
        <p:spPr>
          <a:xfrm>
            <a:off x="6858000" y="1837944"/>
            <a:ext cx="48463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0" y="1911096"/>
            <a:ext cx="4846320" cy="56692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912864" y="1947672"/>
            <a:ext cx="62179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1</a:t>
            </a:r>
          </a:p>
        </p:txBody>
      </p:sp>
      <p:sp>
        <p:nvSpPr>
          <p:cNvPr id="17" name="Rectangle 16"/>
          <p:cNvSpPr/>
          <p:nvPr/>
        </p:nvSpPr>
        <p:spPr>
          <a:xfrm>
            <a:off x="7644384" y="1947672"/>
            <a:ext cx="208483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LinTS</a:t>
            </a:r>
          </a:p>
        </p:txBody>
      </p:sp>
      <p:sp>
        <p:nvSpPr>
          <p:cNvPr id="18" name="Rectangle 17"/>
          <p:cNvSpPr/>
          <p:nvPr/>
        </p:nvSpPr>
        <p:spPr>
          <a:xfrm>
            <a:off x="9838944" y="1947672"/>
            <a:ext cx="18105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$93,572</a:t>
            </a:r>
          </a:p>
        </p:txBody>
      </p:sp>
      <p:sp>
        <p:nvSpPr>
          <p:cNvPr id="19" name="Rectangle 18"/>
          <p:cNvSpPr/>
          <p:nvPr/>
        </p:nvSpPr>
        <p:spPr>
          <a:xfrm>
            <a:off x="6912864" y="2514600"/>
            <a:ext cx="62179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2</a:t>
            </a:r>
          </a:p>
        </p:txBody>
      </p:sp>
      <p:sp>
        <p:nvSpPr>
          <p:cNvPr id="20" name="Rectangle 19"/>
          <p:cNvSpPr/>
          <p:nvPr/>
        </p:nvSpPr>
        <p:spPr>
          <a:xfrm>
            <a:off x="7644384" y="2514600"/>
            <a:ext cx="208483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LinUCB</a:t>
            </a:r>
          </a:p>
        </p:txBody>
      </p:sp>
      <p:sp>
        <p:nvSpPr>
          <p:cNvPr id="21" name="Rectangle 20"/>
          <p:cNvSpPr/>
          <p:nvPr/>
        </p:nvSpPr>
        <p:spPr>
          <a:xfrm>
            <a:off x="9838944" y="2514600"/>
            <a:ext cx="18105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$91,947</a:t>
            </a:r>
          </a:p>
        </p:txBody>
      </p:sp>
      <p:sp>
        <p:nvSpPr>
          <p:cNvPr id="22" name="Rectangle 21"/>
          <p:cNvSpPr/>
          <p:nvPr/>
        </p:nvSpPr>
        <p:spPr>
          <a:xfrm>
            <a:off x="6858000" y="3044952"/>
            <a:ext cx="4846320" cy="56692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12864" y="3081528"/>
            <a:ext cx="62179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3</a:t>
            </a:r>
          </a:p>
        </p:txBody>
      </p:sp>
      <p:sp>
        <p:nvSpPr>
          <p:cNvPr id="24" name="Rectangle 23"/>
          <p:cNvSpPr/>
          <p:nvPr/>
        </p:nvSpPr>
        <p:spPr>
          <a:xfrm>
            <a:off x="7644384" y="3081528"/>
            <a:ext cx="208483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EpsilonGreedy</a:t>
            </a:r>
          </a:p>
        </p:txBody>
      </p:sp>
      <p:sp>
        <p:nvSpPr>
          <p:cNvPr id="25" name="Rectangle 24"/>
          <p:cNvSpPr/>
          <p:nvPr/>
        </p:nvSpPr>
        <p:spPr>
          <a:xfrm>
            <a:off x="9838944" y="3081528"/>
            <a:ext cx="18105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$76,441</a:t>
            </a:r>
          </a:p>
        </p:txBody>
      </p:sp>
      <p:sp>
        <p:nvSpPr>
          <p:cNvPr id="26" name="Rectangle 25"/>
          <p:cNvSpPr/>
          <p:nvPr/>
        </p:nvSpPr>
        <p:spPr>
          <a:xfrm>
            <a:off x="6912864" y="3648456"/>
            <a:ext cx="62179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4</a:t>
            </a:r>
          </a:p>
        </p:txBody>
      </p:sp>
      <p:sp>
        <p:nvSpPr>
          <p:cNvPr id="27" name="Rectangle 26"/>
          <p:cNvSpPr/>
          <p:nvPr/>
        </p:nvSpPr>
        <p:spPr>
          <a:xfrm>
            <a:off x="7644384" y="3648456"/>
            <a:ext cx="208483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StaticXGB</a:t>
            </a:r>
          </a:p>
        </p:txBody>
      </p:sp>
      <p:sp>
        <p:nvSpPr>
          <p:cNvPr id="28" name="Rectangle 27"/>
          <p:cNvSpPr/>
          <p:nvPr/>
        </p:nvSpPr>
        <p:spPr>
          <a:xfrm>
            <a:off x="9838944" y="3648456"/>
            <a:ext cx="18105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$72,173</a:t>
            </a:r>
          </a:p>
        </p:txBody>
      </p:sp>
      <p:sp>
        <p:nvSpPr>
          <p:cNvPr id="29" name="Rectangle 28"/>
          <p:cNvSpPr/>
          <p:nvPr/>
        </p:nvSpPr>
        <p:spPr>
          <a:xfrm>
            <a:off x="6858000" y="4389120"/>
            <a:ext cx="484632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Log-log regret slope 0.572 (R² = 0.992) -- sub-linear, consistent with O(√T·d).</a:t>
            </a:r>
          </a:p>
        </p:txBody>
      </p:sp>
      <p:sp>
        <p:nvSpPr>
          <p:cNvPr id="30" name="Rectangle 29"/>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Scope: admissible policies only (§5.0.1). LinTS vs LinUCB p = 0.87 (n.s. — tied at 20 seeds); same CRN harness.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CONVERGENCE &amp; REGRET</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18 / 29</a:t>
            </a:r>
          </a:p>
        </p:txBody>
      </p:sp>
      <p:sp>
        <p:nvSpPr>
          <p:cNvPr id="10" name="Rectangle 9"/>
          <p:cNvSpPr/>
          <p:nvPr/>
        </p:nvSpPr>
        <p:spPr>
          <a:xfrm>
            <a:off x="457200"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B5697"/>
                </a:solidFill>
                <a:latin typeface="Calibri"/>
              </a:defRPr>
            </a:pPr>
            <a:r>
              <a:t>+25.2%</a:t>
            </a:r>
          </a:p>
        </p:txBody>
      </p:sp>
      <p:sp>
        <p:nvSpPr>
          <p:cNvPr id="11" name="Rectangle 10"/>
          <p:cNvSpPr/>
          <p:nvPr/>
        </p:nvSpPr>
        <p:spPr>
          <a:xfrm>
            <a:off x="457200"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REWARD LIFT VS STATIC XGB</a:t>
            </a:r>
          </a:p>
        </p:txBody>
      </p:sp>
      <p:sp>
        <p:nvSpPr>
          <p:cNvPr id="12" name="Rectangle 11"/>
          <p:cNvSpPr/>
          <p:nvPr/>
        </p:nvSpPr>
        <p:spPr>
          <a:xfrm>
            <a:off x="3276523"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d = 2.98</a:t>
            </a:r>
          </a:p>
        </p:txBody>
      </p:sp>
      <p:sp>
        <p:nvSpPr>
          <p:cNvPr id="13" name="Rectangle 12"/>
          <p:cNvSpPr/>
          <p:nvPr/>
        </p:nvSpPr>
        <p:spPr>
          <a:xfrm>
            <a:off x="3276523"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EFFECT SIZE</a:t>
            </a:r>
          </a:p>
        </p:txBody>
      </p:sp>
      <p:sp>
        <p:nvSpPr>
          <p:cNvPr id="14" name="Rectangle 13"/>
          <p:cNvSpPr/>
          <p:nvPr/>
        </p:nvSpPr>
        <p:spPr>
          <a:xfrm>
            <a:off x="3166795"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5846"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p &lt; 0.001</a:t>
            </a:r>
          </a:p>
        </p:txBody>
      </p:sp>
      <p:sp>
        <p:nvSpPr>
          <p:cNvPr id="16" name="Rectangle 15"/>
          <p:cNvSpPr/>
          <p:nvPr/>
        </p:nvSpPr>
        <p:spPr>
          <a:xfrm>
            <a:off x="6095846"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PAIRED WILCOXON · 20 SEEDS</a:t>
            </a:r>
          </a:p>
        </p:txBody>
      </p:sp>
      <p:sp>
        <p:nvSpPr>
          <p:cNvPr id="17" name="Rectangle 16"/>
          <p:cNvSpPr/>
          <p:nvPr/>
        </p:nvSpPr>
        <p:spPr>
          <a:xfrm>
            <a:off x="5986118"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15169"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$90,540</a:t>
            </a:r>
          </a:p>
        </p:txBody>
      </p:sp>
      <p:sp>
        <p:nvSpPr>
          <p:cNvPr id="19" name="Rectangle 18"/>
          <p:cNvSpPr/>
          <p:nvPr/>
        </p:nvSpPr>
        <p:spPr>
          <a:xfrm>
            <a:off x="8915169"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LINUCB CUMULATIVE REWARD</a:t>
            </a:r>
          </a:p>
        </p:txBody>
      </p:sp>
      <p:sp>
        <p:nvSpPr>
          <p:cNvPr id="20" name="Rectangle 19"/>
          <p:cNvSpPr/>
          <p:nvPr/>
        </p:nvSpPr>
        <p:spPr>
          <a:xfrm>
            <a:off x="8805441"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lide_reward_curves.png"/>
          <p:cNvPicPr>
            <a:picLocks noChangeAspect="1"/>
          </p:cNvPicPr>
          <p:nvPr/>
        </p:nvPicPr>
        <p:blipFill>
          <a:blip r:embed="rId2"/>
          <a:stretch>
            <a:fillRect/>
          </a:stretch>
        </p:blipFill>
        <p:spPr>
          <a:xfrm>
            <a:off x="1933712" y="2331720"/>
            <a:ext cx="8324270" cy="3557016"/>
          </a:xfrm>
          <a:prstGeom prst="rect">
            <a:avLst/>
          </a:prstGeom>
          <a:effectLst/>
        </p:spPr>
      </p:pic>
      <p:sp>
        <p:nvSpPr>
          <p:cNvPr id="22" name="Rectangle 21"/>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Scope: admissible policies only (§5.0.1). Static XGB $72,292 · Oracle $126,804 (72% recovered).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COLD-START &amp; HUMAN-IN-THE-LOOP</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19 / 29</a:t>
            </a:r>
          </a:p>
        </p:txBody>
      </p:sp>
      <p:sp>
        <p:nvSpPr>
          <p:cNvPr id="10" name="Rectangle 9"/>
          <p:cNvSpPr/>
          <p:nvPr/>
        </p:nvSpPr>
        <p:spPr>
          <a:xfrm>
            <a:off x="457200"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2E8B57"/>
                </a:solidFill>
                <a:latin typeface="Calibri"/>
              </a:defRPr>
            </a:pPr>
            <a:r>
              <a:t>p = 0.0039</a:t>
            </a:r>
          </a:p>
        </p:txBody>
      </p:sp>
      <p:sp>
        <p:nvSpPr>
          <p:cNvPr id="11" name="Rectangle 10"/>
          <p:cNvSpPr/>
          <p:nvPr/>
        </p:nvSpPr>
        <p:spPr>
          <a:xfrm>
            <a:off x="457200"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LINTS PASSED @ T=2,000</a:t>
            </a:r>
          </a:p>
        </p:txBody>
      </p:sp>
      <p:sp>
        <p:nvSpPr>
          <p:cNvPr id="12" name="Rectangle 11"/>
          <p:cNvSpPr/>
          <p:nvPr/>
        </p:nvSpPr>
        <p:spPr>
          <a:xfrm>
            <a:off x="3276523"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E6A62E"/>
                </a:solidFill>
                <a:latin typeface="Calibri"/>
              </a:defRPr>
            </a:pPr>
            <a:r>
              <a:t>p = 0.0840</a:t>
            </a:r>
          </a:p>
        </p:txBody>
      </p:sp>
      <p:sp>
        <p:nvSpPr>
          <p:cNvPr id="13" name="Rectangle 12"/>
          <p:cNvSpPr/>
          <p:nvPr/>
        </p:nvSpPr>
        <p:spPr>
          <a:xfrm>
            <a:off x="3276523"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LINUCB DRAWS LEVEL @ T=2,000</a:t>
            </a:r>
          </a:p>
        </p:txBody>
      </p:sp>
      <p:sp>
        <p:nvSpPr>
          <p:cNvPr id="14" name="Rectangle 13"/>
          <p:cNvSpPr/>
          <p:nvPr/>
        </p:nvSpPr>
        <p:spPr>
          <a:xfrm>
            <a:off x="3166795"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95846"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2E8B57"/>
                </a:solidFill>
                <a:latin typeface="Calibri"/>
              </a:defRPr>
            </a:pPr>
            <a:r>
              <a:t>+14.8%</a:t>
            </a:r>
          </a:p>
        </p:txBody>
      </p:sp>
      <p:sp>
        <p:nvSpPr>
          <p:cNvPr id="16" name="Rectangle 15"/>
          <p:cNvSpPr/>
          <p:nvPr/>
        </p:nvSpPr>
        <p:spPr>
          <a:xfrm>
            <a:off x="6095846"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HITL LIFT VS VANILLA BANDIT</a:t>
            </a:r>
          </a:p>
        </p:txBody>
      </p:sp>
      <p:sp>
        <p:nvSpPr>
          <p:cNvPr id="17" name="Rectangle 16"/>
          <p:cNvSpPr/>
          <p:nvPr/>
        </p:nvSpPr>
        <p:spPr>
          <a:xfrm>
            <a:off x="5986118"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15169" y="1234440"/>
            <a:ext cx="2682163"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000" b="1" i="0">
                <a:solidFill>
                  <a:srgbClr val="1A1A1A"/>
                </a:solidFill>
                <a:latin typeface="Calibri"/>
              </a:defRPr>
            </a:pPr>
            <a:r>
              <a:t>1.3%</a:t>
            </a:r>
          </a:p>
        </p:txBody>
      </p:sp>
      <p:sp>
        <p:nvSpPr>
          <p:cNvPr id="19" name="Rectangle 18"/>
          <p:cNvSpPr/>
          <p:nvPr/>
        </p:nvSpPr>
        <p:spPr>
          <a:xfrm>
            <a:off x="8915169" y="1801368"/>
            <a:ext cx="2682163"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00" b="0" i="0">
                <a:solidFill>
                  <a:srgbClr val="777777"/>
                </a:solidFill>
                <a:latin typeface="Calibri"/>
              </a:defRPr>
            </a:pPr>
            <a:r>
              <a:rPr spc="80"/>
              <a:t>REFERRAL RATE</a:t>
            </a:r>
          </a:p>
        </p:txBody>
      </p:sp>
      <p:sp>
        <p:nvSpPr>
          <p:cNvPr id="20" name="Rectangle 19"/>
          <p:cNvSpPr/>
          <p:nvPr/>
        </p:nvSpPr>
        <p:spPr>
          <a:xfrm>
            <a:off x="8805441" y="1280160"/>
            <a:ext cx="10972" cy="822960"/>
          </a:xfrm>
          <a:prstGeom prst="rect">
            <a:avLst/>
          </a:prstGeom>
          <a:solidFill>
            <a:srgbClr val="DDDD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slide_cold_start.png"/>
          <p:cNvPicPr>
            <a:picLocks noChangeAspect="1"/>
          </p:cNvPicPr>
          <p:nvPr/>
        </p:nvPicPr>
        <p:blipFill>
          <a:blip r:embed="rId2"/>
          <a:stretch>
            <a:fillRect/>
          </a:stretch>
        </p:blipFill>
        <p:spPr>
          <a:xfrm>
            <a:off x="549250" y="2331720"/>
            <a:ext cx="5668059" cy="3557016"/>
          </a:xfrm>
          <a:prstGeom prst="rect">
            <a:avLst/>
          </a:prstGeom>
          <a:effectLst/>
        </p:spPr>
      </p:pic>
      <p:pic>
        <p:nvPicPr>
          <p:cNvPr id="22" name="Picture 21" descr="slide_hitl.png"/>
          <p:cNvPicPr>
            <a:picLocks noChangeAspect="1"/>
          </p:cNvPicPr>
          <p:nvPr/>
        </p:nvPicPr>
        <p:blipFill>
          <a:blip r:embed="rId3"/>
          <a:stretch>
            <a:fillRect/>
          </a:stretch>
        </p:blipFill>
        <p:spPr>
          <a:xfrm>
            <a:off x="6400800" y="2398993"/>
            <a:ext cx="5303520" cy="3422469"/>
          </a:xfrm>
          <a:prstGeom prst="rect">
            <a:avLst/>
          </a:prstGeom>
          <a:effectLst/>
        </p:spPr>
      </p:pic>
      <p:sp>
        <p:nvSpPr>
          <p:cNvPr id="23" name="Rectangle 22"/>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Only LinTS is certified at T = 2,000 (p = 0.0039); LinUCB's lead is not significant (p = 0.0840, d = 0.55) and is reported as 'draws level'. HITL +14.8% is vs the vanilla bandit, not the AlwaysRATED ceiling (§5.4.2).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FAIRNESS AUDIT &amp; DRIFT</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20 / 29</a:t>
            </a:r>
          </a:p>
        </p:txBody>
      </p:sp>
      <p:sp>
        <p:nvSpPr>
          <p:cNvPr id="10" name="Rectangle 9"/>
          <p:cNvSpPr/>
          <p:nvPr/>
        </p:nvSpPr>
        <p:spPr>
          <a:xfrm>
            <a:off x="457200" y="1207008"/>
            <a:ext cx="58521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800" b="1" i="0">
                <a:solidFill>
                  <a:srgbClr val="1A1A1A"/>
                </a:solidFill>
                <a:latin typeface="Calibri"/>
              </a:defRPr>
            </a:pPr>
            <a:r>
              <a:t>5 of 6 fairness criteria PASSED</a:t>
            </a:r>
          </a:p>
        </p:txBody>
      </p:sp>
      <p:sp>
        <p:nvSpPr>
          <p:cNvPr id="11" name="Rectangle 10"/>
          <p:cNvSpPr/>
          <p:nvPr/>
        </p:nvSpPr>
        <p:spPr>
          <a:xfrm>
            <a:off x="457200" y="1737360"/>
            <a:ext cx="2834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B5697"/>
                </a:solidFill>
                <a:latin typeface="Calibri"/>
              </a:defRPr>
            </a:pPr>
            <a:r>
              <a:t>Region</a:t>
            </a:r>
          </a:p>
        </p:txBody>
      </p:sp>
      <p:sp>
        <p:nvSpPr>
          <p:cNvPr id="12" name="Rectangle 11"/>
          <p:cNvSpPr/>
          <p:nvPr/>
        </p:nvSpPr>
        <p:spPr>
          <a:xfrm>
            <a:off x="512064" y="2148840"/>
            <a:ext cx="1261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Check</a:t>
            </a:r>
          </a:p>
        </p:txBody>
      </p:sp>
      <p:sp>
        <p:nvSpPr>
          <p:cNvPr id="13" name="Rectangle 12"/>
          <p:cNvSpPr/>
          <p:nvPr/>
        </p:nvSpPr>
        <p:spPr>
          <a:xfrm>
            <a:off x="1883664" y="2148840"/>
            <a:ext cx="13533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Result</a:t>
            </a:r>
          </a:p>
        </p:txBody>
      </p:sp>
      <p:sp>
        <p:nvSpPr>
          <p:cNvPr id="14" name="Rectangle 13"/>
          <p:cNvSpPr/>
          <p:nvPr/>
        </p:nvSpPr>
        <p:spPr>
          <a:xfrm>
            <a:off x="457200" y="2478024"/>
            <a:ext cx="283464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551176"/>
            <a:ext cx="283464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 y="258775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PSI zone</a:t>
            </a:r>
          </a:p>
        </p:txBody>
      </p:sp>
      <p:sp>
        <p:nvSpPr>
          <p:cNvPr id="17" name="Rectangle 16"/>
          <p:cNvSpPr/>
          <p:nvPr/>
        </p:nvSpPr>
        <p:spPr>
          <a:xfrm>
            <a:off x="1883664" y="258775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2E8B57"/>
                </a:solidFill>
                <a:latin typeface="Calibri"/>
              </a:defRPr>
            </a:pPr>
            <a:r>
              <a:t>GREEN (0.0821)</a:t>
            </a:r>
          </a:p>
        </p:txBody>
      </p:sp>
      <p:sp>
        <p:nvSpPr>
          <p:cNvPr id="18" name="Rectangle 17"/>
          <p:cNvSpPr/>
          <p:nvPr/>
        </p:nvSpPr>
        <p:spPr>
          <a:xfrm>
            <a:off x="512064" y="313639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EEOC parity</a:t>
            </a:r>
          </a:p>
        </p:txBody>
      </p:sp>
      <p:sp>
        <p:nvSpPr>
          <p:cNvPr id="19" name="Rectangle 18"/>
          <p:cNvSpPr/>
          <p:nvPr/>
        </p:nvSpPr>
        <p:spPr>
          <a:xfrm>
            <a:off x="1883664" y="313639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85.72%</a:t>
            </a:r>
          </a:p>
        </p:txBody>
      </p:sp>
      <p:sp>
        <p:nvSpPr>
          <p:cNvPr id="20" name="Rectangle 19"/>
          <p:cNvSpPr/>
          <p:nvPr/>
        </p:nvSpPr>
        <p:spPr>
          <a:xfrm>
            <a:off x="457200" y="3648456"/>
            <a:ext cx="283464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368503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Crit. 6</a:t>
            </a:r>
          </a:p>
        </p:txBody>
      </p:sp>
      <p:sp>
        <p:nvSpPr>
          <p:cNvPr id="22" name="Rectangle 21"/>
          <p:cNvSpPr/>
          <p:nvPr/>
        </p:nvSpPr>
        <p:spPr>
          <a:xfrm>
            <a:off x="1883664" y="368503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2E8B57"/>
                </a:solidFill>
                <a:latin typeface="Calibri"/>
              </a:defRPr>
            </a:pPr>
            <a:r>
              <a:t>PASSED</a:t>
            </a:r>
          </a:p>
        </p:txBody>
      </p:sp>
      <p:sp>
        <p:nvSpPr>
          <p:cNvPr id="23" name="Rectangle 22"/>
          <p:cNvSpPr/>
          <p:nvPr/>
        </p:nvSpPr>
        <p:spPr>
          <a:xfrm>
            <a:off x="3474720" y="1737360"/>
            <a:ext cx="28346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B5697"/>
                </a:solidFill>
                <a:latin typeface="Calibri"/>
              </a:defRPr>
            </a:pPr>
            <a:r>
              <a:t>Occupation</a:t>
            </a:r>
          </a:p>
        </p:txBody>
      </p:sp>
      <p:sp>
        <p:nvSpPr>
          <p:cNvPr id="24" name="Rectangle 23"/>
          <p:cNvSpPr/>
          <p:nvPr/>
        </p:nvSpPr>
        <p:spPr>
          <a:xfrm>
            <a:off x="3529584" y="2148840"/>
            <a:ext cx="1261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Check</a:t>
            </a:r>
          </a:p>
        </p:txBody>
      </p:sp>
      <p:sp>
        <p:nvSpPr>
          <p:cNvPr id="25" name="Rectangle 24"/>
          <p:cNvSpPr/>
          <p:nvPr/>
        </p:nvSpPr>
        <p:spPr>
          <a:xfrm>
            <a:off x="4901184" y="2148840"/>
            <a:ext cx="13533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Result</a:t>
            </a:r>
          </a:p>
        </p:txBody>
      </p:sp>
      <p:sp>
        <p:nvSpPr>
          <p:cNvPr id="26" name="Rectangle 25"/>
          <p:cNvSpPr/>
          <p:nvPr/>
        </p:nvSpPr>
        <p:spPr>
          <a:xfrm>
            <a:off x="3474720" y="2478024"/>
            <a:ext cx="283464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74720" y="2551176"/>
            <a:ext cx="283464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529584" y="258775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PSI zone</a:t>
            </a:r>
          </a:p>
        </p:txBody>
      </p:sp>
      <p:sp>
        <p:nvSpPr>
          <p:cNvPr id="29" name="Rectangle 28"/>
          <p:cNvSpPr/>
          <p:nvPr/>
        </p:nvSpPr>
        <p:spPr>
          <a:xfrm>
            <a:off x="4901184" y="258775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E6A62E"/>
                </a:solidFill>
                <a:latin typeface="Calibri"/>
              </a:defRPr>
            </a:pPr>
            <a:r>
              <a:t>AMBER (0.1225)</a:t>
            </a:r>
          </a:p>
        </p:txBody>
      </p:sp>
      <p:sp>
        <p:nvSpPr>
          <p:cNvPr id="30" name="Rectangle 29"/>
          <p:cNvSpPr/>
          <p:nvPr/>
        </p:nvSpPr>
        <p:spPr>
          <a:xfrm>
            <a:off x="3529584" y="313639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EEOC parity</a:t>
            </a:r>
          </a:p>
        </p:txBody>
      </p:sp>
      <p:sp>
        <p:nvSpPr>
          <p:cNvPr id="31" name="Rectangle 30"/>
          <p:cNvSpPr/>
          <p:nvPr/>
        </p:nvSpPr>
        <p:spPr>
          <a:xfrm>
            <a:off x="4901184" y="313639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1A1A1A"/>
                </a:solidFill>
                <a:latin typeface="Calibri"/>
              </a:defRPr>
            </a:pPr>
            <a:r>
              <a:t>90.12%</a:t>
            </a:r>
          </a:p>
        </p:txBody>
      </p:sp>
      <p:sp>
        <p:nvSpPr>
          <p:cNvPr id="32" name="Rectangle 31"/>
          <p:cNvSpPr/>
          <p:nvPr/>
        </p:nvSpPr>
        <p:spPr>
          <a:xfrm>
            <a:off x="3474720" y="3648456"/>
            <a:ext cx="283464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529584" y="368503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0" i="0">
                <a:solidFill>
                  <a:srgbClr val="1A1A1A"/>
                </a:solidFill>
                <a:latin typeface="Calibri"/>
              </a:defRPr>
            </a:pPr>
            <a:r>
              <a:t>Crit. 6</a:t>
            </a:r>
          </a:p>
        </p:txBody>
      </p:sp>
      <p:sp>
        <p:nvSpPr>
          <p:cNvPr id="34" name="Rectangle 33"/>
          <p:cNvSpPr/>
          <p:nvPr/>
        </p:nvSpPr>
        <p:spPr>
          <a:xfrm>
            <a:off x="4901184" y="3685032"/>
            <a:ext cx="135331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200" b="1" i="0">
                <a:solidFill>
                  <a:srgbClr val="D93B3B"/>
                </a:solidFill>
                <a:latin typeface="Calibri"/>
              </a:defRPr>
            </a:pPr>
            <a:r>
              <a:t>FAILED</a:t>
            </a:r>
          </a:p>
        </p:txBody>
      </p:sp>
      <p:sp>
        <p:nvSpPr>
          <p:cNvPr id="35" name="Rectangle 34"/>
          <p:cNvSpPr/>
          <p:nvPr/>
        </p:nvSpPr>
        <p:spPr>
          <a:xfrm>
            <a:off x="7315200" y="1554480"/>
            <a:ext cx="43891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B5697"/>
                </a:solidFill>
                <a:latin typeface="Calibri"/>
              </a:defRPr>
            </a:pPr>
            <a:r>
              <a:t>Drift: post/pre regret ratio (shock @ 1,500)</a:t>
            </a:r>
          </a:p>
        </p:txBody>
      </p:sp>
      <p:sp>
        <p:nvSpPr>
          <p:cNvPr id="36" name="Rectangle 35"/>
          <p:cNvSpPr/>
          <p:nvPr/>
        </p:nvSpPr>
        <p:spPr>
          <a:xfrm>
            <a:off x="7370064" y="2057400"/>
            <a:ext cx="22677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Algorithm</a:t>
            </a:r>
          </a:p>
        </p:txBody>
      </p:sp>
      <p:sp>
        <p:nvSpPr>
          <p:cNvPr id="37" name="Rectangle 36"/>
          <p:cNvSpPr/>
          <p:nvPr/>
        </p:nvSpPr>
        <p:spPr>
          <a:xfrm>
            <a:off x="9747504" y="2057400"/>
            <a:ext cx="17190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Ratio</a:t>
            </a:r>
          </a:p>
        </p:txBody>
      </p:sp>
      <p:sp>
        <p:nvSpPr>
          <p:cNvPr id="38" name="Rectangle 37"/>
          <p:cNvSpPr/>
          <p:nvPr/>
        </p:nvSpPr>
        <p:spPr>
          <a:xfrm>
            <a:off x="7315200" y="2386584"/>
            <a:ext cx="420624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0" y="2459736"/>
            <a:ext cx="420624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370064" y="2496312"/>
            <a:ext cx="226771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LinUCB</a:t>
            </a:r>
          </a:p>
        </p:txBody>
      </p:sp>
      <p:sp>
        <p:nvSpPr>
          <p:cNvPr id="41" name="Rectangle 40"/>
          <p:cNvSpPr/>
          <p:nvPr/>
        </p:nvSpPr>
        <p:spPr>
          <a:xfrm>
            <a:off x="9747504" y="2496312"/>
            <a:ext cx="17190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0.29×</a:t>
            </a:r>
          </a:p>
        </p:txBody>
      </p:sp>
      <p:sp>
        <p:nvSpPr>
          <p:cNvPr id="42" name="Rectangle 41"/>
          <p:cNvSpPr/>
          <p:nvPr/>
        </p:nvSpPr>
        <p:spPr>
          <a:xfrm>
            <a:off x="7370064" y="3026664"/>
            <a:ext cx="226771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LinTS</a:t>
            </a:r>
          </a:p>
        </p:txBody>
      </p:sp>
      <p:sp>
        <p:nvSpPr>
          <p:cNvPr id="43" name="Rectangle 42"/>
          <p:cNvSpPr/>
          <p:nvPr/>
        </p:nvSpPr>
        <p:spPr>
          <a:xfrm>
            <a:off x="9747504" y="3026664"/>
            <a:ext cx="17190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0.29×</a:t>
            </a:r>
          </a:p>
        </p:txBody>
      </p:sp>
      <p:sp>
        <p:nvSpPr>
          <p:cNvPr id="44" name="Rectangle 43"/>
          <p:cNvSpPr/>
          <p:nvPr/>
        </p:nvSpPr>
        <p:spPr>
          <a:xfrm>
            <a:off x="7315200" y="3520440"/>
            <a:ext cx="4206240" cy="530352"/>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370064" y="3557016"/>
            <a:ext cx="226771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StaticXGB</a:t>
            </a:r>
          </a:p>
        </p:txBody>
      </p:sp>
      <p:sp>
        <p:nvSpPr>
          <p:cNvPr id="46" name="Rectangle 45"/>
          <p:cNvSpPr/>
          <p:nvPr/>
        </p:nvSpPr>
        <p:spPr>
          <a:xfrm>
            <a:off x="9747504" y="3557016"/>
            <a:ext cx="1719072"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E6A62E"/>
                </a:solidFill>
                <a:latin typeface="Calibri"/>
              </a:defRPr>
            </a:pPr>
            <a:r>
              <a:t>0.85×</a:t>
            </a:r>
          </a:p>
        </p:txBody>
      </p:sp>
      <p:sp>
        <p:nvSpPr>
          <p:cNvPr id="47" name="Rectangle 46"/>
          <p:cNvSpPr/>
          <p:nvPr/>
        </p:nvSpPr>
        <p:spPr>
          <a:xfrm>
            <a:off x="457200" y="4389120"/>
            <a:ext cx="11277295"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defRPr sz="1300" b="0">
                <a:solidFill>
                  <a:srgbClr val="1A1A1A"/>
                </a:solidFill>
                <a:latin typeface="Calibri"/>
              </a:defRPr>
            </a:pPr>
            <a:r>
              <a:t>Occupation association reflects actuarially justified risk differences (§5.2.4); no regulatory threshold (EEOC 80%, PSI 0.25) is breached.</a:t>
            </a:r>
          </a:p>
        </p:txBody>
      </p:sp>
      <p:sp>
        <p:nvSpPr>
          <p:cNvPr id="48" name="Rectangle 47"/>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Criterion 6 (occupation→action) FAILED-with-interpretation: p &lt; 0.001 — statistically significant but practically small. Reported honestly.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LIVE DEMONSTRATION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Results &amp; Evaluation</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21 / 29</a:t>
            </a:r>
          </a:p>
        </p:txBody>
      </p:sp>
      <p:pic>
        <p:nvPicPr>
          <p:cNvPr id="10" name="Picture 9" descr="shot_dashboard.png"/>
          <p:cNvPicPr>
            <a:picLocks noChangeAspect="1"/>
          </p:cNvPicPr>
          <p:nvPr/>
        </p:nvPicPr>
        <p:blipFill>
          <a:blip r:embed="rId2"/>
          <a:stretch>
            <a:fillRect/>
          </a:stretch>
        </p:blipFill>
        <p:spPr>
          <a:xfrm>
            <a:off x="380847" y="1874520"/>
            <a:ext cx="3657600" cy="2286000"/>
          </a:xfrm>
          <a:prstGeom prst="rect">
            <a:avLst/>
          </a:prstGeom>
          <a:effectLst/>
        </p:spPr>
      </p:pic>
      <p:sp>
        <p:nvSpPr>
          <p:cNvPr id="11" name="Rectangle 10"/>
          <p:cNvSpPr/>
          <p:nvPr/>
        </p:nvSpPr>
        <p:spPr>
          <a:xfrm>
            <a:off x="380847" y="4407408"/>
            <a:ext cx="3657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100" b="0" i="1">
                <a:solidFill>
                  <a:srgbClr val="777777"/>
                </a:solidFill>
                <a:latin typeface="Calibri"/>
              </a:defRPr>
            </a:pPr>
            <a:r>
              <a:t>Applicant scoring &amp; bandit arm selection</a:t>
            </a:r>
          </a:p>
        </p:txBody>
      </p:sp>
      <p:pic>
        <p:nvPicPr>
          <p:cNvPr id="12" name="Picture 11" descr="shot_pricing.png"/>
          <p:cNvPicPr>
            <a:picLocks noChangeAspect="1"/>
          </p:cNvPicPr>
          <p:nvPr/>
        </p:nvPicPr>
        <p:blipFill>
          <a:blip r:embed="rId3"/>
          <a:stretch>
            <a:fillRect/>
          </a:stretch>
        </p:blipFill>
        <p:spPr>
          <a:xfrm>
            <a:off x="4267047" y="1874520"/>
            <a:ext cx="3657600" cy="2286000"/>
          </a:xfrm>
          <a:prstGeom prst="rect">
            <a:avLst/>
          </a:prstGeom>
          <a:effectLst/>
        </p:spPr>
      </p:pic>
      <p:sp>
        <p:nvSpPr>
          <p:cNvPr id="13" name="Rectangle 12"/>
          <p:cNvSpPr/>
          <p:nvPr/>
        </p:nvSpPr>
        <p:spPr>
          <a:xfrm>
            <a:off x="4267047" y="4407408"/>
            <a:ext cx="3657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100" b="0" i="1">
                <a:solidFill>
                  <a:srgbClr val="777777"/>
                </a:solidFill>
                <a:latin typeface="Calibri"/>
              </a:defRPr>
            </a:pPr>
            <a:r>
              <a:t>Premium optimiser &amp; pricing curve</a:t>
            </a:r>
          </a:p>
        </p:txBody>
      </p:sp>
      <p:pic>
        <p:nvPicPr>
          <p:cNvPr id="14" name="Picture 13" descr="shot_hitl.png"/>
          <p:cNvPicPr>
            <a:picLocks noChangeAspect="1"/>
          </p:cNvPicPr>
          <p:nvPr/>
        </p:nvPicPr>
        <p:blipFill>
          <a:blip r:embed="rId4"/>
          <a:stretch>
            <a:fillRect/>
          </a:stretch>
        </p:blipFill>
        <p:spPr>
          <a:xfrm>
            <a:off x="8153247" y="1874520"/>
            <a:ext cx="3657600" cy="2286000"/>
          </a:xfrm>
          <a:prstGeom prst="rect">
            <a:avLst/>
          </a:prstGeom>
          <a:effectLst/>
        </p:spPr>
      </p:pic>
      <p:sp>
        <p:nvSpPr>
          <p:cNvPr id="15" name="Rectangle 14"/>
          <p:cNvSpPr/>
          <p:nvPr/>
        </p:nvSpPr>
        <p:spPr>
          <a:xfrm>
            <a:off x="8153247" y="4407408"/>
            <a:ext cx="3657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100" b="0" i="1">
                <a:solidFill>
                  <a:srgbClr val="777777"/>
                </a:solidFill>
                <a:latin typeface="Calibri"/>
              </a:defRPr>
            </a:pPr>
            <a:r>
              <a:t>Human-in-the-loop referral queue &amp; cost</a:t>
            </a:r>
          </a:p>
        </p:txBody>
      </p:sp>
      <p:sp>
        <p:nvSpPr>
          <p:cNvPr id="16" name="Rectangle 15"/>
          <p:cNvSpPr/>
          <p:nvPr/>
        </p:nvSpPr>
        <p:spPr>
          <a:xfrm>
            <a:off x="457200" y="1188720"/>
            <a:ext cx="11277295"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500" b="0" i="1">
                <a:solidFill>
                  <a:srgbClr val="777777"/>
                </a:solidFill>
                <a:latin typeface="Calibri"/>
              </a:defRPr>
            </a:pPr>
            <a:r>
              <a:t>Same FastAPI stack as the architecture — live at localhost:8000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6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2148840"/>
            <a:ext cx="10058400" cy="1463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2000" b="1" i="0">
                <a:solidFill>
                  <a:srgbClr val="FFFFFF"/>
                </a:solidFill>
                <a:latin typeface="Segoe UI"/>
              </a:defRPr>
            </a:pPr>
            <a:r>
              <a:t>V.</a:t>
            </a:r>
          </a:p>
        </p:txBody>
      </p:sp>
      <p:sp>
        <p:nvSpPr>
          <p:cNvPr id="4" name="Rectangle 3"/>
          <p:cNvSpPr/>
          <p:nvPr/>
        </p:nvSpPr>
        <p:spPr>
          <a:xfrm>
            <a:off x="914400" y="3794760"/>
            <a:ext cx="292608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68680" y="3977639"/>
            <a:ext cx="1042416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3200" b="1" i="0">
                <a:solidFill>
                  <a:srgbClr val="FFFFFF"/>
                </a:solidFill>
                <a:latin typeface="Segoe UI"/>
              </a:defRPr>
            </a:pPr>
            <a:r>
              <a:t>Conclusion &amp; Future Work</a:t>
            </a:r>
          </a:p>
        </p:txBody>
      </p:sp>
      <p:sp>
        <p:nvSpPr>
          <p:cNvPr id="6" name="Rectangle 5"/>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8" name="Rectangle 7"/>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Conclusion &amp; Future Work</a:t>
            </a:r>
          </a:p>
        </p:txBody>
      </p:sp>
      <p:sp>
        <p:nvSpPr>
          <p:cNvPr id="10" name="Rectangle 9"/>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25 /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CONCLUSION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Conclusion &amp; Future Work</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22 / 29</a:t>
            </a:r>
          </a:p>
        </p:txBody>
      </p:sp>
      <p:sp>
        <p:nvSpPr>
          <p:cNvPr id="10" name="Rectangle 9"/>
          <p:cNvSpPr/>
          <p:nvPr/>
        </p:nvSpPr>
        <p:spPr>
          <a:xfrm>
            <a:off x="457200" y="138988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 y="1280160"/>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LinTS/LinUCB lead every admissible policy (+25.2%, d=2.98)</a:t>
            </a:r>
          </a:p>
        </p:txBody>
      </p:sp>
      <p:sp>
        <p:nvSpPr>
          <p:cNvPr id="12" name="Rectangle 11"/>
          <p:cNvSpPr/>
          <p:nvPr/>
        </p:nvSpPr>
        <p:spPr>
          <a:xfrm>
            <a:off x="457200" y="1956816"/>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13232" y="1847088"/>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HITL adds +14.8% at 1.3% referrals</a:t>
            </a:r>
          </a:p>
        </p:txBody>
      </p:sp>
      <p:sp>
        <p:nvSpPr>
          <p:cNvPr id="14" name="Rectangle 13"/>
          <p:cNvSpPr/>
          <p:nvPr/>
        </p:nvSpPr>
        <p:spPr>
          <a:xfrm>
            <a:off x="457200" y="2523744"/>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3232" y="2414016"/>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5 of 6 fairness criteria PASSED; PSI within thresholds</a:t>
            </a:r>
          </a:p>
        </p:txBody>
      </p:sp>
      <p:sp>
        <p:nvSpPr>
          <p:cNvPr id="16" name="Rectangle 15"/>
          <p:cNvSpPr/>
          <p:nvPr/>
        </p:nvSpPr>
        <p:spPr>
          <a:xfrm>
            <a:off x="457200" y="3090672"/>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232" y="2980944"/>
            <a:ext cx="5230368"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700" b="0" i="0">
                <a:solidFill>
                  <a:srgbClr val="1A1A1A"/>
                </a:solidFill>
                <a:latin typeface="Calibri"/>
              </a:defRPr>
            </a:pPr>
            <a:r>
              <a:t>Honest scope: inadmissible AlwaysRATED ceiling sits above (§5.0.1)</a:t>
            </a:r>
          </a:p>
        </p:txBody>
      </p:sp>
      <p:sp>
        <p:nvSpPr>
          <p:cNvPr id="18" name="Rectangle 17"/>
          <p:cNvSpPr/>
          <p:nvPr/>
        </p:nvSpPr>
        <p:spPr>
          <a:xfrm>
            <a:off x="6455664" y="1371600"/>
            <a:ext cx="62179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a:t>
            </a:r>
          </a:p>
        </p:txBody>
      </p:sp>
      <p:sp>
        <p:nvSpPr>
          <p:cNvPr id="19" name="Rectangle 18"/>
          <p:cNvSpPr/>
          <p:nvPr/>
        </p:nvSpPr>
        <p:spPr>
          <a:xfrm>
            <a:off x="7187184" y="1371600"/>
            <a:ext cx="3547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Objective outcome</a:t>
            </a:r>
          </a:p>
        </p:txBody>
      </p:sp>
      <p:sp>
        <p:nvSpPr>
          <p:cNvPr id="20" name="Rectangle 19"/>
          <p:cNvSpPr/>
          <p:nvPr/>
        </p:nvSpPr>
        <p:spPr>
          <a:xfrm>
            <a:off x="10844784" y="1371600"/>
            <a:ext cx="1261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Status</a:t>
            </a:r>
          </a:p>
        </p:txBody>
      </p:sp>
      <p:sp>
        <p:nvSpPr>
          <p:cNvPr id="21" name="Rectangle 20"/>
          <p:cNvSpPr/>
          <p:nvPr/>
        </p:nvSpPr>
        <p:spPr>
          <a:xfrm>
            <a:off x="6400800" y="1700784"/>
            <a:ext cx="57607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00800" y="1773936"/>
            <a:ext cx="576072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1810512"/>
            <a:ext cx="62179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O1</a:t>
            </a:r>
          </a:p>
        </p:txBody>
      </p:sp>
      <p:sp>
        <p:nvSpPr>
          <p:cNvPr id="24" name="Rectangle 23"/>
          <p:cNvSpPr/>
          <p:nvPr/>
        </p:nvSpPr>
        <p:spPr>
          <a:xfrm>
            <a:off x="7187184" y="1810512"/>
            <a:ext cx="3547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LinUCB + LinTS implemented &amp; adapted</a:t>
            </a:r>
          </a:p>
        </p:txBody>
      </p:sp>
      <p:sp>
        <p:nvSpPr>
          <p:cNvPr id="25" name="Rectangle 24"/>
          <p:cNvSpPr/>
          <p:nvPr/>
        </p:nvSpPr>
        <p:spPr>
          <a:xfrm>
            <a:off x="10844784" y="1810512"/>
            <a:ext cx="1261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ACHIEVED</a:t>
            </a:r>
          </a:p>
        </p:txBody>
      </p:sp>
      <p:sp>
        <p:nvSpPr>
          <p:cNvPr id="26" name="Rectangle 25"/>
          <p:cNvSpPr/>
          <p:nvPr/>
        </p:nvSpPr>
        <p:spPr>
          <a:xfrm>
            <a:off x="6455664" y="2450592"/>
            <a:ext cx="62179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O2</a:t>
            </a:r>
          </a:p>
        </p:txBody>
      </p:sp>
      <p:sp>
        <p:nvSpPr>
          <p:cNvPr id="27" name="Rectangle 26"/>
          <p:cNvSpPr/>
          <p:nvPr/>
        </p:nvSpPr>
        <p:spPr>
          <a:xfrm>
            <a:off x="7187184" y="2450592"/>
            <a:ext cx="3547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2,000-record CDHS-anchored dataset built</a:t>
            </a:r>
          </a:p>
        </p:txBody>
      </p:sp>
      <p:sp>
        <p:nvSpPr>
          <p:cNvPr id="28" name="Rectangle 27"/>
          <p:cNvSpPr/>
          <p:nvPr/>
        </p:nvSpPr>
        <p:spPr>
          <a:xfrm>
            <a:off x="10844784" y="2450592"/>
            <a:ext cx="1261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ACHIEVED</a:t>
            </a:r>
          </a:p>
        </p:txBody>
      </p:sp>
      <p:sp>
        <p:nvSpPr>
          <p:cNvPr id="29" name="Rectangle 28"/>
          <p:cNvSpPr/>
          <p:nvPr/>
        </p:nvSpPr>
        <p:spPr>
          <a:xfrm>
            <a:off x="6400800" y="3054096"/>
            <a:ext cx="5760720" cy="64008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55664" y="3090672"/>
            <a:ext cx="62179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O3</a:t>
            </a:r>
          </a:p>
        </p:txBody>
      </p:sp>
      <p:sp>
        <p:nvSpPr>
          <p:cNvPr id="31" name="Rectangle 30"/>
          <p:cNvSpPr/>
          <p:nvPr/>
        </p:nvSpPr>
        <p:spPr>
          <a:xfrm>
            <a:off x="7187184" y="3090672"/>
            <a:ext cx="3547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20-seed eval, bootstrap CI, Wilcoxon</a:t>
            </a:r>
          </a:p>
        </p:txBody>
      </p:sp>
      <p:sp>
        <p:nvSpPr>
          <p:cNvPr id="32" name="Rectangle 31"/>
          <p:cNvSpPr/>
          <p:nvPr/>
        </p:nvSpPr>
        <p:spPr>
          <a:xfrm>
            <a:off x="10844784" y="3090672"/>
            <a:ext cx="1261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ACHIEVED</a:t>
            </a:r>
          </a:p>
        </p:txBody>
      </p:sp>
      <p:sp>
        <p:nvSpPr>
          <p:cNvPr id="33" name="Rectangle 32"/>
          <p:cNvSpPr/>
          <p:nvPr/>
        </p:nvSpPr>
        <p:spPr>
          <a:xfrm>
            <a:off x="6455664" y="3730752"/>
            <a:ext cx="62179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O4</a:t>
            </a:r>
          </a:p>
        </p:txBody>
      </p:sp>
      <p:sp>
        <p:nvSpPr>
          <p:cNvPr id="34" name="Rectangle 33"/>
          <p:cNvSpPr/>
          <p:nvPr/>
        </p:nvSpPr>
        <p:spPr>
          <a:xfrm>
            <a:off x="7187184" y="3730752"/>
            <a:ext cx="3547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PSI fairness monitoring + HITL wrapper</a:t>
            </a:r>
          </a:p>
        </p:txBody>
      </p:sp>
      <p:sp>
        <p:nvSpPr>
          <p:cNvPr id="35" name="Rectangle 34"/>
          <p:cNvSpPr/>
          <p:nvPr/>
        </p:nvSpPr>
        <p:spPr>
          <a:xfrm>
            <a:off x="10844784" y="3730752"/>
            <a:ext cx="1261872"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ACHIEVED</a:t>
            </a:r>
          </a:p>
        </p:txBody>
      </p:sp>
      <p:sp>
        <p:nvSpPr>
          <p:cNvPr id="36" name="Rectangle 35"/>
          <p:cNvSpPr/>
          <p:nvPr/>
        </p:nvSpPr>
        <p:spPr>
          <a:xfrm>
            <a:off x="457200" y="4754880"/>
            <a:ext cx="11277295"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defRPr sz="1500" b="1">
                <a:solidFill>
                  <a:srgbClr val="1A1A1A"/>
                </a:solidFill>
                <a:latin typeface="Calibri"/>
              </a:defRPr>
            </a:pPr>
            <a:r>
              <a:t>Contextual bandits give a principled, adaptive, auditable alternative to static rule-based underwriting in the Cambodian context.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REFERENCES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References</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23 / 29</a:t>
            </a:r>
          </a:p>
        </p:txBody>
      </p:sp>
      <p:sp>
        <p:nvSpPr>
          <p:cNvPr id="10" name="Rectangle 9"/>
          <p:cNvSpPr/>
          <p:nvPr/>
        </p:nvSpPr>
        <p:spPr>
          <a:xfrm>
            <a:off x="457200" y="1188720"/>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  Li, L., Chu, W., Langford, J., &amp; Schapire, R. (2010). A contextual-bandit approach to personalized news article recommendation. WWW.</a:t>
            </a:r>
          </a:p>
        </p:txBody>
      </p:sp>
      <p:sp>
        <p:nvSpPr>
          <p:cNvPr id="11" name="Rectangle 10"/>
          <p:cNvSpPr/>
          <p:nvPr/>
        </p:nvSpPr>
        <p:spPr>
          <a:xfrm>
            <a:off x="457200" y="1792224"/>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[2]  Agrawal, S., &amp; Goyal, N. (2013). Thompson sampling for contextual bandits with linear payoffs. ICML.</a:t>
            </a:r>
          </a:p>
        </p:txBody>
      </p:sp>
      <p:sp>
        <p:nvSpPr>
          <p:cNvPr id="12" name="Rectangle 11"/>
          <p:cNvSpPr/>
          <p:nvPr/>
        </p:nvSpPr>
        <p:spPr>
          <a:xfrm>
            <a:off x="457200" y="2395728"/>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[3]  Zhou, D., Li, L., &amp; Gu, Q. (2020). Neural contextual bandits with UCB-based exploration. ICML.</a:t>
            </a:r>
          </a:p>
        </p:txBody>
      </p:sp>
      <p:sp>
        <p:nvSpPr>
          <p:cNvPr id="13" name="Rectangle 12"/>
          <p:cNvSpPr/>
          <p:nvPr/>
        </p:nvSpPr>
        <p:spPr>
          <a:xfrm>
            <a:off x="457200" y="2999232"/>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[4]  Zhang, W., Zhou, D., Li, L., &amp; Gu, Q. (2021). Neural Thompson sampling. ICLR.</a:t>
            </a:r>
          </a:p>
        </p:txBody>
      </p:sp>
      <p:sp>
        <p:nvSpPr>
          <p:cNvPr id="14" name="Rectangle 13"/>
          <p:cNvSpPr/>
          <p:nvPr/>
        </p:nvSpPr>
        <p:spPr>
          <a:xfrm>
            <a:off x="457200" y="3602736"/>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[5]  Ban, Y., Yan, Y., Banerjee, A., &amp; He, J. (2022). EE-Net: Exploitation-exploration neural networks in contextual bandits. ICLR.</a:t>
            </a:r>
          </a:p>
        </p:txBody>
      </p:sp>
      <p:sp>
        <p:nvSpPr>
          <p:cNvPr id="15" name="Rectangle 14"/>
          <p:cNvSpPr/>
          <p:nvPr/>
        </p:nvSpPr>
        <p:spPr>
          <a:xfrm>
            <a:off x="457200" y="4206240"/>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[6]  Sutton, R. S., &amp; Barto, A. G. (2018). Reinforcement Learning: An Introduction (2nd ed.). MIT Press.</a:t>
            </a:r>
          </a:p>
        </p:txBody>
      </p:sp>
      <p:sp>
        <p:nvSpPr>
          <p:cNvPr id="16" name="Rectangle 15"/>
          <p:cNvSpPr/>
          <p:nvPr/>
        </p:nvSpPr>
        <p:spPr>
          <a:xfrm>
            <a:off x="457200" y="4809744"/>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[7]  Lattimore, T., &amp; Szepesvári, C. (2020). Bandit Algorithms. Cambridge Univ. Press.</a:t>
            </a:r>
          </a:p>
        </p:txBody>
      </p:sp>
      <p:sp>
        <p:nvSpPr>
          <p:cNvPr id="17" name="Rectangle 16"/>
          <p:cNvSpPr/>
          <p:nvPr/>
        </p:nvSpPr>
        <p:spPr>
          <a:xfrm>
            <a:off x="457200" y="5413248"/>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[8]  Barocas, S., Hardt, M., &amp; Narayanan, A. (2019). Fairness and Machine Learning. fairmlbook.org.</a:t>
            </a:r>
          </a:p>
        </p:txBody>
      </p:sp>
      <p:sp>
        <p:nvSpPr>
          <p:cNvPr id="18" name="Rectangle 17"/>
          <p:cNvSpPr/>
          <p:nvPr/>
        </p:nvSpPr>
        <p:spPr>
          <a:xfrm>
            <a:off x="6309360" y="1188720"/>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[9]  Ensign, D., Friedler, S. A., Neville, S., Scheidegger, C., &amp; Venkatasubramanian, S. (2018). Runaway feedback loops in predictive policing. FAccT.</a:t>
            </a:r>
          </a:p>
        </p:txBody>
      </p:sp>
      <p:sp>
        <p:nvSpPr>
          <p:cNvPr id="19" name="Rectangle 18"/>
          <p:cNvSpPr/>
          <p:nvPr/>
        </p:nvSpPr>
        <p:spPr>
          <a:xfrm>
            <a:off x="6309360" y="1792224"/>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[10]  Yurdakul, B., &amp; Naranjo, J. (2020). Statistical properties of the population stability index. J. Risk Model Validation.</a:t>
            </a:r>
          </a:p>
        </p:txBody>
      </p:sp>
      <p:sp>
        <p:nvSpPr>
          <p:cNvPr id="20" name="Rectangle 19"/>
          <p:cNvSpPr/>
          <p:nvPr/>
        </p:nvSpPr>
        <p:spPr>
          <a:xfrm>
            <a:off x="6309360" y="2395728"/>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[11]  Lin, J. (1991). Divergence measures based on the Shannon entropy. IEEE Trans. Information Theory.</a:t>
            </a:r>
          </a:p>
        </p:txBody>
      </p:sp>
      <p:sp>
        <p:nvSpPr>
          <p:cNvPr id="21" name="Rectangle 20"/>
          <p:cNvSpPr/>
          <p:nvPr/>
        </p:nvSpPr>
        <p:spPr>
          <a:xfrm>
            <a:off x="6309360" y="2999232"/>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[12]  National Institute of Statistics, MoH, &amp; ICF (2023). Cambodia Demographic &amp; Health Survey 2021–22 (CDHS).</a:t>
            </a:r>
          </a:p>
        </p:txBody>
      </p:sp>
      <p:sp>
        <p:nvSpPr>
          <p:cNvPr id="22" name="Rectangle 21"/>
          <p:cNvSpPr/>
          <p:nvPr/>
        </p:nvSpPr>
        <p:spPr>
          <a:xfrm>
            <a:off x="6309360" y="3602736"/>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[13]  International Labour Organization (2022). Cambodian Garment &amp; Footwear Sector Bulletin.</a:t>
            </a:r>
          </a:p>
        </p:txBody>
      </p:sp>
      <p:sp>
        <p:nvSpPr>
          <p:cNvPr id="23" name="Rectangle 22"/>
          <p:cNvSpPr/>
          <p:nvPr/>
        </p:nvSpPr>
        <p:spPr>
          <a:xfrm>
            <a:off x="6309360" y="4206240"/>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[14]  Asian Development Bank (2023). Asian Development Outlook: Cambodia.</a:t>
            </a:r>
          </a:p>
        </p:txBody>
      </p:sp>
      <p:sp>
        <p:nvSpPr>
          <p:cNvPr id="24" name="Rectangle 23"/>
          <p:cNvSpPr/>
          <p:nvPr/>
        </p:nvSpPr>
        <p:spPr>
          <a:xfrm>
            <a:off x="6309360" y="4809744"/>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[15]  World Bank (2023). World Development Indicators: Cambodia.</a:t>
            </a:r>
          </a:p>
        </p:txBody>
      </p:sp>
      <p:sp>
        <p:nvSpPr>
          <p:cNvPr id="25" name="Rectangle 24"/>
          <p:cNvSpPr/>
          <p:nvPr/>
        </p:nvSpPr>
        <p:spPr>
          <a:xfrm>
            <a:off x="6309360" y="5413248"/>
            <a:ext cx="5486400" cy="8229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100" b="0" i="0">
                <a:solidFill>
                  <a:srgbClr val="1A1A1A"/>
                </a:solidFill>
                <a:latin typeface="Calibri"/>
              </a:defRPr>
            </a:pPr>
            <a:r>
              <a:t>[16]  Swiss Re Institute (2023). Sigma 3/2023: World insurance.</a:t>
            </a:r>
          </a:p>
        </p:txBody>
      </p:sp>
      <p:sp>
        <p:nvSpPr>
          <p:cNvPr id="26" name="Rectangle 25"/>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Full bibliography: thesis Chapter III (25 cited sources, APA).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13248" y="1828800"/>
            <a:ext cx="1371600" cy="41148"/>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48840"/>
            <a:ext cx="12191695"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5400" b="1" i="0">
                <a:solidFill>
                  <a:srgbClr val="1B5697"/>
                </a:solidFill>
                <a:latin typeface="Segoe UI"/>
              </a:defRPr>
            </a:pPr>
            <a:r>
              <a:t>Thank you.</a:t>
            </a:r>
          </a:p>
        </p:txBody>
      </p:sp>
      <p:sp>
        <p:nvSpPr>
          <p:cNvPr id="4" name="Rectangle 3"/>
          <p:cNvSpPr/>
          <p:nvPr/>
        </p:nvSpPr>
        <p:spPr>
          <a:xfrm>
            <a:off x="0" y="3154680"/>
            <a:ext cx="12191695"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000" b="0" i="0">
                <a:solidFill>
                  <a:srgbClr val="1B5697"/>
                </a:solidFill>
                <a:latin typeface="Calibri"/>
              </a:defRPr>
            </a:pPr>
            <a:r>
              <a:t>Questions &amp; Answers</a:t>
            </a:r>
          </a:p>
        </p:txBody>
      </p:sp>
      <p:sp>
        <p:nvSpPr>
          <p:cNvPr id="5" name="Rectangle 4"/>
          <p:cNvSpPr/>
          <p:nvPr/>
        </p:nvSpPr>
        <p:spPr>
          <a:xfrm>
            <a:off x="0" y="4297680"/>
            <a:ext cx="12191695"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000" b="1" i="0">
                <a:solidFill>
                  <a:srgbClr val="1A1A1A"/>
                </a:solidFill>
                <a:latin typeface="Calibri"/>
              </a:defRPr>
            </a:pPr>
            <a:r>
              <a:t>LUN CHANPOLY</a:t>
            </a:r>
          </a:p>
        </p:txBody>
      </p:sp>
      <p:sp>
        <p:nvSpPr>
          <p:cNvPr id="6" name="Rectangle 5"/>
          <p:cNvSpPr/>
          <p:nvPr/>
        </p:nvSpPr>
        <p:spPr>
          <a:xfrm>
            <a:off x="0" y="4709160"/>
            <a:ext cx="12191695"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500" b="0" i="0">
                <a:solidFill>
                  <a:srgbClr val="777777"/>
                </a:solidFill>
                <a:latin typeface="Calibri"/>
              </a:defRPr>
            </a:pPr>
            <a:r>
              <a:t>chanpoly3@gmail.com</a:t>
            </a:r>
          </a:p>
        </p:txBody>
      </p:sp>
      <p:sp>
        <p:nvSpPr>
          <p:cNvPr id="7" name="Rectangle 6"/>
          <p:cNvSpPr/>
          <p:nvPr/>
        </p:nvSpPr>
        <p:spPr>
          <a:xfrm>
            <a:off x="0" y="5074920"/>
            <a:ext cx="12191695" cy="34747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1400" b="0" i="0">
                <a:solidFill>
                  <a:srgbClr val="777777"/>
                </a:solidFill>
                <a:latin typeface="Calibri"/>
              </a:defRPr>
            </a:pPr>
            <a:r>
              <a:t>Institute of Technology of Cambodia</a:t>
            </a:r>
          </a:p>
        </p:txBody>
      </p:sp>
      <p:pic>
        <p:nvPicPr>
          <p:cNvPr id="8" name="Picture 7" descr="ITC.jpg"/>
          <p:cNvPicPr>
            <a:picLocks noChangeAspect="1"/>
          </p:cNvPicPr>
          <p:nvPr/>
        </p:nvPicPr>
        <p:blipFill>
          <a:blip r:embed="rId2"/>
          <a:stretch>
            <a:fillRect/>
          </a:stretch>
        </p:blipFill>
        <p:spPr>
          <a:xfrm>
            <a:off x="4983480" y="5623560"/>
            <a:ext cx="640080" cy="631079"/>
          </a:xfrm>
          <a:prstGeom prst="rect">
            <a:avLst/>
          </a:prstGeom>
          <a:effectLst/>
        </p:spPr>
      </p:pic>
      <p:pic>
        <p:nvPicPr>
          <p:cNvPr id="9" name="Picture 8" descr="AMS.png"/>
          <p:cNvPicPr>
            <a:picLocks noChangeAspect="1"/>
          </p:cNvPicPr>
          <p:nvPr/>
        </p:nvPicPr>
        <p:blipFill>
          <a:blip r:embed="rId3"/>
          <a:stretch>
            <a:fillRect/>
          </a:stretch>
        </p:blipFill>
        <p:spPr>
          <a:xfrm>
            <a:off x="5715000" y="5623560"/>
            <a:ext cx="640080" cy="606547"/>
          </a:xfrm>
          <a:prstGeom prst="rect">
            <a:avLst/>
          </a:prstGeom>
          <a:effectLst/>
        </p:spPr>
      </p:pic>
      <p:pic>
        <p:nvPicPr>
          <p:cNvPr id="10" name="Picture 9" descr="DAC.jpg"/>
          <p:cNvPicPr>
            <a:picLocks noChangeAspect="1"/>
          </p:cNvPicPr>
          <p:nvPr/>
        </p:nvPicPr>
        <p:blipFill>
          <a:blip r:embed="rId4"/>
          <a:stretch>
            <a:fillRect/>
          </a:stretch>
        </p:blipFill>
        <p:spPr>
          <a:xfrm>
            <a:off x="6537960" y="5623560"/>
            <a:ext cx="640080" cy="360045"/>
          </a:xfrm>
          <a:prstGeom prst="rect">
            <a:avLst/>
          </a:prstGeom>
          <a:effectLst/>
        </p:spPr>
      </p:pic>
      <p:sp>
        <p:nvSpPr>
          <p:cNvPr id="11" name="Rectangle 10"/>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13" name="Rectangle 12"/>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Adaptive Underwriting via Contextual Bandits</a:t>
            </a:r>
          </a:p>
        </p:txBody>
      </p:sp>
      <p:sp>
        <p:nvSpPr>
          <p:cNvPr id="15" name="Rectangle 14"/>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28 / 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A1  BASELINE LADDER (EXP-014)</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Appendix</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A1</a:t>
            </a:r>
          </a:p>
        </p:txBody>
      </p:sp>
      <p:sp>
        <p:nvSpPr>
          <p:cNvPr id="10" name="Rectangle 9"/>
          <p:cNvSpPr/>
          <p:nvPr/>
        </p:nvSpPr>
        <p:spPr>
          <a:xfrm>
            <a:off x="457200" y="1207008"/>
            <a:ext cx="11277295" cy="38404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500" b="1" i="0">
                <a:solidFill>
                  <a:srgbClr val="1A1A1A"/>
                </a:solidFill>
                <a:latin typeface="Calibri"/>
              </a:defRPr>
            </a:pPr>
            <a:r>
              <a:t>Why AlwaysRATED is inadmissible -- and why the headline claim still holds</a:t>
            </a:r>
          </a:p>
        </p:txBody>
      </p:sp>
      <p:pic>
        <p:nvPicPr>
          <p:cNvPr id="11" name="Picture 10" descr="slide_ladder.png"/>
          <p:cNvPicPr>
            <a:picLocks noChangeAspect="1"/>
          </p:cNvPicPr>
          <p:nvPr/>
        </p:nvPicPr>
        <p:blipFill>
          <a:blip r:embed="rId2"/>
          <a:stretch>
            <a:fillRect/>
          </a:stretch>
        </p:blipFill>
        <p:spPr>
          <a:xfrm>
            <a:off x="525882" y="1645920"/>
            <a:ext cx="6446315" cy="4242816"/>
          </a:xfrm>
          <a:prstGeom prst="rect">
            <a:avLst/>
          </a:prstGeom>
          <a:effectLst/>
        </p:spPr>
      </p:pic>
      <p:sp>
        <p:nvSpPr>
          <p:cNvPr id="12" name="Rectangle 11"/>
          <p:cNvSpPr/>
          <p:nvPr/>
        </p:nvSpPr>
        <p:spPr>
          <a:xfrm>
            <a:off x="7370064" y="1828800"/>
            <a:ext cx="162763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Policy</a:t>
            </a:r>
          </a:p>
        </p:txBody>
      </p:sp>
      <p:sp>
        <p:nvSpPr>
          <p:cNvPr id="13" name="Rectangle 12"/>
          <p:cNvSpPr/>
          <p:nvPr/>
        </p:nvSpPr>
        <p:spPr>
          <a:xfrm>
            <a:off x="9107424" y="1828800"/>
            <a:ext cx="1261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Reward</a:t>
            </a:r>
          </a:p>
        </p:txBody>
      </p:sp>
      <p:sp>
        <p:nvSpPr>
          <p:cNvPr id="14" name="Rectangle 13"/>
          <p:cNvSpPr/>
          <p:nvPr/>
        </p:nvSpPr>
        <p:spPr>
          <a:xfrm>
            <a:off x="10479024" y="1828800"/>
            <a:ext cx="1261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Status</a:t>
            </a:r>
          </a:p>
        </p:txBody>
      </p:sp>
      <p:sp>
        <p:nvSpPr>
          <p:cNvPr id="15" name="Rectangle 14"/>
          <p:cNvSpPr/>
          <p:nvPr/>
        </p:nvSpPr>
        <p:spPr>
          <a:xfrm>
            <a:off x="7315200" y="2157984"/>
            <a:ext cx="448056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0" y="2231136"/>
            <a:ext cx="448056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0064" y="2267712"/>
            <a:ext cx="162763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LinTS</a:t>
            </a:r>
          </a:p>
        </p:txBody>
      </p:sp>
      <p:sp>
        <p:nvSpPr>
          <p:cNvPr id="18" name="Rectangle 17"/>
          <p:cNvSpPr/>
          <p:nvPr/>
        </p:nvSpPr>
        <p:spPr>
          <a:xfrm>
            <a:off x="9107424" y="226771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$93,723</a:t>
            </a:r>
          </a:p>
        </p:txBody>
      </p:sp>
      <p:sp>
        <p:nvSpPr>
          <p:cNvPr id="19" name="Rectangle 18"/>
          <p:cNvSpPr/>
          <p:nvPr/>
        </p:nvSpPr>
        <p:spPr>
          <a:xfrm>
            <a:off x="10479024" y="226771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admissible</a:t>
            </a:r>
          </a:p>
        </p:txBody>
      </p:sp>
      <p:sp>
        <p:nvSpPr>
          <p:cNvPr id="20" name="Rectangle 19"/>
          <p:cNvSpPr/>
          <p:nvPr/>
        </p:nvSpPr>
        <p:spPr>
          <a:xfrm>
            <a:off x="7370064" y="2816352"/>
            <a:ext cx="162763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LinUCB</a:t>
            </a:r>
          </a:p>
        </p:txBody>
      </p:sp>
      <p:sp>
        <p:nvSpPr>
          <p:cNvPr id="21" name="Rectangle 20"/>
          <p:cNvSpPr/>
          <p:nvPr/>
        </p:nvSpPr>
        <p:spPr>
          <a:xfrm>
            <a:off x="9107424" y="281635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$91,864</a:t>
            </a:r>
          </a:p>
        </p:txBody>
      </p:sp>
      <p:sp>
        <p:nvSpPr>
          <p:cNvPr id="22" name="Rectangle 21"/>
          <p:cNvSpPr/>
          <p:nvPr/>
        </p:nvSpPr>
        <p:spPr>
          <a:xfrm>
            <a:off x="10479024" y="281635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admissible</a:t>
            </a:r>
          </a:p>
        </p:txBody>
      </p:sp>
      <p:sp>
        <p:nvSpPr>
          <p:cNvPr id="23" name="Rectangle 22"/>
          <p:cNvSpPr/>
          <p:nvPr/>
        </p:nvSpPr>
        <p:spPr>
          <a:xfrm>
            <a:off x="7315200" y="3328416"/>
            <a:ext cx="4480560" cy="5486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70064" y="3364992"/>
            <a:ext cx="162763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Static XGB</a:t>
            </a:r>
          </a:p>
        </p:txBody>
      </p:sp>
      <p:sp>
        <p:nvSpPr>
          <p:cNvPr id="25" name="Rectangle 24"/>
          <p:cNvSpPr/>
          <p:nvPr/>
        </p:nvSpPr>
        <p:spPr>
          <a:xfrm>
            <a:off x="9107424" y="336499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$72,206</a:t>
            </a:r>
          </a:p>
        </p:txBody>
      </p:sp>
      <p:sp>
        <p:nvSpPr>
          <p:cNvPr id="26" name="Rectangle 25"/>
          <p:cNvSpPr/>
          <p:nvPr/>
        </p:nvSpPr>
        <p:spPr>
          <a:xfrm>
            <a:off x="10479024" y="336499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2E8B57"/>
                </a:solidFill>
                <a:latin typeface="Calibri"/>
              </a:defRPr>
            </a:pPr>
            <a:r>
              <a:t>admissible</a:t>
            </a:r>
          </a:p>
        </p:txBody>
      </p:sp>
      <p:sp>
        <p:nvSpPr>
          <p:cNvPr id="27" name="Rectangle 26"/>
          <p:cNvSpPr/>
          <p:nvPr/>
        </p:nvSpPr>
        <p:spPr>
          <a:xfrm>
            <a:off x="7370064" y="3913632"/>
            <a:ext cx="162763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AlwaysRATED</a:t>
            </a:r>
          </a:p>
        </p:txBody>
      </p:sp>
      <p:sp>
        <p:nvSpPr>
          <p:cNvPr id="28" name="Rectangle 27"/>
          <p:cNvSpPr/>
          <p:nvPr/>
        </p:nvSpPr>
        <p:spPr>
          <a:xfrm>
            <a:off x="9107424" y="391363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$122,287</a:t>
            </a:r>
          </a:p>
        </p:txBody>
      </p:sp>
      <p:sp>
        <p:nvSpPr>
          <p:cNvPr id="29" name="Rectangle 28"/>
          <p:cNvSpPr/>
          <p:nvPr/>
        </p:nvSpPr>
        <p:spPr>
          <a:xfrm>
            <a:off x="10479024" y="3913632"/>
            <a:ext cx="1261872" cy="4754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D93B3B"/>
                </a:solidFill>
                <a:latin typeface="Calibri"/>
              </a:defRPr>
            </a:pPr>
            <a:r>
              <a:t>inadmissible</a:t>
            </a:r>
          </a:p>
        </p:txBody>
      </p:sp>
      <p:sp>
        <p:nvSpPr>
          <p:cNvPr id="30" name="Rectangle 29"/>
          <p:cNvSpPr/>
          <p:nvPr/>
        </p:nvSpPr>
        <p:spPr>
          <a:xfrm>
            <a:off x="7315200" y="468172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71232" y="4572000"/>
            <a:ext cx="41330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Rates 100% at flat +25% loading</a:t>
            </a:r>
          </a:p>
        </p:txBody>
      </p:sp>
      <p:sp>
        <p:nvSpPr>
          <p:cNvPr id="32" name="Rectangle 31"/>
          <p:cNvSpPr/>
          <p:nvPr/>
        </p:nvSpPr>
        <p:spPr>
          <a:xfrm>
            <a:off x="7315200" y="518464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571232" y="5074920"/>
            <a:ext cx="41330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Not commercially / regulatorily viable</a:t>
            </a:r>
          </a:p>
        </p:txBody>
      </p:sp>
      <p:sp>
        <p:nvSpPr>
          <p:cNvPr id="34" name="Rectangle 33"/>
          <p:cNvSpPr/>
          <p:nvPr/>
        </p:nvSpPr>
        <p:spPr>
          <a:xfrm>
            <a:off x="7315200" y="5687568"/>
            <a:ext cx="91440" cy="9144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571232" y="5577840"/>
            <a:ext cx="4133088" cy="502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Bandits rank 1-2 of admissible set</a:t>
            </a:r>
          </a:p>
        </p:txBody>
      </p:sp>
      <p:sp>
        <p:nvSpPr>
          <p:cNvPr id="36" name="Rectangle 35"/>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Pre-registered expectation FALSIFIED: AlwaysRATED $122,287 tops the ladder (§5.0.1) -- reported as the scientifically informative outcome; headline is scoped to admissible policies.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A2  NUMBER RECONCILIATION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Appendix</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A2</a:t>
            </a:r>
          </a:p>
        </p:txBody>
      </p:sp>
      <p:sp>
        <p:nvSpPr>
          <p:cNvPr id="10" name="Rectangle 9"/>
          <p:cNvSpPr/>
          <p:nvPr/>
        </p:nvSpPr>
        <p:spPr>
          <a:xfrm>
            <a:off x="512064" y="1371600"/>
            <a:ext cx="391363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Comparison pair</a:t>
            </a:r>
          </a:p>
        </p:txBody>
      </p:sp>
      <p:sp>
        <p:nvSpPr>
          <p:cNvPr id="11" name="Rectangle 10"/>
          <p:cNvSpPr/>
          <p:nvPr/>
        </p:nvSpPr>
        <p:spPr>
          <a:xfrm>
            <a:off x="4535424" y="1371600"/>
            <a:ext cx="117043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Lift</a:t>
            </a:r>
          </a:p>
        </p:txBody>
      </p:sp>
      <p:sp>
        <p:nvSpPr>
          <p:cNvPr id="12" name="Rectangle 11"/>
          <p:cNvSpPr/>
          <p:nvPr/>
        </p:nvSpPr>
        <p:spPr>
          <a:xfrm>
            <a:off x="5815584" y="1371600"/>
            <a:ext cx="574243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A1A1A"/>
                </a:solidFill>
                <a:latin typeface="Calibri"/>
              </a:defRPr>
            </a:pPr>
            <a:r>
              <a:t>Basis / why different</a:t>
            </a:r>
          </a:p>
        </p:txBody>
      </p:sp>
      <p:sp>
        <p:nvSpPr>
          <p:cNvPr id="13" name="Rectangle 12"/>
          <p:cNvSpPr/>
          <p:nvPr/>
        </p:nvSpPr>
        <p:spPr>
          <a:xfrm>
            <a:off x="457200" y="1700784"/>
            <a:ext cx="1115568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773936"/>
            <a:ext cx="11155680"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 y="1810512"/>
            <a:ext cx="39136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LinUCB vs Static XGB (EXP-005)</a:t>
            </a:r>
          </a:p>
        </p:txBody>
      </p:sp>
      <p:sp>
        <p:nvSpPr>
          <p:cNvPr id="16" name="Rectangle 15"/>
          <p:cNvSpPr/>
          <p:nvPr/>
        </p:nvSpPr>
        <p:spPr>
          <a:xfrm>
            <a:off x="4535424" y="1810512"/>
            <a:ext cx="1170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+25.2%</a:t>
            </a:r>
          </a:p>
        </p:txBody>
      </p:sp>
      <p:sp>
        <p:nvSpPr>
          <p:cNvPr id="17" name="Rectangle 16"/>
          <p:cNvSpPr/>
          <p:nvPr/>
        </p:nvSpPr>
        <p:spPr>
          <a:xfrm>
            <a:off x="5815584" y="1810512"/>
            <a:ext cx="5742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Paired design, standardised eval -- the pre-registered primary metric</a:t>
            </a:r>
          </a:p>
        </p:txBody>
      </p:sp>
      <p:sp>
        <p:nvSpPr>
          <p:cNvPr id="18" name="Rectangle 17"/>
          <p:cNvSpPr/>
          <p:nvPr/>
        </p:nvSpPr>
        <p:spPr>
          <a:xfrm>
            <a:off x="512064" y="2587752"/>
            <a:ext cx="39136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LinUCB vs Static XGB (EXP-014 ladder)</a:t>
            </a:r>
          </a:p>
        </p:txBody>
      </p:sp>
      <p:sp>
        <p:nvSpPr>
          <p:cNvPr id="19" name="Rectangle 18"/>
          <p:cNvSpPr/>
          <p:nvPr/>
        </p:nvSpPr>
        <p:spPr>
          <a:xfrm>
            <a:off x="4535424" y="2587752"/>
            <a:ext cx="1170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+27.2%</a:t>
            </a:r>
          </a:p>
        </p:txBody>
      </p:sp>
      <p:sp>
        <p:nvSpPr>
          <p:cNvPr id="20" name="Rectangle 19"/>
          <p:cNvSpPr/>
          <p:nvPr/>
        </p:nvSpPr>
        <p:spPr>
          <a:xfrm>
            <a:off x="5815584" y="2587752"/>
            <a:ext cx="5742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CRN harness, reward-maximising policy (Table 9, §5.0.1)</a:t>
            </a:r>
          </a:p>
        </p:txBody>
      </p:sp>
      <p:sp>
        <p:nvSpPr>
          <p:cNvPr id="21" name="Rectangle 20"/>
          <p:cNvSpPr/>
          <p:nvPr/>
        </p:nvSpPr>
        <p:spPr>
          <a:xfrm>
            <a:off x="457200" y="3328416"/>
            <a:ext cx="11155680" cy="77724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064" y="3364992"/>
            <a:ext cx="39136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LinTS vs Static XGB (EXP-014 ladder)</a:t>
            </a:r>
          </a:p>
        </p:txBody>
      </p:sp>
      <p:sp>
        <p:nvSpPr>
          <p:cNvPr id="23" name="Rectangle 22"/>
          <p:cNvSpPr/>
          <p:nvPr/>
        </p:nvSpPr>
        <p:spPr>
          <a:xfrm>
            <a:off x="4535424" y="3364992"/>
            <a:ext cx="1170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+29.8%</a:t>
            </a:r>
          </a:p>
        </p:txBody>
      </p:sp>
      <p:sp>
        <p:nvSpPr>
          <p:cNvPr id="24" name="Rectangle 23"/>
          <p:cNvSpPr/>
          <p:nvPr/>
        </p:nvSpPr>
        <p:spPr>
          <a:xfrm>
            <a:off x="5815584" y="3364992"/>
            <a:ext cx="5742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CRN harness, LinTS reward-maximising (Table 9, §5.0.1)</a:t>
            </a:r>
          </a:p>
        </p:txBody>
      </p:sp>
      <p:sp>
        <p:nvSpPr>
          <p:cNvPr id="25" name="Rectangle 24"/>
          <p:cNvSpPr/>
          <p:nvPr/>
        </p:nvSpPr>
        <p:spPr>
          <a:xfrm>
            <a:off x="512064" y="4142232"/>
            <a:ext cx="39136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HITL vs vanilla LinUCB (EXP-008)</a:t>
            </a:r>
          </a:p>
        </p:txBody>
      </p:sp>
      <p:sp>
        <p:nvSpPr>
          <p:cNvPr id="26" name="Rectangle 25"/>
          <p:cNvSpPr/>
          <p:nvPr/>
        </p:nvSpPr>
        <p:spPr>
          <a:xfrm>
            <a:off x="4535424" y="4142232"/>
            <a:ext cx="1170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1" i="0">
                <a:solidFill>
                  <a:srgbClr val="1B5697"/>
                </a:solidFill>
                <a:latin typeface="Calibri"/>
              </a:defRPr>
            </a:pPr>
            <a:r>
              <a:t>+14.8%</a:t>
            </a:r>
          </a:p>
        </p:txBody>
      </p:sp>
      <p:sp>
        <p:nvSpPr>
          <p:cNvPr id="27" name="Rectangle 26"/>
          <p:cNvSpPr/>
          <p:nvPr/>
        </p:nvSpPr>
        <p:spPr>
          <a:xfrm>
            <a:off x="5815584" y="4142232"/>
            <a:ext cx="5742432" cy="704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Augmented bandit vs vanilla bandit -- different baseline entirely</a:t>
            </a:r>
          </a:p>
        </p:txBody>
      </p:sp>
      <p:sp>
        <p:nvSpPr>
          <p:cNvPr id="28" name="Rectangle 27"/>
          <p:cNvSpPr/>
          <p:nvPr/>
        </p:nvSpPr>
        <p:spPr>
          <a:xfrm>
            <a:off x="457200" y="5120640"/>
            <a:ext cx="11277295" cy="82296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defRPr sz="1400" b="0">
                <a:solidFill>
                  <a:srgbClr val="1A1A1A"/>
                </a:solidFill>
                <a:latin typeface="Calibri"/>
              </a:defRPr>
            </a:pPr>
            <a:r>
              <a:t>All three answer different questions and are mutually consistent. EXP-005 (+25.2%) is the conservative pre-registered primary.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A3  FAIRNESS CRITERIA VERDICTS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Appendix</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A3</a:t>
            </a:r>
          </a:p>
        </p:txBody>
      </p:sp>
      <p:sp>
        <p:nvSpPr>
          <p:cNvPr id="10" name="Rectangle 9"/>
          <p:cNvSpPr/>
          <p:nvPr/>
        </p:nvSpPr>
        <p:spPr>
          <a:xfrm>
            <a:off x="512064" y="1463040"/>
            <a:ext cx="62179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a:t>
            </a:r>
          </a:p>
        </p:txBody>
      </p:sp>
      <p:sp>
        <p:nvSpPr>
          <p:cNvPr id="11" name="Rectangle 10"/>
          <p:cNvSpPr/>
          <p:nvPr/>
        </p:nvSpPr>
        <p:spPr>
          <a:xfrm>
            <a:off x="1243584" y="1463040"/>
            <a:ext cx="62910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Pre-registered criterion</a:t>
            </a:r>
          </a:p>
        </p:txBody>
      </p:sp>
      <p:sp>
        <p:nvSpPr>
          <p:cNvPr id="12" name="Rectangle 11"/>
          <p:cNvSpPr/>
          <p:nvPr/>
        </p:nvSpPr>
        <p:spPr>
          <a:xfrm>
            <a:off x="7644384" y="1463040"/>
            <a:ext cx="354787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Verdict</a:t>
            </a:r>
          </a:p>
        </p:txBody>
      </p:sp>
      <p:sp>
        <p:nvSpPr>
          <p:cNvPr id="13" name="Rectangle 12"/>
          <p:cNvSpPr/>
          <p:nvPr/>
        </p:nvSpPr>
        <p:spPr>
          <a:xfrm>
            <a:off x="457200" y="1792224"/>
            <a:ext cx="107899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865376"/>
            <a:ext cx="10789920" cy="60350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2064" y="1901952"/>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1</a:t>
            </a:r>
          </a:p>
        </p:txBody>
      </p:sp>
      <p:sp>
        <p:nvSpPr>
          <p:cNvPr id="16" name="Rectangle 15"/>
          <p:cNvSpPr/>
          <p:nvPr/>
        </p:nvSpPr>
        <p:spPr>
          <a:xfrm>
            <a:off x="1243584" y="1901952"/>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Region PSI within threshold</a:t>
            </a:r>
          </a:p>
        </p:txBody>
      </p:sp>
      <p:sp>
        <p:nvSpPr>
          <p:cNvPr id="17" name="Rectangle 16"/>
          <p:cNvSpPr/>
          <p:nvPr/>
        </p:nvSpPr>
        <p:spPr>
          <a:xfrm>
            <a:off x="7644384" y="1901952"/>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2E8B57"/>
                </a:solidFill>
                <a:latin typeface="Calibri"/>
              </a:defRPr>
            </a:pPr>
            <a:r>
              <a:t>PASSED</a:t>
            </a:r>
          </a:p>
        </p:txBody>
      </p:sp>
      <p:sp>
        <p:nvSpPr>
          <p:cNvPr id="18" name="Rectangle 17"/>
          <p:cNvSpPr/>
          <p:nvPr/>
        </p:nvSpPr>
        <p:spPr>
          <a:xfrm>
            <a:off x="512064" y="2505456"/>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2</a:t>
            </a:r>
          </a:p>
        </p:txBody>
      </p:sp>
      <p:sp>
        <p:nvSpPr>
          <p:cNvPr id="19" name="Rectangle 18"/>
          <p:cNvSpPr/>
          <p:nvPr/>
        </p:nvSpPr>
        <p:spPr>
          <a:xfrm>
            <a:off x="1243584" y="2505456"/>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Occupation PSI within threshold</a:t>
            </a:r>
          </a:p>
        </p:txBody>
      </p:sp>
      <p:sp>
        <p:nvSpPr>
          <p:cNvPr id="20" name="Rectangle 19"/>
          <p:cNvSpPr/>
          <p:nvPr/>
        </p:nvSpPr>
        <p:spPr>
          <a:xfrm>
            <a:off x="7644384" y="2505456"/>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2E8B57"/>
                </a:solidFill>
                <a:latin typeface="Calibri"/>
              </a:defRPr>
            </a:pPr>
            <a:r>
              <a:t>PASSED</a:t>
            </a:r>
          </a:p>
        </p:txBody>
      </p:sp>
      <p:sp>
        <p:nvSpPr>
          <p:cNvPr id="21" name="Rectangle 20"/>
          <p:cNvSpPr/>
          <p:nvPr/>
        </p:nvSpPr>
        <p:spPr>
          <a:xfrm>
            <a:off x="457200" y="3072384"/>
            <a:ext cx="10789920" cy="60350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2064" y="3108960"/>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3</a:t>
            </a:r>
          </a:p>
        </p:txBody>
      </p:sp>
      <p:sp>
        <p:nvSpPr>
          <p:cNvPr id="23" name="Rectangle 22"/>
          <p:cNvSpPr/>
          <p:nvPr/>
        </p:nvSpPr>
        <p:spPr>
          <a:xfrm>
            <a:off x="1243584" y="3108960"/>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Region EEOC parity ≥ 80%</a:t>
            </a:r>
          </a:p>
        </p:txBody>
      </p:sp>
      <p:sp>
        <p:nvSpPr>
          <p:cNvPr id="24" name="Rectangle 23"/>
          <p:cNvSpPr/>
          <p:nvPr/>
        </p:nvSpPr>
        <p:spPr>
          <a:xfrm>
            <a:off x="7644384" y="3108960"/>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2E8B57"/>
                </a:solidFill>
                <a:latin typeface="Calibri"/>
              </a:defRPr>
            </a:pPr>
            <a:r>
              <a:t>PASSED</a:t>
            </a:r>
          </a:p>
        </p:txBody>
      </p:sp>
      <p:sp>
        <p:nvSpPr>
          <p:cNvPr id="25" name="Rectangle 24"/>
          <p:cNvSpPr/>
          <p:nvPr/>
        </p:nvSpPr>
        <p:spPr>
          <a:xfrm>
            <a:off x="512064" y="3712464"/>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4</a:t>
            </a:r>
          </a:p>
        </p:txBody>
      </p:sp>
      <p:sp>
        <p:nvSpPr>
          <p:cNvPr id="26" name="Rectangle 25"/>
          <p:cNvSpPr/>
          <p:nvPr/>
        </p:nvSpPr>
        <p:spPr>
          <a:xfrm>
            <a:off x="1243584" y="3712464"/>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Occupation EEOC parity ≥ 80%</a:t>
            </a:r>
          </a:p>
        </p:txBody>
      </p:sp>
      <p:sp>
        <p:nvSpPr>
          <p:cNvPr id="27" name="Rectangle 26"/>
          <p:cNvSpPr/>
          <p:nvPr/>
        </p:nvSpPr>
        <p:spPr>
          <a:xfrm>
            <a:off x="7644384" y="3712464"/>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2E8B57"/>
                </a:solidFill>
                <a:latin typeface="Calibri"/>
              </a:defRPr>
            </a:pPr>
            <a:r>
              <a:t>PASSED</a:t>
            </a:r>
          </a:p>
        </p:txBody>
      </p:sp>
      <p:sp>
        <p:nvSpPr>
          <p:cNvPr id="28" name="Rectangle 27"/>
          <p:cNvSpPr/>
          <p:nvPr/>
        </p:nvSpPr>
        <p:spPr>
          <a:xfrm>
            <a:off x="457200" y="4279392"/>
            <a:ext cx="10789920" cy="603504"/>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12064" y="4315968"/>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5</a:t>
            </a:r>
          </a:p>
        </p:txBody>
      </p:sp>
      <p:sp>
        <p:nvSpPr>
          <p:cNvPr id="30" name="Rectangle 29"/>
          <p:cNvSpPr/>
          <p:nvPr/>
        </p:nvSpPr>
        <p:spPr>
          <a:xfrm>
            <a:off x="1243584" y="4315968"/>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Region → action independence</a:t>
            </a:r>
          </a:p>
        </p:txBody>
      </p:sp>
      <p:sp>
        <p:nvSpPr>
          <p:cNvPr id="31" name="Rectangle 30"/>
          <p:cNvSpPr/>
          <p:nvPr/>
        </p:nvSpPr>
        <p:spPr>
          <a:xfrm>
            <a:off x="7644384" y="4315968"/>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2E8B57"/>
                </a:solidFill>
                <a:latin typeface="Calibri"/>
              </a:defRPr>
            </a:pPr>
            <a:r>
              <a:t>PASSED</a:t>
            </a:r>
          </a:p>
        </p:txBody>
      </p:sp>
      <p:sp>
        <p:nvSpPr>
          <p:cNvPr id="32" name="Rectangle 31"/>
          <p:cNvSpPr/>
          <p:nvPr/>
        </p:nvSpPr>
        <p:spPr>
          <a:xfrm>
            <a:off x="512064" y="4919472"/>
            <a:ext cx="62179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6</a:t>
            </a:r>
          </a:p>
        </p:txBody>
      </p:sp>
      <p:sp>
        <p:nvSpPr>
          <p:cNvPr id="33" name="Rectangle 32"/>
          <p:cNvSpPr/>
          <p:nvPr/>
        </p:nvSpPr>
        <p:spPr>
          <a:xfrm>
            <a:off x="1243584" y="4919472"/>
            <a:ext cx="62910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Occupation → action independence</a:t>
            </a:r>
          </a:p>
        </p:txBody>
      </p:sp>
      <p:sp>
        <p:nvSpPr>
          <p:cNvPr id="34" name="Rectangle 33"/>
          <p:cNvSpPr/>
          <p:nvPr/>
        </p:nvSpPr>
        <p:spPr>
          <a:xfrm>
            <a:off x="7644384" y="4919472"/>
            <a:ext cx="3547872"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D93B3B"/>
                </a:solidFill>
                <a:latin typeface="Calibri"/>
              </a:defRPr>
            </a:pPr>
            <a:r>
              <a:t>FAILED-with-interpretation</a:t>
            </a:r>
          </a:p>
        </p:txBody>
      </p:sp>
      <p:sp>
        <p:nvSpPr>
          <p:cNvPr id="35" name="Rectangle 34"/>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5 of 6 PASSED. Criterion 6: occupation→action p &lt; 0.001 — significant but practically small; occupation is an actuarially valid factor.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A4  SENSITIVITY &amp; ABLATION</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Appendix</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A4</a:t>
            </a:r>
          </a:p>
        </p:txBody>
      </p:sp>
      <p:sp>
        <p:nvSpPr>
          <p:cNvPr id="10" name="Rectangle 9"/>
          <p:cNvSpPr/>
          <p:nvPr/>
        </p:nvSpPr>
        <p:spPr>
          <a:xfrm>
            <a:off x="512064" y="1463040"/>
            <a:ext cx="373075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Parameter</a:t>
            </a:r>
          </a:p>
        </p:txBody>
      </p:sp>
      <p:sp>
        <p:nvSpPr>
          <p:cNvPr id="11" name="Rectangle 10"/>
          <p:cNvSpPr/>
          <p:nvPr/>
        </p:nvSpPr>
        <p:spPr>
          <a:xfrm>
            <a:off x="4352544" y="1463040"/>
            <a:ext cx="7296912" cy="3108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Value / range tested</a:t>
            </a:r>
          </a:p>
        </p:txBody>
      </p:sp>
      <p:sp>
        <p:nvSpPr>
          <p:cNvPr id="12" name="Rectangle 11"/>
          <p:cNvSpPr/>
          <p:nvPr/>
        </p:nvSpPr>
        <p:spPr>
          <a:xfrm>
            <a:off x="457200" y="1792224"/>
            <a:ext cx="11247120" cy="22860"/>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865376"/>
            <a:ext cx="11247120" cy="56692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4" y="1901952"/>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α  (LinUCB exploration)</a:t>
            </a:r>
          </a:p>
        </p:txBody>
      </p:sp>
      <p:sp>
        <p:nvSpPr>
          <p:cNvPr id="15" name="Rectangle 14"/>
          <p:cNvSpPr/>
          <p:nvPr/>
        </p:nvSpPr>
        <p:spPr>
          <a:xfrm>
            <a:off x="4352544" y="1901952"/>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1.0 headline — regret-minimising in EXP-012 sweep</a:t>
            </a:r>
          </a:p>
        </p:txBody>
      </p:sp>
      <p:sp>
        <p:nvSpPr>
          <p:cNvPr id="16" name="Rectangle 15"/>
          <p:cNvSpPr/>
          <p:nvPr/>
        </p:nvSpPr>
        <p:spPr>
          <a:xfrm>
            <a:off x="512064" y="2468880"/>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v  (LinTS variance)</a:t>
            </a:r>
          </a:p>
        </p:txBody>
      </p:sp>
      <p:sp>
        <p:nvSpPr>
          <p:cNvPr id="17" name="Rectangle 16"/>
          <p:cNvSpPr/>
          <p:nvPr/>
        </p:nvSpPr>
        <p:spPr>
          <a:xfrm>
            <a:off x="4352544" y="2468880"/>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0.1 — posterior-width calibration</a:t>
            </a:r>
          </a:p>
        </p:txBody>
      </p:sp>
      <p:sp>
        <p:nvSpPr>
          <p:cNvPr id="18" name="Rectangle 17"/>
          <p:cNvSpPr/>
          <p:nvPr/>
        </p:nvSpPr>
        <p:spPr>
          <a:xfrm>
            <a:off x="457200" y="2999232"/>
            <a:ext cx="11247120" cy="56692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2064" y="3035808"/>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λ  (ridge penalty)</a:t>
            </a:r>
          </a:p>
        </p:txBody>
      </p:sp>
      <p:sp>
        <p:nvSpPr>
          <p:cNvPr id="20" name="Rectangle 19"/>
          <p:cNvSpPr/>
          <p:nvPr/>
        </p:nvSpPr>
        <p:spPr>
          <a:xfrm>
            <a:off x="4352544" y="3035808"/>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1.0 — identity prior</a:t>
            </a:r>
          </a:p>
        </p:txBody>
      </p:sp>
      <p:sp>
        <p:nvSpPr>
          <p:cNvPr id="21" name="Rectangle 20"/>
          <p:cNvSpPr/>
          <p:nvPr/>
        </p:nvSpPr>
        <p:spPr>
          <a:xfrm>
            <a:off x="512064" y="3602736"/>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κ  (HITL conservatism)</a:t>
            </a:r>
          </a:p>
        </p:txBody>
      </p:sp>
      <p:sp>
        <p:nvSpPr>
          <p:cNvPr id="22" name="Rectangle 21"/>
          <p:cNvSpPr/>
          <p:nvPr/>
        </p:nvSpPr>
        <p:spPr>
          <a:xfrm>
            <a:off x="4352544" y="3602736"/>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0.7 headline; 0.3 / 0.5 also tested (EXP-008)</a:t>
            </a:r>
          </a:p>
        </p:txBody>
      </p:sp>
      <p:sp>
        <p:nvSpPr>
          <p:cNvPr id="23" name="Rectangle 22"/>
          <p:cNvSpPr/>
          <p:nvPr/>
        </p:nvSpPr>
        <p:spPr>
          <a:xfrm>
            <a:off x="457200" y="4133088"/>
            <a:ext cx="11247120" cy="566928"/>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12064" y="4169664"/>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Price elasticity β</a:t>
            </a:r>
          </a:p>
        </p:txBody>
      </p:sp>
      <p:sp>
        <p:nvSpPr>
          <p:cNvPr id="25" name="Rectangle 24"/>
          <p:cNvSpPr/>
          <p:nvPr/>
        </p:nvSpPr>
        <p:spPr>
          <a:xfrm>
            <a:off x="4352544" y="4169664"/>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3.5 base; 2.5 / 4.5 stress (EXP-012)</a:t>
            </a:r>
          </a:p>
        </p:txBody>
      </p:sp>
      <p:sp>
        <p:nvSpPr>
          <p:cNvPr id="26" name="Rectangle 25"/>
          <p:cNvSpPr/>
          <p:nvPr/>
        </p:nvSpPr>
        <p:spPr>
          <a:xfrm>
            <a:off x="512064" y="4736592"/>
            <a:ext cx="373075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Adverse-selection AF</a:t>
            </a:r>
          </a:p>
        </p:txBody>
      </p:sp>
      <p:sp>
        <p:nvSpPr>
          <p:cNvPr id="27" name="Rectangle 26"/>
          <p:cNvSpPr/>
          <p:nvPr/>
        </p:nvSpPr>
        <p:spPr>
          <a:xfrm>
            <a:off x="4352544" y="4736592"/>
            <a:ext cx="7296912"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alibri"/>
              </a:defRPr>
            </a:pPr>
            <a:r>
              <a:t>1.35 (DAC actuarial prior)</a:t>
            </a:r>
          </a:p>
        </p:txBody>
      </p:sp>
      <p:sp>
        <p:nvSpPr>
          <p:cNvPr id="28" name="Rectangle 27"/>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Headline ranking is stable across the EXP-011 ablation and the EXP-012 sensitivity grid.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10896"/>
            <a:ext cx="11277295" cy="56692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ctr">
              <a:defRPr sz="2600" b="1" i="0">
                <a:solidFill>
                  <a:srgbClr val="1B5697"/>
                </a:solidFill>
                <a:latin typeface="Segoe UI"/>
              </a:defRPr>
            </a:pPr>
            <a:r>
              <a:t>A5  BANDIT MATH &amp; PSI MECHANICS</a:t>
            </a:r>
          </a:p>
        </p:txBody>
      </p:sp>
      <p:sp>
        <p:nvSpPr>
          <p:cNvPr id="3" name="Rectangle 2"/>
          <p:cNvSpPr/>
          <p:nvPr/>
        </p:nvSpPr>
        <p:spPr>
          <a:xfrm>
            <a:off x="5090007" y="932688"/>
            <a:ext cx="2011680" cy="36576"/>
          </a:xfrm>
          <a:prstGeom prst="rect">
            <a:avLst/>
          </a:prstGeom>
          <a:solidFill>
            <a:srgbClr val="1B56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37376"/>
            <a:ext cx="3108960"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64592" y="6437376"/>
            <a:ext cx="283464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defRPr sz="1100" b="1" i="0">
                <a:solidFill>
                  <a:srgbClr val="FFFFFF"/>
                </a:solidFill>
                <a:latin typeface="Segoe UI"/>
              </a:defRPr>
            </a:pPr>
            <a:r>
              <a:t>DAC  ·  ITC-AMS</a:t>
            </a:r>
          </a:p>
        </p:txBody>
      </p:sp>
      <p:sp>
        <p:nvSpPr>
          <p:cNvPr id="6" name="Rectangle 5"/>
          <p:cNvSpPr/>
          <p:nvPr/>
        </p:nvSpPr>
        <p:spPr>
          <a:xfrm>
            <a:off x="3108960" y="6437376"/>
            <a:ext cx="6126480" cy="420624"/>
          </a:xfrm>
          <a:prstGeom prst="rect">
            <a:avLst/>
          </a:prstGeom>
          <a:solidFill>
            <a:srgbClr val="AFC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6437376"/>
            <a:ext cx="59436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defRPr sz="1100" b="0" i="0">
                <a:solidFill>
                  <a:srgbClr val="143D6B"/>
                </a:solidFill>
                <a:latin typeface="Calibri"/>
              </a:defRPr>
            </a:pPr>
            <a:r>
              <a:t>Appendix</a:t>
            </a:r>
          </a:p>
        </p:txBody>
      </p:sp>
      <p:sp>
        <p:nvSpPr>
          <p:cNvPr id="8" name="Rectangle 7"/>
          <p:cNvSpPr/>
          <p:nvPr/>
        </p:nvSpPr>
        <p:spPr>
          <a:xfrm>
            <a:off x="9235440" y="6437376"/>
            <a:ext cx="2956255" cy="420624"/>
          </a:xfrm>
          <a:prstGeom prst="rect">
            <a:avLst/>
          </a:prstGeom>
          <a:solidFill>
            <a:srgbClr val="143D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326880" y="6437376"/>
            <a:ext cx="274320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r">
              <a:defRPr sz="1100" b="1" i="0">
                <a:solidFill>
                  <a:srgbClr val="FFFFFF"/>
                </a:solidFill>
                <a:latin typeface="Segoe UI"/>
              </a:defRPr>
            </a:pPr>
            <a:r>
              <a:t>July 2026   ·   A5</a:t>
            </a:r>
          </a:p>
        </p:txBody>
      </p:sp>
      <p:sp>
        <p:nvSpPr>
          <p:cNvPr id="10" name="Rectangle 9"/>
          <p:cNvSpPr/>
          <p:nvPr/>
        </p:nvSpPr>
        <p:spPr>
          <a:xfrm>
            <a:off x="457200" y="1234440"/>
            <a:ext cx="53035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B5697"/>
                </a:solidFill>
                <a:latin typeface="Calibri"/>
              </a:defRPr>
            </a:pPr>
            <a:r>
              <a:t>LinUCB (OFUL)</a:t>
            </a:r>
          </a:p>
        </p:txBody>
      </p:sp>
      <p:sp>
        <p:nvSpPr>
          <p:cNvPr id="11" name="Rectangle 10"/>
          <p:cNvSpPr/>
          <p:nvPr/>
        </p:nvSpPr>
        <p:spPr>
          <a:xfrm>
            <a:off x="594360" y="16916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A_a ← A_a + x_t x_tᵀ</a:t>
            </a:r>
          </a:p>
        </p:txBody>
      </p:sp>
      <p:sp>
        <p:nvSpPr>
          <p:cNvPr id="12" name="Rectangle 11"/>
          <p:cNvSpPr/>
          <p:nvPr/>
        </p:nvSpPr>
        <p:spPr>
          <a:xfrm>
            <a:off x="594360" y="21488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b_a ← b_a + r_t x_t</a:t>
            </a:r>
          </a:p>
        </p:txBody>
      </p:sp>
      <p:sp>
        <p:nvSpPr>
          <p:cNvPr id="13" name="Rectangle 12"/>
          <p:cNvSpPr/>
          <p:nvPr/>
        </p:nvSpPr>
        <p:spPr>
          <a:xfrm>
            <a:off x="594360" y="26060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θ_a = A_a⁻¹ b_a</a:t>
            </a:r>
          </a:p>
        </p:txBody>
      </p:sp>
      <p:sp>
        <p:nvSpPr>
          <p:cNvPr id="14" name="Rectangle 13"/>
          <p:cNvSpPr/>
          <p:nvPr/>
        </p:nvSpPr>
        <p:spPr>
          <a:xfrm>
            <a:off x="594360" y="30632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a* = argmax θ_aᵀx_t + α√(x_tᵀA_a⁻¹x_t)</a:t>
            </a:r>
          </a:p>
        </p:txBody>
      </p:sp>
      <p:sp>
        <p:nvSpPr>
          <p:cNvPr id="15" name="Rectangle 14"/>
          <p:cNvSpPr/>
          <p:nvPr/>
        </p:nvSpPr>
        <p:spPr>
          <a:xfrm>
            <a:off x="6400800" y="1234440"/>
            <a:ext cx="530352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B5697"/>
                </a:solidFill>
                <a:latin typeface="Calibri"/>
              </a:defRPr>
            </a:pPr>
            <a:r>
              <a:t>LinTS (Thompson)</a:t>
            </a:r>
          </a:p>
        </p:txBody>
      </p:sp>
      <p:sp>
        <p:nvSpPr>
          <p:cNvPr id="16" name="Rectangle 15"/>
          <p:cNvSpPr/>
          <p:nvPr/>
        </p:nvSpPr>
        <p:spPr>
          <a:xfrm>
            <a:off x="6537960" y="16916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Prior: θ_a ~ N(μ_a, λ⁻¹I)</a:t>
            </a:r>
          </a:p>
        </p:txBody>
      </p:sp>
      <p:sp>
        <p:nvSpPr>
          <p:cNvPr id="17" name="Rectangle 16"/>
          <p:cNvSpPr/>
          <p:nvPr/>
        </p:nvSpPr>
        <p:spPr>
          <a:xfrm>
            <a:off x="6537960" y="21488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Σ_a⁻¹ = λI + A_a ;  μ_a = Σ_a b_a</a:t>
            </a:r>
          </a:p>
        </p:txBody>
      </p:sp>
      <p:sp>
        <p:nvSpPr>
          <p:cNvPr id="18" name="Rectangle 17"/>
          <p:cNvSpPr/>
          <p:nvPr/>
        </p:nvSpPr>
        <p:spPr>
          <a:xfrm>
            <a:off x="6537960" y="26060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Sample: θ̃_a ~ N(μ_a, v²Σ_a)</a:t>
            </a:r>
          </a:p>
        </p:txBody>
      </p:sp>
      <p:sp>
        <p:nvSpPr>
          <p:cNvPr id="19" name="Rectangle 18"/>
          <p:cNvSpPr/>
          <p:nvPr/>
        </p:nvSpPr>
        <p:spPr>
          <a:xfrm>
            <a:off x="6537960" y="3063240"/>
            <a:ext cx="5212080" cy="42062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0" i="0">
                <a:solidFill>
                  <a:srgbClr val="1A1A1A"/>
                </a:solidFill>
                <a:latin typeface="Consolas"/>
              </a:defRPr>
            </a:pPr>
            <a:r>
              <a:t>Select: a* = argmax θ̃_aᵀ x_t</a:t>
            </a:r>
          </a:p>
        </p:txBody>
      </p:sp>
      <p:sp>
        <p:nvSpPr>
          <p:cNvPr id="20" name="Rectangle 19"/>
          <p:cNvSpPr/>
          <p:nvPr/>
        </p:nvSpPr>
        <p:spPr>
          <a:xfrm>
            <a:off x="457200" y="3886200"/>
            <a:ext cx="11277295"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600" b="1" i="0">
                <a:solidFill>
                  <a:srgbClr val="1A1A1A"/>
                </a:solidFill>
                <a:latin typeface="Consolas"/>
              </a:defRPr>
            </a:pPr>
            <a:r>
              <a:t>PSI = Σ (Actual% − Expected%) × ln(Actual% / Expected%)</a:t>
            </a:r>
          </a:p>
        </p:txBody>
      </p:sp>
      <p:sp>
        <p:nvSpPr>
          <p:cNvPr id="21" name="Rectangle 20"/>
          <p:cNvSpPr/>
          <p:nvPr/>
        </p:nvSpPr>
        <p:spPr>
          <a:xfrm>
            <a:off x="457200" y="4480560"/>
            <a:ext cx="146304" cy="411480"/>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480560"/>
            <a:ext cx="12801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GREEN</a:t>
            </a:r>
          </a:p>
        </p:txBody>
      </p:sp>
      <p:sp>
        <p:nvSpPr>
          <p:cNvPr id="23" name="Rectangle 22"/>
          <p:cNvSpPr/>
          <p:nvPr/>
        </p:nvSpPr>
        <p:spPr>
          <a:xfrm>
            <a:off x="2194560" y="4507992"/>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PSI &lt; 0.10</a:t>
            </a:r>
          </a:p>
        </p:txBody>
      </p:sp>
      <p:sp>
        <p:nvSpPr>
          <p:cNvPr id="24" name="Rectangle 23"/>
          <p:cNvSpPr/>
          <p:nvPr/>
        </p:nvSpPr>
        <p:spPr>
          <a:xfrm>
            <a:off x="4754880" y="4507992"/>
            <a:ext cx="6858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stable — no action</a:t>
            </a:r>
          </a:p>
        </p:txBody>
      </p:sp>
      <p:sp>
        <p:nvSpPr>
          <p:cNvPr id="25" name="Rectangle 24"/>
          <p:cNvSpPr/>
          <p:nvPr/>
        </p:nvSpPr>
        <p:spPr>
          <a:xfrm>
            <a:off x="457200" y="4983480"/>
            <a:ext cx="146304" cy="411480"/>
          </a:xfrm>
          <a:prstGeom prst="rect">
            <a:avLst/>
          </a:prstGeom>
          <a:solidFill>
            <a:srgbClr val="E6A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 y="4983480"/>
            <a:ext cx="12801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AMBER</a:t>
            </a:r>
          </a:p>
        </p:txBody>
      </p:sp>
      <p:sp>
        <p:nvSpPr>
          <p:cNvPr id="27" name="Rectangle 26"/>
          <p:cNvSpPr/>
          <p:nvPr/>
        </p:nvSpPr>
        <p:spPr>
          <a:xfrm>
            <a:off x="2194560" y="5010912"/>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0.10 ≤ PSI &lt; 0.25</a:t>
            </a:r>
          </a:p>
        </p:txBody>
      </p:sp>
      <p:sp>
        <p:nvSpPr>
          <p:cNvPr id="28" name="Rectangle 27"/>
          <p:cNvSpPr/>
          <p:nvPr/>
        </p:nvSpPr>
        <p:spPr>
          <a:xfrm>
            <a:off x="4754880" y="5010912"/>
            <a:ext cx="6858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monitor closely</a:t>
            </a:r>
          </a:p>
        </p:txBody>
      </p:sp>
      <p:sp>
        <p:nvSpPr>
          <p:cNvPr id="29" name="Rectangle 28"/>
          <p:cNvSpPr/>
          <p:nvPr/>
        </p:nvSpPr>
        <p:spPr>
          <a:xfrm>
            <a:off x="457200" y="5486400"/>
            <a:ext cx="146304" cy="411480"/>
          </a:xfrm>
          <a:prstGeom prst="rect">
            <a:avLst/>
          </a:prstGeom>
          <a:solidFill>
            <a:srgbClr val="D9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 y="5486400"/>
            <a:ext cx="1280160" cy="411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400" b="1" i="0">
                <a:solidFill>
                  <a:srgbClr val="1A1A1A"/>
                </a:solidFill>
                <a:latin typeface="Calibri"/>
              </a:defRPr>
            </a:pPr>
            <a:r>
              <a:t>RED</a:t>
            </a:r>
          </a:p>
        </p:txBody>
      </p:sp>
      <p:sp>
        <p:nvSpPr>
          <p:cNvPr id="31" name="Rectangle 30"/>
          <p:cNvSpPr/>
          <p:nvPr/>
        </p:nvSpPr>
        <p:spPr>
          <a:xfrm>
            <a:off x="2194560" y="5513832"/>
            <a:ext cx="237744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1A1A1A"/>
                </a:solidFill>
                <a:latin typeface="Calibri"/>
              </a:defRPr>
            </a:pPr>
            <a:r>
              <a:t>PSI ≥ 0.25</a:t>
            </a:r>
          </a:p>
        </p:txBody>
      </p:sp>
      <p:sp>
        <p:nvSpPr>
          <p:cNvPr id="32" name="Rectangle 31"/>
          <p:cNvSpPr/>
          <p:nvPr/>
        </p:nvSpPr>
        <p:spPr>
          <a:xfrm>
            <a:off x="4754880" y="5513832"/>
            <a:ext cx="6858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300" b="0" i="0">
                <a:solidFill>
                  <a:srgbClr val="3A3A3A"/>
                </a:solidFill>
                <a:latin typeface="Calibri"/>
              </a:defRPr>
            </a:pPr>
            <a:r>
              <a:t>mandatory review</a:t>
            </a:r>
          </a:p>
        </p:txBody>
      </p:sp>
      <p:sp>
        <p:nvSpPr>
          <p:cNvPr id="33" name="Rectangle 32"/>
          <p:cNvSpPr/>
          <p:nvPr/>
        </p:nvSpPr>
        <p:spPr>
          <a:xfrm>
            <a:off x="457200" y="6053328"/>
            <a:ext cx="11277295" cy="32918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18288" bIns="18288"/>
          <a:lstStyle/>
          <a:p>
            <a:pPr algn="l">
              <a:defRPr sz="1050" b="0" i="1">
                <a:solidFill>
                  <a:srgbClr val="777777"/>
                </a:solidFill>
                <a:latin typeface="Calibri"/>
              </a:defRPr>
            </a:pPr>
            <a:r>
              <a:t>EXP-006: region PSI 0.0821 (GREEN) · occupation max 0.1225 (AMBER) — both within threshold.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