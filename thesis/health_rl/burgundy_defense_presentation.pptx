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Relationship Id="rId5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1005840" cy="991695"/>
          </a:xfrm>
          <a:prstGeom prst="rect">
            <a:avLst/>
          </a:prstGeom>
        </p:spPr>
      </p:pic>
      <p:pic>
        <p:nvPicPr>
          <p:cNvPr id="3" name="Picture 2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1640" y="365760"/>
            <a:ext cx="1463040" cy="1386393"/>
          </a:xfrm>
          <a:prstGeom prst="rect">
            <a:avLst/>
          </a:prstGeom>
        </p:spPr>
      </p:pic>
      <p:pic>
        <p:nvPicPr>
          <p:cNvPr id="4" name="Picture 3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463040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3200400" y="411480"/>
            <a:ext cx="64008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400" b="1" i="0">
                <a:solidFill>
                  <a:srgbClr val="1A1A1A"/>
                </a:solidFill>
                <a:latin typeface="Times New Roman"/>
              </a:defRPr>
            </a:pPr>
            <a:r>
              <a:t>Institute of Technology of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850392"/>
            <a:ext cx="640080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700" b="0" i="0">
                <a:solidFill>
                  <a:srgbClr val="1A1A1A"/>
                </a:solidFill>
                <a:latin typeface="Times New Roman"/>
              </a:defRPr>
            </a:pPr>
            <a:r>
              <a:t>Department of Applied Mathematics and Statistics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2327" y="1920240"/>
            <a:ext cx="10607040" cy="201168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2400" b="1">
                <a:solidFill>
                  <a:srgbClr val="FFFFFF"/>
                </a:solidFill>
                <a:latin typeface="Times New Roman"/>
              </a:defRPr>
            </a:pPr>
            <a:r>
              <a:t>ADAPTIVE HEALTH INSURANCE UNDERWRITING VIA CONTEXTUAL BANDITS: A REINFORCEMENT LEARNING APPROACH FOR CAMBODIA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4251960"/>
            <a:ext cx="12191695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Presented by: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4590288"/>
            <a:ext cx="12191695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1A1A1A"/>
                </a:solidFill>
                <a:latin typeface="Times New Roman"/>
              </a:defRPr>
            </a:pPr>
            <a:r>
              <a:t>LUN CHANPOLY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5212080"/>
            <a:ext cx="51206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Supervisor      :  Dr. HAS Sothea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5212080"/>
            <a:ext cx="51206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Organization :  DAC (Decent Actuarial Consultants)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5541264"/>
            <a:ext cx="51206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Co-Supervisor  :  Mr. PHOK Ponna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5541264"/>
            <a:ext cx="51206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Duration        :  Mar 2026 – Jun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035040"/>
            <a:ext cx="12191695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03120" cy="68580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11480"/>
            <a:ext cx="50292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576072"/>
            <a:ext cx="50292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740664"/>
            <a:ext cx="50292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2743200"/>
            <a:ext cx="777240" cy="777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800"/>
            </a:pPr>
            <a:r>
              <a:t>🎓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6263640"/>
            <a:ext cx="118872" cy="118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8952" y="6263640"/>
            <a:ext cx="118872" cy="118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14984" y="6263640"/>
            <a:ext cx="118872" cy="1188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651760" y="365760"/>
            <a:ext cx="822960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600" b="1" i="0">
                <a:solidFill>
                  <a:srgbClr val="1A1A1A"/>
                </a:solidFill>
                <a:latin typeface="Times New Roman"/>
              </a:defRPr>
            </a:pPr>
            <a:r>
              <a:t>TABLE OF CONTENT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0" y="132588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66160" y="1362456"/>
            <a:ext cx="38404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Introduction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185623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43200" y="278892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ii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2825496"/>
            <a:ext cx="38404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Internship at DAC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66160" y="331927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425196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iii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66160" y="4288536"/>
            <a:ext cx="38404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Literature Review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478231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06640" y="132588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iv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362456"/>
            <a:ext cx="38404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Methodology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0" y="185623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06640" y="278892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825496"/>
            <a:ext cx="38404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Results &amp; Discussion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0" y="331927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406640" y="4251960"/>
            <a:ext cx="640080" cy="6400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Times New Roman"/>
              </a:defRPr>
            </a:pPr>
            <a:r>
              <a:t>vi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0" y="4288536"/>
            <a:ext cx="384048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Times New Roman"/>
              </a:defRPr>
            </a:pPr>
            <a:r>
              <a:t>Limitations &amp; Conclusions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782312"/>
            <a:ext cx="1280160" cy="36576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i.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1.1.  Research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943600" cy="47548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Cambodia health insurance landscape: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National Social Security Fund (NSSF) covers formal-sector workers only (~16%)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Private voluntary insurance nascent; underwriting mostly manual rule-based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Actuaries apply fixed premium rules without learning from outcomes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The underwriting bottleneck: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Static thresholds are set at training time and never updated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Suboptimal decisions compound over a growing applicant pool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No systematic demographic-parity monitoring in current practice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234440"/>
            <a:ext cx="5029200" cy="173736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1325880"/>
            <a:ext cx="502920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5200" b="1" i="0">
                <a:solidFill>
                  <a:srgbClr val="FFFFFF"/>
                </a:solidFill>
                <a:latin typeface="Times New Roman"/>
              </a:defRPr>
            </a:pPr>
            <a:r>
              <a:t>&lt; 10 %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0" y="2148840"/>
            <a:ext cx="5029200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0" i="0">
                <a:solidFill>
                  <a:srgbClr val="FFFFFF"/>
                </a:solidFill>
                <a:latin typeface="Calibri"/>
              </a:defRPr>
            </a:pPr>
            <a:r>
              <a:t>Health insurance penetration rate in Cambodia (2023 estimate)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154680"/>
            <a:ext cx="5029200" cy="246888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300" b="0">
                <a:solidFill>
                  <a:srgbClr val="5D2A42"/>
                </a:solidFill>
                <a:latin typeface="Calibri"/>
              </a:defRPr>
            </a:pPr>
            <a:r>
              <a:t>Research opportunity:</a:t>
            </a:r>
            <a:br/>
            <a:br/>
            <a:r>
              <a:t>Contextual bandits can learn from underwriting decisions in real time, adapting to Cambodia-specific risk patterns while monitoring demographic fairness automatically.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i.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1.2.  Research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5394960" cy="2103120"/>
          </a:xfrm>
          <a:prstGeom prst="round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289304"/>
            <a:ext cx="52120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Static thresholds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709928"/>
            <a:ext cx="5120640" cy="15361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Fixed age/BMI/income cutoffs ignore applicant context. A high-risk applicant misclassified as low-risk generates uncorrected losses.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92240" y="1234440"/>
            <a:ext cx="5394960" cy="2103120"/>
          </a:xfrm>
          <a:prstGeom prst="round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1234440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01968" y="1289304"/>
            <a:ext cx="52120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No online adaptation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29400" y="1709928"/>
            <a:ext cx="5120640" cy="15361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Reward signal (claims) is never fed back to the model. Accuracy degrades silently as population demographics shift.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66160"/>
            <a:ext cx="5394960" cy="2103120"/>
          </a:xfrm>
          <a:prstGeom prst="round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566160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66928" y="3621024"/>
            <a:ext cx="52120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Demographic blindspot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4041648"/>
            <a:ext cx="5120640" cy="15361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No parity metric is tracked. Rule-based systems can develop regional or occupational concentration entirely undetected.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3566160"/>
            <a:ext cx="5394960" cy="2103120"/>
          </a:xfrm>
          <a:prstGeom prst="round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92240" y="3566160"/>
            <a:ext cx="5394960" cy="384048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01968" y="3621024"/>
            <a:ext cx="521208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FFFFFF"/>
                </a:solidFill>
                <a:latin typeface="Calibri"/>
              </a:defRPr>
            </a:pPr>
            <a:r>
              <a:t>No triage mechanism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4041648"/>
            <a:ext cx="5120640" cy="153619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Low-confidence borderline cases are not flagged. Actuaries review high-volume routine cases instead of genuine edge cases.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i.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1.3.  Research Goal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1277295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Research Goal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11277295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Design and evaluate an adaptive health insurance underwriting system using contextual bandit algorithms on a synthetic Cambodia applicant dataset, incorporating demographic fairness monitoring and human-in-the-loop augmentation.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13432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423160"/>
            <a:ext cx="11277295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Objectives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62072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5840" y="2862072"/>
            <a:ext cx="10728655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Implement and adapt linear contextual bandit algorithms (LinUCB, LinTS) for multi-arm health insurance underwriting decisions.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849624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5840" y="3849624"/>
            <a:ext cx="10728655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Construct a 2,000-record synthetic Cambodia applicant dataset anchored on CDHS, STEPS, ILO, and WHO demographic distributions.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37176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5840" y="4837176"/>
            <a:ext cx="10728655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Evaluate bandit performance versus static rule-based baselines via 20-seed multi-run trials, bootstrap CIs, and paired Wilcoxon tests.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824728"/>
            <a:ext cx="411480" cy="4114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O4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" y="5824728"/>
            <a:ext cx="10728655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Assess demographic fairness via PSI monitoring across region and occupation, and integrate a human-in-the-loop underwriting wrapper.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ii. Internship at DAC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2.1.  Internship at DAC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76072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About DAC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18488"/>
            <a:ext cx="5760720" cy="2286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Decent Actuarial Consultants Co., Ltd. -- Phnom Penh, Cambodia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Actuarial consulting: life &amp; health insurance, pension, regulatory advice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Clients: insurance companies, pension funds, and regulators across SE Asia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This thesis is embedded in a DAC-supervised research internship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069080"/>
            <a:ext cx="576072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Internship Timeline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480560"/>
            <a:ext cx="2651760" cy="118872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35424"/>
            <a:ext cx="24688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Mar 2026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37760"/>
            <a:ext cx="246888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Problem scoping</a:t>
            </a:r>
            <a:br/>
            <a:r>
              <a:t>&amp; dataset design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46120" y="4480560"/>
            <a:ext cx="2651760" cy="1188720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37560" y="4535424"/>
            <a:ext cx="24688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Apr 2026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4937760"/>
            <a:ext cx="246888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Algorithm</a:t>
            </a:r>
            <a:br/>
            <a:r>
              <a:t>implementation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4480560"/>
            <a:ext cx="2651760" cy="118872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535424"/>
            <a:ext cx="24688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May 2026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937760"/>
            <a:ext cx="246888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Experiments</a:t>
            </a:r>
            <a:br/>
            <a:r>
              <a:t>&amp; analysis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823960" y="4480560"/>
            <a:ext cx="2651760" cy="1188720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4535424"/>
            <a:ext cx="246888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Jun 2026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15400" y="4937760"/>
            <a:ext cx="246888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Thesis writing</a:t>
            </a:r>
            <a:br/>
            <a:r>
              <a:t>&amp; defense prep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0" y="1234440"/>
            <a:ext cx="5120640" cy="292608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300" b="0">
                <a:solidFill>
                  <a:srgbClr val="5D2A42"/>
                </a:solidFill>
                <a:latin typeface="Calibri"/>
              </a:defRPr>
            </a:pPr>
            <a:r>
              <a:t>Role: Research Intern</a:t>
            </a:r>
            <a:br/>
            <a:br/>
            <a:r>
              <a:t>Deliverable: end-to-end adaptive underwriting prototype + thesis report</a:t>
            </a:r>
            <a:br/>
            <a:br/>
            <a:r>
              <a:t>Duration: Mar 2026 – Jun 2026</a:t>
            </a:r>
            <a:br/>
            <a:br/>
            <a:r>
              <a:t>Supervisor: Mr. PHOK Ponna (DAC)  |  Thesis advisor: Dr. HAS Sothea (ITC)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iii. Literature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3.1.  Literature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1277295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Key literature informing the methodology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81912"/>
            <a:ext cx="2834640" cy="34747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1627632"/>
            <a:ext cx="2724912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Topic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37560" y="1581912"/>
            <a:ext cx="3200400" cy="34747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92424" y="1627632"/>
            <a:ext cx="3090672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Key Authors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1581912"/>
            <a:ext cx="5120640" cy="34747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638544" y="1627632"/>
            <a:ext cx="5010912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FFFFFF"/>
                </a:solidFill>
                <a:latin typeface="Calibri"/>
              </a:defRPr>
            </a:pPr>
            <a:r>
              <a:t>Contribution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1965960"/>
            <a:ext cx="2834640" cy="7223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1965960"/>
            <a:ext cx="3200400" cy="7223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0" y="1965960"/>
            <a:ext cx="5120640" cy="7223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2020824"/>
            <a:ext cx="2724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Contextual Bandits</a:t>
            </a:r>
            <a:br/>
            <a:r>
              <a:t>in Healthcare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92424" y="2020824"/>
            <a:ext cx="309067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Bouneffouf et al.</a:t>
            </a:r>
            <a:br/>
            <a:r>
              <a:t>(2017)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38544" y="2020824"/>
            <a:ext cx="5010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Clinical decision support via LinUCB; reward = patient outcome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88336"/>
            <a:ext cx="2834640" cy="7223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37560" y="2688336"/>
            <a:ext cx="3200400" cy="7223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0" y="2688336"/>
            <a:ext cx="5120640" cy="7223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2743200"/>
            <a:ext cx="2724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Theory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2743200"/>
            <a:ext cx="309067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 et al. (2010)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38544" y="2743200"/>
            <a:ext cx="5010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UCB exploration over linear model; O(√T·d·log T) regret bound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410712"/>
            <a:ext cx="2834640" cy="7223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37560" y="3410712"/>
            <a:ext cx="3200400" cy="7223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0" y="3410712"/>
            <a:ext cx="5120640" cy="7223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2064" y="3465576"/>
            <a:ext cx="2724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  <a:br/>
            <a:r>
              <a:t>(Thompson Sampling)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92424" y="3465576"/>
            <a:ext cx="309067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Agrawal &amp; Goyal</a:t>
            </a:r>
            <a:br/>
            <a:r>
              <a:t>(2013)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38544" y="3465576"/>
            <a:ext cx="5010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Posterior sampling achieves near-optimal regret; robust exploration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33088"/>
            <a:ext cx="2834640" cy="7223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37560" y="4133088"/>
            <a:ext cx="3200400" cy="7223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583680" y="4133088"/>
            <a:ext cx="5120640" cy="7223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" y="4187952"/>
            <a:ext cx="2724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Fairness in</a:t>
            </a:r>
            <a:br/>
            <a:r>
              <a:t>Insurance ML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92424" y="4187952"/>
            <a:ext cx="309067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Frees et al. (2014);</a:t>
            </a:r>
            <a:br/>
            <a:r>
              <a:t>Kusner et al. (2017)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38544" y="4187952"/>
            <a:ext cx="5010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Regulatory constraints on protected attributes; counterfactual fairness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855464"/>
            <a:ext cx="2834640" cy="7223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337560" y="4855464"/>
            <a:ext cx="3200400" cy="7223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0" y="4855464"/>
            <a:ext cx="5120640" cy="7223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2064" y="4910328"/>
            <a:ext cx="2724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PSI Model Monitoring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92424" y="4910328"/>
            <a:ext cx="309067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Yurdakul (2018)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638544" y="4910328"/>
            <a:ext cx="5010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Population Stability Index detects distribution shift; GREEN/AMBER/RED zones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5577840"/>
            <a:ext cx="2834640" cy="7223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337560" y="5577840"/>
            <a:ext cx="3200400" cy="7223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0" y="5577840"/>
            <a:ext cx="5120640" cy="7223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12064" y="5632704"/>
            <a:ext cx="2724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Human-in-the-loop RL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92424" y="5632704"/>
            <a:ext cx="309067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Christiano et al.</a:t>
            </a:r>
            <a:br/>
            <a:r>
              <a:t>(2017)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38544" y="5632704"/>
            <a:ext cx="5010912" cy="6309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Expert overrides improve alignment; cost-benefit of human referral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iv.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4.1.  System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pic>
        <p:nvPicPr>
          <p:cNvPr id="10" name="Picture 9" descr="fig_ch4_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1856" y="1234440"/>
            <a:ext cx="778798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iv.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4.2.  Synthetic Cambodia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560320" cy="141732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307592"/>
            <a:ext cx="2560320" cy="713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2,000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039112"/>
            <a:ext cx="25603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Synthetic</a:t>
            </a:r>
            <a:br/>
            <a:r>
              <a:t>Applications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00400" y="1234440"/>
            <a:ext cx="2560320" cy="141732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307592"/>
            <a:ext cx="2560320" cy="713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039112"/>
            <a:ext cx="25603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Demographic</a:t>
            </a:r>
            <a:br/>
            <a:r>
              <a:t>Features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1234440"/>
            <a:ext cx="2560320" cy="141732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307592"/>
            <a:ext cx="2560320" cy="713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0" y="2039112"/>
            <a:ext cx="25603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Underwriting</a:t>
            </a:r>
            <a:br/>
            <a:r>
              <a:t>Arms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1234440"/>
            <a:ext cx="2560320" cy="141732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686800" y="1307592"/>
            <a:ext cx="2560320" cy="7132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4000" b="1" i="0">
                <a:solidFill>
                  <a:srgbClr val="FFFFFF"/>
                </a:solidFill>
                <a:latin typeface="Times New Roman"/>
              </a:defRPr>
            </a:pPr>
            <a: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0" y="2039112"/>
            <a:ext cx="25603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Anchoring</a:t>
            </a:r>
            <a:br/>
            <a:r>
              <a:t>Sources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07208"/>
            <a:ext cx="5486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Dataset construction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172968"/>
            <a:ext cx="5486400" cy="2926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Age, sex, region, occupation, BMI from CDHS 2021-22 &amp; STEPS 2021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Income distribution anchored on ILO Cambodia labour force surveys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Claim probabilities calibrated from WHO SEARO health expenditure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Adverse-selection factor AF = 1.35; price elasticity slope β = 3.5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Fully synthetic -- no real applicant PII included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807208"/>
            <a:ext cx="539496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Underwriting arms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3172968"/>
            <a:ext cx="1417320" cy="6400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91072" y="3282696"/>
            <a:ext cx="1261872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RATED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0" y="3282696"/>
            <a:ext cx="37947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Accept + premium loading (+25%)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17920" y="3877056"/>
            <a:ext cx="1417320" cy="640080"/>
          </a:xfrm>
          <a:prstGeom prst="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91072" y="3986784"/>
            <a:ext cx="1261872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3986784"/>
            <a:ext cx="37947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Accept at standard premium rate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4581144"/>
            <a:ext cx="1417320" cy="64008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91072" y="4690872"/>
            <a:ext cx="1261872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DECLINE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0" y="4690872"/>
            <a:ext cx="37947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Reject application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5285232"/>
            <a:ext cx="1417320" cy="640080"/>
          </a:xfrm>
          <a:prstGeom prst="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91072" y="5394960"/>
            <a:ext cx="1261872" cy="43891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REFER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0" y="5394960"/>
            <a:ext cx="37947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Escalate to human underwriter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iv.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4.3.  Bandit Formulation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486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Problem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18488"/>
            <a:ext cx="5486400" cy="2514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Context  x_t ∈ ℝ⁵: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Age, sex, region, occupation, BMI -- standardised at application time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Action  a_t ∈ {RATED, STANDARD, DECLINE, REFER}: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Policy selects one arm per applicant per round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Reward  r_t: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Revenue-minus-claims actuarial simulator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Adverse-selection penalises premium-heavy arms for low-risk applicants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5486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Objective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690872"/>
            <a:ext cx="5486400" cy="77724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300" b="0">
                <a:solidFill>
                  <a:srgbClr val="5D2A42"/>
                </a:solidFill>
                <a:latin typeface="Calibri"/>
              </a:defRPr>
            </a:pPr>
            <a:r>
              <a:t>Maximise cumulative reward Σ r_t over T rounds, subject to demographic PSI guardrails.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234440"/>
            <a:ext cx="530352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Reward structure (illustrative)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636776"/>
            <a:ext cx="5303520" cy="75895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709928"/>
            <a:ext cx="132588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1709928"/>
            <a:ext cx="182880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High-risk applicant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75520" y="1709928"/>
            <a:ext cx="173736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Low-risk applicant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432304"/>
            <a:ext cx="5303520" cy="758952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46520" y="2505456"/>
            <a:ext cx="132588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RATED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09560" y="2505456"/>
            <a:ext cx="182880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+premium − claims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75520" y="2505456"/>
            <a:ext cx="173736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− adverse-sel. penalty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227832"/>
            <a:ext cx="5303520" cy="758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46520" y="3300984"/>
            <a:ext cx="132588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09560" y="3300984"/>
            <a:ext cx="182880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+premium − claims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875520" y="3300984"/>
            <a:ext cx="173736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+optimal margin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4023360"/>
            <a:ext cx="5303520" cy="758952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46520" y="4096512"/>
            <a:ext cx="132588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DECLINE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09560" y="4096512"/>
            <a:ext cx="182880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0 (avoided loss)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875520" y="4096512"/>
            <a:ext cx="173736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− missed revenue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818888"/>
            <a:ext cx="5303520" cy="7589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46520" y="4892040"/>
            <a:ext cx="132588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REFER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09560" y="4892040"/>
            <a:ext cx="182880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+human decision net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875520" y="4892040"/>
            <a:ext cx="1737360" cy="612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+human decision net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iv.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4.4.  Algorithms &amp;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1277295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Proposed policies (ranked by admissibility)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709928"/>
            <a:ext cx="201168" cy="43891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9808" y="1645920"/>
            <a:ext cx="16916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14600" y="1645920"/>
            <a:ext cx="92354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Upper Confidence Bound over a linear reward model. Optimism in the face of uncertainty; O(√T·d·log T) regret.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201168" cy="438912"/>
          </a:xfrm>
          <a:prstGeom prst="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9808" y="2267712"/>
            <a:ext cx="16916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14600" y="2267712"/>
            <a:ext cx="92354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Thompson Sampling from posterior over reward parameters. Near-optimal regret; naturally calibrated uncertainty.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53512"/>
            <a:ext cx="201168" cy="438912"/>
          </a:xfrm>
          <a:prstGeom prst="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889504"/>
            <a:ext cx="16916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ε-Greedy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14600" y="2889504"/>
            <a:ext cx="92354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Uniform exploration with probability ε. Simple baseline; suboptimal O(T^{2/3}) regret asymptotics.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75304"/>
            <a:ext cx="201168" cy="438912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3511296"/>
            <a:ext cx="16916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Static XGB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14600" y="3511296"/>
            <a:ext cx="92354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XGBoost trained once on a historical snapshot. Incumbent production baseline.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197096"/>
            <a:ext cx="201168" cy="438912"/>
          </a:xfrm>
          <a:prstGeom prst="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133088"/>
            <a:ext cx="16916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AlwaysRATED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14600" y="4133088"/>
            <a:ext cx="9235440" cy="56692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Constant: rate 100% of applicants at +25% loading. Inadmissible ceiling (not commercially/regulatorily viable -- §5.0.1 / §6.2).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828032"/>
            <a:ext cx="11277295" cy="27432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919472"/>
            <a:ext cx="11277295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Other constants (inadmissible floor/ceiling): AlwaysSTANDARD, AlwaysDECLINE, Random  |  Not deployable: LogisticOracle, Oracle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49240"/>
            <a:ext cx="11277295" cy="73152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 b="0">
                <a:solidFill>
                  <a:srgbClr val="5D2A42"/>
                </a:solidFill>
                <a:latin typeface="Calibri"/>
              </a:defRPr>
            </a:pPr>
            <a:r>
              <a:t>Admissibility (§5.0.1): a policy is admissible if it is both deployable (uses only observable features) AND commercially/regulatorily viable as an underwriting rule. LinUCB and LinTS are the top-2 admissible policies.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iv.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4.5.  Guardrail + HITL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486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PSI Demographic Guardrail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18488"/>
            <a:ext cx="5486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Population Stability Index computed on region and occupation in a rolling 500-round window.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194560"/>
            <a:ext cx="1051560" cy="50292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2286000"/>
            <a:ext cx="941832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0" y="2194560"/>
            <a:ext cx="192024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PSI &lt; 0.10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2194560"/>
            <a:ext cx="2194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Stable -- no 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788920"/>
            <a:ext cx="1051560" cy="502920"/>
          </a:xfrm>
          <a:prstGeom prst="round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2880360"/>
            <a:ext cx="941832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AMBER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45920" y="2788920"/>
            <a:ext cx="192024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0.10 ≤ PSI &lt; 0.25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2788920"/>
            <a:ext cx="2194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Monitor closely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383280"/>
            <a:ext cx="1051560" cy="502920"/>
          </a:xfrm>
          <a:prstGeom prst="round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3474720"/>
            <a:ext cx="941832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645920" y="3383280"/>
            <a:ext cx="192024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PSI ≥ 0.25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0" y="3383280"/>
            <a:ext cx="219456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Trigger review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87368"/>
            <a:ext cx="548640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Note: PSI is a MONITOR, not an enforcer. Constrained-action enforcement is deferred to future work.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1234440"/>
            <a:ext cx="52120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Human-in-the-loop Wrapper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1618488"/>
            <a:ext cx="5212080" cy="2743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Bandit selects arm; if predicted uncertainty &gt; κ threshold → REFER to actuary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Conservatism κ ∈ {0.3, 0.5, 0.7} controls referral rate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Human overrides bandit action; outcome reward used for bandit update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Alignment rate: 60% of overrides agree with bandit (κ=0.7)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Review cost charged per referral; net benefit computed over N=5,000 rounds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4480560"/>
            <a:ext cx="5212080" cy="86868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 b="0">
                <a:solidFill>
                  <a:srgbClr val="5D2A42"/>
                </a:solidFill>
                <a:latin typeface="Calibri"/>
              </a:defRPr>
            </a:pPr>
            <a:r>
              <a:t>Design target: reduce worst-case regret via human expertise while keeping review cost below 2% of gross reward.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v.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5.1.  Convergence  (EXP-005)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679192" cy="1170432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71016"/>
            <a:ext cx="267919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+25.2%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74520"/>
            <a:ext cx="267919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Cumulative reward lift</a:t>
            </a:r>
            <a:br/>
            <a:r>
              <a:t>vs. Static XGB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7832" y="1234440"/>
            <a:ext cx="2679192" cy="1170432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27832" y="1271016"/>
            <a:ext cx="267919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d = 2.98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27832" y="1874520"/>
            <a:ext cx="267919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Cohen's d</a:t>
            </a:r>
            <a:br/>
            <a:r>
              <a:t>(effect size)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8464" y="1234440"/>
            <a:ext cx="2679192" cy="1170432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98464" y="1271016"/>
            <a:ext cx="267919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p &lt; 0.001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98464" y="1874520"/>
            <a:ext cx="267919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Paired Wilcoxon</a:t>
            </a:r>
            <a:br/>
            <a:r>
              <a:t>(20 seeds)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9096" y="1234440"/>
            <a:ext cx="2679192" cy="1170432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69096" y="1271016"/>
            <a:ext cx="267919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$90,540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69096" y="1874520"/>
            <a:ext cx="267919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LinUCB cumulative</a:t>
            </a:r>
            <a:br/>
            <a:r>
              <a:t>reward (mean)</a:t>
            </a:r>
          </a:p>
        </p:txBody>
      </p:sp>
      <p:pic>
        <p:nvPicPr>
          <p:cNvPr id="22" name="Picture 21" descr="fig_reward_curv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4292" y="2514600"/>
            <a:ext cx="5803110" cy="347472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5806440"/>
            <a:ext cx="11277295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Scope: admissible policies only (§5.0.1). Static XGB = $72,292 | Oracle = $126,804 | Oracle recovered: 72%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v.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5.2.  Benchmark vs Static XGB  (EXP-007)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pic>
        <p:nvPicPr>
          <p:cNvPr id="10" name="Picture 9" descr="fig_loglog_regr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468622"/>
            <a:ext cx="6217920" cy="4103635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949440" y="1234440"/>
            <a:ext cx="47548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20-seed ranking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49440" y="1618488"/>
            <a:ext cx="594360" cy="329184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655064"/>
            <a:ext cx="50292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89520" y="1618488"/>
            <a:ext cx="1828800" cy="329184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1655064"/>
            <a:ext cx="17373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Algorithm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64040" y="1618488"/>
            <a:ext cx="2148840" cy="329184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09760" y="1655064"/>
            <a:ext cx="205740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Reward (mean)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0" y="1984248"/>
            <a:ext cx="594360" cy="56692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589520" y="1984248"/>
            <a:ext cx="1828800" cy="56692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464040" y="1984248"/>
            <a:ext cx="2148840" cy="56692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95160" y="2075688"/>
            <a:ext cx="5029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35240" y="2075688"/>
            <a:ext cx="173736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2075688"/>
            <a:ext cx="20574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$93,572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0" y="2578608"/>
            <a:ext cx="5943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9520" y="2578608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64040" y="2578608"/>
            <a:ext cx="21488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95160" y="2670048"/>
            <a:ext cx="5029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35240" y="2670048"/>
            <a:ext cx="173736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2670048"/>
            <a:ext cx="20574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$91,947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49440" y="3172968"/>
            <a:ext cx="594360" cy="56692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89520" y="3172968"/>
            <a:ext cx="1828800" cy="56692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64040" y="3172968"/>
            <a:ext cx="2148840" cy="56692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95160" y="3264408"/>
            <a:ext cx="5029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35240" y="3264408"/>
            <a:ext cx="173736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EpsilonGreedy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60" y="3264408"/>
            <a:ext cx="20574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$76,441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949440" y="3767328"/>
            <a:ext cx="59436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589520" y="3767328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464040" y="3767328"/>
            <a:ext cx="214884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95160" y="3858768"/>
            <a:ext cx="5029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635240" y="3858768"/>
            <a:ext cx="173736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StaticXGB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760" y="3858768"/>
            <a:ext cx="20574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$72,173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949440" y="4407408"/>
            <a:ext cx="475488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LinTS vs LinUCB: p = 0.87 (ns -- tied at 20 seeds)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949440" y="4818888"/>
            <a:ext cx="4754880" cy="82296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100" b="0">
                <a:solidFill>
                  <a:srgbClr val="5D2A42"/>
                </a:solidFill>
                <a:latin typeface="Calibri"/>
              </a:defRPr>
            </a:pPr>
            <a:r>
              <a:t>Log-log slope = 0.572 (R²=0.992): sub-linear regret consistent with O(√T·d) bound.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v.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5.3.  Cold-start Evaluation  (EXP-010)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5394960" cy="1078992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271016"/>
            <a:ext cx="51206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LinTS @ T = 2,000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4360" y="1600200"/>
            <a:ext cx="51206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PASSED   p = 0.0039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1984248"/>
            <a:ext cx="51206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 = 1.48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234440"/>
            <a:ext cx="5394960" cy="1078992"/>
          </a:xfrm>
          <a:prstGeom prst="round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271016"/>
            <a:ext cx="5120640" cy="31089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LinUCB @ T = 2,000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600200"/>
            <a:ext cx="5120640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SOFTENED   p = 0.084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984248"/>
            <a:ext cx="512064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 = 0.55, n.s.</a:t>
            </a:r>
          </a:p>
        </p:txBody>
      </p:sp>
      <p:pic>
        <p:nvPicPr>
          <p:cNvPr id="18" name="Picture 17" descr="fig_010_cold_st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2728" y="2423160"/>
            <a:ext cx="5998464" cy="374904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8321040" y="2423160"/>
            <a:ext cx="33832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Implication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21040" y="2807208"/>
            <a:ext cx="3383280" cy="3200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Deploy with warm-start (pre-train or shadow mode) for the first ~1,000 applications; a fresh XGBoost wins below the crossover. At T=2,000 the LinTS crossover is significant (p = 0.0039, d = 1.48); LinUCB's lead is positive but not significant (p = 0.0840, d = 0.55) and is reported as 'draws level'.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v.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5.4.  Human-in-the-loop  (EXP-008)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679192" cy="1170432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71016"/>
            <a:ext cx="267919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+14.8%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874520"/>
            <a:ext cx="267919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Reward lift</a:t>
            </a:r>
            <a:br/>
            <a:r>
              <a:t>vs. vanilla bandit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27832" y="1234440"/>
            <a:ext cx="2679192" cy="1170432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27832" y="1271016"/>
            <a:ext cx="267919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d = 2.65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27832" y="1874520"/>
            <a:ext cx="267919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Cohen's 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8464" y="1234440"/>
            <a:ext cx="2679192" cy="1170432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98464" y="1271016"/>
            <a:ext cx="267919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p &lt; 0.001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98464" y="1874520"/>
            <a:ext cx="267919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Wilcoxon</a:t>
            </a:r>
            <a:br/>
            <a:r>
              <a:t>20 seeds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69096" y="1234440"/>
            <a:ext cx="2679192" cy="1170432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69096" y="1271016"/>
            <a:ext cx="267919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1.3%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69096" y="1874520"/>
            <a:ext cx="267919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Referral rate</a:t>
            </a:r>
            <a:br/>
            <a:r>
              <a:t>(review cost)</a:t>
            </a:r>
          </a:p>
        </p:txBody>
      </p:sp>
      <p:pic>
        <p:nvPicPr>
          <p:cNvPr id="22" name="Picture 21" descr="fig_hitl_experim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2437" y="2514600"/>
            <a:ext cx="4684645" cy="352044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406640" y="2514600"/>
            <a:ext cx="4297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2898648"/>
            <a:ext cx="4297680" cy="31089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HITL reward $103,951 vs. vanilla bandit $90,540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Lift certified over the vanilla bandit (EXP-005 baseline)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Human review cost = 2.2% of gross reward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Alignment rate 60% (κ=0.7): experts agree with bandit most of the time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Scope: HITL does NOT beat inadmissible AlwaysRATED ceiling (§5.4.2)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v.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5.5.  Fairness Audit 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39496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Region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18488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682496"/>
            <a:ext cx="155448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zone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1682496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67128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231136"/>
            <a:ext cx="155448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max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231136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0.0821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15768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2779776"/>
            <a:ext cx="155448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Parity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2779776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85.72%  (&gt; 80% EEOC)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64408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28416"/>
            <a:ext cx="155448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Criterion 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94560" y="3328416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1234440"/>
            <a:ext cx="539496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Occupation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1618488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1682496"/>
            <a:ext cx="155448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zone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1682496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E6A62E"/>
                </a:solidFill>
                <a:latin typeface="Calibri"/>
              </a:defRPr>
            </a:pPr>
            <a:r>
              <a:t>AMBER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167128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231136"/>
            <a:ext cx="155448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max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2231136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0.1225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2715768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2779776"/>
            <a:ext cx="155448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Parity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2779776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90.12%  (&gt; 80% EEOC)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3264408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3328416"/>
            <a:ext cx="155448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Criterion 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3328416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D93B3B"/>
                </a:solidFill>
                <a:latin typeface="Calibri"/>
              </a:defRPr>
            </a:pPr>
            <a:r>
              <a:t>FAILED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886200"/>
            <a:ext cx="11277295" cy="169164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 b="0">
                <a:solidFill>
                  <a:srgbClr val="5D2A42"/>
                </a:solidFill>
                <a:latin typeface="Calibri"/>
              </a:defRPr>
            </a:pPr>
            <a:r>
              <a:t>5 of 6 pre-registered criteria PASSED.</a:t>
            </a:r>
            <a:br/>
            <a:br/>
            <a:r>
              <a:t>Criterion 6 (occupation → action association) FAILED-with-interpretation: statistically significant (p &lt; 0.001) but practically small. Parity 90.12% &gt;&gt; 80% EEOC. PSI AMBER (0.1225 &lt; 0.25 RED threshold). Association reflects actuarially-justified risk differences (§5.2.4). Reported honestly.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v.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5.6.  Drift Adaptation  (EXP-009)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1277295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Shock at round 1,500: TB prevalence doubled (~6.3% -&gt; 12.5%) + garment-worker income -30% at round 1500</a:t>
            </a:r>
          </a:p>
        </p:txBody>
      </p:sp>
      <p:pic>
        <p:nvPicPr>
          <p:cNvPr id="11" name="Picture 10" descr="fig_009_drift_adapt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889265"/>
            <a:ext cx="6675120" cy="400301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406640" y="1673352"/>
            <a:ext cx="429768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Post/pre regret ratio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057400"/>
            <a:ext cx="4297680" cy="713232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167128"/>
            <a:ext cx="201168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2167128"/>
            <a:ext cx="21031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0.29× post/pre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2807208"/>
            <a:ext cx="429768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2916936"/>
            <a:ext cx="201168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2916936"/>
            <a:ext cx="21031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0.29× post/pre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557016"/>
            <a:ext cx="4297680" cy="713232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3666744"/>
            <a:ext cx="201168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StaticXGB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09760" y="3666744"/>
            <a:ext cx="210312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E6A62E"/>
                </a:solidFill>
                <a:latin typeface="Calibri"/>
              </a:defRPr>
            </a:pPr>
            <a:r>
              <a:t>0.85× post/pre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4389120"/>
            <a:ext cx="4297680" cy="123444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100" b="0">
                <a:solidFill>
                  <a:srgbClr val="5D2A42"/>
                </a:solidFill>
                <a:latin typeface="Calibri"/>
              </a:defRPr>
            </a:pPr>
            <a:r>
              <a:t>Bandits adapt within the learning window: post-shock regret drops to 0.29× of pre-shock level. Static XGB stays at 0.85×. DiscountedLinUCB is proposed future work.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vi.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6.1.  Achievements &amp;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486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Achievements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18488"/>
            <a:ext cx="5486400" cy="3200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LinTS leads every admissible policy: $93,723 vs. Static XGB $72,206  (+25.2%, d=2.98)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LinTS cold-start crossover certified: Wilcoxon PASSED at T=2,000 (p=0.0039, d=1.48)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HITL augmentation: +14.8% at 1.3% review cost (p&lt; 0.001, d=2.65)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Region PSI GREEN (0.0821); occupation PSI AMBER (0.1225) -- within threshold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5 of 6 pre-registered fairness criteria PASSED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Log-log regret slope 0.572 (R²=0.992) consistent with O(√T·d)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30352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D93B3B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18488"/>
            <a:ext cx="5303520" cy="3200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AlwaysRATED ($122,287) is the inadmissible ceiling -- see §6.2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Synthetic data limits external validity; real claims data needed for production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monitors but does not constrain -- enforcement layer is future work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Criterion-6 FAILED-with-interpretation (occupation–action, p &lt; 0.001)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Cold-start period ~1,000 rounds requires warm-start in deployment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37760"/>
            <a:ext cx="11277295" cy="59436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300" b="1">
                <a:solidFill>
                  <a:srgbClr val="5D2A42"/>
                </a:solidFill>
                <a:latin typeface="Calibri"/>
              </a:defRPr>
            </a:pPr>
            <a:r>
              <a:t>Overall: contextual bandits provide a principled, adaptive, and auditable alternative to static rule-based underwriting in the Cambodian insurance context.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vi.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6.2.  Limitation: Baseline Ladder  (EXP-014)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1277295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Why AlwaysRATED is inadmissible -- and why the headline claim is still valid</a:t>
            </a:r>
          </a:p>
        </p:txBody>
      </p:sp>
      <p:pic>
        <p:nvPicPr>
          <p:cNvPr id="11" name="Picture 10" descr="fig_exp_014_baseline_ladd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873816"/>
            <a:ext cx="6583680" cy="3933327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406640" y="1645920"/>
            <a:ext cx="438912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Admissibility verdicts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057400"/>
            <a:ext cx="4389120" cy="694944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148840"/>
            <a:ext cx="182880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Static XGB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2148840"/>
            <a:ext cx="228600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2788920"/>
            <a:ext cx="438912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2880360"/>
            <a:ext cx="182880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0" y="2880360"/>
            <a:ext cx="228600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3520440"/>
            <a:ext cx="4389120" cy="694944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3611880"/>
            <a:ext cx="182880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3611880"/>
            <a:ext cx="228600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4251960"/>
            <a:ext cx="4389120" cy="6949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79" y="4343400"/>
            <a:ext cx="182880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AlwaysRATED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4343400"/>
            <a:ext cx="2286000" cy="51206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D93B3B"/>
                </a:solidFill>
                <a:latin typeface="Calibri"/>
              </a:defRPr>
            </a:pPr>
            <a:r>
              <a:t>inadmissible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06640" y="4983479"/>
            <a:ext cx="4389120" cy="132588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100" b="0">
                <a:solidFill>
                  <a:srgbClr val="5D2A42"/>
                </a:solidFill>
                <a:latin typeface="Calibri"/>
              </a:defRPr>
            </a:pPr>
            <a:r>
              <a:t>AlwaysRATED ($122,287) rates 100% at +25% loading -- not commercially or regulatorily viable → inadmissible. Within the admissible set, LinTS ($93,723) and LinUCB ($91,864) rank 1st and 2nd.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vi.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6.3.  Other 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486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D93B3B"/>
                </a:solidFill>
                <a:latin typeface="Calibri"/>
              </a:defRPr>
            </a:pPr>
            <a:r>
              <a:t>Remaining Limitations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18488"/>
            <a:ext cx="5486400" cy="3200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Synthetic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CDHS-anchored demographics; real insurer claims data unavailable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External validity limited -- proof-of-concept, not production estimates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Monitoring-only fairness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guardrail detects, does not prevent demographic concentration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Cold-start penalty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Bandits underperform FreshXGB below T~1,000; warm-start essential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Experiment scope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Single-market simulation; multi-product extension not tested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30352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3B6EA5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18488"/>
            <a:ext cx="5303520" cy="3200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DiscountedLinUCB / SW-UCB for non-stationary / seasonal drift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Constrained contextual bandits for hard fairness enforcement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Real insurer pilot: replace synthetic rewards with observed claims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Neural linear bandit for higher-dimensional feature spaces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Multi-product portfolio: life + health + motor underwriting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Formal regulatory engagement: SERC Cambodia approval pathway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937760"/>
            <a:ext cx="11277295" cy="59436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300" b="0">
                <a:solidFill>
                  <a:srgbClr val="5D2A42"/>
                </a:solidFill>
                <a:latin typeface="Calibri"/>
              </a:defRPr>
            </a:pPr>
            <a:r>
              <a:t>Thesis contribution: end-to-end adaptive underwriting prototype + evaluation framework with demographic fairness monitoring for the Cambodian context.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5200" b="1" i="0">
                <a:solidFill>
                  <a:srgbClr val="FFFFFF"/>
                </a:solidFill>
                <a:latin typeface="Times New Roman"/>
              </a:defRPr>
            </a:pPr>
            <a:r>
              <a:t>DEMONSTRATION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03120"/>
            <a:ext cx="11277295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400" b="1" i="0">
                <a:solidFill>
                  <a:srgbClr val="5D2A42"/>
                </a:solidFill>
                <a:latin typeface="Times New Roman"/>
              </a:defRPr>
            </a:pPr>
            <a:r>
              <a:t>Live Adaptive Underwriting Dashboard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457200" cy="4572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834640"/>
            <a:ext cx="109728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834640"/>
            <a:ext cx="9601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ourier New"/>
              </a:defRPr>
            </a:pPr>
            <a:r>
              <a:t>uvicorn demo.main:app --reload --port 8000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29000"/>
            <a:ext cx="457200" cy="4572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3429000"/>
            <a:ext cx="109728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Open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3429000"/>
            <a:ext cx="9601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ourier New"/>
              </a:defRPr>
            </a:pPr>
            <a:r>
              <a:t>http://localhost:8000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457200" cy="4572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4023360"/>
            <a:ext cx="109728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Show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0" y="4023360"/>
            <a:ext cx="9601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ourier New"/>
              </a:defRPr>
            </a:pPr>
            <a:r>
              <a:t>Score applicant → bandit arm selection → PSI monitor panel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617720"/>
            <a:ext cx="457200" cy="4572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4617720"/>
            <a:ext cx="109728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Show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0" y="4617720"/>
            <a:ext cx="9601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ourier New"/>
              </a:defRPr>
            </a:pPr>
            <a:r>
              <a:t>Human-in-the-loop referral queue + cost accounting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486400"/>
            <a:ext cx="11277295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300" b="0" i="1">
                <a:solidFill>
                  <a:srgbClr val="3A3A3A"/>
                </a:solidFill>
                <a:latin typeface="Calibri"/>
              </a:defRPr>
            </a:pPr>
            <a:r>
              <a:t>Fallback: demo screenshots available in appendix (A6–A8).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20" name="Picture 19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21" name="Picture 20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92327" y="1737360"/>
            <a:ext cx="10607040" cy="2377440"/>
          </a:xfrm>
          <a:prstGeom prst="round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365760"/>
          <a:lstStyle/>
          <a:p>
            <a:pPr algn="ctr">
              <a:defRPr sz="5200" b="1">
                <a:solidFill>
                  <a:srgbClr val="FFFFFF"/>
                </a:solidFill>
                <a:latin typeface="Times New Roman"/>
              </a:defRPr>
            </a:pPr>
            <a:r>
              <a:t>Thank You</a:t>
            </a:r>
          </a:p>
          <a:p>
            <a:pPr algn="ctr">
              <a:defRPr sz="2400">
                <a:solidFill>
                  <a:srgbClr val="FFFFFF"/>
                </a:solidFill>
                <a:latin typeface="Calibri"/>
              </a:defRPr>
            </a:pPr>
            <a:r>
              <a:t>Questions &amp; Answers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200" b="1" i="0">
                <a:solidFill>
                  <a:srgbClr val="1A1A1A"/>
                </a:solidFill>
                <a:latin typeface="Times New Roman"/>
              </a:defRPr>
            </a:pPr>
            <a:r>
              <a:t>LUN CHANPOLY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828032"/>
            <a:ext cx="12191695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700" b="0" i="0">
                <a:solidFill>
                  <a:srgbClr val="3A3A3A"/>
                </a:solidFill>
                <a:latin typeface="Calibri"/>
              </a:defRPr>
            </a:pPr>
            <a:r>
              <a:t>chanpoly3@gmail.com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230368"/>
            <a:ext cx="12191695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600" b="0" i="0">
                <a:solidFill>
                  <a:srgbClr val="3A3A3A"/>
                </a:solidFill>
                <a:latin typeface="Calibri"/>
              </a:defRPr>
            </a:pPr>
            <a:r>
              <a:t>Institute of Technology of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8" name="Picture 7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9" name="Picture 8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8288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2191695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5200" b="1" i="0">
                <a:solidFill>
                  <a:srgbClr val="FFFFFF"/>
                </a:solidFill>
                <a:latin typeface="Times New Roman"/>
              </a:defRPr>
            </a:pPr>
            <a:r>
              <a:t>APPENDIX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210312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A1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0" y="2176272"/>
            <a:ext cx="91440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Q2: Number Reconciliation -- EXP-005 vs ladder harness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269748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A2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770632"/>
            <a:ext cx="91440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Fairness Criterion-6 Detail -- FAILED-with-interpretation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29184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A3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3364992"/>
            <a:ext cx="91440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PSI Guardrail Mechanics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88620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3959352"/>
            <a:ext cx="91440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LinUCB / LinTS Update Equations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448056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4553712"/>
            <a:ext cx="91440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Dataset Construction -- CDHS / STEPS / ILO / WHO anchoring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074920"/>
            <a:ext cx="822960" cy="45720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</a:defRPr>
            </a:pPr>
            <a:r>
              <a:t>A6–A8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5148072"/>
            <a:ext cx="9144000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Demo Screenshots (fallback if live demo fails)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18" name="Picture 17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19" name="Picture 18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v.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A1.  Q2: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1277295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Why do different sections quote different percentage lifts?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18488"/>
            <a:ext cx="3840480" cy="34747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1664208"/>
            <a:ext cx="3730752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Comparison pair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618488"/>
            <a:ext cx="1280160" cy="34747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98264" y="1664208"/>
            <a:ext cx="1170432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Lift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0" y="1618488"/>
            <a:ext cx="5943600" cy="34747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24144" y="1664208"/>
            <a:ext cx="5833872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Basis / why different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02536"/>
            <a:ext cx="3840480" cy="74980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2002536"/>
            <a:ext cx="1280160" cy="74980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0" y="2002536"/>
            <a:ext cx="5943600" cy="74980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2057400"/>
            <a:ext cx="373075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vs Static XGB (EXP-005)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8264" y="2057400"/>
            <a:ext cx="117043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1A1A1A"/>
                </a:solidFill>
                <a:latin typeface="Calibri"/>
              </a:defRPr>
            </a:pPr>
            <a:r>
              <a:t>+25.2%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24144" y="2057400"/>
            <a:ext cx="583387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Paired design, same seed sequence, standardised eval (primary metric, Table 5.1.1)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752344"/>
            <a:ext cx="384048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43400" y="2752344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0" y="2752344"/>
            <a:ext cx="594360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2807208"/>
            <a:ext cx="373075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vs Static XGB (EXP-014 ladder)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98264" y="2807208"/>
            <a:ext cx="117043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+27.2%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724144" y="2807208"/>
            <a:ext cx="583387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CRN harness, reward-maximising policy (Table 9 §5.0.1); larger due to CRN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02152"/>
            <a:ext cx="3840480" cy="74980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343400" y="3502152"/>
            <a:ext cx="1280160" cy="74980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0" y="3502152"/>
            <a:ext cx="5943600" cy="749808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2064" y="3557016"/>
            <a:ext cx="373075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LinTS vs Static XGB (EXP-014 ladder)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98264" y="3557016"/>
            <a:ext cx="117043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+29.8%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24144" y="3557016"/>
            <a:ext cx="583387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CRN harness, LinTS reward-maximising (Table 9 §5.0.1)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251960"/>
            <a:ext cx="384048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43400" y="4251960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669280" y="4251960"/>
            <a:ext cx="5943600" cy="7498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" y="4306824"/>
            <a:ext cx="373075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HITL vs vanilla LinUCB (EXP-008)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98264" y="4306824"/>
            <a:ext cx="117043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+14.8%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724144" y="4306824"/>
            <a:ext cx="5833872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Augmented bandit vs. vanilla bandit -- different baseline entirely (Table 13)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983479"/>
            <a:ext cx="11277295" cy="96012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 b="0">
                <a:solidFill>
                  <a:srgbClr val="5D2A42"/>
                </a:solidFill>
                <a:latin typeface="Calibri"/>
              </a:defRPr>
            </a:pPr>
            <a:r>
              <a:t>Headline (+25.2%) uses the conservative paired design. Ladder harness lifts are larger due to CRN setup -- all three answer different questions and are mutually consistent. EXP-005 is the pre-registered primary metric.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v.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A2.  Fairness Criterion-6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1277295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Occupation → action association (criterion 6 -- FAILED-with-interpretation)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18488"/>
            <a:ext cx="11277295" cy="1920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FAILED verdict -- reported in the interest of scientific honesty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Permutation test: p = &lt; 0.001 (criterion: p ≥ 0.05 to PASS)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EEOC parity: 90.12%  (well above 80% regulatory floor)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AMBER: 0.1225 &lt; 0.25 RED threshold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The association is statistically significant but practically small.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Interpretation: occupation is an actuarially valid risk predictor; the bandit adjusts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 premiums for legitimate risk differences, NOT for discriminatory reasons.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57600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758184"/>
            <a:ext cx="5486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Region (PASSED -- for reference)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142232"/>
            <a:ext cx="5486400" cy="1417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GREEN: 0.0821 &lt; 0.10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Parity: 85.72%  |  Permutation p = 0.1322 (ns)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Region criterion 6: PASSED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58184"/>
            <a:ext cx="5303520" cy="2194560"/>
          </a:xfrm>
          <a:prstGeom prst="roundRect">
            <a:avLst/>
          </a:prstGeom>
          <a:noFill/>
          <a:ln w="19050">
            <a:solidFill>
              <a:srgbClr val="5D2A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/>
          <a:lstStyle/>
          <a:p>
            <a:pPr algn="l">
              <a:defRPr sz="1200" b="0">
                <a:solidFill>
                  <a:srgbClr val="5D2A42"/>
                </a:solidFill>
                <a:latin typeface="Calibri"/>
              </a:defRPr>
            </a:pPr>
            <a:r>
              <a:t>Regulatory position:</a:t>
            </a:r>
            <a:br/>
            <a:br/>
            <a:r>
              <a:t>No formal algorithmic fairness standard exists for insurance in Cambodia. The EEOC 80% rule is applied as an international best-practice benchmark. All EEOC parity criteria PASS (both region and occupation).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iv.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A3.  PSI Guardrail Mechanics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1277295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Population Stability Index -- definition and thresholds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36776"/>
            <a:ext cx="91440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ourier New"/>
              </a:defRPr>
            </a:pPr>
            <a:r>
              <a:t>PSI = Σ (Actual% − Expected%) × ln(Actual% / Expected%)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112264"/>
            <a:ext cx="11277295" cy="1554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Actual%  = fraction of applicants in each demographic bucket (rolling window)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Expected% = reference distribution (training-set proportions)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Computed on region and occupation every 500 rounds in EXP-006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794760"/>
            <a:ext cx="3474720" cy="566928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886200"/>
            <a:ext cx="329184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GREEN   PSI &lt; 0.10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3886200"/>
            <a:ext cx="71323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Stable -- no corrective action required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462272"/>
            <a:ext cx="3474720" cy="566928"/>
          </a:xfrm>
          <a:prstGeom prst="roundRect">
            <a:avLst/>
          </a:prstGeom>
          <a:solidFill>
            <a:srgbClr val="E6A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553712"/>
            <a:ext cx="329184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AMBER  0.10 ≤ PSI &lt; 0.25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4553712"/>
            <a:ext cx="71323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Monitor closely -- investigate trend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129784"/>
            <a:ext cx="3474720" cy="566928"/>
          </a:xfrm>
          <a:prstGeom prst="roundRect">
            <a:avLst/>
          </a:prstGeom>
          <a:solidFill>
            <a:srgbClr val="D93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221224"/>
            <a:ext cx="329184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RED      PSI ≥ 0.25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5221224"/>
            <a:ext cx="713232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Trigger mandatory review; consider policy rollback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025896"/>
            <a:ext cx="11277295" cy="34747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1">
                <a:solidFill>
                  <a:srgbClr val="3A3A3A"/>
                </a:solidFill>
                <a:latin typeface="Calibri"/>
              </a:defRPr>
            </a:pPr>
            <a:r>
              <a:t>EXP-006 results: region PSI = 0.0821 (GREEN), occupation PSI max = 0.1225 (AMBER) -- both within threshold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iv.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A4.  LinUCB / LinTS Update Equations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548640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LinUCB (OFUL)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1618488"/>
            <a:ext cx="530352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A_a  ←  A_a + x_t x_tᵀ          (gram matrix update)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148840"/>
            <a:ext cx="530352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b_a  ←  b_a + r_t x_t            (reward accumulation)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679192"/>
            <a:ext cx="530352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θ_a  =  A_a⁻¹ b_a             (ridge-regression estimate)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09544"/>
            <a:ext cx="530352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a*  =  argmax  θ_aᵀ x_t + α √(x_tᵀ A_a⁻¹ x_t)   (UCB selection)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1234440"/>
            <a:ext cx="5303520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LinTS (Thompson Sampling)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618488"/>
            <a:ext cx="512064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Prior:   θ_a ~ N(μ_a, λ⁻¹ 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0" y="2148840"/>
            <a:ext cx="512064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Update:  Σ_a⁻¹ = λ I + A_a  ;  μ_a = Σ_a b_a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0" y="2679192"/>
            <a:ext cx="512064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Sample:  θ̃_a ~ N(μ_a, v² Σ_a)   per round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9544"/>
            <a:ext cx="5120640" cy="4754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Select:  a*  =  argmax  θ̃_aᵀ x_t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40480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977640"/>
            <a:ext cx="11277295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Key hyperparameters used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389120"/>
            <a:ext cx="11277295" cy="530352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462272"/>
            <a:ext cx="36576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α (LinUCB exploration)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462272"/>
            <a:ext cx="73152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1.0 (regret-minimising from EXP-012)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956048"/>
            <a:ext cx="11277295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029200"/>
            <a:ext cx="36576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v (LinTS variance)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5029200"/>
            <a:ext cx="73152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0.1 (posterior width calibration)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522976"/>
            <a:ext cx="11277295" cy="530352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596128"/>
            <a:ext cx="36576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λ (ridge penalty)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5596128"/>
            <a:ext cx="73152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1.0 (L2 regulariser, identity prior)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089904"/>
            <a:ext cx="11277295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6163056"/>
            <a:ext cx="36576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κ (HITL conservatism)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6163056"/>
            <a:ext cx="7315200" cy="40233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0.7 (headline; 0.3/0.5 also tested in EXP-008)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09728"/>
            <a:ext cx="2651760" cy="329184"/>
          </a:xfrm>
          <a:prstGeom prst="roundRect">
            <a:avLst/>
          </a:prstGeom>
          <a:solidFill>
            <a:srgbClr val="47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45720"/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iv.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84632"/>
            <a:ext cx="9601200" cy="65836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700" b="1" i="0">
                <a:solidFill>
                  <a:srgbClr val="5D2A42"/>
                </a:solidFill>
                <a:latin typeface="Times New Roman"/>
              </a:defRPr>
            </a:pPr>
            <a:r>
              <a:t>A5.  Dataset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6128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7" name="Picture 6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8" name="Picture 7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11277295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CDHS / STEPS / ILO / WHO anchoring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18488"/>
            <a:ext cx="1828800" cy="34747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1664208"/>
            <a:ext cx="1719072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1618488"/>
            <a:ext cx="3200400" cy="34747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86584" y="1664208"/>
            <a:ext cx="3090672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Variable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1618488"/>
            <a:ext cx="6035040" cy="347472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32704" y="1664208"/>
            <a:ext cx="5925312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Full name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002536"/>
            <a:ext cx="1828800" cy="685800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31720" y="2002536"/>
            <a:ext cx="3200400" cy="685800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77840" y="2002536"/>
            <a:ext cx="6035040" cy="685800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2075688"/>
            <a:ext cx="171907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CDHS 2021-22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86584" y="2075688"/>
            <a:ext cx="309067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Age, sex, region, BMI distributions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32704" y="2075688"/>
            <a:ext cx="592531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Cambodia Demographic &amp; Health Survey (NIS / ICF)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88336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31720" y="2688336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77840" y="2688336"/>
            <a:ext cx="60350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2761488"/>
            <a:ext cx="171907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STEPS 2021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86584" y="2761488"/>
            <a:ext cx="309067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Hypertension / chronic disease prevalence by occupation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32704" y="2761488"/>
            <a:ext cx="592531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STEPwise approach to NCD risk-factor surveillance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74136"/>
            <a:ext cx="1828800" cy="685800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331720" y="3374136"/>
            <a:ext cx="3200400" cy="685800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77840" y="3374136"/>
            <a:ext cx="6035040" cy="685800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2064" y="3447288"/>
            <a:ext cx="171907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ILO Labour Force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86584" y="3447288"/>
            <a:ext cx="309067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Income distribution by occupation / sector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32704" y="3447288"/>
            <a:ext cx="592531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Cambodia Labour Force &amp; Child Labour Survey 2021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059936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331720" y="4059936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77840" y="4059936"/>
            <a:ext cx="60350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2064" y="4133088"/>
            <a:ext cx="171907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SEARO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386584" y="4133088"/>
            <a:ext cx="309067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Health expenditure per capita by income quintile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32704" y="4133088"/>
            <a:ext cx="5925312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South-East Asia Regional Office data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773168"/>
            <a:ext cx="11277295" cy="32918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Simulator parameters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138928"/>
            <a:ext cx="11277295" cy="4937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202936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5202936"/>
            <a:ext cx="73152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2,000 applicants / 20 seeds, 5,000 rounds each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5669280"/>
            <a:ext cx="11277295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5733288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Adverse-selection factor AF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0" y="5733288"/>
            <a:ext cx="73152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1.35 (calibrated from DAC actuarial priors)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6199632"/>
            <a:ext cx="11277295" cy="493776"/>
          </a:xfrm>
          <a:prstGeom prst="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6263640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Price elasticity slope β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6263640"/>
            <a:ext cx="73152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3.5 (base case; 2.5 and 4.5 tested in EXP-012)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6729984"/>
            <a:ext cx="11277295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6793992"/>
            <a:ext cx="347472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Claim probability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0" y="6793992"/>
            <a:ext cx="73152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Logistic function of BMI, age, chronic disease status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4" name="Picture 3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5" name="Picture 4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A6.  Demo Screenshot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731520"/>
            <a:ext cx="11277295" cy="5257800"/>
          </a:xfrm>
          <a:prstGeom prst="round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731520"/>
            <a:ext cx="11277295" cy="5257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Main underwriting dashboard: applicant scoring and arm selection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4" name="Picture 3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5" name="Picture 4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A7.  Demo Screenshot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731520"/>
            <a:ext cx="11277295" cy="5257800"/>
          </a:xfrm>
          <a:prstGeom prst="round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731520"/>
            <a:ext cx="11277295" cy="5257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PSI fairness monitor panel: sliding-window drift visualization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5D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0" y="5806440"/>
            <a:ext cx="594360" cy="586002"/>
          </a:xfrm>
          <a:prstGeom prst="rect">
            <a:avLst/>
          </a:prstGeom>
        </p:spPr>
      </p:pic>
      <p:pic>
        <p:nvPicPr>
          <p:cNvPr id="4" name="Picture 3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680" y="5806440"/>
            <a:ext cx="594360" cy="563222"/>
          </a:xfrm>
          <a:prstGeom prst="rect">
            <a:avLst/>
          </a:prstGeom>
        </p:spPr>
      </p:pic>
      <p:pic>
        <p:nvPicPr>
          <p:cNvPr id="5" name="Picture 4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52760" y="5806440"/>
            <a:ext cx="594360" cy="3343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155680" y="6373368"/>
            <a:ext cx="9144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A8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A8.  Demo Screenshot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731520"/>
            <a:ext cx="11277295" cy="5257800"/>
          </a:xfrm>
          <a:prstGeom prst="roundRect">
            <a:avLst/>
          </a:prstGeom>
          <a:solidFill>
            <a:srgbClr val="F2EE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731520"/>
            <a:ext cx="11277295" cy="5257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Human-in-the-loop queue: referral management and cost accounting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