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Cambodia context: the National Social Security Fund covers only formal-sector workers, roughly 16 percent; private voluntary insurance is nascent and underwriting is mostly manual and rule-based. Actuaries apply fixed premium rules without learning from outcomes, suboptimal decisions compound over a growing applicant pool, and penetration is below 10 percent (2023 estimate). The opportunity: a contextual bandit learns online from each decision while a PSI guardrail watches demographic fairness.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Four concrete failures of the status quo. One: fixed age/BMI/income cutoffs ignore context, so a misclassified high-risk applicant generates uncorrected losses. Two: the claims signal is never fed back, so accuracy degrades silently as demographics shift. Three: no parity metric is tracked, so regional or occupational concentration can develop undetected. Four: there is no triage - actuaries spend time on high-volume routine cases instead of genuine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goal once, slowly. The four objectives map one-to-one onto the chapters: O1 the algorithms (Chapter IV), O2 the dataset (Chapter IV), O3 the evaluation (Chapter V), O4 fairness plus HITL (Chapter V). These are verbatim from the thesis - the examiners will check the wording.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Decent Actuarial Consultants is a Phnom Penh actuarial consultancy serving insurers, pension funds and regulators across Southeast Asia. The thesis is embedded in a DAC-supervised research internship, March through June 2026; the deliverable is the end-to-end adaptive underwriting prototype plus this report. Timeline: March scoping and dataset design, April algorithms, May experiments, June writing and defense preparation.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strands inform the method. Bouneffouf showed LinUCB works for clinical decisions. Li et al. 2010 give the LinUCB regret bound, Agrawal and Goyal 2013 the LinTS guarantee - together they justify the two proposed policies. Frees and Kusner frame insurance fairness constraints; Yurdakul's PSI gives the monitoring metric with the 0.10/0.25 thresholds; Christiano motivates the human-in-the-loop wrapper. The thesis reviews thirty-plus sources; this is the load-bearing subset.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Architecture in three layers. The browser SPA hosts four panels: applicant simulator, premium optimiser, bandit arena, PSI monitor. Each maps to a FastAPI endpoint, backed by the Python core: the actuarial reward simulator, the pricing engine, the bandit algorithms LinUCB and LinTS, and the PSI computation. Everything is fed by the 2,000-applicant synthetic Cambodia dataset, with the static XGBoost mortality model as the incumbent baseline. This same stack powers the live demo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dataset is 2,000 synthetic applicants with five features: age, sex, region, occupation, BMI. Distributions are anchored on CDHS 2021-22 and STEPS 2021; income on ILO labour-force surveys; claim probabilities calibrated from WHO SEARO health-expenditure data. Adverse-selection factor 1.35 and price-elasticity slope 3.5 come from DAC actuarial priors. Four arms: RATED accepts with a 25 percent loading, STANDARD accepts at standard rate, DECLINE rejects, REFER escalates to a human. No real applicant data is used anywhere.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Formally: at each round the context is the standardised five-feature applicant vector, the action is one of four arms, and the reward is revenue minus claims from the actuarial simulator, with adverse selection penalising premium-heavy arms on low-risk applicants. The objective is cumulative reward over T rounds subject to the PSI guardrail. The table sketches the reward structure: for a high-risk applicant DECLINE avoids a loss; for a low-risk one it forfeits revenue; REFER nets the human decision either way.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proposed policies and three reference points. LinUCB plays optimism in the face of uncertainty over a linear reward model with the square-root-T regret bound; LinTS samples from the posterior and is near-optimal with naturally calibrated uncertainty. Epsilon-greedy is the naive explorer with provably worse T-to-the-two-thirds regret. Static XGB is the train-once incumbent. AlwaysRATED rates everyone at +25 percent loading - it scores highest but is neither commercially nor regulatorily viable, which is exactly the admissibility distinction in section 5.0.1 and the dedicated limitation slide 6.2.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safety layers. The PSI guardrail computes the Population Stability Index on region and occupation over a rolling 500-round window: GREEN below 0.10, AMBER to 0.25, RED above. It detects concentration; it does not constrain the policy - enforcement is future work, stated honestly. The HITL wrapper REFERs an applicant to the actuary whenever predicted uncertainty exceeds the conservatism threshold kappa, tested at 0.3, 0.5, 0.7; the human's decision is final and its observed reward still updates the bandit. Design target: keep review cost under two percent of gross reward.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Switch to the browser. Walk one applicant through scoring, show the arm the bandit picks and the uncertainty-driven REFER, then the PSI monitor staying GREEN/AMBER, and finally the HITL queue with per-referral cost. If anything breaks, jump to appendix slides A6-A8 and narrate over the screenshots.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914400" cy="901541"/>
          </a:xfrm>
          <a:prstGeom prst="rect">
            <a:avLst/>
          </a:prstGeom>
          <a:effectLst/>
        </p:spPr>
      </p:pic>
      <p:pic>
        <p:nvPicPr>
          <p:cNvPr id="3" name="Picture 2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365760"/>
            <a:ext cx="1325880" cy="1256418"/>
          </a:xfrm>
          <a:prstGeom prst="rect">
            <a:avLst/>
          </a:prstGeom>
          <a:effectLst/>
        </p:spPr>
      </p:pic>
      <p:pic>
        <p:nvPicPr>
          <p:cNvPr id="4" name="Picture 3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32720" y="320040"/>
            <a:ext cx="1325880" cy="745808"/>
          </a:xfrm>
          <a:prstGeom prst="rect">
            <a:avLst/>
          </a:prstGeom>
          <a:effectLst/>
        </p:spPr>
      </p:pic>
      <p:sp>
        <p:nvSpPr>
          <p:cNvPr id="5" name="Rectangle 4"/>
          <p:cNvSpPr/>
          <p:nvPr/>
        </p:nvSpPr>
        <p:spPr>
          <a:xfrm>
            <a:off x="3108960" y="384048"/>
            <a:ext cx="65836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200" b="1" i="0">
                <a:solidFill>
                  <a:srgbClr val="1A1A1A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sp>
        <p:nvSpPr>
          <p:cNvPr id="6" name="Rectangle 5"/>
          <p:cNvSpPr/>
          <p:nvPr/>
        </p:nvSpPr>
        <p:spPr>
          <a:xfrm>
            <a:off x="3108960" y="841248"/>
            <a:ext cx="65836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0" i="0">
                <a:solidFill>
                  <a:srgbClr val="777777"/>
                </a:solidFill>
                <a:latin typeface="Calibri"/>
              </a:defRPr>
            </a:pPr>
            <a:r>
              <a:t>Department of Applied Mathematics and Statistics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13248" y="1874519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48840"/>
            <a:ext cx="10515600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2700" b="1" i="0">
                <a:solidFill>
                  <a:srgbClr val="1A1A1A"/>
                </a:solidFill>
                <a:latin typeface="Calibri"/>
              </a:defRPr>
            </a:pPr>
            <a:r>
              <a:t>ADAPTIVE HEALTH INSURANCE UNDERWRITING VIA CONTEXTUAL BANDITS: A REINFORCEMENT LEARNING APPROACH FOR CAMBODIA</a:t>
            </a:r>
          </a:p>
        </p:txBody>
      </p:sp>
      <p:sp>
        <p:nvSpPr>
          <p:cNvPr id="9" name="Rectangle 8"/>
          <p:cNvSpPr/>
          <p:nvPr/>
        </p:nvSpPr>
        <p:spPr>
          <a:xfrm>
            <a:off x="5413248" y="3886200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4224528"/>
            <a:ext cx="12191695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0" i="0">
                <a:solidFill>
                  <a:srgbClr val="777777"/>
                </a:solidFill>
                <a:latin typeface="Calibri"/>
              </a:defRPr>
            </a:pPr>
            <a:r>
              <a:t>Thesis Defense — Presented by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4535424"/>
            <a:ext cx="121916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700" b="1" i="0">
                <a:solidFill>
                  <a:srgbClr val="5D2A42"/>
                </a:solidFill>
                <a:latin typeface="Calibri"/>
              </a:defRPr>
            </a:pPr>
            <a:r>
              <a:t>LUN CHANPOLY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5193792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Supervisor      :  Dr. HAS Sothea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5193792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Organization :  DAC (Decent Actuarial Consultants)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71600" y="5522976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Co-Supervisor  :  Mr. PHOK Ponna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5522976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Duration        :  Mar 2026 – Jun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03504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1" i="0">
                <a:solidFill>
                  <a:srgbClr val="777777"/>
                </a:solidFill>
                <a:latin typeface="Calibri"/>
              </a:defRPr>
            </a:pPr>
            <a:r>
              <a:t>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82296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Table of Contents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07008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78308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</a:t>
            </a:r>
          </a:p>
        </p:txBody>
      </p:sp>
      <p:sp>
        <p:nvSpPr>
          <p:cNvPr id="5" name="Rectangle 4"/>
          <p:cNvSpPr/>
          <p:nvPr/>
        </p:nvSpPr>
        <p:spPr>
          <a:xfrm>
            <a:off x="1965960" y="183794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Introduction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0" y="235000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320040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ii</a:t>
            </a:r>
          </a:p>
        </p:txBody>
      </p:sp>
      <p:sp>
        <p:nvSpPr>
          <p:cNvPr id="8" name="Rectangle 7"/>
          <p:cNvSpPr/>
          <p:nvPr/>
        </p:nvSpPr>
        <p:spPr>
          <a:xfrm>
            <a:off x="1965960" y="325526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Internship at DAC</a:t>
            </a:r>
          </a:p>
        </p:txBody>
      </p:sp>
      <p:sp>
        <p:nvSpPr>
          <p:cNvPr id="9" name="Rectangle 8"/>
          <p:cNvSpPr/>
          <p:nvPr/>
        </p:nvSpPr>
        <p:spPr>
          <a:xfrm>
            <a:off x="1965960" y="376732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461772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iii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65960" y="467258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Literature Review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65960" y="518464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78308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iv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635240" y="183794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Methodology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5240" y="235000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320040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v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35240" y="325526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Results &amp; Discussion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35240" y="376732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4617720"/>
            <a:ext cx="1005840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vi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35240" y="4672584"/>
            <a:ext cx="42062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900" b="1" i="0">
                <a:solidFill>
                  <a:srgbClr val="1A1A1A"/>
                </a:solidFill>
                <a:latin typeface="Calibri"/>
              </a:defRPr>
            </a:pPr>
            <a:r>
              <a:t>Limitations &amp; Conclusions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35240" y="5184648"/>
            <a:ext cx="393192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1.1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Background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98448"/>
            <a:ext cx="585216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6000" b="1" i="0">
                <a:solidFill>
                  <a:srgbClr val="5D2A42"/>
                </a:solidFill>
                <a:latin typeface="Calibri"/>
              </a:defRPr>
            </a:pPr>
            <a:r>
              <a:t>&lt; 10 %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167128"/>
            <a:ext cx="58521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0" i="0">
                <a:solidFill>
                  <a:srgbClr val="777777"/>
                </a:solidFill>
                <a:latin typeface="Calibri"/>
              </a:defRPr>
            </a:pPr>
            <a:r>
              <a:rPr spc="80"/>
              <a:t>HEALTH-INSURANCE PENETRATION IN CAMBODIA (2023 EST.)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962656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2852928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NSSF covers formal-sector workers only (~16%)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529584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419856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Private underwriting is manual and rule-based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96512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3986784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Static rules never learn from outcomes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663440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3232" y="4553712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No demographic-parity monitoring in practice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1298448"/>
            <a:ext cx="5029200" cy="4206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Research opportunity</a:t>
            </a:r>
            <a:br/>
            <a:br/>
            <a:r>
              <a:t>Contextual bandits can learn from every underwriting decision in real time, adapting to Cambodia-specific risk patterns while demographic fairness is monitored automatically.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1.2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8988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8988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0992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Static thresholds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0428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Fixed cutoffs ignore applicant context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38988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38988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170992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No online adaptation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30428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Claims feedback never reaches the model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81304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81304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31520" y="413308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Demographic blindspot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72744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No parity metric is tracked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3813048"/>
            <a:ext cx="5486400" cy="21488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09360" y="3813048"/>
            <a:ext cx="64008" cy="21488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133088"/>
            <a:ext cx="49377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No triage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0" y="4727448"/>
            <a:ext cx="49377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Experts review routine, not borderline, cases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 · 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1.3  </a:t>
            </a:r>
            <a:r>
              <a:rPr sz="2600" b="1">
                <a:solidFill>
                  <a:srgbClr val="1A1A1A"/>
                </a:solidFill>
                <a:latin typeface="Calibri"/>
              </a:rPr>
              <a:t>Research Goal &amp;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3657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RESEARCH GOAL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11277295" cy="6858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Design and evaluate an adaptive health insurance underwriting system using contextual bandit algorithms on a synthetic Cambodia applicant dataset, incorporating demographic fairness monitoring and human-in-the-loop augmentation.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441448"/>
            <a:ext cx="3657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OBJECTIVES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85292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234440" y="287121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Implement and adapt linear contextual bandit algorithms (LinUCB, LinTS) for multi-arm health insurance underwriting decisions.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2160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373989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Construct a 2,000-record synthetic Cambodia applicant dataset anchored on CDHS, STEPS, ILO, and WHO demographic distributions.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30168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59028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34440" y="460857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Evaluate bandit performance versus static rule-based baselines via 20-seed multi-run trials, bootstrap CIs, and paired Wilcoxon tests.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98848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5458968"/>
            <a:ext cx="6858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000" b="1" i="0">
                <a:solidFill>
                  <a:srgbClr val="5D2A42"/>
                </a:solidFill>
                <a:latin typeface="Calibri"/>
              </a:defRPr>
            </a:pPr>
            <a:r>
              <a:t>O4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34440" y="5477256"/>
            <a:ext cx="10500055" cy="777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Assess demographic fairness via PSI monitoring across region and occupation, and integrate a human-in-the-loop underwriting wrapper.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367528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 · INTERNSHIP AT DAC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2.1  </a:t>
            </a:r>
            <a:r>
              <a:rPr sz="2600" b="1">
                <a:solidFill>
                  <a:srgbClr val="1A1A1A"/>
                </a:solidFill>
                <a:latin typeface="Calibri"/>
              </a:rPr>
              <a:t>Internship at DAC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08176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298448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DAC -- actuarial consulting, Phnom Penh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975104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865376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Clients: insurers, pension funds, regulators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542032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2432304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Role: research intern, Mar-Jun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108960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2999232"/>
            <a:ext cx="559612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Deliverable: underwriting prototype +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75120" y="1298448"/>
            <a:ext cx="5029200" cy="228600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500" b="0">
                <a:solidFill>
                  <a:srgbClr val="1A1A1A"/>
                </a:solidFill>
                <a:latin typeface="Calibri"/>
              </a:defRPr>
            </a:pPr>
            <a:r>
              <a:t>Supervision</a:t>
            </a:r>
            <a:br/>
            <a:br/>
            <a:r>
              <a:t>Thesis advisor: Dr. HAS Sothea (ITC)</a:t>
            </a:r>
            <a:br/>
            <a:r>
              <a:t>Field supervisor: Mr. PHOK Ponna (DAC)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995928"/>
            <a:ext cx="3657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INTERNSHIP TIMELINE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Mar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Problem scoping &amp; dataset design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9184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9184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Apr 2026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9184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Algorithm implementation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2648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2648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May 2026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Experiments &amp; analysis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4407408"/>
            <a:ext cx="2743200" cy="4572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61120" y="4544568"/>
            <a:ext cx="25603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Jun 2026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61120" y="4910328"/>
            <a:ext cx="256032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Thesis writing &amp; defense prep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III · LITERATURE REVIEW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3.1  </a:t>
            </a:r>
            <a:r>
              <a:rPr sz="2600" b="1">
                <a:solidFill>
                  <a:srgbClr val="1A1A1A"/>
                </a:solidFill>
                <a:latin typeface="Calibri"/>
              </a:rPr>
              <a:t>Literature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344168"/>
            <a:ext cx="263347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Topic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344168"/>
            <a:ext cx="318211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Key authors</a:t>
            </a:r>
          </a:p>
        </p:txBody>
      </p:sp>
      <p:sp>
        <p:nvSpPr>
          <p:cNvPr id="9" name="Rectangle 8"/>
          <p:cNvSpPr/>
          <p:nvPr/>
        </p:nvSpPr>
        <p:spPr>
          <a:xfrm>
            <a:off x="6547104" y="1344168"/>
            <a:ext cx="51023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Contribution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73352"/>
            <a:ext cx="11247120" cy="2286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46504"/>
            <a:ext cx="1124712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64" y="178308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Bandits in healthcare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55264" y="178308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Bouneffouf et al. (2017)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104" y="178308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Clinical decision support via LinUCB; reward = patient outcome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256032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Linear bandit theory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55264" y="256032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Li et al. (2010); Agrawal &amp; Goyal (2013)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104" y="256032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LinUCB O(sqrt(T) d log T) regret; LinTS posterior sampling, near-optimal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300984"/>
            <a:ext cx="1124712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" y="333756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Fairness in insurance ML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55264" y="333756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Frees et al. (2014); Kusner et al. (2017)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47104" y="333756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Regulatory constraints on protected attributes; counterfactual fairness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411480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PSI model monitoring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55264" y="411480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Yurdakul (2018)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47104" y="411480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Population Stability Index drift zones (GREEN / AMBER / RED)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855464"/>
            <a:ext cx="11247120" cy="7772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2064" y="4892040"/>
            <a:ext cx="263347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Human-in-the-loop RL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55264" y="4892040"/>
            <a:ext cx="318211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Christiano et al. (2017)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47104" y="4892040"/>
            <a:ext cx="5102352" cy="7040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Expert overrides improve alignment; cost-benefit of referral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Full review: thesis Chapter III (30+ sources).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4.1  </a:t>
            </a:r>
            <a:r>
              <a:rPr sz="2600" b="1">
                <a:solidFill>
                  <a:srgbClr val="1A1A1A"/>
                </a:solidFill>
                <a:latin typeface="Calibri"/>
              </a:rPr>
              <a:t>System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36776"/>
            <a:ext cx="1554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80"/>
              <a:t>BROWSER (SPA)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43560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84832" y="143560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Applicant Simulator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77540" y="214884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7992" y="143560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81144" y="143560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Premium Optimiser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73852" y="214884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004304" y="143560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077456" y="143560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Bandit Arena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70164" y="214884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0616" y="143560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573768" y="143560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PSI Monitor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66476" y="214884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962656"/>
            <a:ext cx="1554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80"/>
              <a:t>FASTAPI REST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276148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084832" y="276148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/api/simulate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540" y="347472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07992" y="276148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81144" y="276148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/api/pricing/optimize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73852" y="347472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004304" y="276148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077456" y="276148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/api/bandit/run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70164" y="347472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00616" y="276148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573768" y="276148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/api/psi/audit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666476" y="3474720"/>
            <a:ext cx="16459" cy="6126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288536"/>
            <a:ext cx="15544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80"/>
              <a:t>PYTHON BACKEND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0" y="408736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4832" y="408736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Actuarial Reward Sim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07992" y="408736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81144" y="408736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Pricing Engine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004304" y="408736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077456" y="408736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Bandit Algorithms (LinUCB / LinTS)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500616" y="4087368"/>
            <a:ext cx="2331720" cy="713232"/>
          </a:xfrm>
          <a:prstGeom prst="rect">
            <a:avLst/>
          </a:prstGeom>
          <a:solidFill>
            <a:srgbClr val="F7F5F6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573768" y="4087368"/>
            <a:ext cx="2185416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PSI Compute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11680" y="5504688"/>
            <a:ext cx="4828032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D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80" y="5504688"/>
            <a:ext cx="482803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Cambodia synthetic dataset (2,000 applicants)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004304" y="5504688"/>
            <a:ext cx="4828032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5D2A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004304" y="5504688"/>
            <a:ext cx="482803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Static XGBoost baseline (mortality model)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4.2  </a:t>
            </a:r>
            <a:r>
              <a:rPr sz="2600" b="1">
                <a:solidFill>
                  <a:srgbClr val="1A1A1A"/>
                </a:solidFill>
                <a:latin typeface="Calibri"/>
              </a:rPr>
              <a:t>Synthetic Cambodia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52728"/>
            <a:ext cx="2682163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5D2A42"/>
                </a:solidFill>
                <a:latin typeface="Calibri"/>
              </a:defRPr>
            </a:pPr>
            <a:r>
              <a:t>2,000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19656"/>
            <a:ext cx="2682163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0" i="0">
                <a:solidFill>
                  <a:srgbClr val="777777"/>
                </a:solidFill>
                <a:latin typeface="Calibri"/>
              </a:defRPr>
            </a:pPr>
            <a:r>
              <a:rPr spc="80"/>
              <a:t>SYNTHETIC APPLICATIONS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76523" y="1252728"/>
            <a:ext cx="2682163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76523" y="1819656"/>
            <a:ext cx="2682163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0" i="0">
                <a:solidFill>
                  <a:srgbClr val="777777"/>
                </a:solidFill>
                <a:latin typeface="Calibri"/>
              </a:defRPr>
            </a:pPr>
            <a:r>
              <a:rPr spc="80"/>
              <a:t>DEMOGRAPHIC FEATURES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66795" y="1298448"/>
            <a:ext cx="10972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95846" y="1252728"/>
            <a:ext cx="2682163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5846" y="1819656"/>
            <a:ext cx="2682163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0" i="0">
                <a:solidFill>
                  <a:srgbClr val="777777"/>
                </a:solidFill>
                <a:latin typeface="Calibri"/>
              </a:defRPr>
            </a:pPr>
            <a:r>
              <a:rPr spc="80"/>
              <a:t>UNDERWRITING ARMS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86118" y="1298448"/>
            <a:ext cx="10972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15169" y="1252728"/>
            <a:ext cx="2682163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169" y="1819656"/>
            <a:ext cx="2682163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0" i="0">
                <a:solidFill>
                  <a:srgbClr val="777777"/>
                </a:solidFill>
                <a:latin typeface="Calibri"/>
              </a:defRPr>
            </a:pPr>
            <a:r>
              <a:rPr spc="80"/>
              <a:t>ANCHORING SOURCES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805441" y="1298448"/>
            <a:ext cx="10972" cy="822960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642616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532888"/>
            <a:ext cx="54132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Anchored on CDHS, STEPS, ILO, WHO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209544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3232" y="3099816"/>
            <a:ext cx="54132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Adverse selection AF = 1.35; elasticity 3.5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776472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13232" y="3666744"/>
            <a:ext cx="54132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700" b="0" i="0">
                <a:solidFill>
                  <a:srgbClr val="1A1A1A"/>
                </a:solidFill>
                <a:latin typeface="Calibri"/>
              </a:defRPr>
            </a:pPr>
            <a:r>
              <a:t>Fully synthetic -- no real applicant PII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578608"/>
            <a:ext cx="17373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321040" y="2596896"/>
            <a:ext cx="3383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Accept + premium loading (+25%)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3291840"/>
            <a:ext cx="17373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40" y="3310128"/>
            <a:ext cx="3383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Accept at standard premium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163824"/>
            <a:ext cx="521208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92240" y="4005072"/>
            <a:ext cx="17373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321040" y="4023360"/>
            <a:ext cx="3383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Reject application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3877056"/>
            <a:ext cx="521208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92240" y="4718304"/>
            <a:ext cx="17373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321040" y="4736592"/>
            <a:ext cx="3383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Escalate to human underwriter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4590288"/>
            <a:ext cx="521208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Construction detail: appendix A5 (sources, simulator parameters).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4.3  </a:t>
            </a:r>
            <a:r>
              <a:rPr sz="2600" b="1">
                <a:solidFill>
                  <a:srgbClr val="1A1A1A"/>
                </a:solidFill>
                <a:latin typeface="Calibri"/>
              </a:rPr>
              <a:t>Bandit Formulation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344168"/>
            <a:ext cx="26517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Context  x_t ∈ R^5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728216"/>
            <a:ext cx="5394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age, sex, region, occupation, BMI -- standardised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12848"/>
            <a:ext cx="26517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Action  a_t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596896"/>
            <a:ext cx="5394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one of RATED / STANDARD / DECLINE / REFER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081528"/>
            <a:ext cx="26517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Reward  r_t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465576"/>
            <a:ext cx="53949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revenue minus claims, actuarial simulator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133088"/>
            <a:ext cx="5394960" cy="91440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400" b="1">
                <a:solidFill>
                  <a:srgbClr val="1A1A1A"/>
                </a:solidFill>
                <a:latin typeface="Calibri"/>
              </a:defRPr>
            </a:pPr>
            <a:r>
              <a:t>Objective: maximise cumulative reward Σ r_t over T rounds, subject to demographic PSI guardrails.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55664" y="1344168"/>
            <a:ext cx="144475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10144" y="1344168"/>
            <a:ext cx="181051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High-risk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930384" y="1344168"/>
            <a:ext cx="171907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Low-risk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1673352"/>
            <a:ext cx="5303520" cy="2286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0" y="1746504"/>
            <a:ext cx="5303520" cy="658368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55664" y="1783080"/>
            <a:ext cx="144475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RATED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1783080"/>
            <a:ext cx="181051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930384" y="1783080"/>
            <a:ext cx="171907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− adverse-sel. penalty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55664" y="2441448"/>
            <a:ext cx="144475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STANDARD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10144" y="2441448"/>
            <a:ext cx="181051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+premium − claims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930384" y="2441448"/>
            <a:ext cx="171907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+optimal margin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0" y="3063240"/>
            <a:ext cx="5303520" cy="658368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55664" y="3099816"/>
            <a:ext cx="144475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DECLINE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010144" y="3099816"/>
            <a:ext cx="181051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0 (avoided loss)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30384" y="3099816"/>
            <a:ext cx="171907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− missed revenue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55664" y="3758184"/>
            <a:ext cx="144475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REFER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10144" y="3758184"/>
            <a:ext cx="181051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930384" y="3758184"/>
            <a:ext cx="1719072" cy="58521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+human decision net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4.4  </a:t>
            </a:r>
            <a:r>
              <a:rPr sz="2600" b="1">
                <a:solidFill>
                  <a:srgbClr val="1A1A1A"/>
                </a:solidFill>
                <a:latin typeface="Calibri"/>
              </a:rPr>
              <a:t>Algorithms &amp;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90472"/>
            <a:ext cx="146304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435608"/>
            <a:ext cx="23774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81328"/>
            <a:ext cx="8412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Optimism under uncertainty -- O(sqrt(T) d log T) regret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67712"/>
            <a:ext cx="146304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212848"/>
            <a:ext cx="23774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258568"/>
            <a:ext cx="8412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Posterior sampling -- near-optimal regret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057400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044952"/>
            <a:ext cx="146304" cy="457200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990088"/>
            <a:ext cx="23774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ε-Greedy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035808"/>
            <a:ext cx="8412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Uniform exploration -- suboptimal O(T^2/3)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834640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822192"/>
            <a:ext cx="146304" cy="457200"/>
          </a:xfrm>
          <a:prstGeom prst="rect">
            <a:avLst/>
          </a:prstGeom>
          <a:solidFill>
            <a:srgbClr val="8080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" y="3767328"/>
            <a:ext cx="23774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83280" y="3813048"/>
            <a:ext cx="8412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Train-once incumbent baseline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611880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4599432"/>
            <a:ext cx="146304" cy="457200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4544568"/>
            <a:ext cx="237744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83280" y="4590288"/>
            <a:ext cx="84124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3A3A3A"/>
                </a:solidFill>
                <a:latin typeface="Calibri"/>
              </a:defRPr>
            </a:pPr>
            <a:r>
              <a:t>Constant +25% loading -- inadmissible ceiling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4389120"/>
            <a:ext cx="11277295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Admissibility (§5.0.1): deployable AND commercially/regulatorily viable. LinUCB and LinTS are the top-2 admissible policies. Other reference policies: AlwaysSTANDARD, AlwaysDECLINE, Random, LogisticOracle, Oracle.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4.5  </a:t>
            </a:r>
            <a:r>
              <a:rPr sz="2600" b="1">
                <a:solidFill>
                  <a:srgbClr val="1A1A1A"/>
                </a:solidFill>
                <a:latin typeface="Calibri"/>
              </a:rPr>
              <a:t>Guardrail + HITL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PSI DEMOGRAPHIC GUARDRAIL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64208"/>
            <a:ext cx="146304" cy="4572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664208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0" y="1700784"/>
            <a:ext cx="19202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PSI &lt; 0.10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97680" y="1700784"/>
            <a:ext cx="1554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alibri"/>
              </a:defRPr>
            </a:pPr>
            <a:r>
              <a:t>stable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322576"/>
            <a:ext cx="146304" cy="457200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" y="2322576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86000" y="2359152"/>
            <a:ext cx="19202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0.10-0.25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359152"/>
            <a:ext cx="1554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alibri"/>
              </a:defRPr>
            </a:pPr>
            <a:r>
              <a:t>monitor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980944"/>
            <a:ext cx="146304" cy="457200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2980944"/>
            <a:ext cx="1371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RED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86000" y="3017520"/>
            <a:ext cx="19202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1A1A1A"/>
                </a:solidFill>
                <a:latin typeface="Calibri"/>
              </a:defRPr>
            </a:pPr>
            <a:r>
              <a:t>PSI ≥ 0.25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97680" y="3017520"/>
            <a:ext cx="15544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alibri"/>
              </a:defRPr>
            </a:pPr>
            <a:r>
              <a:t>review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730752"/>
            <a:ext cx="539496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3A3A3A"/>
                </a:solidFill>
                <a:latin typeface="Calibri"/>
              </a:defRPr>
            </a:pPr>
            <a:r>
              <a:t>Computed on region &amp; occupation, rolling 500-round window.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207008"/>
            <a:ext cx="5212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5D2A42"/>
                </a:solidFill>
                <a:latin typeface="Calibri"/>
              </a:defRPr>
            </a:pPr>
            <a:r>
              <a:rPr spc="120"/>
              <a:t>HUMAN-IN-THE-LOOP WRAPPER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1773936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48272" y="1664208"/>
            <a:ext cx="49560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Uncertainty &gt; κ  →  REFER to actuary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340864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748272" y="2231136"/>
            <a:ext cx="49560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Conservatism κ ∈ {0.3, 0.5, 0.7}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2907792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48272" y="2798064"/>
            <a:ext cx="49560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Human decides; reward still trains bandit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3474720"/>
            <a:ext cx="91440" cy="91440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748272" y="3364992"/>
            <a:ext cx="4956048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Target: review cost &lt; 2% of reward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PSI is a monitor, not an enforcer -- constrained-action enforcement is future 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5.1  </a:t>
            </a:r>
            <a:r>
              <a:rPr sz="2600" b="1">
                <a:solidFill>
                  <a:srgbClr val="1A1A1A"/>
                </a:solidFill>
                <a:latin typeface="Calibri"/>
              </a:rPr>
              <a:t>Convergence  (EXP-005)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+25.2%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Cumulative reward lift</a:t>
            </a:r>
            <a:br/>
            <a:r>
              <a:t>vs. Static XGB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2.98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  <a:br/>
            <a:r>
              <a:t>(effect size)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Paired Wilcoxon</a:t>
            </a:r>
            <a:br/>
            <a:r>
              <a:t>(20 seeds)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$90,540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LinUCB cumulative</a:t>
            </a:r>
            <a:br/>
            <a:r>
              <a:t>reward (mean)</a:t>
            </a:r>
          </a:p>
        </p:txBody>
      </p:sp>
      <p:pic>
        <p:nvPicPr>
          <p:cNvPr id="19" name="Picture 18" descr="fig_reward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230" y="2487168"/>
            <a:ext cx="6429235" cy="384962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457200" y="5779008"/>
            <a:ext cx="11277295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Scope: admissible policies only (§5.0.1). Static XGB = $72,292 | Oracle = $126,804 | Oracle recovered: 72%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5.2  </a:t>
            </a:r>
            <a:r>
              <a:rPr sz="2600" b="1">
                <a:solidFill>
                  <a:srgbClr val="1A1A1A"/>
                </a:solidFill>
                <a:latin typeface="Calibri"/>
              </a:rPr>
              <a:t>Benchmark vs Static XGB  (EXP-007)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12</a:t>
            </a:r>
          </a:p>
        </p:txBody>
      </p:sp>
      <p:pic>
        <p:nvPicPr>
          <p:cNvPr id="7" name="Picture 6" descr="fig_loglog_regr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28642"/>
            <a:ext cx="6217920" cy="4103635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6949440" y="1207008"/>
            <a:ext cx="47548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20-seed ranking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0" y="1591056"/>
            <a:ext cx="59436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995160" y="1627632"/>
            <a:ext cx="50292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Rank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589520" y="1591056"/>
            <a:ext cx="182880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35240" y="1627632"/>
            <a:ext cx="17373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Algorithm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464040" y="1591056"/>
            <a:ext cx="2148840" cy="329184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509760" y="1627632"/>
            <a:ext cx="205740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Reward (mean)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49440" y="195681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589520" y="195681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464040" y="195681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95160" y="204825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35240" y="204825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09760" y="204825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$93,572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49440" y="255117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89520" y="255117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464040" y="255117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95160" y="264261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35240" y="264261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09760" y="264261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$91,947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49440" y="3145536"/>
            <a:ext cx="59436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89520" y="3145536"/>
            <a:ext cx="182880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64040" y="3145536"/>
            <a:ext cx="2148840" cy="56692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995160" y="323697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35240" y="323697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EpsilonGreedy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509760" y="323697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$76,441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49440" y="3739896"/>
            <a:ext cx="5943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589520" y="3739896"/>
            <a:ext cx="182880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9464040" y="3739896"/>
            <a:ext cx="21488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995160" y="3831336"/>
            <a:ext cx="5029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1" i="0">
                <a:solidFill>
                  <a:srgbClr val="1A1A1A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35240" y="3831336"/>
            <a:ext cx="173736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09760" y="3831336"/>
            <a:ext cx="20574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1A1A1A"/>
                </a:solidFill>
                <a:latin typeface="Calibri"/>
              </a:defRPr>
            </a:pPr>
            <a:r>
              <a:t>$72,173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49440" y="4379976"/>
            <a:ext cx="475488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1">
                <a:solidFill>
                  <a:srgbClr val="3A3A3A"/>
                </a:solidFill>
                <a:latin typeface="Calibri"/>
              </a:defRPr>
            </a:pPr>
            <a:r>
              <a:t>LinTS vs LinUCB: p = 0.87 (ns -- tied at 20 seeds)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49440" y="4791456"/>
            <a:ext cx="4754880" cy="8229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Log-log slope = 0.572 (R²=0.992): sub-linear regret consistent with O(√T·d) bound.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5.3  </a:t>
            </a:r>
            <a:r>
              <a:rPr sz="2600" b="1">
                <a:solidFill>
                  <a:srgbClr val="1A1A1A"/>
                </a:solidFill>
                <a:latin typeface="Calibri"/>
              </a:rPr>
              <a:t>Cold-start Evaluation  (EXP-010)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107899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LinTS @ T = 2,000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PASSED   p = 0.0039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1.48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207008"/>
            <a:ext cx="5394960" cy="1078992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1243584"/>
            <a:ext cx="512064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LinUCB @ T = 2,000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1572768"/>
            <a:ext cx="51206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800" b="1" i="0">
                <a:solidFill>
                  <a:srgbClr val="FFFFFF"/>
                </a:solidFill>
                <a:latin typeface="Calibri"/>
              </a:defRPr>
            </a:pPr>
            <a:r>
              <a:t>SOFTENED   p = 0.084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1956816"/>
            <a:ext cx="51206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FFFFFF"/>
                </a:solidFill>
                <a:latin typeface="Calibri"/>
              </a:defRPr>
            </a:pPr>
            <a:r>
              <a:t>d = 0.55, n.s.</a:t>
            </a:r>
          </a:p>
        </p:txBody>
      </p:sp>
      <p:pic>
        <p:nvPicPr>
          <p:cNvPr id="15" name="Picture 14" descr="fig_010_cold_st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805" y="2395728"/>
            <a:ext cx="6598310" cy="4123944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8321040" y="2395728"/>
            <a:ext cx="33832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Implication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321040" y="2779776"/>
            <a:ext cx="338328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Deploy with warm-start (pre-train or shadow mode) for the first ~1,000 applications; a fresh XGBoost wins below the crossover. At T=2,000 the LinTS crossover is significant (p = 0.0039, d = 1.48); LinUCB's lead is positive but not significant (p = 0.0840, d = 0.55) and is reported as 'draws level'.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5.4  </a:t>
            </a:r>
            <a:r>
              <a:rPr sz="2600" b="1">
                <a:solidFill>
                  <a:srgbClr val="1A1A1A"/>
                </a:solidFill>
                <a:latin typeface="Calibri"/>
              </a:rPr>
              <a:t>Human-in-the-loop  (EXP-008)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2679192" cy="117043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+14.8%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Reward lift</a:t>
            </a:r>
            <a:br/>
            <a:r>
              <a:t>vs. vanilla bandit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27832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27832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d = 2.65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27832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Cohen's 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98464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98464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p &lt; 0.001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98464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Wilcoxon</a:t>
            </a:r>
            <a:br/>
            <a:r>
              <a:t>20 seeds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69096" y="1207008"/>
            <a:ext cx="2679192" cy="1170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9096" y="1243584"/>
            <a:ext cx="267919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800" b="1" i="0">
                <a:solidFill>
                  <a:srgbClr val="FFFFFF"/>
                </a:solidFill>
                <a:latin typeface="Times New Roman"/>
              </a:defRPr>
            </a:pPr>
            <a:r>
              <a:t>1.3%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69096" y="1847088"/>
            <a:ext cx="26791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100" b="0" i="0">
                <a:solidFill>
                  <a:srgbClr val="FFFFFF"/>
                </a:solidFill>
                <a:latin typeface="Calibri"/>
              </a:defRPr>
            </a:pPr>
            <a:r>
              <a:t>Referral rate</a:t>
            </a:r>
            <a:br/>
            <a:r>
              <a:t>(review cost)</a:t>
            </a:r>
          </a:p>
        </p:txBody>
      </p:sp>
      <p:pic>
        <p:nvPicPr>
          <p:cNvPr id="19" name="Picture 18" descr="fig_hitl_experi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995" y="2487168"/>
            <a:ext cx="5183530" cy="3895344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7406640" y="2487168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Interpretation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06640" y="2871216"/>
            <a:ext cx="4297680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HITL reward $103,951 vs. vanilla bandit $90,540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Lift certified over the vanilla bandit (EXP-005 baseline)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Human review cost = 2.2% of gross reward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Alignment rate 60% (κ=0.7): experts agree with bandit most of the time</a:t>
            </a:r>
          </a:p>
          <a:p>
            <a:pPr>
              <a:spcAft>
                <a:spcPts val="400"/>
              </a:spcAft>
              <a:defRPr sz="1200" b="0">
                <a:solidFill>
                  <a:srgbClr val="1A1A1A"/>
                </a:solidFill>
                <a:latin typeface="Calibri"/>
              </a:defRPr>
            </a:pPr>
            <a:r>
              <a:t>• Scope: HITL does NOT beat inadmissible AlwaysRATED ceiling (§5.4.2)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5.5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Audit  (EXP-006)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Region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9456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GREEN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0.0821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19456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85.72%  (&gt; 80% EEOC)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PASSED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207008"/>
            <a:ext cx="539496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159105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65506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zone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863840" y="165506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AMBER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213969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20370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PSI max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63840" y="22037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0.1225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2688336"/>
            <a:ext cx="5394960" cy="51206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17920" y="275234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Parity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863840" y="275234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90.12%  (&gt; 80% EEOC)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6480" y="3236976"/>
            <a:ext cx="5394960" cy="51206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17920" y="3300984"/>
            <a:ext cx="155448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Criterion 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863840" y="330098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D93B3B"/>
                </a:solidFill>
                <a:latin typeface="Calibri"/>
              </a:defRPr>
            </a:pPr>
            <a:r>
              <a:t>FAILED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3858768"/>
            <a:ext cx="11277295" cy="16916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5 of 6 pre-registered criteria PASSED.</a:t>
            </a:r>
            <a:br/>
            <a:br/>
            <a:r>
              <a:t>Criterion 6 (occupation → action association) FAILED-with-interpretation: statistically significant (p &lt; 0.001) but practically small. Parity 90.12% &gt;&gt; 80% EEOC. PSI AMBER (0.1225 &lt; 0.25 RED threshold). Association reflects actuarially-justified risk differences (§5.2.4). Reported honestly.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5.6  </a:t>
            </a:r>
            <a:r>
              <a:rPr sz="2600" b="1">
                <a:solidFill>
                  <a:srgbClr val="1A1A1A"/>
                </a:solidFill>
                <a:latin typeface="Calibri"/>
              </a:rPr>
              <a:t>Drift Adaptation  (EXP-009)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16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Shock at round 1,500: TB prevalence doubled (~6.3% -&gt; 12.5%) + garment-worker income -30% at round 1500</a:t>
            </a:r>
          </a:p>
        </p:txBody>
      </p:sp>
      <p:pic>
        <p:nvPicPr>
          <p:cNvPr id="8" name="Picture 7" descr="fig_009_drift_adap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9285"/>
            <a:ext cx="6675120" cy="4003014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45920"/>
            <a:ext cx="429768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Post/pre regret ratio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39696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509760" y="2139696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79776"/>
            <a:ext cx="4297680" cy="7132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89504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509760" y="2889504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0.29× post/pre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529584"/>
            <a:ext cx="4297680" cy="71323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639312"/>
            <a:ext cx="201168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1A1A1A"/>
                </a:solidFill>
                <a:latin typeface="Calibri"/>
              </a:defRPr>
            </a:pPr>
            <a:r>
              <a:t>StaticXGB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09760" y="3639312"/>
            <a:ext cx="210312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300" b="1" i="0">
                <a:solidFill>
                  <a:srgbClr val="E6A62E"/>
                </a:solidFill>
                <a:latin typeface="Calibri"/>
              </a:defRPr>
            </a:pPr>
            <a:r>
              <a:t>0.85× post/pre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361688"/>
            <a:ext cx="4297680" cy="123444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Bandits adapt within the learning window: post-shock regret drops to 0.29× of pre-shock level. Static XGB stays at 0.85×. DiscountedLinUCB is proposed future work.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6.1  </a:t>
            </a:r>
            <a:r>
              <a:rPr sz="2600" b="1">
                <a:solidFill>
                  <a:srgbClr val="1A1A1A"/>
                </a:solidFill>
                <a:latin typeface="Calibri"/>
              </a:rPr>
              <a:t>Achievements &amp; Lessons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2E8B57"/>
                </a:solidFill>
                <a:latin typeface="Calibri"/>
              </a:defRPr>
            </a:pPr>
            <a:r>
              <a:t>Achievements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LinTS leads every admissible policy: $93,723 vs. Static XGB $72,206  (+25.2%, d=2.98)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LinTS cold-start crossover certified: Wilcoxon PASSED at T=2,000 (p=0.0039, d=1.48)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HITL augmentation: +14.8% at 1.3% review cost (p&lt; 0.001, d=2.65)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PSI GREEN (0.0821); occupation PSI AMBER (0.1225) -- within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5 of 6 pre-registered fairness criteria PASSED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Log-log regret slope 0.572 (R²=0.992) consistent with O(√T·d)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Limitations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AlwaysRATED ($122,287) is the inadmissible ceiling -- see §6.2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Synthetic data limits external validity; real claims data needed for production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monitors but does not constrain -- enforcement layer is future work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Criterion-6 FAILED-with-interpretation (occupation–action, p &lt; 0.001)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Cold-start period ~1,000 rounds requires warm-start in deployment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1">
                <a:solidFill>
                  <a:srgbClr val="1A1A1A"/>
                </a:solidFill>
                <a:latin typeface="Calibri"/>
              </a:defRPr>
            </a:pPr>
            <a:r>
              <a:t>Overall: contextual bandits provide a principled, adaptive, and auditable alternative to static rule-based underwriting in the Cambodian insurance context.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6.2  </a:t>
            </a:r>
            <a:r>
              <a:rPr sz="2600" b="1">
                <a:solidFill>
                  <a:srgbClr val="1A1A1A"/>
                </a:solidFill>
                <a:latin typeface="Calibri"/>
              </a:rPr>
              <a:t>Limitation: Baseline Ladder  (EXP-014)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AlwaysRATED is inadmissible -- and why the headline claim is still valid</a:t>
            </a:r>
          </a:p>
        </p:txBody>
      </p:sp>
      <p:pic>
        <p:nvPicPr>
          <p:cNvPr id="8" name="Picture 7" descr="fig_exp_014_baselin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3836"/>
            <a:ext cx="6583680" cy="3933327"/>
          </a:xfrm>
          <a:prstGeom prst="rect">
            <a:avLst/>
          </a:prstGeom>
          <a:effectLst/>
        </p:spPr>
      </p:pic>
      <p:sp>
        <p:nvSpPr>
          <p:cNvPr id="9" name="Rectangle 8"/>
          <p:cNvSpPr/>
          <p:nvPr/>
        </p:nvSpPr>
        <p:spPr>
          <a:xfrm>
            <a:off x="7406640" y="1618488"/>
            <a:ext cx="43891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Admissibility verdicts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06640" y="202996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79" y="212140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Static XGB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18320" y="212140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276148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98079" y="285292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LinUCB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18320" y="285292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06640" y="3493008"/>
            <a:ext cx="4389120" cy="694944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58444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LinTS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358444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2E8B57"/>
                </a:solidFill>
                <a:latin typeface="Calibri"/>
              </a:defRPr>
            </a:pPr>
            <a:r>
              <a:t>admissible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06640" y="4224528"/>
            <a:ext cx="4389120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98079" y="4315968"/>
            <a:ext cx="18288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AlwaysRATED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18320" y="4315968"/>
            <a:ext cx="228600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r">
              <a:defRPr sz="1200" b="1" i="0">
                <a:solidFill>
                  <a:srgbClr val="D93B3B"/>
                </a:solidFill>
                <a:latin typeface="Calibri"/>
              </a:defRPr>
            </a:pPr>
            <a:r>
              <a:t>inadmissible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06640" y="4956047"/>
            <a:ext cx="4389120" cy="132588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100" b="0">
                <a:solidFill>
                  <a:srgbClr val="1A1A1A"/>
                </a:solidFill>
                <a:latin typeface="Calibri"/>
              </a:defRPr>
            </a:pPr>
            <a:r>
              <a:t>AlwaysRATED ($122,287) rates 100% at +25% loading -- not commercially or regulatorily viable → inadmissible. Within the admissible set, LinTS ($93,723) and LinUCB ($91,864) rank 1st and 2nd.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VI · LIMITATIONS &amp; 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6.3  </a:t>
            </a:r>
            <a:r>
              <a:rPr sz="2600" b="1">
                <a:solidFill>
                  <a:srgbClr val="1A1A1A"/>
                </a:solidFill>
                <a:latin typeface="Calibri"/>
              </a:rPr>
              <a:t>Other Limitations &amp; Future 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19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D93B3B"/>
                </a:solidFill>
                <a:latin typeface="Calibri"/>
              </a:defRPr>
            </a:pPr>
            <a:r>
              <a:t>Remaining Limitations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548640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Synthetic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CDHS-anchored demographics; real insurer claims data unavailable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External validity limited -- proof-of-concept, not production estimates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Monitoring-only fairness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guardrail detects, does not prevent demographic concentration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Cold-start penalty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Bandits underperform FreshXGB below T~1,000; warm-start essential</a:t>
            </a:r>
          </a:p>
          <a:p>
            <a:pPr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Experiment scope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Single-market simulation; multi-product extension not tested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3B6EA5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591056"/>
            <a:ext cx="5303520" cy="3200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DiscountedLinUCB / SW-UCB for non-stationary / seasonal drift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Constrained contextual bandits for hard fairness enforcement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Real insurer pilot: replace synthetic rewards with observed claims data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Neural linear bandit for higher-dimensional feature spaces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Multi-product portfolio: life + health + motor underwriting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Formal regulatory engagement: SERC Cambodia approval pathway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910328"/>
            <a:ext cx="11277295" cy="5943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300" b="0">
                <a:solidFill>
                  <a:srgbClr val="1A1A1A"/>
                </a:solidFill>
                <a:latin typeface="Calibri"/>
              </a:defRPr>
            </a:pPr>
            <a:r>
              <a:t>Thesis contribution: end-to-end adaptive underwriting prototype + evaluation framework with demographic fairness monitoring for the Cambodian context.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640080"/>
            <a:ext cx="5486400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5D2A42"/>
                </a:solidFill>
                <a:latin typeface="Calibri"/>
              </a:defRPr>
            </a:pPr>
            <a:r>
              <a:rPr spc="200"/>
              <a:t>LIVE DEMONSTRATION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05840"/>
            <a:ext cx="1097280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3000" b="1" i="0">
                <a:solidFill>
                  <a:srgbClr val="1A1A1A"/>
                </a:solidFill>
                <a:latin typeface="Calibri"/>
              </a:defRPr>
            </a:pPr>
            <a:r>
              <a:t>Adaptive Underwriting Dashboard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55648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2423160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Run</a:t>
            </a:r>
          </a:p>
        </p:txBody>
      </p:sp>
      <p:sp>
        <p:nvSpPr>
          <p:cNvPr id="7" name="Rectangle 6"/>
          <p:cNvSpPr/>
          <p:nvPr/>
        </p:nvSpPr>
        <p:spPr>
          <a:xfrm>
            <a:off x="2286000" y="2441448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uvicorn demo.main:app --reload --port 8000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07792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090672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51560" y="3136392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Open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3154680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http://localhost:8000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621024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803904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849624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3867912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Score applicant -&gt; bandit arm selection -&gt; PSI monitor panel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334256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171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2200" b="1" i="0">
                <a:solidFill>
                  <a:srgbClr val="5D2A42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4562856"/>
            <a:ext cx="10972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alibri"/>
              </a:defRPr>
            </a:pPr>
            <a:r>
              <a:t>Show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581144"/>
            <a:ext cx="96012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0" i="0">
                <a:solidFill>
                  <a:srgbClr val="3A3A3A"/>
                </a:solidFill>
                <a:latin typeface="Consolas"/>
              </a:defRPr>
            </a:pPr>
            <a:r>
              <a:t>Human-in-the-loop referral queue + cost accounting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47488"/>
            <a:ext cx="10881360" cy="10972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6272784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50" b="0" i="1">
                <a:solidFill>
                  <a:srgbClr val="777777"/>
                </a:solidFill>
                <a:latin typeface="Calibri"/>
              </a:defRPr>
            </a:pPr>
            <a:r>
              <a:t>Fallback: demo screenshots in appendix (A6-A8) if the live run fails.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13248" y="1828800"/>
            <a:ext cx="137160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148840"/>
            <a:ext cx="12191695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5400" b="1" i="0">
                <a:solidFill>
                  <a:srgbClr val="1A1A1A"/>
                </a:solidFill>
                <a:latin typeface="Calibri"/>
              </a:defRPr>
            </a:pPr>
            <a:r>
              <a:t>Thank you.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154680"/>
            <a:ext cx="12191695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000" b="0" i="0">
                <a:solidFill>
                  <a:srgbClr val="5D2A42"/>
                </a:solidFill>
                <a:latin typeface="Calibri"/>
              </a:defRPr>
            </a:pPr>
            <a:r>
              <a:t>Questions &amp; Answers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4297680"/>
            <a:ext cx="12191695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2000" b="1" i="0">
                <a:solidFill>
                  <a:srgbClr val="1A1A1A"/>
                </a:solidFill>
                <a:latin typeface="Calibri"/>
              </a:defRPr>
            </a:pPr>
            <a:r>
              <a:t>LUN CHANPOLY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470916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500" b="0" i="0">
                <a:solidFill>
                  <a:srgbClr val="777777"/>
                </a:solidFill>
                <a:latin typeface="Calibri"/>
              </a:defRPr>
            </a:pPr>
            <a:r>
              <a:t>chanpoly3@gmail.com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5074920"/>
            <a:ext cx="121916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ctr">
              <a:defRPr sz="1400" b="0" i="0">
                <a:solidFill>
                  <a:srgbClr val="777777"/>
                </a:solidFill>
                <a:latin typeface="Calibri"/>
              </a:defRPr>
            </a:pPr>
            <a:r>
              <a:t>Institute of Technology of Cambodia</a:t>
            </a:r>
          </a:p>
        </p:txBody>
      </p:sp>
      <p:pic>
        <p:nvPicPr>
          <p:cNvPr id="8" name="Picture 7" descr="IT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5623560"/>
            <a:ext cx="640080" cy="631079"/>
          </a:xfrm>
          <a:prstGeom prst="rect">
            <a:avLst/>
          </a:prstGeom>
          <a:effectLst/>
        </p:spPr>
      </p:pic>
      <p:pic>
        <p:nvPicPr>
          <p:cNvPr id="9" name="Picture 8" descr="AM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5623560"/>
            <a:ext cx="640080" cy="606547"/>
          </a:xfrm>
          <a:prstGeom prst="rect">
            <a:avLst/>
          </a:prstGeom>
          <a:effectLst/>
        </p:spPr>
      </p:pic>
      <p:pic>
        <p:nvPicPr>
          <p:cNvPr id="10" name="Picture 9" descr="DAC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5623560"/>
            <a:ext cx="640080" cy="360045"/>
          </a:xfrm>
          <a:prstGeom prst="rect">
            <a:avLst/>
          </a:prstGeom>
          <a:effectLst/>
        </p:spPr>
      </p:pic>
      <p:sp>
        <p:nvSpPr>
          <p:cNvPr id="11" name="Rectangle 10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822960"/>
            <a:ext cx="914400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4800" b="1" i="0">
                <a:solidFill>
                  <a:srgbClr val="5D2A42"/>
                </a:solidFill>
                <a:latin typeface="Calibri"/>
              </a:defRPr>
            </a:pPr>
            <a:r>
              <a:t>APPENDIX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874519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14400" y="2331720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5" name="Rectangle 4"/>
          <p:cNvSpPr/>
          <p:nvPr/>
        </p:nvSpPr>
        <p:spPr>
          <a:xfrm>
            <a:off x="2194560" y="233172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Q2: Number Reconciliation -- EXP-005 vs ladder harness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953512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2194560" y="2953512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Fairness Criterion-6 Detail -- FAILED-with-interpretation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575304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3575304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PSI Guardrail Mechanics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4197096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94560" y="4197096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LinUCB / LinTS Update Equations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4818888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94560" y="4818888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Dataset Construction -- CDHS / STEPS / ILO / WHO anchoring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5440680"/>
            <a:ext cx="10972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1" i="0">
                <a:solidFill>
                  <a:srgbClr val="5D2A42"/>
                </a:solidFill>
                <a:latin typeface="Calibri"/>
              </a:defRPr>
            </a:pPr>
            <a:r>
              <a:t>A6-A8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544068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500" b="0" i="0">
                <a:solidFill>
                  <a:srgbClr val="1A1A1A"/>
                </a:solidFill>
                <a:latin typeface="Calibri"/>
              </a:defRPr>
            </a:pPr>
            <a:r>
              <a:t>Demo Screenshots (fallback if live demo fails)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A1  </a:t>
            </a:r>
            <a:r>
              <a:rPr sz="2600" b="1">
                <a:solidFill>
                  <a:srgbClr val="1A1A1A"/>
                </a:solidFill>
                <a:latin typeface="Calibri"/>
              </a:rPr>
              <a:t>Q2: Number Reconciliation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A1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1">
                <a:solidFill>
                  <a:srgbClr val="3A3A3A"/>
                </a:solidFill>
                <a:latin typeface="Calibri"/>
              </a:defRPr>
            </a:pPr>
            <a:r>
              <a:t>Why do different sections quote different percentage lifts?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384048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373075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Comparison pair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591056"/>
            <a:ext cx="128016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98264" y="1636776"/>
            <a:ext cx="117043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Lift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0" y="1591056"/>
            <a:ext cx="59436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724144" y="1636776"/>
            <a:ext cx="58338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Basis / why different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1975104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0" y="1975104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29968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(EXP-005)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98264" y="2029968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1A1A1A"/>
                </a:solidFill>
                <a:latin typeface="Calibri"/>
              </a:defRPr>
            </a:pPr>
            <a:r>
              <a:t>+25.2%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24144" y="2029968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Paired design, same seed sequence, standardised eval (primary metric, Table 5.1.1)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724912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343400" y="2724912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0" y="2724912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79776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LinUCB vs Static XGB (EXP-014 ladder)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98264" y="2779776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+27.2%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24144" y="2779776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reward-maximising policy (Table 9 §5.0.1); larger due to CRN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474720"/>
            <a:ext cx="384048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474720"/>
            <a:ext cx="128016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669280" y="3474720"/>
            <a:ext cx="5943600" cy="749808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529584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LinTS vs Static XGB (EXP-014 ladder)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98264" y="3529584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+29.8%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24144" y="3529584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CRN harness, LinTS reward-maximising (Table 9 §5.0.1)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224528"/>
            <a:ext cx="384048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343400" y="4224528"/>
            <a:ext cx="128016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669280" y="4224528"/>
            <a:ext cx="5943600" cy="749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279392"/>
            <a:ext cx="37307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HITL vs vanilla LinUCB (EXP-008)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98264" y="4279392"/>
            <a:ext cx="117043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2E8B57"/>
                </a:solidFill>
                <a:latin typeface="Calibri"/>
              </a:defRPr>
            </a:pPr>
            <a:r>
              <a:t>+14.8%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24144" y="4279392"/>
            <a:ext cx="583387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Augmented bandit vs. vanilla bandit -- different baseline entirely (Table 13)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956047"/>
            <a:ext cx="11277295" cy="96012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Headline (+25.2%) uses the conservative paired design. Ladder harness lifts are larger due to CRN setup -- all three answer different questions and are mutually consistent. EXP-005 is the pre-registered primary metric.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V · RESULTS &amp;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A2  </a:t>
            </a:r>
            <a:r>
              <a:rPr sz="2600" b="1">
                <a:solidFill>
                  <a:srgbClr val="1A1A1A"/>
                </a:solidFill>
                <a:latin typeface="Calibri"/>
              </a:rPr>
              <a:t>Fairness Criterion-6 Detail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A2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Occupation → action association (criterion 6 -- FAILED-with-interpretation)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1277295" cy="1920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1">
                <a:solidFill>
                  <a:srgbClr val="1A1A1A"/>
                </a:solidFill>
                <a:latin typeface="Calibri"/>
              </a:defRPr>
            </a:pPr>
            <a:r>
              <a:t>• FAILED verdict -- reported in the interest of scientific honesty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Permutation test: p = &lt; 0.001 (criterion: p ≥ 0.05 to PASS)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EEOC parity: 90.12%  (well above 80% regulatory floor)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AMBER: 0.1225 &lt; 0.25 RED threshold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The association is statistically significant but practically small.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Interpretation: occupation is an actuarially valid risk predictor; the bandit adjusts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  premiums for legitimate risk differences, NOT for discriminatory reasons.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63016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3730752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2E8B57"/>
                </a:solidFill>
                <a:latin typeface="Calibri"/>
              </a:defRPr>
            </a:pPr>
            <a:r>
              <a:t>Region (PASSED -- for reference)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114800"/>
            <a:ext cx="5486400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PSI GREEN: 0.0821 &lt; 0.10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Parity: 85.72%  |  Permutation p = 0.1322 (ns)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Region criterion 6: PASSED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3730752"/>
            <a:ext cx="5303520" cy="2194560"/>
          </a:xfrm>
          <a:prstGeom prst="rect">
            <a:avLst/>
          </a:prstGeom>
          <a:solidFill>
            <a:srgbClr val="F7F5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l">
              <a:defRPr sz="1200" b="0">
                <a:solidFill>
                  <a:srgbClr val="1A1A1A"/>
                </a:solidFill>
                <a:latin typeface="Calibri"/>
              </a:defRPr>
            </a:pPr>
            <a:r>
              <a:t>Regulatory position:</a:t>
            </a:r>
            <a:br/>
            <a:br/>
            <a:r>
              <a:t>No formal algorithmic fairness standard exists for insurance in Cambodia. The EEOC 80% rule is applied as an international best-practice benchmark. All EEOC parity criteria PASS (both region and occupation).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A3  </a:t>
            </a:r>
            <a:r>
              <a:rPr sz="2600" b="1">
                <a:solidFill>
                  <a:srgbClr val="1A1A1A"/>
                </a:solidFill>
                <a:latin typeface="Calibri"/>
              </a:rPr>
              <a:t>PSI Guardrail Mechanics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A3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Population Stability Index -- definition and thresholds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09344"/>
            <a:ext cx="91440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1A1A1A"/>
                </a:solidFill>
                <a:latin typeface="Courier New"/>
              </a:defRPr>
            </a:pPr>
            <a:r>
              <a:t>PSI = Σ (Actual% − Expected%) × ln(Actual% / Expected%)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084832"/>
            <a:ext cx="11277295" cy="1554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Actual%  = fraction of applicants in each demographic bucket (rolling window)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Expected% = reference distribution (training-set proportions)</a:t>
            </a:r>
          </a:p>
          <a:p>
            <a:pPr>
              <a:spcAft>
                <a:spcPts val="400"/>
              </a:spcAft>
              <a:defRPr sz="1300" b="0">
                <a:solidFill>
                  <a:srgbClr val="1A1A1A"/>
                </a:solidFill>
                <a:latin typeface="Calibri"/>
              </a:defRPr>
            </a:pPr>
            <a:r>
              <a:t>• Computed on region and occupation every 500 rounds in EXP-006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767328"/>
            <a:ext cx="3474720" cy="56692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858768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GREEN   PSI &lt; 0.10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9120" y="3858768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Stable -- no corrective action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434840"/>
            <a:ext cx="3474720" cy="566928"/>
          </a:xfrm>
          <a:prstGeom prst="rect">
            <a:avLst/>
          </a:prstGeom>
          <a:solidFill>
            <a:srgbClr val="E6A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526280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AMBER  0.10 ≤ PSI &lt; 0.25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89120" y="4526280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Monitor closely -- investigate trend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102352"/>
            <a:ext cx="3474720" cy="566928"/>
          </a:xfrm>
          <a:prstGeom prst="rect">
            <a:avLst/>
          </a:prstGeom>
          <a:solidFill>
            <a:srgbClr val="D9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5193792"/>
            <a:ext cx="329184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FFFFFF"/>
                </a:solidFill>
                <a:latin typeface="Calibri"/>
              </a:defRPr>
            </a:pPr>
            <a:r>
              <a:t>RED      PSI ≥ 0.25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120" y="5193792"/>
            <a:ext cx="713232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alibri"/>
              </a:defRPr>
            </a:pPr>
            <a:r>
              <a:t>Trigger mandatory review; consider policy rollback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998464"/>
            <a:ext cx="11277295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1">
                <a:solidFill>
                  <a:srgbClr val="3A3A3A"/>
                </a:solidFill>
                <a:latin typeface="Calibri"/>
              </a:defRPr>
            </a:pPr>
            <a:r>
              <a:t>EXP-006 results: region PSI = 0.0821 (GREEN), occupation PSI max = 0.1225 (AMBER) -- both within threshold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A4  </a:t>
            </a:r>
            <a:r>
              <a:rPr sz="2600" b="1">
                <a:solidFill>
                  <a:srgbClr val="1A1A1A"/>
                </a:solidFill>
                <a:latin typeface="Calibri"/>
              </a:rPr>
              <a:t>LinUCB / LinTS Update Equations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548640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LinUCB (OFUL)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91056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A_a  ←  A_a + x_t x_tᵀ          (gram matrix update)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121408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b_a  ←  b_a + r_t x_t            (reward accumulation)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651760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θ_a  =  A_a⁻¹ b_a             (ridge-regression estimate)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82112"/>
            <a:ext cx="530352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a*  =  argmax  θ_aᵀ x_t + α √(x_tᵀ A_a⁻¹ x_t)   (UCB selection)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207008"/>
            <a:ext cx="5303520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LinTS (Thompson Sampling)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0" y="1591056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Prior:   θ_a ~ N(μ_a, λ⁻¹ I)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2121408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Update:  Σ_a⁻¹ = λ I + A_a  ;  μ_a = Σ_a b_a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0" y="2651760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Sample:  θ̃_a ~ N(μ_a, v² Σ_a)   per round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0" y="3182112"/>
            <a:ext cx="512064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0" i="0">
                <a:solidFill>
                  <a:srgbClr val="1A1A1A"/>
                </a:solidFill>
                <a:latin typeface="Courier New"/>
              </a:defRPr>
            </a:pPr>
            <a:r>
              <a:t>Select:  a*  =  argmax  θ̃_aᵀ x_t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813048"/>
            <a:ext cx="11277295" cy="2743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9502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Key hyperparameters used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61688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34840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α (LinUCB exploration)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4434840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(regret-minimising from EXP-012)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928616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001768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v (LinTS variance)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5001768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0.1 (posterior width calibration)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95544"/>
            <a:ext cx="11277295" cy="53035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5568696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λ (ridge penalty)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5568696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1.0 (L2 regulariser, identity prior)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062472"/>
            <a:ext cx="11277295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6135624"/>
            <a:ext cx="36576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κ (HITL conservatism)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80" y="6135624"/>
            <a:ext cx="7315200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0.7 (headline; 0.3/0.5 also tested in EXP-008)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146304"/>
            <a:ext cx="64008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000" b="1" i="0">
                <a:solidFill>
                  <a:srgbClr val="5D2A42"/>
                </a:solidFill>
                <a:latin typeface="Calibri"/>
              </a:defRPr>
            </a:pPr>
            <a:r>
              <a:rPr spc="140"/>
              <a:t>IV · METHODOLOGY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20624"/>
            <a:ext cx="11247120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600" b="1">
                <a:solidFill>
                  <a:srgbClr val="5D2A42"/>
                </a:solidFill>
                <a:latin typeface="Calibri"/>
              </a:rPr>
              <a:t>A5  </a:t>
            </a:r>
            <a:r>
              <a:rPr sz="2600" b="1">
                <a:solidFill>
                  <a:srgbClr val="1A1A1A"/>
                </a:solidFill>
                <a:latin typeface="Calibri"/>
              </a:rPr>
              <a:t>Dataset Construction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42415"/>
            <a:ext cx="502920" cy="4114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A5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07008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400" b="1" i="0">
                <a:solidFill>
                  <a:srgbClr val="5D2A42"/>
                </a:solidFill>
                <a:latin typeface="Calibri"/>
              </a:defRPr>
            </a:pPr>
            <a:r>
              <a:t>CDHS / STEPS / ILO / WHO anchoring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591056"/>
            <a:ext cx="18288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" y="1636776"/>
            <a:ext cx="17190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Source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31720" y="1591056"/>
            <a:ext cx="320040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86584" y="1636776"/>
            <a:ext cx="309067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Variable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1591056"/>
            <a:ext cx="6035040" cy="347472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32704" y="1636776"/>
            <a:ext cx="5925312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1" i="0">
                <a:solidFill>
                  <a:srgbClr val="FFFFFF"/>
                </a:solidFill>
                <a:latin typeface="Calibri"/>
              </a:defRPr>
            </a:pPr>
            <a:r>
              <a:t>Full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751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331720" y="19751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577840" y="19751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2064" y="20482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CDHS 2021-22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6584" y="20482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Age, sex, region, BMI distributions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32704" y="20482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Demographic &amp; Health Survey (NIS / ICF)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6609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31720" y="26609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577840" y="26609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27340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STEPS 2021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86584" y="27340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Hypertension / chronic disease prevalence by occupation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32704" y="27340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STEPwise approach to NCD risk-factor surveillance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46704"/>
            <a:ext cx="18288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31720" y="3346704"/>
            <a:ext cx="320040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77840" y="3346704"/>
            <a:ext cx="6035040" cy="685800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34198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ILO Labour Force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86584" y="34198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Income distribution by occupation / sector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32704" y="34198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Cambodia Labour Force &amp; Child Labour Survey 2021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4032504"/>
            <a:ext cx="18288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331720" y="4032504"/>
            <a:ext cx="320040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577840" y="4032504"/>
            <a:ext cx="6035040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2064" y="4105656"/>
            <a:ext cx="17190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SEARO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86584" y="4105656"/>
            <a:ext cx="309067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Health expenditure per capita by income quintile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32704" y="4105656"/>
            <a:ext cx="5925312" cy="594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100" b="0" i="0">
                <a:solidFill>
                  <a:srgbClr val="1A1A1A"/>
                </a:solidFill>
                <a:latin typeface="Calibri"/>
              </a:defRPr>
            </a:pPr>
            <a:r>
              <a:t>WHO South-East Asia Regional Office data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745736"/>
            <a:ext cx="11277295" cy="32918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300" b="1" i="0">
                <a:solidFill>
                  <a:srgbClr val="5D2A42"/>
                </a:solidFill>
                <a:latin typeface="Calibri"/>
              </a:defRPr>
            </a:pPr>
            <a:r>
              <a:t>Simulator parameters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11496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" y="5175504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0" y="5175504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2,000 applicants / 20 seeds, 5,000 rounds each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641848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48640" y="5705856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Adverse-selection factor AF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0" y="5705856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1.35 (calibrated from DAC actuarial priors)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172200"/>
            <a:ext cx="11277295" cy="493776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48640" y="6236208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Price elasticity slope β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114800" y="6236208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3.5 (base case; 2.5 and 4.5 tested in EXP-012)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6702552"/>
            <a:ext cx="11277295" cy="4937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48640" y="6766560"/>
            <a:ext cx="34747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1" i="0">
                <a:solidFill>
                  <a:srgbClr val="1A1A1A"/>
                </a:solidFill>
                <a:latin typeface="Calibri"/>
              </a:defRPr>
            </a:pPr>
            <a:r>
              <a:t>Claim probability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0" y="6766560"/>
            <a:ext cx="73152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200" b="0" i="0">
                <a:solidFill>
                  <a:srgbClr val="3A3A3A"/>
                </a:solidFill>
                <a:latin typeface="Calibri"/>
              </a:defRPr>
            </a:pPr>
            <a:r>
              <a:t>Logistic function of BMI, age, chronic disease status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A6.  Demo Screenshot 1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Main underwriting dashboard: applicant scoring and arm selection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A7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A7.  Demo Screenshot 2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PSI fairness monitor panel: sliding-window drift visualization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5D2A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247120" y="6638544"/>
            <a:ext cx="82296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2880"/>
            <a:ext cx="36576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defRPr sz="1600" b="1" i="0">
                <a:solidFill>
                  <a:srgbClr val="5D2A42"/>
                </a:solidFill>
                <a:latin typeface="Calibri"/>
              </a:defRPr>
            </a:pPr>
            <a:r>
              <a:t>A8.  Demo Screenshot 3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solidFill>
            <a:srgbClr val="F2EE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731520"/>
            <a:ext cx="11277295" cy="56509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defRPr sz="1600" b="0" i="0">
                <a:solidFill>
                  <a:srgbClr val="808080"/>
                </a:solidFill>
                <a:latin typeface="Calibri"/>
              </a:defRPr>
            </a:pPr>
            <a:r>
              <a:t>[Demo screenshot placeholder]</a:t>
            </a:r>
            <a:br/>
            <a:br/>
            <a:r>
              <a:t>Human-in-the-loop queue: referral management and cost accounting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