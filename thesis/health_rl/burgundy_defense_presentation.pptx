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914400" cy="901541"/>
          </a:xfrm>
          <a:prstGeom prst="rect">
            <a:avLst/>
          </a:prstGeom>
        </p:spPr>
      </p:pic>
      <p:pic>
        <p:nvPicPr>
          <p:cNvPr id="3" name="Picture 2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274320"/>
            <a:ext cx="914400" cy="866495"/>
          </a:xfrm>
          <a:prstGeom prst="rect">
            <a:avLst/>
          </a:prstGeom>
        </p:spPr>
      </p:pic>
      <p:pic>
        <p:nvPicPr>
          <p:cNvPr id="4" name="Picture 3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274320"/>
            <a:ext cx="1097280" cy="6172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0" y="320040"/>
            <a:ext cx="64008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A1A1A"/>
                </a:solidFill>
                <a:latin typeface="Times New Roman"/>
              </a:defRPr>
            </a:pPr>
            <a:r>
              <a:t>Institute of Technology of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777240"/>
            <a:ext cx="64008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0">
                <a:solidFill>
                  <a:srgbClr val="1A1A1A"/>
                </a:solidFill>
                <a:latin typeface="Times New Roman"/>
              </a:defRPr>
            </a:pPr>
            <a:r>
              <a:t>Department of Applied Mathematics and Statistics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8047" y="2103120"/>
            <a:ext cx="10515600" cy="201168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2000"/>
              </a:spcBef>
              <a:defRPr sz="3200" b="1">
                <a:solidFill>
                  <a:srgbClr val="FFFFFF"/>
                </a:solidFill>
                <a:latin typeface="Times New Roman"/>
              </a:defRPr>
            </a:pPr>
            <a:r>
              <a:t>ADAPTIVE HEALTH INSURANCE UNDERWRITING VIA CONTEXTUAL BANDITS: A REINFORCEMENT LEARNING APPROACH FOR CAMBODIA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480560"/>
            <a:ext cx="1219169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1A1A1A"/>
                </a:solidFill>
                <a:latin typeface="Calibri"/>
              </a:defRPr>
            </a:pPr>
            <a:r>
              <a:t>Presented by: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800600"/>
            <a:ext cx="12191695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A1A1A"/>
                </a:solidFill>
                <a:latin typeface="Times New Roman"/>
              </a:defRPr>
            </a:pPr>
            <a:r>
              <a:t>LUN CHANPOLY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5394960"/>
            <a:ext cx="4572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>
                <a:solidFill>
                  <a:srgbClr val="1A1A1A"/>
                </a:solidFill>
                <a:latin typeface="Calibri"/>
              </a:defRPr>
            </a:pPr>
            <a:r>
              <a:t>Supervisor      : Dr. HAS Sothea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5715000"/>
            <a:ext cx="4572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>
                <a:solidFill>
                  <a:srgbClr val="1A1A1A"/>
                </a:solidFill>
                <a:latin typeface="Calibri"/>
              </a:defRPr>
            </a:pPr>
            <a:r>
              <a:t>Co-Supervisor   : Mr. PHOK Ponna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5394960"/>
            <a:ext cx="4572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>
                <a:solidFill>
                  <a:srgbClr val="1A1A1A"/>
                </a:solidFill>
                <a:latin typeface="Calibri"/>
              </a:defRPr>
            </a:pPr>
            <a:r>
              <a:t>Organization    : DAC (Decent Actuarial Consultants)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715000"/>
            <a:ext cx="4572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1600" b="0">
                <a:solidFill>
                  <a:srgbClr val="1A1A1A"/>
                </a:solidFill>
                <a:latin typeface="Calibri"/>
              </a:defRPr>
            </a:pPr>
            <a:r>
              <a:t>Duration        : March 2026 – May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0">
                <a:solidFill>
                  <a:srgbClr val="1A1A1A"/>
                </a:solidFill>
                <a:latin typeface="Calibri"/>
              </a:defRPr>
            </a:pPr>
            <a:r>
              <a:t>June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17" name="Picture 16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54864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530352"/>
            <a:ext cx="54864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694944"/>
            <a:ext cx="54864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65760" y="274320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🎓</a:t>
            </a:r>
          </a:p>
        </p:txBody>
      </p:sp>
      <p:sp>
        <p:nvSpPr>
          <p:cNvPr id="7" name="Oval 6"/>
          <p:cNvSpPr/>
          <p:nvPr/>
        </p:nvSpPr>
        <p:spPr>
          <a:xfrm>
            <a:off x="457200" y="62179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62179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621792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0320" y="365760"/>
            <a:ext cx="822960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4000" b="1">
                <a:solidFill>
                  <a:srgbClr val="1A1A1A"/>
                </a:solidFill>
                <a:latin typeface="Times New Roman"/>
              </a:defRPr>
            </a:pPr>
            <a:r>
              <a:t>TABLE OF CONTENT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463040"/>
            <a:ext cx="594360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1463040"/>
            <a:ext cx="3200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200" b="1">
                <a:solidFill>
                  <a:srgbClr val="1A1A1A"/>
                </a:solidFill>
                <a:latin typeface="Times New Roman"/>
              </a:defRPr>
            </a:pPr>
            <a:r>
              <a:t>INTRODUCTION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874520"/>
            <a:ext cx="1097280" cy="5486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2468880"/>
            <a:ext cx="594360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468880"/>
            <a:ext cx="3200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200" b="1">
                <a:solidFill>
                  <a:srgbClr val="1A1A1A"/>
                </a:solidFill>
                <a:latin typeface="Times New Roman"/>
              </a:defRPr>
            </a:pPr>
            <a:r>
              <a:t>LITERATURE REVIEW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2880360"/>
            <a:ext cx="1097280" cy="5486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3474720"/>
            <a:ext cx="594360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3474720"/>
            <a:ext cx="3200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200" b="1">
                <a:solidFill>
                  <a:srgbClr val="1A1A1A"/>
                </a:solidFill>
                <a:latin typeface="Times New Roman"/>
              </a:defRPr>
            </a:pPr>
            <a:r>
              <a:t>METHODOLOGY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886200"/>
            <a:ext cx="1097280" cy="5486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0" y="4480560"/>
            <a:ext cx="594360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60" y="4480560"/>
            <a:ext cx="3200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200" b="1">
                <a:solidFill>
                  <a:srgbClr val="1A1A1A"/>
                </a:solidFill>
                <a:latin typeface="Times New Roman"/>
              </a:defRPr>
            </a:pPr>
            <a:r>
              <a:t>RESULTS AND DISCUSSION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66160" y="4892040"/>
            <a:ext cx="1097280" cy="5486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1463040"/>
            <a:ext cx="594360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0" y="1463040"/>
            <a:ext cx="3200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200" b="1">
                <a:solidFill>
                  <a:srgbClr val="1A1A1A"/>
                </a:solidFill>
                <a:latin typeface="Times New Roman"/>
              </a:defRPr>
            </a:pPr>
            <a:r>
              <a:t>DEMONSTRATION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0" y="1874520"/>
            <a:ext cx="1097280" cy="5486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0" y="2468880"/>
            <a:ext cx="594360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2468880"/>
            <a:ext cx="32004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2200" b="1">
                <a:solidFill>
                  <a:srgbClr val="1A1A1A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80960" y="2880360"/>
            <a:ext cx="1097280" cy="5486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pic>
        <p:nvPicPr>
          <p:cNvPr id="31" name="Picture 30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32" name="Picture 31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3847" y="2103120"/>
            <a:ext cx="9144000" cy="228600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1. 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1</a:t>
            </a:r>
          </a:p>
        </p:txBody>
      </p:sp>
      <p:pic>
        <p:nvPicPr>
          <p:cNvPr id="7" name="Picture 6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3847" y="2103120"/>
            <a:ext cx="9144000" cy="228600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2. 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2</a:t>
            </a:r>
          </a:p>
        </p:txBody>
      </p:sp>
      <p:pic>
        <p:nvPicPr>
          <p:cNvPr id="7" name="Picture 6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3847" y="2103120"/>
            <a:ext cx="9144000" cy="228600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3.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3</a:t>
            </a:r>
          </a:p>
        </p:txBody>
      </p:sp>
      <p:pic>
        <p:nvPicPr>
          <p:cNvPr id="7" name="Picture 6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3847" y="2103120"/>
            <a:ext cx="9144000" cy="228600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4. RESULTS AND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4</a:t>
            </a:r>
          </a:p>
        </p:txBody>
      </p:sp>
      <p:pic>
        <p:nvPicPr>
          <p:cNvPr id="7" name="Picture 6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3847" y="2103120"/>
            <a:ext cx="9144000" cy="228600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5. 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5</a:t>
            </a:r>
          </a:p>
        </p:txBody>
      </p:sp>
      <p:pic>
        <p:nvPicPr>
          <p:cNvPr id="7" name="Picture 6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523847" y="2103120"/>
            <a:ext cx="9144000" cy="228600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6. 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6</a:t>
            </a:r>
          </a:p>
        </p:txBody>
      </p:sp>
      <p:pic>
        <p:nvPicPr>
          <p:cNvPr id="7" name="Picture 6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600" b="1">
                <a:solidFill>
                  <a:srgbClr val="5D2A42"/>
                </a:solidFill>
                <a:latin typeface="Times New Roman"/>
              </a:defRPr>
            </a:pPr>
            <a:r>
              <a:t>General Presentation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77295" cy="4937760"/>
          </a:xfrm>
          <a:prstGeom prst="roundRect">
            <a:avLst/>
          </a:prstGeom>
          <a:noFill/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808080"/>
                </a:solidFill>
              </a:defRPr>
            </a:pPr>
            <a:r>
              <a:t>[Insert content here]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1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9" name="Picture 8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600" b="1">
                <a:solidFill>
                  <a:srgbClr val="5D2A42"/>
                </a:solidFill>
                <a:latin typeface="Times New Roman"/>
              </a:defRPr>
            </a:pPr>
            <a:r>
              <a:t>About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77295" cy="4937760"/>
          </a:xfrm>
          <a:prstGeom prst="roundRect">
            <a:avLst/>
          </a:prstGeom>
          <a:noFill/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808080"/>
                </a:solidFill>
              </a:defRPr>
            </a:pPr>
            <a:r>
              <a:t>[Insert content here]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2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9" name="Picture 8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600" b="1">
                <a:solidFill>
                  <a:srgbClr val="5D2A42"/>
                </a:solidFill>
                <a:latin typeface="Times New Roman"/>
              </a:defRPr>
            </a:pPr>
            <a:r>
              <a:t>Problem Statement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77295" cy="4937760"/>
          </a:xfrm>
          <a:prstGeom prst="roundRect">
            <a:avLst/>
          </a:prstGeom>
          <a:noFill/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808080"/>
                </a:solidFill>
              </a:defRPr>
            </a:pPr>
            <a:r>
              <a:t>[Insert content here]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3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9" name="Picture 8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600" b="1">
                <a:solidFill>
                  <a:srgbClr val="5D2A42"/>
                </a:solidFill>
                <a:latin typeface="Times New Roman"/>
              </a:defRPr>
            </a:pPr>
            <a:r>
              <a:t>Goal and Objective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77295" cy="4937760"/>
          </a:xfrm>
          <a:prstGeom prst="roundRect">
            <a:avLst/>
          </a:prstGeom>
          <a:noFill/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808080"/>
                </a:solidFill>
              </a:defRPr>
            </a:pPr>
            <a:r>
              <a:t>[Insert content here]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4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9" name="Picture 8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600" b="1">
                <a:solidFill>
                  <a:srgbClr val="5D2A42"/>
                </a:solidFill>
                <a:latin typeface="Times New Roman"/>
              </a:defRPr>
            </a:pPr>
            <a:r>
              <a:t>Project Timeline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77295" cy="4937760"/>
          </a:xfrm>
          <a:prstGeom prst="roundRect">
            <a:avLst/>
          </a:prstGeom>
          <a:noFill/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808080"/>
                </a:solidFill>
              </a:defRPr>
            </a:pPr>
            <a:r>
              <a:t>[Insert content here]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5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9" name="Picture 8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600" b="1">
                <a:solidFill>
                  <a:srgbClr val="5D2A42"/>
                </a:solidFill>
                <a:latin typeface="Times New Roman"/>
              </a:defRPr>
            </a:pPr>
            <a:r>
              <a:t>Conclusion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77295" cy="4937760"/>
          </a:xfrm>
          <a:prstGeom prst="roundRect">
            <a:avLst/>
          </a:prstGeom>
          <a:noFill/>
          <a:ln w="190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808080"/>
                </a:solidFill>
              </a:defRPr>
            </a:pPr>
            <a:r>
              <a:t>[Insert content here]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6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9" name="Picture 8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0" y="137160"/>
            <a:ext cx="475488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r">
              <a:defRPr sz="1400">
                <a:solidFill>
                  <a:srgbClr val="5D2A42"/>
                </a:solidFill>
                <a:latin typeface="Calibri"/>
              </a:defRPr>
            </a:pPr>
            <a:r>
              <a:t>Adaptive Health Insurance Underwriting via Contextual Bandits</a:t>
            </a:r>
          </a:p>
          <a:p>
            <a:pPr algn="r">
              <a:defRPr sz="1200" i="1">
                <a:solidFill>
                  <a:srgbClr val="5D2A42"/>
                </a:solidFill>
                <a:latin typeface="Calibri"/>
              </a:defRPr>
            </a:pPr>
            <a:r>
              <a:t>LUN CHANPOLY Bhd Thesis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defRPr sz="3600" b="1">
                <a:solidFill>
                  <a:srgbClr val="5D2A42"/>
                </a:solidFill>
                <a:latin typeface="Times New Roman"/>
              </a:defRPr>
            </a:pPr>
            <a:r>
              <a:t>System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394960" cy="4937760"/>
          </a:xfrm>
          <a:prstGeom prst="roundRect">
            <a:avLst/>
          </a:prstGeom>
          <a:noFill/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808080"/>
                </a:solidFill>
              </a:defRPr>
            </a:pPr>
            <a:r>
              <a:t>[Left column content]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005840"/>
            <a:ext cx="5394960" cy="4937760"/>
          </a:xfrm>
          <a:prstGeom prst="roundRect">
            <a:avLst/>
          </a:prstGeom>
          <a:noFill/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808080"/>
                </a:solidFill>
              </a:defRPr>
            </a:pPr>
            <a:r>
              <a:t>[Right column content]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0" y="6400800"/>
            <a:ext cx="10972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600">
                <a:solidFill>
                  <a:srgbClr val="FFFFFF"/>
                </a:solidFill>
                <a:latin typeface="Calibri"/>
              </a:defRPr>
            </a:pPr>
            <a:r>
              <a:t>Page 7</a:t>
            </a:r>
          </a:p>
        </p:txBody>
      </p:sp>
      <p:pic>
        <p:nvPicPr>
          <p:cNvPr id="9" name="Picture 8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10" name="Picture 9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3847" y="2286000"/>
            <a:ext cx="9144000" cy="182880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A1A1A"/>
                </a:solidFill>
                <a:latin typeface="Times New Roman"/>
              </a:defRPr>
            </a:pPr>
            <a: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6400800"/>
            <a:ext cx="86868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>
                <a:solidFill>
                  <a:srgbClr val="FFFFFF"/>
                </a:solidFill>
                <a:latin typeface="Calibri"/>
              </a:defRPr>
            </a:pPr>
            <a:r>
              <a:t>Introduction → Literature Review → Methodology → Results → Demo → Conclusion</a:t>
            </a:r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5806440"/>
            <a:ext cx="640080" cy="631079"/>
          </a:xfrm>
          <a:prstGeom prst="rect">
            <a:avLst/>
          </a:prstGeom>
        </p:spPr>
      </p:pic>
      <p:pic>
        <p:nvPicPr>
          <p:cNvPr id="7" name="Picture 6" descr="DA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5806440"/>
            <a:ext cx="640080" cy="3600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