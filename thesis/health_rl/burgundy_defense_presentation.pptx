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browser. Walk one applicant through scoring, show the arm the bandit picks and the uncertainty-driven REFER, then the PSI monitor staying GREEN/AMBER, and finally the HITL queue with per-referral cost. If anything breaks, jump to appendix slides A6-A8 and narrate over the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  <a:effectLst/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  <a:effectLst/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200" b="1" i="0">
                <a:solidFill>
                  <a:srgbClr val="1A1A1A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Department of Applied Mathematics and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2700" b="1" i="0">
                <a:solidFill>
                  <a:srgbClr val="1A1A1A"/>
                </a:solidFill>
                <a:latin typeface="Calibri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Thesis Defense — Presented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700" b="1" i="0">
                <a:solidFill>
                  <a:srgbClr val="5D2A42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Supervisor      :  Dr. HAS Sothea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Organization :  DAC (Decent Actuarial Consultants)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Co-Supervisor  :  Mr. PHOK Ponna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Duration        :  Mar 2026 – Jun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1" i="0">
                <a:solidFill>
                  <a:srgbClr val="777777"/>
                </a:solidFill>
                <a:latin typeface="Calibri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0700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Internship at DAC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Literature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Results &amp;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Limitations &amp; Conclusions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1.1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943600" cy="475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Cambodia health insurance landscape: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National Social Security Fund (NSSF) covers formal-sector workers only (~16%)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Private voluntary insurance nascent; underwriting mostly manual rule-based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Actuaries apply fixed premium rules without learning from outcomes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The underwriting bottleneck: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Static thresholds are set at training time and never updated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Suboptimal decisions compound over a growing applicant pool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No systematic demographic-parity monitoring in current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207008"/>
            <a:ext cx="5029200" cy="173736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298448"/>
            <a:ext cx="502920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&lt; 10 %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121408"/>
            <a:ext cx="50292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Health insurance penetration rate in Cambodia (2023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127248"/>
            <a:ext cx="5029200" cy="2468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Research opportunity:</a:t>
            </a:r>
            <a:br/>
            <a:br/>
            <a:r>
              <a:t>Contextual bandits can learn from underwriting decisions in real time, adapting to Cambodia-specific risk patterns while monitoring demographic fairness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1.2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Static thresholds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8249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Fixed age/BMI/income cutoffs ignore applicant context. A high-risk applicant misclassified as low-risk generates uncorrected losses.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20700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0700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1968" y="126187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online adaptation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8249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Reward signal (claims) is never fed back to the model. Accuracy degrades silently as population demographics shift.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3872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3872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59359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Demographic blindspot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01421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parity metric is tracked. Rule-based systems can develop regional or occupational concentration entirely undetected.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538728"/>
            <a:ext cx="5394960" cy="210312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3538728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1968" y="3593592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triage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4014216"/>
            <a:ext cx="5120640" cy="15361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Low-confidence borderline cases are not flagged. Actuaries review high-volume routine cases instead of genuine edge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1.3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Goal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Research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11277295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Design and evaluate an adaptive health insurance underwriting system using contextual bandit algorithms on a synthetic Cambodia applicant dataset, incorporating demographic fairness monitoring and human-in-the-loop augmentation.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834640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Implement and adapt linear contextual bandit algorithms (LinUCB, LinTS) for multi-arm health insurance underwriting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22192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822192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Construct a 2,000-record synthetic Cambodia applicant dataset anchored on CDHS, STEPS, ILO, and WHO demographic distributions.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09744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809744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Evaluate bandit performance versus static rule-based baselines via 20-seed multi-run trials, bootstrap CIs, and paired Wilcoxon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97296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797296"/>
            <a:ext cx="10728655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Assess demographic fairness via PSI monitoring across region and occupation, and integrate a human-in-the-loop underwriting wrapper.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 · INTERNSHIP AT DAC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2.1  </a:t>
            </a:r>
            <a:r>
              <a:rPr sz="2600" b="1">
                <a:solidFill>
                  <a:srgbClr val="1A1A1A"/>
                </a:solidFill>
                <a:latin typeface="Calibri"/>
              </a:rPr>
              <a:t>Internship at DAC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7607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About DAC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76072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Decent Actuarial Consultants Co., Ltd. -- Phnom Penh, Cambodia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Actuarial consulting: life &amp; health insurance, pension, regulatory advice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Clients: insurance companies, pension funds, and regulators across SE Asia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This thesis is embedded in a DAC-supervised research internship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41648"/>
            <a:ext cx="57607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Internship Timeline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53128"/>
            <a:ext cx="2651760" cy="1188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Problem scoping</a:t>
            </a:r>
            <a:br/>
            <a:r>
              <a:t>&amp; dataset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4453128"/>
            <a:ext cx="2651760" cy="118872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  <a:br/>
            <a:r>
              <a:t>implementation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4453128"/>
            <a:ext cx="2651760" cy="1188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Experiments</a:t>
            </a:r>
            <a:br/>
            <a:r>
              <a:t>&amp; 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3960" y="4453128"/>
            <a:ext cx="2651760" cy="118872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507992"/>
            <a:ext cx="24688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4910328"/>
            <a:ext cx="246888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Thesis writing</a:t>
            </a:r>
            <a:br/>
            <a:r>
              <a:t>&amp; defense prep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207008"/>
            <a:ext cx="5120640" cy="29260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Role: Research Intern</a:t>
            </a:r>
            <a:br/>
            <a:br/>
            <a:r>
              <a:t>Deliverable: end-to-end adaptive underwriting prototype + thesis report</a:t>
            </a:r>
            <a:br/>
            <a:br/>
            <a:r>
              <a:t>Duration: Mar 2026 – Jun 2026</a:t>
            </a:r>
            <a:br/>
            <a:br/>
            <a:r>
              <a:t>Supervisor: Mr. PHOK Ponna (DAC)  |  Thesis advisor: Dr. HAS Sothea (ITC)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III · 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3.1  </a:t>
            </a:r>
            <a:r>
              <a:rPr sz="2600" b="1">
                <a:solidFill>
                  <a:srgbClr val="1A1A1A"/>
                </a:solidFill>
                <a:latin typeface="Calibri"/>
              </a:rPr>
              <a:t>Literature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Key literature informing the 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8346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00200"/>
            <a:ext cx="27249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54480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92424" y="1600200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Key Authors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38544" y="1600200"/>
            <a:ext cx="50109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Contribution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38528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938528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938528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1993392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Contextual Bandits</a:t>
            </a:r>
            <a:br/>
            <a:r>
              <a:t>in Healthcare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2424" y="1993392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Bouneffouf et al.</a:t>
            </a:r>
            <a:br/>
            <a:r>
              <a:t>(2017)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93392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Clinical decision support via LinUCB; reward = patient outcome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37560" y="2660904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2660904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15768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Theory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2424" y="2715768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 et al. (2010)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38544" y="2715768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UCB exploration over linear model; O(√T·d·log T) regret bound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83280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3383280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0" y="3383280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38144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  <a:br/>
            <a:r>
              <a:t>(Thompson Sampling)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92424" y="3438144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Agrawal &amp; Goyal</a:t>
            </a:r>
            <a:br/>
            <a:r>
              <a:t>(2013)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38544" y="3438144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Posterior sampling achieves near-optimal regret; robust exploration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05656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7560" y="4105656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0" y="4105656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60520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Fairness in</a:t>
            </a:r>
            <a:br/>
            <a:r>
              <a:t>Insurance 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92424" y="4160520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Frees et al. (2014);</a:t>
            </a:r>
            <a:br/>
            <a:r>
              <a:t>Kusner et al. (2017)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38544" y="4160520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Regulatory constraints on protected attributes; counterfactual fairness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828032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37560" y="4828032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0" y="4828032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" y="4882896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PSI Model Monitoring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92424" y="4882896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Yurdakul (2018)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38544" y="4882896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Population Stability Index detects distribution shift; GREEN/AMBER/RED zones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550408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37560" y="5550408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0" y="5550408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2064" y="5605272"/>
            <a:ext cx="2724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Human-in-the-loop RL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92424" y="5605272"/>
            <a:ext cx="309067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Christiano et al.</a:t>
            </a:r>
            <a:br/>
            <a:r>
              <a:t>(2017)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38544" y="5605272"/>
            <a:ext cx="5010912" cy="6309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Expert overrides improve alignment; cost-benefit of human referral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4.1  </a:t>
            </a:r>
            <a:r>
              <a:rPr sz="2600" b="1">
                <a:solidFill>
                  <a:srgbClr val="1A1A1A"/>
                </a:solidFill>
                <a:latin typeface="Calibri"/>
              </a:rPr>
              <a:t>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pic>
        <p:nvPicPr>
          <p:cNvPr id="7" name="Picture 6" descr="fig_ch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01" y="1207008"/>
            <a:ext cx="8379292" cy="5312664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4.2  </a:t>
            </a:r>
            <a:r>
              <a:rPr sz="2600" b="1">
                <a:solidFill>
                  <a:srgbClr val="1A1A1A"/>
                </a:solidFill>
                <a:latin typeface="Calibri"/>
              </a:rPr>
              <a:t>Synthetic Cambodia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Synthetic</a:t>
            </a:r>
            <a:br/>
            <a:r>
              <a:t>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Demographic</a:t>
            </a:r>
            <a:br/>
            <a: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Underwriting</a:t>
            </a:r>
            <a:br/>
            <a:r>
              <a:t>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Anchoring</a:t>
            </a:r>
            <a:br/>
            <a:r>
              <a:t>Sources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79776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Dataset construction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45536"/>
            <a:ext cx="5486400" cy="2926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from CDHS 2021-22 &amp; STEPS 2021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Income distribution anchored on ILO Cambodia labour force surveys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Claim probabilities calibrated from WHO SEARO health expenditure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factor AF = 1.35; price elasticity slope β = 3.5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Fully synthetic -- no real applicant PII included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779776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Underwriting arms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145536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91072" y="3255264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255264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+ premium loading (+25%)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849624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3959352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959352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at standard premium 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553712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4663440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663440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Reject application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257800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5367528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5367528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Escalate to human underwriter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4.3  </a:t>
            </a:r>
            <a:r>
              <a:rPr sz="2600" b="1">
                <a:solidFill>
                  <a:srgbClr val="1A1A1A"/>
                </a:solidFill>
                <a:latin typeface="Calibri"/>
              </a:rPr>
              <a:t>Bandit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Problem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2514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Context  x_t ∈ ℝ⁵: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-- standardised at application time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Action  a_t ∈ {RATED, STANDARD, DECLINE, REFER}: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Policy selects one arm per applicant per round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Reward  r_t: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Revenue-minus-claims actuarial simulator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penalises premium-heavy arms for low-risk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7024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548640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Maximise cumulative reward Σ r_t over T rounds, subject to demographic PSI guardrails.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Reward structure (illustrative)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09344"/>
            <a:ext cx="5303520" cy="75895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682496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682496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High-risk applicant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682496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Low-risk applicant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04872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478024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478024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2478024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adverse-sel. penalty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00400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3273552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273552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3273552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+optimal margin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995928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4069080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560" y="4069080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0 (avoided loss)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4069080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missed revenue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791456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4864608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4864608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4864608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4.4  </a:t>
            </a:r>
            <a:r>
              <a:rPr sz="2600" b="1">
                <a:solidFill>
                  <a:srgbClr val="1A1A1A"/>
                </a:solidFill>
                <a:latin typeface="Calibri"/>
              </a:rPr>
              <a:t>Algorithms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Proposed policies (ranked by admissibility)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82496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618488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18488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Upper Confidence Bound over a linear reward model. Optimism in the face of uncertainty; O(√T·d·log T) regret.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240280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240280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Thompson Sampling from posterior over reward parameters. Near-optimal regret; naturally calibrated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201168" cy="43891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862072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ε-Greedy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862072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Uniform exploration with probability ε. Simple baseline; suboptimal O(T^{2/3}) regret asymptotics.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47872"/>
            <a:ext cx="201168" cy="43891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483864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3483864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XGBoost trained once on a historical snapshot. Incumbent production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69664"/>
            <a:ext cx="201168" cy="438912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105656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105656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Constant: rate 100% of applicants at +25% loading. Inadmissible ceiling (not commercially/regulatorily viable -- §5.0.1 / §6.2).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00600"/>
            <a:ext cx="11277295" cy="274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Other constants (inadmissible floor/ceiling): AlwaysSTANDARD, AlwaysDECLINE, Random  |  Not deployable: LogisticOracle,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21808"/>
            <a:ext cx="11277295" cy="7315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Admissibility (§5.0.1): a policy is admissible if it is both deployable (uses only observable features) AND commercially/regulatorily viable as an underwriting rule. LinUCB and LinTS are the top-2 admissible policies.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4.5  </a:t>
            </a:r>
            <a:r>
              <a:rPr sz="2600" b="1">
                <a:solidFill>
                  <a:srgbClr val="1A1A1A"/>
                </a:solidFill>
                <a:latin typeface="Calibri"/>
              </a:rPr>
              <a:t>Guardrail + HITL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PSI Demographic Guardrail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computed on region and occupation in a rolling 500-round window.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128"/>
            <a:ext cx="105156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225856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216712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16712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Stable -- no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61488"/>
            <a:ext cx="1051560" cy="502920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285292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0" y="276148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0.10 ≤ PSI &lt; 0.25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76148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Monitor closely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55848"/>
            <a:ext cx="1051560" cy="50292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344728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0" y="335584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≥ 0.25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35584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Trigger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59936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Note: PSI is a MONITOR, not an enforcer. Constrained-action enforcement is deferred to future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07008"/>
            <a:ext cx="52120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Human-in-the-loop Wrapper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91056"/>
            <a:ext cx="521208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 selects arm; if predicted uncertainty &gt; κ threshold → REFER to actuary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Conservatism κ ∈ {0.3, 0.5, 0.7} controls referral rate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Human overrides bandit action; outcome reward used for bandit update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Alignment rate: 60% of overrides agree with bandit (κ=0.7)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Review cost charged per referral; net benefit computed over N=5,000 rounds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453128"/>
            <a:ext cx="5212080" cy="8686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Design target: reduce worst-case regret via human expertise while keeping review cost below 2% of gross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5.1  </a:t>
            </a:r>
            <a:r>
              <a:rPr sz="2600" b="1">
                <a:solidFill>
                  <a:srgbClr val="1A1A1A"/>
                </a:solidFill>
                <a:latin typeface="Calibri"/>
              </a:rPr>
              <a:t>Convergence  (EXP-005)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+25.2%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Cumulative reward lift</a:t>
            </a:r>
            <a:br/>
            <a:r>
              <a:t>vs. Static XGB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2.98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  <a:br/>
            <a:r>
              <a:t>(effect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Paired Wilcoxon</a:t>
            </a:r>
            <a:br/>
            <a:r>
              <a:t>(20 seeds)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$90,540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LinUCB cumulative</a:t>
            </a:r>
            <a:br/>
            <a:r>
              <a:t>reward (mean)</a:t>
            </a:r>
          </a:p>
        </p:txBody>
      </p:sp>
      <p:pic>
        <p:nvPicPr>
          <p:cNvPr id="19" name="Picture 18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230" y="2487168"/>
            <a:ext cx="6429235" cy="384962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457200" y="5779008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Scope: admissible policies only (§5.0.1). Static XGB = $72,292 | Oracle = $126,804 | Oracle recovered: 72%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5.2  </a:t>
            </a:r>
            <a:r>
              <a:rPr sz="2600" b="1">
                <a:solidFill>
                  <a:srgbClr val="1A1A1A"/>
                </a:solidFill>
                <a:latin typeface="Calibri"/>
              </a:rPr>
              <a:t>Benchmark vs Static XGB  (EXP-007)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7" name="Picture 6" descr="fig_loglog_reg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8642"/>
            <a:ext cx="6217920" cy="4103635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6949440" y="1207008"/>
            <a:ext cx="47548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20-seed ranking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591056"/>
            <a:ext cx="59436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627632"/>
            <a:ext cx="50292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91056"/>
            <a:ext cx="182880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627632"/>
            <a:ext cx="17373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64040" y="1591056"/>
            <a:ext cx="214884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1627632"/>
            <a:ext cx="20574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Reward (mean)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95681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195681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40" y="195681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04825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04825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4825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$93,572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55117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9520" y="255117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64040" y="255117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264261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64261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264261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$91,947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14553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89520" y="314553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64040" y="314553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5160" y="323697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323697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EpsilonGreedy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323697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$76,441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73989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9520" y="373989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64040" y="373989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95160" y="383133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5240" y="383133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760" y="383133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$72,173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47548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LinTS vs LinUCB: p = 0.87 (ns -- tied at 20 seeds)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4791456"/>
            <a:ext cx="4754880" cy="8229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Log-log slope = 0.572 (R²=0.992): sub-linear regret consistent with O(√T·d) bound.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5.3  </a:t>
            </a:r>
            <a:r>
              <a:rPr sz="2600" b="1">
                <a:solidFill>
                  <a:srgbClr val="1A1A1A"/>
                </a:solidFill>
                <a:latin typeface="Calibri"/>
              </a:rPr>
              <a:t>Cold-start Evaluation  (EXP-010)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10789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LinTS @ T = 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PASSED   p = 0.0039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1.48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07008"/>
            <a:ext cx="5394960" cy="107899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LinUCB @ T = 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SOFTENED   p = 0.084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0.55, n.s.</a:t>
            </a:r>
          </a:p>
        </p:txBody>
      </p:sp>
      <p:pic>
        <p:nvPicPr>
          <p:cNvPr id="15" name="Picture 14" descr="fig_010_cold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395728"/>
            <a:ext cx="6598310" cy="4123944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8321040" y="2395728"/>
            <a:ext cx="33832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Implication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779776"/>
            <a:ext cx="338328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Deploy with warm-start (pre-train or shadow mode) for the first ~1,000 applications; a fresh XGBoost wins below the crossover. At T=2,000 the LinTS crossover is significant (p = 0.0039, d = 1.48); LinUCB's lead is positive but not significant (p = 0.0840, d = 0.55) and is reported as 'draws level'.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5.4  </a:t>
            </a:r>
            <a:r>
              <a:rPr sz="2600" b="1">
                <a:solidFill>
                  <a:srgbClr val="1A1A1A"/>
                </a:solidFill>
                <a:latin typeface="Calibri"/>
              </a:rPr>
              <a:t>Human-in-the-loop  (EXP-008)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+14.8%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Reward lift</a:t>
            </a:r>
            <a:br/>
            <a:r>
              <a:t>vs. vanilla bandit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Wilcoxon</a:t>
            </a:r>
            <a:br/>
            <a:r>
              <a:t>20 seeds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1.3%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Referral rate</a:t>
            </a:r>
            <a:br/>
            <a:r>
              <a:t>(review cost)</a:t>
            </a:r>
          </a:p>
        </p:txBody>
      </p:sp>
      <p:pic>
        <p:nvPicPr>
          <p:cNvPr id="19" name="Picture 18" descr="fig_hitl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995" y="2487168"/>
            <a:ext cx="5183530" cy="389534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7406640" y="2487168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871216"/>
            <a:ext cx="429768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HITL reward $103,951 vs. vanilla bandit $90,540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Lift certified over the vanilla bandit (EXP-005 baseline)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Human review cost = 2.2% of gross reward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Alignment rate 60% (κ=0.7): experts agree with bandit most of the time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Scope: HITL does NOT beat inadmissible AlwaysRATED ceiling (§5.4.2)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5.5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Audit 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0.0821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85.72%  (&gt; 80% EEOC)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0.1225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90.12%  (&gt; 80% EEOC)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D93B3B"/>
                </a:solidFill>
                <a:latin typeface="Calibri"/>
              </a:defRPr>
            </a:pPr>
            <a:r>
              <a:t>FAILED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58768"/>
            <a:ext cx="11277295" cy="16916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5 of 6 pre-registered criteria PASSED.</a:t>
            </a:r>
            <a:br/>
            <a:br/>
            <a:r>
              <a:t>Criterion 6 (occupation → action association) FAILED-with-interpretation: statistically significant (p &lt; 0.001) but practically small. Parity 90.12% &gt;&gt; 80% EEOC. PSI AMBER (0.1225 &lt; 0.25 RED threshold). Association reflects actuarially-justified risk differences (§5.2.4). Reported honestly.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5.6  </a:t>
            </a:r>
            <a:r>
              <a:rPr sz="2600" b="1">
                <a:solidFill>
                  <a:srgbClr val="1A1A1A"/>
                </a:solidFill>
                <a:latin typeface="Calibri"/>
              </a:rPr>
              <a:t>Drift Adaptation  (EXP-009)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Shock at round 1,500: TB prevalence doubled (~6.3% -&gt; 12.5%) + garment-worker income -30% at round 1500</a:t>
            </a:r>
          </a:p>
        </p:txBody>
      </p:sp>
      <p:pic>
        <p:nvPicPr>
          <p:cNvPr id="8" name="Picture 7" descr="fig_009_drift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9285"/>
            <a:ext cx="6675120" cy="4003014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45920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Post/pre regret ratio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39696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2139696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79776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89504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889504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529584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39312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3639312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0.85× post/pre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361688"/>
            <a:ext cx="4297680" cy="12344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Bandits adapt within the learning window: post-shock regret drops to 0.29× of pre-shock level. Static XGB stays at 0.85×. DiscountedLinUCB is proposed future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6.1  </a:t>
            </a:r>
            <a:r>
              <a:rPr sz="2600" b="1">
                <a:solidFill>
                  <a:srgbClr val="1A1A1A"/>
                </a:solidFill>
                <a:latin typeface="Calibri"/>
              </a:rPr>
              <a:t>Achievements &amp;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LinTS leads every admissible policy: $93,723 vs. Static XGB $72,206  (+25.2%, d=2.98)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LinTS cold-start crossover certified: Wilcoxon PASSED at T=2,000 (p=0.0039, d=1.48)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HITL augmentation: +14.8% at 1.3% review cost (p&lt; 0.001, d=2.65)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PSI GREEN (0.0821); occupation PSI AMBER (0.1225) -- within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5 of 6 pre-registered fairness criteria PASSED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Log-log regret slope 0.572 (R²=0.992) consistent with O(√T·d)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AlwaysRATED ($122,287) is the inadmissible ceiling -- see §6.2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Synthetic data limits external validity; real claims data needed for production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monitors but does not constrain -- enforcement layer is future work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Criterion-6 FAILED-with-interpretation (occupation–action, p &lt; 0.001)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Cold-start period ~1,000 rounds requires warm-start in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Overall: contextual bandits provide a principled, adaptive, and auditable alternative to static rule-based underwriting in the Cambodian insurance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6.2  </a:t>
            </a:r>
            <a:r>
              <a:rPr sz="2600" b="1">
                <a:solidFill>
                  <a:srgbClr val="1A1A1A"/>
                </a:solidFill>
                <a:latin typeface="Calibri"/>
              </a:rPr>
              <a:t>Limitation: Baseline Ladder  (EXP-014)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AlwaysRATED is inadmissible -- and why the headline claim is still valid</a:t>
            </a:r>
          </a:p>
        </p:txBody>
      </p:sp>
      <p:pic>
        <p:nvPicPr>
          <p:cNvPr id="8" name="Picture 7" descr="fig_exp_014_base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3836"/>
            <a:ext cx="6583680" cy="3933327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18488"/>
            <a:ext cx="43891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Admissibility verdicts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2140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212140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6148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5292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285292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49300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58444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358444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22452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431596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431596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D93B3B"/>
                </a:solidFill>
                <a:latin typeface="Calibri"/>
              </a:defRPr>
            </a:pPr>
            <a:r>
              <a:t>inadmissible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956047"/>
            <a:ext cx="4389120" cy="1325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AlwaysRATED ($122,287) rates 100% at +25% loading -- not commercially or regulatorily viable → inadmissible. Within the admissible set, LinTS ($93,723) and LinUCB ($91,864) rank 1st and 2nd.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6.3  </a:t>
            </a:r>
            <a:r>
              <a:rPr sz="2600" b="1">
                <a:solidFill>
                  <a:srgbClr val="1A1A1A"/>
                </a:solidFill>
                <a:latin typeface="Calibri"/>
              </a:rPr>
              <a:t>Other 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Remaining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Synthetic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CDHS-anchored demographics; real insurer claims data unavailable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External validity limited -- proof-of-concept, not production estimates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Monitoring-only fairness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guardrail detects, does not prevent demographic concentration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Cold-start penalty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Bandits underperform FreshXGB below T~1,000; warm-start essential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Experiment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Single-market simulation; multi-product extension not tested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3B6EA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DiscountedLinUCB / SW-UCB for non-stationary / seasonal drift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Constrained contextual bandits for hard fairness enforcement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Real insurer pilot: replace synthetic rewards with observed claims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Neural linear bandit for higher-dimensional feature spaces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Multi-product portfolio: life + health + motor underwriting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Formal regulatory engagement: SERC Cambodia approval pathway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Thesis contribution: end-to-end adaptive underwriting prototype + evaluation framework with demographic fairness monitoring for the Cambodian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640080"/>
            <a:ext cx="548640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5D2A42"/>
                </a:solidFill>
                <a:latin typeface="Calibri"/>
              </a:defRPr>
            </a:pPr>
            <a:r>
              <a:rPr spc="200"/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0972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Adaptive Underwriting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5564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23160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441448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uvicorn demo.main:app --reload --port 8000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07792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90672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136392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154680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http://localhost:8000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21024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03904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849624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867912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Score applicant -&gt; bandit arm selection -&gt; PSI monitor panel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34256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171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562856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581144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Human-in-the-loop referral queue + cost accounting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47488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Fallback: demo screenshots in appendix (A6-A8) if the live run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13248" y="18288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400" b="1" i="0">
                <a:solidFill>
                  <a:srgbClr val="1A1A1A"/>
                </a:solidFill>
                <a:latin typeface="Calibri"/>
              </a:defRPr>
            </a:pPr>
            <a: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154680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0" i="0">
                <a:solidFill>
                  <a:srgbClr val="5D2A42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297680"/>
            <a:ext cx="1219169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70916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chanpoly3@gmail.com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7492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5623560"/>
            <a:ext cx="640080" cy="631079"/>
          </a:xfrm>
          <a:prstGeom prst="rect">
            <a:avLst/>
          </a:prstGeom>
          <a:effectLst/>
        </p:spPr>
      </p:pic>
      <p:pic>
        <p:nvPicPr>
          <p:cNvPr id="9" name="Picture 8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5623560"/>
            <a:ext cx="640080" cy="606547"/>
          </a:xfrm>
          <a:prstGeom prst="rect">
            <a:avLst/>
          </a:prstGeom>
          <a:effectLst/>
        </p:spPr>
      </p:pic>
      <p:pic>
        <p:nvPicPr>
          <p:cNvPr id="10" name="Picture 9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5623560"/>
            <a:ext cx="640080" cy="360045"/>
          </a:xfrm>
          <a:prstGeom prst="rect">
            <a:avLst/>
          </a:prstGeom>
          <a:effectLst/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22960"/>
            <a:ext cx="9144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4800" b="1" i="0">
                <a:solidFill>
                  <a:srgbClr val="5D2A42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74519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33172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233172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Q2: Number Reconciliation -- EXP-005 vs ladder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53512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2953512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Fairness Criterion-6 Detail -- FAILED-with-interpretation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75304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3575304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PSI Guardrail Mechanics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97096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4197096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LinUCB / LinTS Update Equations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18888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818888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Construction -- CDHS / STEPS / ILO / WHO anchoring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44068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A6-A8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544068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Demo Screenshots (fallback if live demo fails)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A1  </a:t>
            </a:r>
            <a:r>
              <a:rPr sz="2600" b="1">
                <a:solidFill>
                  <a:srgbClr val="1A1A1A"/>
                </a:solidFill>
                <a:latin typeface="Calibri"/>
              </a:rPr>
              <a:t>Q2: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do different sections quote different percentage lifts?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384048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3730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Comparison pair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591056"/>
            <a:ext cx="128016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636776"/>
            <a:ext cx="117043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591056"/>
            <a:ext cx="59436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24144" y="1636776"/>
            <a:ext cx="58338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Basis / why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975104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0" y="1975104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29968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(EXP-005)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2029968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1A1A1A"/>
                </a:solidFill>
                <a:latin typeface="Calibri"/>
              </a:defRPr>
            </a:pPr>
            <a:r>
              <a:t>+25.2%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24144" y="2029968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Paired design, same seed sequence, standardised eval (primary metric, Table 5.1.1)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724912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2724912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79776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(EXP-014 ladder)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2779776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+27.2%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24144" y="2779776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reward-maximising policy (Table 9 §5.0.1); larger due to CRN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474720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474720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529584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 vs Static XGB (EXP-014 ladder)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98264" y="3529584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24144" y="3529584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LinTS reward-maximising (Table 9 §5.0.1)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224528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0" y="4224528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279392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HITL vs vanilla LinUCB (EXP-008)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98264" y="4279392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+14.8%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24144" y="4279392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Augmented bandit vs. vanilla bandit -- different baseline entirely (Table 13)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56047"/>
            <a:ext cx="11277295" cy="9601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Headline (+25.2%) uses the conservative paired design. Ladder harness lifts are larger due to CRN setup -- all three answer different questions and are mutually consistent. EXP-005 is the pre-registered primary metric.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A2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Criterion-6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 → action association (criterion 6 -- FAILED-with-interpretation)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1277295" cy="1920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FAILED verdict -- reported in the interest of scientific honesty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Permutation test: p = &lt; 0.001 (criterion: p ≥ 0.05 to PASS)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EEOC parity: 90.12%  (well above 80% regulatory floor)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AMBER: 0.1225 &lt; 0.25 RED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The association is statistically significant but practically small.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Interpretation: occupation is an actuarially valid risk predictor; the bandit adjusts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 premiums for legitimate risk differences, NOT for discriminatory reasons.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3016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30752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Region (PASSED -- for reference)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5486400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GREEN: 0.0821 &lt; 0.10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Parity: 85.72%  |  Permutation p = 0.1322 (ns)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criterion 6: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730752"/>
            <a:ext cx="5303520" cy="21945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Regulatory position:</a:t>
            </a:r>
            <a:br/>
            <a:br/>
            <a:r>
              <a:t>No formal algorithmic fairness standard exists for insurance in Cambodia. The EEOC 80% rule is applied as an international best-practice benchmark. All EEOC parity criteria PASS (both region and occupation).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A3  </a:t>
            </a:r>
            <a:r>
              <a:rPr sz="2600" b="1">
                <a:solidFill>
                  <a:srgbClr val="1A1A1A"/>
                </a:solidFill>
                <a:latin typeface="Calibri"/>
              </a:rPr>
              <a:t>PSI Guardrail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Population Stability Index -- definition and thresholds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9344"/>
            <a:ext cx="9144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ourier New"/>
              </a:defRPr>
            </a:pPr>
            <a:r>
              <a:t>PSI = Σ (Actual% − Expected%) × ln(Actual% / Expected%)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2"/>
            <a:ext cx="11277295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Actual%  = fraction of applicants in each demographic bucket (rolling window)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Expected% = reference distribution (training-set proportions)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Computed on region and occupation every 500 rounds in EXP-006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67328"/>
            <a:ext cx="3474720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5876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   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858768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Stable -- no corrective action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34840"/>
            <a:ext cx="3474720" cy="566928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  0.10 ≤ PSI &lt; 0.25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4526280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Monitor closely -- investigate trend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02352"/>
            <a:ext cx="3474720" cy="566928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93792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      PSI ≥ 0.25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193792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Trigger mandatory review; consider policy rollback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998464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EXP-006 results: region PSI = 0.0821 (GREEN), occupation PSI max = 0.1225 (AMBER) -- both within threshold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A4  </a:t>
            </a:r>
            <a:r>
              <a:rPr sz="2600" b="1">
                <a:solidFill>
                  <a:srgbClr val="1A1A1A"/>
                </a:solidFill>
                <a:latin typeface="Calibri"/>
              </a:rPr>
              <a:t>LinUCB / LinTS Update Equations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LinUCB (OFUL)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A_a  ←  A_a + x_t x_tᵀ          (gram matrix update)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b_a  ←  b_a + r_t x_t            (reward accumulation)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θ_a  =  A_a⁻¹ b_a             (ridge-regression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a*  =  argmax  θ_aᵀ x_t + α √(x_tᵀ A_a⁻¹ x_t)   (UCB selection)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LinTS (Thompson Sampling)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591056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Prior:   θ_a ~ N(μ_a, λ⁻¹ 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121408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Update:  Σ_a⁻¹ = λ I + A_a  ;  μ_a = Σ_a b_a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51760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Sample:  θ̃_a ~ N(μ_a, v² Σ_a)   per 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182112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Select:  a*  =  argmax  θ̃_aᵀ x_t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1304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502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Key hyperparameters used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α (LinUCB exploration)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4434840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(regret-minimising from EXP-012)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28616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001768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v (LinTS variance)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5001768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0.1 (posterior width calibration)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68696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λ (ridge penalty)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5568696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(L2 regulariser, identity prior)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62472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6135624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κ (HITL conservatism)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6135624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0.7 (headline; 0.3/0.5 also tested in EXP-008)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A5  </a:t>
            </a:r>
            <a:r>
              <a:rPr sz="2600" b="1">
                <a:solidFill>
                  <a:srgbClr val="1A1A1A"/>
                </a:solidFill>
                <a:latin typeface="Calibri"/>
              </a:rPr>
              <a:t>Dataset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CDHS / STEPS / ILO / WHO anchoring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8288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17190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591056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6584" y="1636776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591056"/>
            <a:ext cx="60350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32704" y="1636776"/>
            <a:ext cx="59253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Full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19751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19751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482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CDHS 2021-22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6584" y="20482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Age, sex, region, BMI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0482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Demographic &amp; Health Survey (NIS / ICF)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26609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77840" y="26609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340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STEPS 2021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6584" y="27340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Hypertension / chronic disease prevalence by occupation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2704" y="27340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STEPwise approach to NCD risk-factor surveillance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3467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77840" y="33467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198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ILO Labour Force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86584" y="34198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Income distribution by occupation / sector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34198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Labour Force &amp; Child Labour Survey 2021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325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0325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77840" y="40325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056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SEARO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86584" y="41056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Health expenditure per capita by income quintile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2704" y="41056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South-East Asia Regional Office data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45736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Simulator parameters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11496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755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5175504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2,000 applicants / 20 seeds, 5,000 rounds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41848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05856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Adverse-selection factor AF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705856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1.35 (calibrated from DAC actuarial priors)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172200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236208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Price elasticity slope 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6236208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3.5 (base case; 2.5 and 4.5 tested in EXP-012)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702552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6766560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Claim probability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6766560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Logistic function of BMI, age, chronic disease 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A6.  Demo Screenshot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Main underwriting dashboard: applicant scoring and arm selection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A7.  Demo Screenshot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PSI fairness monitor panel: sliding-window drift visualization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A8.  Demo Screenshot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Human-in-the-loop queue: referral management and cost accounting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