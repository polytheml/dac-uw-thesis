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000">
                <a:solidFill>
                  <a:srgbClr val="2E5FA3"/>
                </a:solidFill>
                <a:latin typeface="Calibri"/>
              </a:rPr>
              <a:t>Validating Population Stability Metrics for
Dynamic Auto Insurance Pricing with Telematics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4023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E5FA3"/>
                </a:solidFill>
                <a:latin typeface="Calibri"/>
              </a:rPr>
              <a:t>Presenter: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LUN CHANPOLY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4526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E5FA3"/>
                </a:solidFill>
                <a:latin typeface="Calibri"/>
              </a:rPr>
              <a:t>Advisor: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HAS SOTHEA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5029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E5FA3"/>
                </a:solidFill>
                <a:latin typeface="Calibri"/>
              </a:rPr>
              <a:t>Date: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5029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3716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Introduction — Why auto insurance telematics?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1031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Background — PSI, telematics features, prior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8346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Methodology — Synthetic data &amp; experiment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5661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Results — EXP-001 through EXP-004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2976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Discussion — Framework &amp;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5029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Conclusion — Findings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Why Auto Insurance Telematics?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Cambodia 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4.8 million motorcycles — dense, under-insured fleet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Claim frequency: 8–15% annually, highly seasonal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Monsoon season (Jul–Sep): hard braking events spike 150–250%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Emerging market: limited historical actuarial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Existing drift detection assumes static batch data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Telematics pricing updates continuously — distributions shift every repricing cycle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No established method for monitoring PSI stability under continuous repricing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Research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943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200">
                <a:solidFill>
                  <a:srgbClr val="2E5FA3"/>
                </a:solidFill>
                <a:latin typeface="Calibri"/>
              </a:rPr>
              <a:t>Single-metric PSI monitoring is insufficient
for continuous dynamic auto insurance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This thesis: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Identifies 3 specific PSI failure modes under dynamic pricing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Demonstrates that temporal comparison strategy matters as much as metric choice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Proposes a temporal multi-metric monitoring framework as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Key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First empirical validation of PSI under continuous repricing (telematics UBI)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Quantified false-positive rate of consecutive-month monitoring: 71%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Actionable 3-pillar framework ready for production dashboard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Population Stability Index (PSI)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2626"/>
                </a:solidFill>
                <a:latin typeface="Calibri"/>
              </a:rPr>
              <a:t>PSI = Σ (Aᵢ – Eᵢ) × ln(Aᵢ / Eᵢ)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Measures distributional shift between an Expected (reference) and Actual (current) population.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Industry Thresholds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063240"/>
          <a:ext cx="6858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3429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PSI Range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&lt; 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No significant shift — model stable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0.10 – 0.25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Moderate drift — investigate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&gt; 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Significant drift — recalibrate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06324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62626"/>
                </a:solidFill>
                <a:latin typeface="Calibri"/>
              </a:rPr>
              <a:t>•  Designed for static batch scoring (credit risk)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•  Assumes a single, stable reference distribution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•  No guidance for continuous repricing cycles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Telematics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Dataset: Phnom Penh GPS pings → 1,500 trip-level records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Relevance to Risk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speed_avg_kmh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Mean trip speed (km/h)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Higher speed → higher severity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speed_p90_kmh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90th-percentile speed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Captures extreme speeding events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hard_braking_events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Count of deceleration &gt; 3 m/s²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Direct proxy for near-miss frequency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harsh_jerk_events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Count of jerk &gt; 2.5 m/s³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Aggressive driving style indicator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jerk_rms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Root-mean-square of jerk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Smoothness of driving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idle_pct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% of trip time spent idling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Route type signature (urban vs highway)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vibration_avg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Average vertical acceleration (m/s²)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Road quality exposure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Premium Proxy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risk_score = 0.35·clip(hard_braking/50) + 0.35·clip(jerk_rms/2) + 0.30·clip(speed_avg/20)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Calibri"/>
              </a:rPr>
              <a:t>monthly_premium = $45 × (1 + 0.80 × risk_score)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Prior Work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What PSI Literature Already Does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Yurdakul &amp; Naranjo (2020): Statistical properties of PSI; sample-size-dependent thresholds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Siddiqi (2017): Binning strategies and threshold calibration (Intelligent Credit Scoring, Wiley)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Multiple actuarial papers: PSI for model validation on annual renewals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The Gap — Why Existing Work Falls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110916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ALL existing work assumes a STATIC reference distribution — none address continuous repricing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Telematics UBI reprices monthly: reference shifts every cycle, invalidating the baseline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No published framework handles seasonality-induced drift (monsoon, holiday traffic)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Silent failures: aggregate premium can stay GREEN while behavior changes catastrophically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Methodology — Four Experiment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FA3"/>
                </a:solidFill>
                <a:latin typeface="Calibri"/>
              </a:rPr>
              <a:t>EXP-001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Baseline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4920" y="1325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Split same distribution → PSI must be 0.000 ± 0.010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FA3"/>
                </a:solidFill>
                <a:latin typeface="Calibri"/>
              </a:rPr>
              <a:t>EXP-002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Responsiveness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103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Inject 0%→50% drift → PSI must increase monotonically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FA3"/>
                </a:solidFill>
                <a:latin typeface="Calibri"/>
              </a:rPr>
              <a:t>EXP-003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Failure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880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3 scenarios where single-metric PSI gives false negatives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FA3"/>
                </a:solidFill>
                <a:latin typeface="Calibri"/>
              </a:rPr>
              <a:t>EXP-004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Temporal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Consecutive-month vs YoY vs rolling-window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Design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Each experiment is self-contained: loads CSV, computes PSI, asserts pass/fail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Reproducible seeds (42, 1, 2, 3, 4) — identical results on every run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Exit code 0 = PASS, 1 = FAIL — CI-ready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Synthetic Telematics Data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Phnom Penh Route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30 origin-destination pairs across Phnom Penh (residential, commercial, highway)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Google Maps Directions API → route polylines for 3 traffic snapshots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~1.16 million GPS pings simulated at 1 Hz along real road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Trip Feature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1,500 trips aggregated to 7 telematics features per trip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Baseline cohort (no distortion) + drift-injection cohorts for experiments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All features percentile-binned (N=10) for PSI computation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Why Synthetic?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Cambodia has no publicly available telematics dataset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Controlled distortion injection lets us know ground-truth shift magnitude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Reproducible and auditable for thesis defense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EXP-001: Baseline PSI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1,500 trips split into two random halves (seed=42)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Both halves drawn from the SAME distribution — no drift injected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Expected: PSI ≈ 0.000 for every feature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92608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2514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speed_avg_kmh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speed_p90_kmh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0.000000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hard_braking_events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harsh_jerk_events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0.000000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jerk_rms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idle_pct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0.000000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vibration_avg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474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62626"/>
                </a:solidFill>
                <a:latin typeface="Calibri"/>
              </a:rPr>
              <a:t>•  Validates that PSI = 0.000 when no drift exists — no systematic bias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•  N=10 percentile bins are stable for n=750 samples per half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•  Foundation confirmed: any drift detected in later experiments is REAL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EXP-002: PSI Responsiveness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Setup: aggressive-driving cohort injected at 0% → 50% fraction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6217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274"/>
                <a:gridCol w="888274"/>
                <a:gridCol w="888274"/>
                <a:gridCol w="888274"/>
                <a:gridCol w="888274"/>
                <a:gridCol w="888274"/>
                <a:gridCol w="888276"/>
              </a:tblGrid>
              <a:tr h="3135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Drift %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speed_avg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hard_braking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jerk_rms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idle_pct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 PSI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0.168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0.168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/>
                </a:tc>
              </a:tr>
              <a:tr h="313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0.210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0.185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0.312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0.312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_exp002_respons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91640"/>
            <a:ext cx="457200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PSI increases monotonically with drift fraction — PASS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idle_pct is the most sensitive feature (captures route-type shift)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GREEN → AMBER → RED transition occurs between 20% and 50% drift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Sensitivity at 50%: 0.312 &gt; 0.08 threshold — 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Behavioral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Core Question: Can single-metric PSI on aggregate premium miss real behavioral shifts?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886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Primary PSI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Secondary Metric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Secondary PSI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Highway Migration (20%)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idle_pct (full pop)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AMBER (0.23)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FM2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Monsoon Surge (25% + discount)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idle_pct (full pop)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RED (0.30)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Tail Risk Flip (bottom 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cohort PSI (same drivers)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RED (42.3)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ig_failure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566160"/>
            <a:ext cx="68580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FM1: Highway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Scenario: 20% of trips shift from congested urban to highway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Behavioral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Speed +12 km/h, braking ×0.50, jerk ×0.55, idle ×0.05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Premium barely changes because speed↑ offsets braking↓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Detection 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566160"/>
          <a:ext cx="8686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Premium (full population)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False negative — shift missed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idle_pct (full population)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Route-type shift captured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Fix: Monitor idle_pct separately — it captures route-type shifts invisible to premium PSI.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FM2: Monsoon Ride-Share Surge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Scenario: 25% of trips replaced by monsoon-season delivery riders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Behavioral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Hard braking ×2.0, jerk ×2.5, speed ×1.08, idle ×0.15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Pricing model applies seasonal discount (0.76×) to monsoon cohort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Discount absorbs premium increase — aggregate premium stays flat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Detection 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886200"/>
          <a:ext cx="8686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Season-adjusted premium (full pop)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Masked by actuarial discount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idle_pct (full population)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Delivery-rider signature exposed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Fix: Monitor idle_pct — delivery-rider signature is absent from the premium formula.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FM3: Tail Risk Flip &amp; Temporal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FM3 — Tail Risk 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Bottom-5% safest braking cohort flips to 80th–95th percentile risk profile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Full-population PSI stays GREEN because only ~5% of trips are affected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Cohort PSI (same 75 drivers, before vs after): PSI = 42.3 →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Temporal Drift Preview (EXP-004)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Two-year simulation: Year 1 severe monsoon → Year 2 attenuated monsoon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Consecutive-month PSI at n=125: 71% false-positive rate in dry season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Genuine monsoon onset (Jun→Jul) is LOST in sampling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Calibri"/>
              </a:rPr>
              <a:t>When and how you compare matters as much as what metric you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EXP-004: Temporal Drift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Problem: Consecutive-month PSI is operationally useless for seasonal products</a:t>
            </a:r>
          </a:p>
        </p:txBody>
      </p:sp>
      <p:pic>
        <p:nvPicPr>
          <p:cNvPr id="4" name="Picture 3" descr="fig_exp004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217920" cy="30632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69164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429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Detection Method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Consecutive-month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71% false-positive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YoY PSI — Jul Y2 vs Y1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PSI = 3.007  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Rolling 3-month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PSI = 0.731 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Recommended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37033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62626"/>
                </a:solidFill>
                <a:latin typeface="Calibri"/>
              </a:rPr>
              <a:t>•  Compare each monsoon month against SAME month last year (YoY)</a:t>
            </a:r>
          </a:p>
          <a:p>
            <a:r>
              <a:rPr sz="1400">
                <a:solidFill>
                  <a:srgbClr val="262626"/>
                </a:solidFill>
                <a:latin typeface="Calibri"/>
              </a:rPr>
              <a:t>•  Pool Jul–Sep into rolling window; compare window-to-window YoY</a:t>
            </a:r>
          </a:p>
          <a:p>
            <a:r>
              <a:rPr sz="1400">
                <a:solidFill>
                  <a:srgbClr val="262626"/>
                </a:solidFill>
                <a:latin typeface="Calibri"/>
              </a:rPr>
              <a:t>•  Both cut through noise AND detect genuine regime shifts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Proposed Monitoring Framework</a:t>
            </a:r>
          </a:p>
        </p:txBody>
      </p:sp>
      <p:pic>
        <p:nvPicPr>
          <p:cNvPr id="3" name="Picture 2" descr="fig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9601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2062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Operational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GREEN → continue current pricing; AMBER → trigger feature-level deep-dive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RED → freeze repricing + alert actuarial team + initiate model recalibration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Dashboard: 3 traffic lights (premium, behavior, cohort) instead of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Discussion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Synthetic data — results need validation on real Cambodian telematics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Single city (Phnom Penh) — rural highway behavior may differ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No real claims data — link between telematics shift and actual loss cost is assumed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Premium formula is a GLM-proxy, not a trained production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Practical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Insurers currently using consecutive-month PSI may be ignoring 71% of false alarms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Season-aware monitoring can be retrofitted into existing actuarial workflows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Framework applies beyond auto: health UBI, crop insurance, flood-index products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PSI works for static batch validation (EXP-001 baseline = 0.000 all GREEN)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PSI responds monotonically to known drift (EXP-002 GREEN→AMBER→RED at 0%→50%)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Single-metric PSI fails under 3 distinct dynamic-pricing failure modes (EXP-003)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Temporal comparison strategy matters as much as metric choice (EXP-004 71% FP rate)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•  Validate framework on real Cambodian telematics + claims data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Build production dashboard integrating the 3-pillar framework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Extend to health/life insurance dynamic pricing (Vietnam case study)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•  Explore adaptive binning and KL-divergence as PSI alternatives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2E5FA3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626"/>
                </a:solidFill>
                <a:latin typeface="Calibri"/>
              </a:rPr>
              <a:t>Presenter: LUN CHANPOLY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626"/>
                </a:solidFill>
                <a:latin typeface="Calibri"/>
              </a:rPr>
              <a:t>Advisor:  HAS SOTHEA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626"/>
                </a:solidFill>
                <a:latin typeface="Calibri"/>
              </a:rPr>
              <a:t>Email:    chanpoly3@gmail.com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